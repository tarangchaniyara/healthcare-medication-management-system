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entury Gothic"/>
      </a:defRPr>
    </a:lvl1pPr>
    <a:lvl2pPr indent="228600" latinLnBrk="0">
      <a:defRPr sz="1200">
        <a:latin typeface="+mj-lt"/>
        <a:ea typeface="+mj-ea"/>
        <a:cs typeface="+mj-cs"/>
        <a:sym typeface="Century Gothic"/>
      </a:defRPr>
    </a:lvl2pPr>
    <a:lvl3pPr indent="457200" latinLnBrk="0">
      <a:defRPr sz="1200">
        <a:latin typeface="+mj-lt"/>
        <a:ea typeface="+mj-ea"/>
        <a:cs typeface="+mj-cs"/>
        <a:sym typeface="Century Gothic"/>
      </a:defRPr>
    </a:lvl3pPr>
    <a:lvl4pPr indent="685800" latinLnBrk="0">
      <a:defRPr sz="1200">
        <a:latin typeface="+mj-lt"/>
        <a:ea typeface="+mj-ea"/>
        <a:cs typeface="+mj-cs"/>
        <a:sym typeface="Century Gothic"/>
      </a:defRPr>
    </a:lvl4pPr>
    <a:lvl5pPr indent="914400" latinLnBrk="0">
      <a:defRPr sz="1200">
        <a:latin typeface="+mj-lt"/>
        <a:ea typeface="+mj-ea"/>
        <a:cs typeface="+mj-cs"/>
        <a:sym typeface="Century Gothic"/>
      </a:defRPr>
    </a:lvl5pPr>
    <a:lvl6pPr indent="1143000" latinLnBrk="0">
      <a:defRPr sz="1200">
        <a:latin typeface="+mj-lt"/>
        <a:ea typeface="+mj-ea"/>
        <a:cs typeface="+mj-cs"/>
        <a:sym typeface="Century Gothic"/>
      </a:defRPr>
    </a:lvl6pPr>
    <a:lvl7pPr indent="1371600" latinLnBrk="0">
      <a:defRPr sz="1200">
        <a:latin typeface="+mj-lt"/>
        <a:ea typeface="+mj-ea"/>
        <a:cs typeface="+mj-cs"/>
        <a:sym typeface="Century Gothic"/>
      </a:defRPr>
    </a:lvl7pPr>
    <a:lvl8pPr indent="1600200" latinLnBrk="0">
      <a:defRPr sz="1200">
        <a:latin typeface="+mj-lt"/>
        <a:ea typeface="+mj-ea"/>
        <a:cs typeface="+mj-cs"/>
        <a:sym typeface="Century Gothic"/>
      </a:defRPr>
    </a:lvl8pPr>
    <a:lvl9pPr indent="1828800" latinLnBrk="0">
      <a:defRPr sz="1200">
        <a:latin typeface="+mj-lt"/>
        <a:ea typeface="+mj-ea"/>
        <a:cs typeface="+mj-cs"/>
        <a:sym typeface="Century Gothic"/>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6292"/>
            <a:ext cx="2133600" cy="28194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entury Gothic"/>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entury Gothic"/>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entury Gothic"/>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entury Gothic"/>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entury Gothic"/>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entury Gothic"/>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entury Gothic"/>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entury Gothic"/>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entury Gothic"/>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entury Gothic"/>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entury Gothic"/>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entury Gothic"/>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entury Gothic"/>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entury Gothic"/>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entury Gothic"/>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entury Gothic"/>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entury Gothic"/>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entury Gothic"/>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entury Gothic"/>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entury Gothic"/>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entury Gothic"/>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entury Gothic"/>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entury Gothic"/>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entury Gothic"/>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entury Gothic"/>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entury Gothic"/>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entury Gothic"/>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tarangchaniyara/healthcare-medication-management-system"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B2A4A"/>
        </a:solidFill>
      </p:bgPr>
    </p:bg>
    <p:spTree>
      <p:nvGrpSpPr>
        <p:cNvPr id="1" name=""/>
        <p:cNvGrpSpPr/>
        <p:nvPr/>
      </p:nvGrpSpPr>
      <p:grpSpPr>
        <a:xfrm>
          <a:off x="0" y="0"/>
          <a:ext cx="0" cy="0"/>
          <a:chOff x="0" y="0"/>
          <a:chExt cx="0" cy="0"/>
        </a:xfrm>
      </p:grpSpPr>
      <p:sp>
        <p:nvSpPr>
          <p:cNvPr id="20" name="Shape 0"/>
          <p:cNvSpPr/>
          <p:nvPr/>
        </p:nvSpPr>
        <p:spPr>
          <a:xfrm>
            <a:off x="-1" y="0"/>
            <a:ext cx="182882" cy="5143500"/>
          </a:xfrm>
          <a:prstGeom prst="rect">
            <a:avLst/>
          </a:prstGeom>
          <a:solidFill>
            <a:srgbClr val="1E8449"/>
          </a:solidFill>
          <a:ln w="12700">
            <a:solidFill>
              <a:srgbClr val="1E8449"/>
            </a:solidFill>
          </a:ln>
        </p:spPr>
        <p:txBody>
          <a:bodyPr lIns="45719" rIns="45719"/>
          <a:lstStyle/>
          <a:p>
            <a:pPr/>
          </a:p>
        </p:txBody>
      </p:sp>
      <p:sp>
        <p:nvSpPr>
          <p:cNvPr id="21" name="Shape 1"/>
          <p:cNvSpPr/>
          <p:nvPr/>
        </p:nvSpPr>
        <p:spPr>
          <a:xfrm>
            <a:off x="0" y="4846320"/>
            <a:ext cx="9144000" cy="297181"/>
          </a:xfrm>
          <a:prstGeom prst="rect">
            <a:avLst/>
          </a:prstGeom>
          <a:solidFill>
            <a:srgbClr val="1E8449"/>
          </a:solidFill>
          <a:ln w="12700">
            <a:solidFill>
              <a:srgbClr val="1E8449"/>
            </a:solidFill>
          </a:ln>
        </p:spPr>
        <p:txBody>
          <a:bodyPr lIns="45719" rIns="45719"/>
          <a:lstStyle/>
          <a:p>
            <a:pPr/>
          </a:p>
        </p:txBody>
      </p:sp>
      <p:sp>
        <p:nvSpPr>
          <p:cNvPr id="22" name="Shape 2"/>
          <p:cNvSpPr/>
          <p:nvPr/>
        </p:nvSpPr>
        <p:spPr>
          <a:xfrm>
            <a:off x="347472" y="201168"/>
            <a:ext cx="2377440" cy="530352"/>
          </a:xfrm>
          <a:prstGeom prst="rect">
            <a:avLst/>
          </a:prstGeom>
          <a:solidFill>
            <a:srgbClr val="FFFFFF"/>
          </a:solidFill>
          <a:ln w="12700">
            <a:solidFill>
              <a:srgbClr val="3A5278"/>
            </a:solidFill>
          </a:ln>
        </p:spPr>
        <p:txBody>
          <a:bodyPr lIns="45719" rIns="45719"/>
          <a:lstStyle/>
          <a:p>
            <a:pPr/>
          </a:p>
        </p:txBody>
      </p:sp>
      <p:sp>
        <p:nvSpPr>
          <p:cNvPr id="23" name="Text 3"/>
          <p:cNvSpPr txBox="1"/>
          <p:nvPr/>
        </p:nvSpPr>
        <p:spPr>
          <a:xfrm>
            <a:off x="393192" y="376174"/>
            <a:ext cx="2286001" cy="180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600">
                <a:solidFill>
                  <a:srgbClr val="1B2A4A"/>
                </a:solidFill>
              </a:defRPr>
            </a:lvl1pPr>
          </a:lstStyle>
          <a:p>
            <a:pPr/>
            <a:r>
              <a:t>GUJARAT TECHNOLOGICAL UNIVERSITY</a:t>
            </a:r>
          </a:p>
        </p:txBody>
      </p:sp>
      <p:sp>
        <p:nvSpPr>
          <p:cNvPr id="24" name="Text 4"/>
          <p:cNvSpPr txBox="1"/>
          <p:nvPr/>
        </p:nvSpPr>
        <p:spPr>
          <a:xfrm>
            <a:off x="393192" y="956310"/>
            <a:ext cx="5394960"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300" sz="1200">
                <a:solidFill>
                  <a:srgbClr val="7DB3D8"/>
                </a:solidFill>
              </a:defRPr>
            </a:lvl1pPr>
          </a:lstStyle>
          <a:p>
            <a:pPr/>
            <a:r>
              <a:t>C A P S T O N E   P R O J E C T</a:t>
            </a:r>
          </a:p>
        </p:txBody>
      </p:sp>
      <p:sp>
        <p:nvSpPr>
          <p:cNvPr id="25" name="Text 5"/>
          <p:cNvSpPr txBox="1"/>
          <p:nvPr/>
        </p:nvSpPr>
        <p:spPr>
          <a:xfrm>
            <a:off x="393192" y="1468627"/>
            <a:ext cx="5577840" cy="1031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3000">
                <a:solidFill>
                  <a:srgbClr val="FFFFFF"/>
                </a:solidFill>
              </a:defRPr>
            </a:pPr>
            <a:r>
              <a:t>Healthcare &amp; Medication</a:t>
            </a:r>
          </a:p>
          <a:p>
            <a:pPr>
              <a:defRPr b="1" sz="3000">
                <a:solidFill>
                  <a:srgbClr val="FFFFFF"/>
                </a:solidFill>
              </a:defRPr>
            </a:pPr>
            <a:r>
              <a:t>Management System</a:t>
            </a:r>
          </a:p>
        </p:txBody>
      </p:sp>
      <p:sp>
        <p:nvSpPr>
          <p:cNvPr id="26" name="Text 6"/>
          <p:cNvSpPr txBox="1"/>
          <p:nvPr/>
        </p:nvSpPr>
        <p:spPr>
          <a:xfrm>
            <a:off x="393192" y="2751327"/>
            <a:ext cx="557784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300">
                <a:solidFill>
                  <a:srgbClr val="7DB3D8"/>
                </a:solidFill>
              </a:defRPr>
            </a:lvl1pPr>
          </a:lstStyle>
          <a:p>
            <a:pPr/>
            <a:r>
              <a:t>AI-Powered Patient-Centric Healthcare Analytics Platform</a:t>
            </a:r>
          </a:p>
        </p:txBody>
      </p:sp>
      <p:sp>
        <p:nvSpPr>
          <p:cNvPr id="27" name="Shape 7"/>
          <p:cNvSpPr/>
          <p:nvPr/>
        </p:nvSpPr>
        <p:spPr>
          <a:xfrm>
            <a:off x="347471" y="3200400"/>
            <a:ext cx="5120642" cy="27432"/>
          </a:xfrm>
          <a:prstGeom prst="rect">
            <a:avLst/>
          </a:prstGeom>
          <a:solidFill>
            <a:srgbClr val="3A5278"/>
          </a:solidFill>
          <a:ln w="12700">
            <a:solidFill>
              <a:srgbClr val="3A5278"/>
            </a:solidFill>
          </a:ln>
        </p:spPr>
        <p:txBody>
          <a:bodyPr lIns="45719" rIns="45719"/>
          <a:lstStyle/>
          <a:p>
            <a:pPr/>
          </a:p>
        </p:txBody>
      </p:sp>
      <p:sp>
        <p:nvSpPr>
          <p:cNvPr id="28" name="Text 8"/>
          <p:cNvSpPr txBox="1"/>
          <p:nvPr/>
        </p:nvSpPr>
        <p:spPr>
          <a:xfrm>
            <a:off x="393191" y="3579368"/>
            <a:ext cx="5029201" cy="650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800">
                <a:solidFill>
                  <a:srgbClr val="7DB3D8"/>
                </a:solidFill>
              </a:defRPr>
            </a:pPr>
            <a:r>
              <a:t>PRESENTED BY</a:t>
            </a:r>
          </a:p>
          <a:p>
            <a:pPr>
              <a:defRPr b="1" sz="800">
                <a:solidFill>
                  <a:srgbClr val="7DB3D8"/>
                </a:solidFill>
              </a:defRPr>
            </a:pPr>
            <a:r>
              <a:rPr b="0" sz="1000">
                <a:solidFill>
                  <a:srgbClr val="FFFFFF"/>
                </a:solidFill>
              </a:rPr>
              <a:t>Tarang Chaniyara  |  Enrollment No: 220470116012</a:t>
            </a:r>
            <a:endParaRPr b="0" sz="1000">
              <a:solidFill>
                <a:srgbClr val="FFFFFF"/>
              </a:solidFill>
            </a:endParaRPr>
          </a:p>
          <a:p>
            <a:pPr>
              <a:defRPr b="1" sz="800">
                <a:solidFill>
                  <a:srgbClr val="7DB3D8"/>
                </a:solidFill>
              </a:defRPr>
            </a:pPr>
            <a:r>
              <a:rPr b="0" sz="900"/>
              <a:t>V.V.P. Engineering College  |  Department of Information Technology</a:t>
            </a:r>
            <a:endParaRPr b="0" sz="900"/>
          </a:p>
          <a:p>
            <a:pPr>
              <a:defRPr b="1" sz="800">
                <a:solidFill>
                  <a:srgbClr val="7DB3D8"/>
                </a:solidFill>
              </a:defRPr>
            </a:pPr>
            <a:r>
              <a:rPr b="0" sz="900"/>
              <a:t>Guided By: Prashant Chauhan</a:t>
            </a:r>
          </a:p>
        </p:txBody>
      </p:sp>
      <p:sp>
        <p:nvSpPr>
          <p:cNvPr id="29" name="Shape 9"/>
          <p:cNvSpPr/>
          <p:nvPr/>
        </p:nvSpPr>
        <p:spPr>
          <a:xfrm>
            <a:off x="6446520" y="594359"/>
            <a:ext cx="2423161" cy="2423162"/>
          </a:xfrm>
          <a:prstGeom prst="ellipse">
            <a:avLst/>
          </a:prstGeom>
          <a:solidFill>
            <a:srgbClr val="1E3460"/>
          </a:solidFill>
          <a:ln w="12700">
            <a:solidFill>
              <a:srgbClr val="1D4ED8"/>
            </a:solidFill>
          </a:ln>
        </p:spPr>
        <p:txBody>
          <a:bodyPr lIns="45719" rIns="45719"/>
          <a:lstStyle/>
          <a:p>
            <a:pPr/>
          </a:p>
        </p:txBody>
      </p:sp>
      <p:sp>
        <p:nvSpPr>
          <p:cNvPr id="30" name="Text 10"/>
          <p:cNvSpPr txBox="1"/>
          <p:nvPr/>
        </p:nvSpPr>
        <p:spPr>
          <a:xfrm>
            <a:off x="6492240" y="1303019"/>
            <a:ext cx="2331721" cy="1005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2000">
                <a:solidFill>
                  <a:srgbClr val="FFFFFF"/>
                </a:solidFill>
              </a:defRPr>
            </a:pPr>
            <a:r>
              <a:t>AI + ML</a:t>
            </a:r>
          </a:p>
          <a:p>
            <a:pPr algn="ctr">
              <a:defRPr b="1" sz="2000">
                <a:solidFill>
                  <a:srgbClr val="FFFFFF"/>
                </a:solidFill>
              </a:defRPr>
            </a:pPr>
            <a:r>
              <a:t>+</a:t>
            </a:r>
          </a:p>
          <a:p>
            <a:pPr algn="ctr">
              <a:defRPr b="1" sz="2000">
                <a:solidFill>
                  <a:srgbClr val="FFFFFF"/>
                </a:solidFill>
              </a:defRPr>
            </a:pPr>
            <a:r>
              <a:t>Azure</a:t>
            </a:r>
          </a:p>
        </p:txBody>
      </p:sp>
      <p:sp>
        <p:nvSpPr>
          <p:cNvPr id="31" name="Shape 11"/>
          <p:cNvSpPr/>
          <p:nvPr/>
        </p:nvSpPr>
        <p:spPr>
          <a:xfrm>
            <a:off x="6931152" y="3246120"/>
            <a:ext cx="1463041" cy="1463041"/>
          </a:xfrm>
          <a:prstGeom prst="ellipse">
            <a:avLst/>
          </a:prstGeom>
          <a:solidFill>
            <a:srgbClr val="0D4424"/>
          </a:solidFill>
          <a:ln w="12700">
            <a:solidFill>
              <a:srgbClr val="1E8449"/>
            </a:solidFill>
          </a:ln>
        </p:spPr>
        <p:txBody>
          <a:bodyPr lIns="45719" rIns="45719"/>
          <a:lstStyle/>
          <a:p>
            <a:pPr/>
          </a:p>
        </p:txBody>
      </p:sp>
      <p:sp>
        <p:nvSpPr>
          <p:cNvPr id="32" name="Text 12"/>
          <p:cNvSpPr txBox="1"/>
          <p:nvPr/>
        </p:nvSpPr>
        <p:spPr>
          <a:xfrm>
            <a:off x="6976871" y="3716020"/>
            <a:ext cx="1371601" cy="523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400">
                <a:solidFill>
                  <a:srgbClr val="FFFFFF"/>
                </a:solidFill>
              </a:defRPr>
            </a:pPr>
            <a:r>
              <a:t>GTU</a:t>
            </a:r>
          </a:p>
          <a:p>
            <a:pPr algn="ctr">
              <a:defRPr b="1" sz="1400">
                <a:solidFill>
                  <a:srgbClr val="FFFFFF"/>
                </a:solidFill>
              </a:defRPr>
            </a:pPr>
            <a:r>
              <a:t>2026</a:t>
            </a:r>
          </a:p>
        </p:txBody>
      </p:sp>
      <p:sp>
        <p:nvSpPr>
          <p:cNvPr id="33" name="Text 13"/>
          <p:cNvSpPr txBox="1"/>
          <p:nvPr/>
        </p:nvSpPr>
        <p:spPr>
          <a:xfrm>
            <a:off x="301752" y="4879340"/>
            <a:ext cx="8540496"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1B2A4A"/>
                </a:solidFill>
              </a:defRPr>
            </a:lvl1pPr>
          </a:lstStyle>
          <a:p>
            <a:pPr/>
            <a:r>
              <a:t>Microsoft Elevate Internship Project  |  Jan – Apr 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35"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36"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37"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Outline</a:t>
            </a:r>
          </a:p>
        </p:txBody>
      </p:sp>
      <p:sp>
        <p:nvSpPr>
          <p:cNvPr id="38"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39"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40"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41"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42"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43"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2 / 20</a:t>
            </a:r>
          </a:p>
        </p:txBody>
      </p:sp>
      <p:sp>
        <p:nvSpPr>
          <p:cNvPr id="44" name="Text 9"/>
          <p:cNvSpPr txBox="1"/>
          <p:nvPr/>
        </p:nvSpPr>
        <p:spPr>
          <a:xfrm>
            <a:off x="365760" y="780541"/>
            <a:ext cx="841248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374151"/>
                </a:solidFill>
              </a:defRPr>
            </a:lvl1pPr>
          </a:lstStyle>
          <a:p>
            <a:pPr/>
            <a:r>
              <a:t>This presentation follows the GTU Capstone Project format covering all required sections:</a:t>
            </a:r>
          </a:p>
        </p:txBody>
      </p:sp>
      <p:sp>
        <p:nvSpPr>
          <p:cNvPr id="45" name="Shape 10"/>
          <p:cNvSpPr/>
          <p:nvPr/>
        </p:nvSpPr>
        <p:spPr>
          <a:xfrm>
            <a:off x="320040" y="1088136"/>
            <a:ext cx="365761" cy="256033"/>
          </a:xfrm>
          <a:prstGeom prst="rect">
            <a:avLst/>
          </a:prstGeom>
          <a:solidFill>
            <a:srgbClr val="1D4ED8"/>
          </a:solidFill>
          <a:ln w="12700">
            <a:solidFill>
              <a:srgbClr val="1D4ED8"/>
            </a:solidFill>
          </a:ln>
        </p:spPr>
        <p:txBody>
          <a:bodyPr lIns="45719" rIns="45719"/>
          <a:lstStyle/>
          <a:p>
            <a:pPr/>
          </a:p>
        </p:txBody>
      </p:sp>
      <p:sp>
        <p:nvSpPr>
          <p:cNvPr id="46" name="Text 11"/>
          <p:cNvSpPr txBox="1"/>
          <p:nvPr/>
        </p:nvSpPr>
        <p:spPr>
          <a:xfrm>
            <a:off x="320040" y="1152652"/>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01</a:t>
            </a:r>
          </a:p>
        </p:txBody>
      </p:sp>
      <p:sp>
        <p:nvSpPr>
          <p:cNvPr id="47" name="Text 12"/>
          <p:cNvSpPr txBox="1"/>
          <p:nvPr/>
        </p:nvSpPr>
        <p:spPr>
          <a:xfrm>
            <a:off x="786383" y="1109726"/>
            <a:ext cx="384048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Abstract</a:t>
            </a:r>
          </a:p>
        </p:txBody>
      </p:sp>
      <p:sp>
        <p:nvSpPr>
          <p:cNvPr id="48" name="Shape 13"/>
          <p:cNvSpPr/>
          <p:nvPr/>
        </p:nvSpPr>
        <p:spPr>
          <a:xfrm>
            <a:off x="320040" y="1463039"/>
            <a:ext cx="365761" cy="256033"/>
          </a:xfrm>
          <a:prstGeom prst="rect">
            <a:avLst/>
          </a:prstGeom>
          <a:solidFill>
            <a:srgbClr val="0D9488"/>
          </a:solidFill>
          <a:ln w="12700">
            <a:solidFill>
              <a:srgbClr val="0D9488"/>
            </a:solidFill>
          </a:ln>
        </p:spPr>
        <p:txBody>
          <a:bodyPr lIns="45719" rIns="45719"/>
          <a:lstStyle/>
          <a:p>
            <a:pPr/>
          </a:p>
        </p:txBody>
      </p:sp>
      <p:sp>
        <p:nvSpPr>
          <p:cNvPr id="49" name="Text 14"/>
          <p:cNvSpPr txBox="1"/>
          <p:nvPr/>
        </p:nvSpPr>
        <p:spPr>
          <a:xfrm>
            <a:off x="320040" y="1527555"/>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02</a:t>
            </a:r>
          </a:p>
        </p:txBody>
      </p:sp>
      <p:sp>
        <p:nvSpPr>
          <p:cNvPr id="50" name="Text 15"/>
          <p:cNvSpPr txBox="1"/>
          <p:nvPr/>
        </p:nvSpPr>
        <p:spPr>
          <a:xfrm>
            <a:off x="786383" y="1484629"/>
            <a:ext cx="384048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Project Overview &amp; Objectives</a:t>
            </a:r>
          </a:p>
        </p:txBody>
      </p:sp>
      <p:sp>
        <p:nvSpPr>
          <p:cNvPr id="51" name="Shape 16"/>
          <p:cNvSpPr/>
          <p:nvPr/>
        </p:nvSpPr>
        <p:spPr>
          <a:xfrm>
            <a:off x="320040" y="1837944"/>
            <a:ext cx="365761" cy="256033"/>
          </a:xfrm>
          <a:prstGeom prst="rect">
            <a:avLst/>
          </a:prstGeom>
          <a:solidFill>
            <a:srgbClr val="1E8449"/>
          </a:solidFill>
          <a:ln w="12700">
            <a:solidFill>
              <a:srgbClr val="1E8449"/>
            </a:solidFill>
          </a:ln>
        </p:spPr>
        <p:txBody>
          <a:bodyPr lIns="45719" rIns="45719"/>
          <a:lstStyle/>
          <a:p>
            <a:pPr/>
          </a:p>
        </p:txBody>
      </p:sp>
      <p:sp>
        <p:nvSpPr>
          <p:cNvPr id="52" name="Text 17"/>
          <p:cNvSpPr txBox="1"/>
          <p:nvPr/>
        </p:nvSpPr>
        <p:spPr>
          <a:xfrm>
            <a:off x="320040" y="1902460"/>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03</a:t>
            </a:r>
          </a:p>
        </p:txBody>
      </p:sp>
      <p:sp>
        <p:nvSpPr>
          <p:cNvPr id="53" name="Text 18"/>
          <p:cNvSpPr txBox="1"/>
          <p:nvPr/>
        </p:nvSpPr>
        <p:spPr>
          <a:xfrm>
            <a:off x="786383" y="1859534"/>
            <a:ext cx="384048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Software Requirements Specification</a:t>
            </a:r>
          </a:p>
        </p:txBody>
      </p:sp>
      <p:sp>
        <p:nvSpPr>
          <p:cNvPr id="54" name="Shape 19"/>
          <p:cNvSpPr/>
          <p:nvPr/>
        </p:nvSpPr>
        <p:spPr>
          <a:xfrm>
            <a:off x="320040" y="2212848"/>
            <a:ext cx="365761" cy="256033"/>
          </a:xfrm>
          <a:prstGeom prst="rect">
            <a:avLst/>
          </a:prstGeom>
          <a:solidFill>
            <a:srgbClr val="7C3AED"/>
          </a:solidFill>
          <a:ln w="12700">
            <a:solidFill>
              <a:srgbClr val="7C3AED"/>
            </a:solidFill>
          </a:ln>
        </p:spPr>
        <p:txBody>
          <a:bodyPr lIns="45719" rIns="45719"/>
          <a:lstStyle/>
          <a:p>
            <a:pPr/>
          </a:p>
        </p:txBody>
      </p:sp>
      <p:sp>
        <p:nvSpPr>
          <p:cNvPr id="55" name="Text 20"/>
          <p:cNvSpPr txBox="1"/>
          <p:nvPr/>
        </p:nvSpPr>
        <p:spPr>
          <a:xfrm>
            <a:off x="320040" y="2277364"/>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04</a:t>
            </a:r>
          </a:p>
        </p:txBody>
      </p:sp>
      <p:sp>
        <p:nvSpPr>
          <p:cNvPr id="56" name="Text 21"/>
          <p:cNvSpPr txBox="1"/>
          <p:nvPr/>
        </p:nvSpPr>
        <p:spPr>
          <a:xfrm>
            <a:off x="786383" y="2234438"/>
            <a:ext cx="384048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About Microsoft Elevate Program</a:t>
            </a:r>
          </a:p>
        </p:txBody>
      </p:sp>
      <p:sp>
        <p:nvSpPr>
          <p:cNvPr id="57" name="Shape 22"/>
          <p:cNvSpPr/>
          <p:nvPr/>
        </p:nvSpPr>
        <p:spPr>
          <a:xfrm>
            <a:off x="320040" y="2587751"/>
            <a:ext cx="365761" cy="256033"/>
          </a:xfrm>
          <a:prstGeom prst="rect">
            <a:avLst/>
          </a:prstGeom>
          <a:solidFill>
            <a:srgbClr val="D97706"/>
          </a:solidFill>
          <a:ln w="12700">
            <a:solidFill>
              <a:srgbClr val="D97706"/>
            </a:solidFill>
          </a:ln>
        </p:spPr>
        <p:txBody>
          <a:bodyPr lIns="45719" rIns="45719"/>
          <a:lstStyle/>
          <a:p>
            <a:pPr/>
          </a:p>
        </p:txBody>
      </p:sp>
      <p:sp>
        <p:nvSpPr>
          <p:cNvPr id="58" name="Text 23"/>
          <p:cNvSpPr txBox="1"/>
          <p:nvPr/>
        </p:nvSpPr>
        <p:spPr>
          <a:xfrm>
            <a:off x="320040" y="2652267"/>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05</a:t>
            </a:r>
          </a:p>
        </p:txBody>
      </p:sp>
      <p:sp>
        <p:nvSpPr>
          <p:cNvPr id="59" name="Text 24"/>
          <p:cNvSpPr txBox="1"/>
          <p:nvPr/>
        </p:nvSpPr>
        <p:spPr>
          <a:xfrm>
            <a:off x="786383" y="2609341"/>
            <a:ext cx="384048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Microsoft Elevate – Learning Modules</a:t>
            </a:r>
          </a:p>
        </p:txBody>
      </p:sp>
      <p:sp>
        <p:nvSpPr>
          <p:cNvPr id="60" name="Shape 25"/>
          <p:cNvSpPr/>
          <p:nvPr/>
        </p:nvSpPr>
        <p:spPr>
          <a:xfrm>
            <a:off x="320040" y="2962655"/>
            <a:ext cx="365761" cy="256033"/>
          </a:xfrm>
          <a:prstGeom prst="rect">
            <a:avLst/>
          </a:prstGeom>
          <a:solidFill>
            <a:srgbClr val="DC2626"/>
          </a:solidFill>
          <a:ln w="12700">
            <a:solidFill>
              <a:srgbClr val="DC2626"/>
            </a:solidFill>
          </a:ln>
        </p:spPr>
        <p:txBody>
          <a:bodyPr lIns="45719" rIns="45719"/>
          <a:lstStyle/>
          <a:p>
            <a:pPr/>
          </a:p>
        </p:txBody>
      </p:sp>
      <p:sp>
        <p:nvSpPr>
          <p:cNvPr id="61" name="Text 26"/>
          <p:cNvSpPr txBox="1"/>
          <p:nvPr/>
        </p:nvSpPr>
        <p:spPr>
          <a:xfrm>
            <a:off x="320040" y="3027172"/>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06</a:t>
            </a:r>
          </a:p>
        </p:txBody>
      </p:sp>
      <p:sp>
        <p:nvSpPr>
          <p:cNvPr id="62" name="Text 27"/>
          <p:cNvSpPr txBox="1"/>
          <p:nvPr/>
        </p:nvSpPr>
        <p:spPr>
          <a:xfrm>
            <a:off x="786383" y="2984246"/>
            <a:ext cx="384048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My Role During Internship</a:t>
            </a:r>
          </a:p>
        </p:txBody>
      </p:sp>
      <p:sp>
        <p:nvSpPr>
          <p:cNvPr id="63" name="Shape 28"/>
          <p:cNvSpPr/>
          <p:nvPr/>
        </p:nvSpPr>
        <p:spPr>
          <a:xfrm>
            <a:off x="320040" y="3337559"/>
            <a:ext cx="365761" cy="256033"/>
          </a:xfrm>
          <a:prstGeom prst="rect">
            <a:avLst/>
          </a:prstGeom>
          <a:solidFill>
            <a:srgbClr val="1D4ED8"/>
          </a:solidFill>
          <a:ln w="12700">
            <a:solidFill>
              <a:srgbClr val="1D4ED8"/>
            </a:solidFill>
          </a:ln>
        </p:spPr>
        <p:txBody>
          <a:bodyPr lIns="45719" rIns="45719"/>
          <a:lstStyle/>
          <a:p>
            <a:pPr/>
          </a:p>
        </p:txBody>
      </p:sp>
      <p:sp>
        <p:nvSpPr>
          <p:cNvPr id="64" name="Text 29"/>
          <p:cNvSpPr txBox="1"/>
          <p:nvPr/>
        </p:nvSpPr>
        <p:spPr>
          <a:xfrm>
            <a:off x="320040" y="3402075"/>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07</a:t>
            </a:r>
          </a:p>
        </p:txBody>
      </p:sp>
      <p:sp>
        <p:nvSpPr>
          <p:cNvPr id="65" name="Text 30"/>
          <p:cNvSpPr txBox="1"/>
          <p:nvPr/>
        </p:nvSpPr>
        <p:spPr>
          <a:xfrm>
            <a:off x="786383" y="3359149"/>
            <a:ext cx="384048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Proposed Project Title &amp; Applicability</a:t>
            </a:r>
          </a:p>
        </p:txBody>
      </p:sp>
      <p:sp>
        <p:nvSpPr>
          <p:cNvPr id="66" name="Shape 31"/>
          <p:cNvSpPr/>
          <p:nvPr/>
        </p:nvSpPr>
        <p:spPr>
          <a:xfrm>
            <a:off x="320040" y="3712464"/>
            <a:ext cx="365761" cy="256033"/>
          </a:xfrm>
          <a:prstGeom prst="rect">
            <a:avLst/>
          </a:prstGeom>
          <a:solidFill>
            <a:srgbClr val="0D9488"/>
          </a:solidFill>
          <a:ln w="12700">
            <a:solidFill>
              <a:srgbClr val="0D9488"/>
            </a:solidFill>
          </a:ln>
        </p:spPr>
        <p:txBody>
          <a:bodyPr lIns="45719" rIns="45719"/>
          <a:lstStyle/>
          <a:p>
            <a:pPr/>
          </a:p>
        </p:txBody>
      </p:sp>
      <p:sp>
        <p:nvSpPr>
          <p:cNvPr id="67" name="Text 32"/>
          <p:cNvSpPr txBox="1"/>
          <p:nvPr/>
        </p:nvSpPr>
        <p:spPr>
          <a:xfrm>
            <a:off x="320040" y="3776979"/>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08</a:t>
            </a:r>
          </a:p>
        </p:txBody>
      </p:sp>
      <p:sp>
        <p:nvSpPr>
          <p:cNvPr id="68" name="Text 33"/>
          <p:cNvSpPr txBox="1"/>
          <p:nvPr/>
        </p:nvSpPr>
        <p:spPr>
          <a:xfrm>
            <a:off x="786383" y="3734053"/>
            <a:ext cx="384048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Healthcare Challenges &amp; Solutions</a:t>
            </a:r>
          </a:p>
        </p:txBody>
      </p:sp>
      <p:sp>
        <p:nvSpPr>
          <p:cNvPr id="69" name="Shape 34"/>
          <p:cNvSpPr/>
          <p:nvPr/>
        </p:nvSpPr>
        <p:spPr>
          <a:xfrm>
            <a:off x="320040" y="4087367"/>
            <a:ext cx="365761" cy="256033"/>
          </a:xfrm>
          <a:prstGeom prst="rect">
            <a:avLst/>
          </a:prstGeom>
          <a:solidFill>
            <a:srgbClr val="1E8449"/>
          </a:solidFill>
          <a:ln w="12700">
            <a:solidFill>
              <a:srgbClr val="1E8449"/>
            </a:solidFill>
          </a:ln>
        </p:spPr>
        <p:txBody>
          <a:bodyPr lIns="45719" rIns="45719"/>
          <a:lstStyle/>
          <a:p>
            <a:pPr/>
          </a:p>
        </p:txBody>
      </p:sp>
      <p:sp>
        <p:nvSpPr>
          <p:cNvPr id="70" name="Text 35"/>
          <p:cNvSpPr txBox="1"/>
          <p:nvPr/>
        </p:nvSpPr>
        <p:spPr>
          <a:xfrm>
            <a:off x="320040" y="4151883"/>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09</a:t>
            </a:r>
          </a:p>
        </p:txBody>
      </p:sp>
      <p:sp>
        <p:nvSpPr>
          <p:cNvPr id="71" name="Text 36"/>
          <p:cNvSpPr txBox="1"/>
          <p:nvPr/>
        </p:nvSpPr>
        <p:spPr>
          <a:xfrm>
            <a:off x="786383" y="4108957"/>
            <a:ext cx="384048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What is This Project About?</a:t>
            </a:r>
          </a:p>
        </p:txBody>
      </p:sp>
      <p:sp>
        <p:nvSpPr>
          <p:cNvPr id="72" name="Shape 37"/>
          <p:cNvSpPr/>
          <p:nvPr/>
        </p:nvSpPr>
        <p:spPr>
          <a:xfrm>
            <a:off x="320040" y="4462271"/>
            <a:ext cx="365761" cy="256033"/>
          </a:xfrm>
          <a:prstGeom prst="rect">
            <a:avLst/>
          </a:prstGeom>
          <a:solidFill>
            <a:srgbClr val="7C3AED"/>
          </a:solidFill>
          <a:ln w="12700">
            <a:solidFill>
              <a:srgbClr val="7C3AED"/>
            </a:solidFill>
          </a:ln>
        </p:spPr>
        <p:txBody>
          <a:bodyPr lIns="45719" rIns="45719"/>
          <a:lstStyle/>
          <a:p>
            <a:pPr/>
          </a:p>
        </p:txBody>
      </p:sp>
      <p:sp>
        <p:nvSpPr>
          <p:cNvPr id="73" name="Text 38"/>
          <p:cNvSpPr txBox="1"/>
          <p:nvPr/>
        </p:nvSpPr>
        <p:spPr>
          <a:xfrm>
            <a:off x="320040" y="4526787"/>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10</a:t>
            </a:r>
          </a:p>
        </p:txBody>
      </p:sp>
      <p:sp>
        <p:nvSpPr>
          <p:cNvPr id="74" name="Text 39"/>
          <p:cNvSpPr txBox="1"/>
          <p:nvPr/>
        </p:nvSpPr>
        <p:spPr>
          <a:xfrm>
            <a:off x="786383" y="4483861"/>
            <a:ext cx="384048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Project Goals</a:t>
            </a:r>
          </a:p>
        </p:txBody>
      </p:sp>
      <p:sp>
        <p:nvSpPr>
          <p:cNvPr id="75" name="Shape 40"/>
          <p:cNvSpPr/>
          <p:nvPr/>
        </p:nvSpPr>
        <p:spPr>
          <a:xfrm>
            <a:off x="4892040" y="1088136"/>
            <a:ext cx="365761" cy="256033"/>
          </a:xfrm>
          <a:prstGeom prst="rect">
            <a:avLst/>
          </a:prstGeom>
          <a:solidFill>
            <a:srgbClr val="D97706"/>
          </a:solidFill>
          <a:ln w="12700">
            <a:solidFill>
              <a:srgbClr val="D97706"/>
            </a:solidFill>
          </a:ln>
        </p:spPr>
        <p:txBody>
          <a:bodyPr lIns="45719" rIns="45719"/>
          <a:lstStyle/>
          <a:p>
            <a:pPr/>
          </a:p>
        </p:txBody>
      </p:sp>
      <p:sp>
        <p:nvSpPr>
          <p:cNvPr id="76" name="Text 41"/>
          <p:cNvSpPr txBox="1"/>
          <p:nvPr/>
        </p:nvSpPr>
        <p:spPr>
          <a:xfrm>
            <a:off x="4892040" y="1152652"/>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11</a:t>
            </a:r>
          </a:p>
        </p:txBody>
      </p:sp>
      <p:sp>
        <p:nvSpPr>
          <p:cNvPr id="77" name="Text 42"/>
          <p:cNvSpPr txBox="1"/>
          <p:nvPr/>
        </p:nvSpPr>
        <p:spPr>
          <a:xfrm>
            <a:off x="5358384" y="1109726"/>
            <a:ext cx="347472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Technical Objectives</a:t>
            </a:r>
          </a:p>
        </p:txBody>
      </p:sp>
      <p:sp>
        <p:nvSpPr>
          <p:cNvPr id="78" name="Shape 43"/>
          <p:cNvSpPr/>
          <p:nvPr/>
        </p:nvSpPr>
        <p:spPr>
          <a:xfrm>
            <a:off x="4892040" y="1463039"/>
            <a:ext cx="365761" cy="256033"/>
          </a:xfrm>
          <a:prstGeom prst="rect">
            <a:avLst/>
          </a:prstGeom>
          <a:solidFill>
            <a:srgbClr val="DC2626"/>
          </a:solidFill>
          <a:ln w="12700">
            <a:solidFill>
              <a:srgbClr val="DC2626"/>
            </a:solidFill>
          </a:ln>
        </p:spPr>
        <p:txBody>
          <a:bodyPr lIns="45719" rIns="45719"/>
          <a:lstStyle/>
          <a:p>
            <a:pPr/>
          </a:p>
        </p:txBody>
      </p:sp>
      <p:sp>
        <p:nvSpPr>
          <p:cNvPr id="79" name="Text 44"/>
          <p:cNvSpPr txBox="1"/>
          <p:nvPr/>
        </p:nvSpPr>
        <p:spPr>
          <a:xfrm>
            <a:off x="4892040" y="1527555"/>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12</a:t>
            </a:r>
          </a:p>
        </p:txBody>
      </p:sp>
      <p:sp>
        <p:nvSpPr>
          <p:cNvPr id="80" name="Text 45"/>
          <p:cNvSpPr txBox="1"/>
          <p:nvPr/>
        </p:nvSpPr>
        <p:spPr>
          <a:xfrm>
            <a:off x="5358384" y="1484629"/>
            <a:ext cx="347472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System Architecture Flow</a:t>
            </a:r>
          </a:p>
        </p:txBody>
      </p:sp>
      <p:sp>
        <p:nvSpPr>
          <p:cNvPr id="81" name="Shape 46"/>
          <p:cNvSpPr/>
          <p:nvPr/>
        </p:nvSpPr>
        <p:spPr>
          <a:xfrm>
            <a:off x="4892040" y="1837944"/>
            <a:ext cx="365761" cy="256033"/>
          </a:xfrm>
          <a:prstGeom prst="rect">
            <a:avLst/>
          </a:prstGeom>
          <a:solidFill>
            <a:srgbClr val="1D4ED8"/>
          </a:solidFill>
          <a:ln w="12700">
            <a:solidFill>
              <a:srgbClr val="1D4ED8"/>
            </a:solidFill>
          </a:ln>
        </p:spPr>
        <p:txBody>
          <a:bodyPr lIns="45719" rIns="45719"/>
          <a:lstStyle/>
          <a:p>
            <a:pPr/>
          </a:p>
        </p:txBody>
      </p:sp>
      <p:sp>
        <p:nvSpPr>
          <p:cNvPr id="82" name="Text 47"/>
          <p:cNvSpPr txBox="1"/>
          <p:nvPr/>
        </p:nvSpPr>
        <p:spPr>
          <a:xfrm>
            <a:off x="4892040" y="1902460"/>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13</a:t>
            </a:r>
          </a:p>
        </p:txBody>
      </p:sp>
      <p:sp>
        <p:nvSpPr>
          <p:cNvPr id="83" name="Text 48"/>
          <p:cNvSpPr txBox="1"/>
          <p:nvPr/>
        </p:nvSpPr>
        <p:spPr>
          <a:xfrm>
            <a:off x="5358384" y="1859534"/>
            <a:ext cx="347472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Progress Overview (Week 1–8)</a:t>
            </a:r>
          </a:p>
        </p:txBody>
      </p:sp>
      <p:sp>
        <p:nvSpPr>
          <p:cNvPr id="84" name="Shape 49"/>
          <p:cNvSpPr/>
          <p:nvPr/>
        </p:nvSpPr>
        <p:spPr>
          <a:xfrm>
            <a:off x="4892040" y="2212848"/>
            <a:ext cx="365761" cy="256033"/>
          </a:xfrm>
          <a:prstGeom prst="rect">
            <a:avLst/>
          </a:prstGeom>
          <a:solidFill>
            <a:srgbClr val="0D9488"/>
          </a:solidFill>
          <a:ln w="12700">
            <a:solidFill>
              <a:srgbClr val="0D9488"/>
            </a:solidFill>
          </a:ln>
        </p:spPr>
        <p:txBody>
          <a:bodyPr lIns="45719" rIns="45719"/>
          <a:lstStyle/>
          <a:p>
            <a:pPr/>
          </a:p>
        </p:txBody>
      </p:sp>
      <p:sp>
        <p:nvSpPr>
          <p:cNvPr id="85" name="Text 50"/>
          <p:cNvSpPr txBox="1"/>
          <p:nvPr/>
        </p:nvSpPr>
        <p:spPr>
          <a:xfrm>
            <a:off x="4892040" y="2277364"/>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14</a:t>
            </a:r>
          </a:p>
        </p:txBody>
      </p:sp>
      <p:sp>
        <p:nvSpPr>
          <p:cNvPr id="86" name="Text 51"/>
          <p:cNvSpPr txBox="1"/>
          <p:nvPr/>
        </p:nvSpPr>
        <p:spPr>
          <a:xfrm>
            <a:off x="5358384" y="2234438"/>
            <a:ext cx="347472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Tools &amp; Technologies Used</a:t>
            </a:r>
          </a:p>
        </p:txBody>
      </p:sp>
      <p:sp>
        <p:nvSpPr>
          <p:cNvPr id="87" name="Shape 52"/>
          <p:cNvSpPr/>
          <p:nvPr/>
        </p:nvSpPr>
        <p:spPr>
          <a:xfrm>
            <a:off x="4892040" y="2587751"/>
            <a:ext cx="365761" cy="256033"/>
          </a:xfrm>
          <a:prstGeom prst="rect">
            <a:avLst/>
          </a:prstGeom>
          <a:solidFill>
            <a:srgbClr val="1E8449"/>
          </a:solidFill>
          <a:ln w="12700">
            <a:solidFill>
              <a:srgbClr val="1E8449"/>
            </a:solidFill>
          </a:ln>
        </p:spPr>
        <p:txBody>
          <a:bodyPr lIns="45719" rIns="45719"/>
          <a:lstStyle/>
          <a:p>
            <a:pPr/>
          </a:p>
        </p:txBody>
      </p:sp>
      <p:sp>
        <p:nvSpPr>
          <p:cNvPr id="88" name="Text 53"/>
          <p:cNvSpPr txBox="1"/>
          <p:nvPr/>
        </p:nvSpPr>
        <p:spPr>
          <a:xfrm>
            <a:off x="4892040" y="2652267"/>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15</a:t>
            </a:r>
          </a:p>
        </p:txBody>
      </p:sp>
      <p:sp>
        <p:nvSpPr>
          <p:cNvPr id="89" name="Text 54"/>
          <p:cNvSpPr txBox="1"/>
          <p:nvPr/>
        </p:nvSpPr>
        <p:spPr>
          <a:xfrm>
            <a:off x="5358384" y="2609341"/>
            <a:ext cx="347472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Key Features &amp; Functionalities</a:t>
            </a:r>
          </a:p>
        </p:txBody>
      </p:sp>
      <p:sp>
        <p:nvSpPr>
          <p:cNvPr id="90" name="Shape 55"/>
          <p:cNvSpPr/>
          <p:nvPr/>
        </p:nvSpPr>
        <p:spPr>
          <a:xfrm>
            <a:off x="4892040" y="2962655"/>
            <a:ext cx="365761" cy="256033"/>
          </a:xfrm>
          <a:prstGeom prst="rect">
            <a:avLst/>
          </a:prstGeom>
          <a:solidFill>
            <a:srgbClr val="7C3AED"/>
          </a:solidFill>
          <a:ln w="12700">
            <a:solidFill>
              <a:srgbClr val="7C3AED"/>
            </a:solidFill>
          </a:ln>
        </p:spPr>
        <p:txBody>
          <a:bodyPr lIns="45719" rIns="45719"/>
          <a:lstStyle/>
          <a:p>
            <a:pPr/>
          </a:p>
        </p:txBody>
      </p:sp>
      <p:sp>
        <p:nvSpPr>
          <p:cNvPr id="91" name="Text 56"/>
          <p:cNvSpPr txBox="1"/>
          <p:nvPr/>
        </p:nvSpPr>
        <p:spPr>
          <a:xfrm>
            <a:off x="4892040" y="3027172"/>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16</a:t>
            </a:r>
          </a:p>
        </p:txBody>
      </p:sp>
      <p:sp>
        <p:nvSpPr>
          <p:cNvPr id="92" name="Text 57"/>
          <p:cNvSpPr txBox="1"/>
          <p:nvPr/>
        </p:nvSpPr>
        <p:spPr>
          <a:xfrm>
            <a:off x="5358384" y="2984246"/>
            <a:ext cx="347472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Results &amp; Outcomes</a:t>
            </a:r>
          </a:p>
        </p:txBody>
      </p:sp>
      <p:sp>
        <p:nvSpPr>
          <p:cNvPr id="93" name="Shape 58"/>
          <p:cNvSpPr/>
          <p:nvPr/>
        </p:nvSpPr>
        <p:spPr>
          <a:xfrm>
            <a:off x="4892040" y="3337559"/>
            <a:ext cx="365761" cy="256033"/>
          </a:xfrm>
          <a:prstGeom prst="rect">
            <a:avLst/>
          </a:prstGeom>
          <a:solidFill>
            <a:srgbClr val="D97706"/>
          </a:solidFill>
          <a:ln w="12700">
            <a:solidFill>
              <a:srgbClr val="D97706"/>
            </a:solidFill>
          </a:ln>
        </p:spPr>
        <p:txBody>
          <a:bodyPr lIns="45719" rIns="45719"/>
          <a:lstStyle/>
          <a:p>
            <a:pPr/>
          </a:p>
        </p:txBody>
      </p:sp>
      <p:sp>
        <p:nvSpPr>
          <p:cNvPr id="94" name="Text 59"/>
          <p:cNvSpPr txBox="1"/>
          <p:nvPr/>
        </p:nvSpPr>
        <p:spPr>
          <a:xfrm>
            <a:off x="4892040" y="3402075"/>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17</a:t>
            </a:r>
          </a:p>
        </p:txBody>
      </p:sp>
      <p:sp>
        <p:nvSpPr>
          <p:cNvPr id="95" name="Text 60"/>
          <p:cNvSpPr txBox="1"/>
          <p:nvPr/>
        </p:nvSpPr>
        <p:spPr>
          <a:xfrm>
            <a:off x="5358384" y="3359149"/>
            <a:ext cx="347472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Algorithm &amp; Deployment</a:t>
            </a:r>
          </a:p>
        </p:txBody>
      </p:sp>
      <p:sp>
        <p:nvSpPr>
          <p:cNvPr id="96" name="Shape 61"/>
          <p:cNvSpPr/>
          <p:nvPr/>
        </p:nvSpPr>
        <p:spPr>
          <a:xfrm>
            <a:off x="4892040" y="3712464"/>
            <a:ext cx="365761" cy="256033"/>
          </a:xfrm>
          <a:prstGeom prst="rect">
            <a:avLst/>
          </a:prstGeom>
          <a:solidFill>
            <a:srgbClr val="DC2626"/>
          </a:solidFill>
          <a:ln w="12700">
            <a:solidFill>
              <a:srgbClr val="DC2626"/>
            </a:solidFill>
          </a:ln>
        </p:spPr>
        <p:txBody>
          <a:bodyPr lIns="45719" rIns="45719"/>
          <a:lstStyle/>
          <a:p>
            <a:pPr/>
          </a:p>
        </p:txBody>
      </p:sp>
      <p:sp>
        <p:nvSpPr>
          <p:cNvPr id="97" name="Text 62"/>
          <p:cNvSpPr txBox="1"/>
          <p:nvPr/>
        </p:nvSpPr>
        <p:spPr>
          <a:xfrm>
            <a:off x="4892040" y="3776979"/>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18</a:t>
            </a:r>
          </a:p>
        </p:txBody>
      </p:sp>
      <p:sp>
        <p:nvSpPr>
          <p:cNvPr id="98" name="Text 63"/>
          <p:cNvSpPr txBox="1"/>
          <p:nvPr/>
        </p:nvSpPr>
        <p:spPr>
          <a:xfrm>
            <a:off x="5358384" y="3734053"/>
            <a:ext cx="347472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Conclusion &amp; Future Scope</a:t>
            </a:r>
          </a:p>
        </p:txBody>
      </p:sp>
      <p:sp>
        <p:nvSpPr>
          <p:cNvPr id="99" name="Shape 64"/>
          <p:cNvSpPr/>
          <p:nvPr/>
        </p:nvSpPr>
        <p:spPr>
          <a:xfrm>
            <a:off x="4892040" y="4087367"/>
            <a:ext cx="365761" cy="256033"/>
          </a:xfrm>
          <a:prstGeom prst="rect">
            <a:avLst/>
          </a:prstGeom>
          <a:solidFill>
            <a:srgbClr val="1D4ED8"/>
          </a:solidFill>
          <a:ln w="12700">
            <a:solidFill>
              <a:srgbClr val="1D4ED8"/>
            </a:solidFill>
          </a:ln>
        </p:spPr>
        <p:txBody>
          <a:bodyPr lIns="45719" rIns="45719"/>
          <a:lstStyle/>
          <a:p>
            <a:pPr/>
          </a:p>
        </p:txBody>
      </p:sp>
      <p:sp>
        <p:nvSpPr>
          <p:cNvPr id="100" name="Text 65"/>
          <p:cNvSpPr txBox="1"/>
          <p:nvPr/>
        </p:nvSpPr>
        <p:spPr>
          <a:xfrm>
            <a:off x="4892040" y="4151883"/>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19</a:t>
            </a:r>
          </a:p>
        </p:txBody>
      </p:sp>
      <p:sp>
        <p:nvSpPr>
          <p:cNvPr id="101" name="Text 66"/>
          <p:cNvSpPr txBox="1"/>
          <p:nvPr/>
        </p:nvSpPr>
        <p:spPr>
          <a:xfrm>
            <a:off x="5358384" y="4108957"/>
            <a:ext cx="347472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References</a:t>
            </a:r>
          </a:p>
        </p:txBody>
      </p:sp>
      <p:sp>
        <p:nvSpPr>
          <p:cNvPr id="102" name="Shape 67"/>
          <p:cNvSpPr/>
          <p:nvPr/>
        </p:nvSpPr>
        <p:spPr>
          <a:xfrm>
            <a:off x="4892040" y="4462271"/>
            <a:ext cx="365761" cy="256033"/>
          </a:xfrm>
          <a:prstGeom prst="rect">
            <a:avLst/>
          </a:prstGeom>
          <a:solidFill>
            <a:srgbClr val="1B2A4A"/>
          </a:solidFill>
          <a:ln w="12700">
            <a:solidFill>
              <a:srgbClr val="1B2A4A"/>
            </a:solidFill>
          </a:ln>
        </p:spPr>
        <p:txBody>
          <a:bodyPr lIns="45719" rIns="45719"/>
          <a:lstStyle/>
          <a:p>
            <a:pPr/>
          </a:p>
        </p:txBody>
      </p:sp>
      <p:sp>
        <p:nvSpPr>
          <p:cNvPr id="103" name="Text 68"/>
          <p:cNvSpPr txBox="1"/>
          <p:nvPr/>
        </p:nvSpPr>
        <p:spPr>
          <a:xfrm>
            <a:off x="4892040" y="4526787"/>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defRPr>
            </a:lvl1pPr>
          </a:lstStyle>
          <a:p>
            <a:pPr/>
            <a:r>
              <a:t>20</a:t>
            </a:r>
          </a:p>
        </p:txBody>
      </p:sp>
      <p:sp>
        <p:nvSpPr>
          <p:cNvPr id="104" name="Text 69"/>
          <p:cNvSpPr txBox="1"/>
          <p:nvPr/>
        </p:nvSpPr>
        <p:spPr>
          <a:xfrm>
            <a:off x="5358384" y="4483861"/>
            <a:ext cx="347472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1E293B"/>
                </a:solidFill>
              </a:defRPr>
            </a:lvl1pPr>
          </a:lstStyle>
          <a:p>
            <a:pPr/>
            <a:r>
              <a:t>Thank You</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106"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107"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108"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Abstract</a:t>
            </a:r>
          </a:p>
        </p:txBody>
      </p:sp>
      <p:sp>
        <p:nvSpPr>
          <p:cNvPr id="109"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110"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111"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112"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113"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114"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3 / 20</a:t>
            </a:r>
          </a:p>
        </p:txBody>
      </p:sp>
      <p:sp>
        <p:nvSpPr>
          <p:cNvPr id="115"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Project Abstract</a:t>
            </a:r>
          </a:p>
        </p:txBody>
      </p:sp>
      <p:sp>
        <p:nvSpPr>
          <p:cNvPr id="116" name="Shape 10"/>
          <p:cNvSpPr/>
          <p:nvPr/>
        </p:nvSpPr>
        <p:spPr>
          <a:xfrm>
            <a:off x="320039" y="1078991"/>
            <a:ext cx="5303522" cy="3703322"/>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17" name="Text 11"/>
          <p:cNvSpPr txBox="1"/>
          <p:nvPr/>
        </p:nvSpPr>
        <p:spPr>
          <a:xfrm>
            <a:off x="475487" y="1170431"/>
            <a:ext cx="5010913" cy="2466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900">
                <a:solidFill>
                  <a:srgbClr val="374151"/>
                </a:solidFill>
              </a:defRPr>
            </a:pPr>
            <a:r>
              <a:t>This project develops a Healthcare and Medication Management System using AI, ML, and Microsoft Azure Cloud under the Microsoft Elevate program. The system integrates EHR data, IoT patient monitoring devices, and pharmacy databases into a unified analytics platform.</a:t>
            </a:r>
          </a:p>
          <a:p>
            <a:pPr>
              <a:defRPr sz="900"/>
            </a:pPr>
          </a:p>
          <a:p>
            <a:pPr>
              <a:defRPr sz="900">
                <a:solidFill>
                  <a:srgbClr val="374151"/>
                </a:solidFill>
              </a:defRPr>
            </a:pPr>
            <a:r>
              <a:t>Using Power BI, Python (scikit-learn, TensorFlow), and Azure ML, the platform delivers real-time dashboards visualizing patient vitals, medication adherence, drug interaction alerts, and predictive health risk scores.</a:t>
            </a:r>
          </a:p>
          <a:p>
            <a:pPr>
              <a:defRPr sz="900"/>
            </a:pPr>
          </a:p>
          <a:p>
            <a:pPr>
              <a:defRPr sz="900">
                <a:solidFill>
                  <a:srgbClr val="374151"/>
                </a:solidFill>
              </a:defRPr>
            </a:pPr>
            <a:r>
              <a:t>The primary objective is to reduce medication errors by 35%, improve patient safety, and empower clinicians with evidence-based insights — converting raw healthcare data into intelligent, actionable information for better outcomes.</a:t>
            </a:r>
          </a:p>
          <a:p>
            <a:pPr>
              <a:defRPr sz="900"/>
            </a:pPr>
          </a:p>
          <a:p>
            <a:pPr>
              <a:defRPr sz="900">
                <a:solidFill>
                  <a:srgbClr val="374151"/>
                </a:solidFill>
              </a:defRPr>
            </a:pPr>
            <a:r>
              <a:t>The system employs supervised learning (Random Forest) for 30-day hospital readmission prediction achieving 91% accuracy, K-Means clustering for patient risk stratification, and LSTM networks for medication adherence forecasting — all deployed on HIPAA-compliant Microsoft Azure infrastructure.</a:t>
            </a:r>
          </a:p>
        </p:txBody>
      </p:sp>
      <p:sp>
        <p:nvSpPr>
          <p:cNvPr id="118" name="Shape 12"/>
          <p:cNvSpPr/>
          <p:nvPr/>
        </p:nvSpPr>
        <p:spPr>
          <a:xfrm>
            <a:off x="5852159" y="1078991"/>
            <a:ext cx="2953513" cy="832104"/>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19" name="Text 13"/>
          <p:cNvSpPr txBox="1"/>
          <p:nvPr/>
        </p:nvSpPr>
        <p:spPr>
          <a:xfrm>
            <a:off x="5897879" y="1265173"/>
            <a:ext cx="914400"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400">
                <a:solidFill>
                  <a:srgbClr val="DC2626"/>
                </a:solidFill>
              </a:defRPr>
            </a:lvl1pPr>
          </a:lstStyle>
          <a:p>
            <a:pPr/>
            <a:r>
              <a:t>35%</a:t>
            </a:r>
          </a:p>
        </p:txBody>
      </p:sp>
      <p:sp>
        <p:nvSpPr>
          <p:cNvPr id="120" name="Shape 14"/>
          <p:cNvSpPr/>
          <p:nvPr/>
        </p:nvSpPr>
        <p:spPr>
          <a:xfrm>
            <a:off x="6894576" y="1188720"/>
            <a:ext cx="1" cy="612649"/>
          </a:xfrm>
          <a:prstGeom prst="line">
            <a:avLst/>
          </a:prstGeom>
          <a:ln w="12700">
            <a:solidFill>
              <a:srgbClr val="E2E8F0"/>
            </a:solidFill>
          </a:ln>
        </p:spPr>
        <p:txBody>
          <a:bodyPr lIns="45719" rIns="45719"/>
          <a:lstStyle/>
          <a:p>
            <a:pPr/>
          </a:p>
        </p:txBody>
      </p:sp>
      <p:sp>
        <p:nvSpPr>
          <p:cNvPr id="121" name="Text 15"/>
          <p:cNvSpPr txBox="1"/>
          <p:nvPr/>
        </p:nvSpPr>
        <p:spPr>
          <a:xfrm>
            <a:off x="7013447" y="1309624"/>
            <a:ext cx="1673353"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900">
                <a:solidFill>
                  <a:srgbClr val="1E293B"/>
                </a:solidFill>
              </a:defRPr>
            </a:pPr>
            <a:r>
              <a:t>Reduction in</a:t>
            </a:r>
          </a:p>
          <a:p>
            <a:pPr>
              <a:defRPr sz="900">
                <a:solidFill>
                  <a:srgbClr val="1E293B"/>
                </a:solidFill>
              </a:defRPr>
            </a:pPr>
            <a:r>
              <a:t>Medication Errors</a:t>
            </a:r>
          </a:p>
        </p:txBody>
      </p:sp>
      <p:sp>
        <p:nvSpPr>
          <p:cNvPr id="122" name="Shape 16"/>
          <p:cNvSpPr/>
          <p:nvPr/>
        </p:nvSpPr>
        <p:spPr>
          <a:xfrm>
            <a:off x="5852159" y="2002535"/>
            <a:ext cx="2953513" cy="832104"/>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23" name="Text 17"/>
          <p:cNvSpPr txBox="1"/>
          <p:nvPr/>
        </p:nvSpPr>
        <p:spPr>
          <a:xfrm>
            <a:off x="5897879" y="2188718"/>
            <a:ext cx="914400"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400">
                <a:solidFill>
                  <a:srgbClr val="D97706"/>
                </a:solidFill>
              </a:defRPr>
            </a:lvl1pPr>
          </a:lstStyle>
          <a:p>
            <a:pPr/>
            <a:r>
              <a:t>2.3B</a:t>
            </a:r>
          </a:p>
        </p:txBody>
      </p:sp>
      <p:sp>
        <p:nvSpPr>
          <p:cNvPr id="124" name="Shape 18"/>
          <p:cNvSpPr/>
          <p:nvPr/>
        </p:nvSpPr>
        <p:spPr>
          <a:xfrm>
            <a:off x="6894576" y="2112264"/>
            <a:ext cx="1" cy="612649"/>
          </a:xfrm>
          <a:prstGeom prst="line">
            <a:avLst/>
          </a:prstGeom>
          <a:ln w="12700">
            <a:solidFill>
              <a:srgbClr val="E2E8F0"/>
            </a:solidFill>
          </a:ln>
        </p:spPr>
        <p:txBody>
          <a:bodyPr lIns="45719" rIns="45719"/>
          <a:lstStyle/>
          <a:p>
            <a:pPr/>
          </a:p>
        </p:txBody>
      </p:sp>
      <p:sp>
        <p:nvSpPr>
          <p:cNvPr id="125" name="Text 19"/>
          <p:cNvSpPr txBox="1"/>
          <p:nvPr/>
        </p:nvSpPr>
        <p:spPr>
          <a:xfrm>
            <a:off x="7013447" y="2233168"/>
            <a:ext cx="1673353"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900">
                <a:solidFill>
                  <a:srgbClr val="1E293B"/>
                </a:solidFill>
              </a:defRPr>
            </a:pPr>
            <a:r>
              <a:t>People with</a:t>
            </a:r>
          </a:p>
          <a:p>
            <a:pPr>
              <a:defRPr sz="900">
                <a:solidFill>
                  <a:srgbClr val="1E293B"/>
                </a:solidFill>
              </a:defRPr>
            </a:pPr>
            <a:r>
              <a:t>Chronic Diseases</a:t>
            </a:r>
          </a:p>
        </p:txBody>
      </p:sp>
      <p:sp>
        <p:nvSpPr>
          <p:cNvPr id="126" name="Shape 20"/>
          <p:cNvSpPr/>
          <p:nvPr/>
        </p:nvSpPr>
        <p:spPr>
          <a:xfrm>
            <a:off x="5852159" y="2926079"/>
            <a:ext cx="2953513" cy="832104"/>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27" name="Text 21"/>
          <p:cNvSpPr txBox="1"/>
          <p:nvPr/>
        </p:nvSpPr>
        <p:spPr>
          <a:xfrm>
            <a:off x="5897879" y="3112262"/>
            <a:ext cx="914400"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400">
                <a:solidFill>
                  <a:srgbClr val="1E8449"/>
                </a:solidFill>
              </a:defRPr>
            </a:lvl1pPr>
          </a:lstStyle>
          <a:p>
            <a:pPr/>
            <a:r>
              <a:t>91%</a:t>
            </a:r>
          </a:p>
        </p:txBody>
      </p:sp>
      <p:sp>
        <p:nvSpPr>
          <p:cNvPr id="128" name="Shape 22"/>
          <p:cNvSpPr/>
          <p:nvPr/>
        </p:nvSpPr>
        <p:spPr>
          <a:xfrm>
            <a:off x="6894576" y="3035808"/>
            <a:ext cx="1" cy="612649"/>
          </a:xfrm>
          <a:prstGeom prst="line">
            <a:avLst/>
          </a:prstGeom>
          <a:ln w="12700">
            <a:solidFill>
              <a:srgbClr val="E2E8F0"/>
            </a:solidFill>
          </a:ln>
        </p:spPr>
        <p:txBody>
          <a:bodyPr lIns="45719" rIns="45719"/>
          <a:lstStyle/>
          <a:p>
            <a:pPr/>
          </a:p>
        </p:txBody>
      </p:sp>
      <p:sp>
        <p:nvSpPr>
          <p:cNvPr id="129" name="Text 23"/>
          <p:cNvSpPr txBox="1"/>
          <p:nvPr/>
        </p:nvSpPr>
        <p:spPr>
          <a:xfrm>
            <a:off x="7013447" y="3156712"/>
            <a:ext cx="1673353"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900">
                <a:solidFill>
                  <a:srgbClr val="1E293B"/>
                </a:solidFill>
              </a:defRPr>
            </a:pPr>
            <a:r>
              <a:t>ML Predictive</a:t>
            </a:r>
          </a:p>
          <a:p>
            <a:pPr>
              <a:defRPr sz="900">
                <a:solidFill>
                  <a:srgbClr val="1E293B"/>
                </a:solidFill>
              </a:defRPr>
            </a:pPr>
            <a:r>
              <a:t>Model Accuracy</a:t>
            </a:r>
          </a:p>
        </p:txBody>
      </p:sp>
      <p:sp>
        <p:nvSpPr>
          <p:cNvPr id="130" name="Shape 24"/>
          <p:cNvSpPr/>
          <p:nvPr/>
        </p:nvSpPr>
        <p:spPr>
          <a:xfrm>
            <a:off x="5852159" y="3849623"/>
            <a:ext cx="2953513" cy="832104"/>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31" name="Text 25"/>
          <p:cNvSpPr txBox="1"/>
          <p:nvPr/>
        </p:nvSpPr>
        <p:spPr>
          <a:xfrm>
            <a:off x="5897879" y="3851656"/>
            <a:ext cx="914400" cy="828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400">
                <a:solidFill>
                  <a:srgbClr val="1D4ED8"/>
                </a:solidFill>
              </a:defRPr>
            </a:lvl1pPr>
          </a:lstStyle>
          <a:p>
            <a:pPr/>
            <a:r>
              <a:t>HIPAA</a:t>
            </a:r>
          </a:p>
        </p:txBody>
      </p:sp>
      <p:sp>
        <p:nvSpPr>
          <p:cNvPr id="132" name="Shape 26"/>
          <p:cNvSpPr/>
          <p:nvPr/>
        </p:nvSpPr>
        <p:spPr>
          <a:xfrm>
            <a:off x="6894576" y="3959352"/>
            <a:ext cx="1" cy="612649"/>
          </a:xfrm>
          <a:prstGeom prst="line">
            <a:avLst/>
          </a:prstGeom>
          <a:ln w="12700">
            <a:solidFill>
              <a:srgbClr val="E2E8F0"/>
            </a:solidFill>
          </a:ln>
        </p:spPr>
        <p:txBody>
          <a:bodyPr lIns="45719" rIns="45719"/>
          <a:lstStyle/>
          <a:p>
            <a:pPr/>
          </a:p>
        </p:txBody>
      </p:sp>
      <p:sp>
        <p:nvSpPr>
          <p:cNvPr id="133" name="Text 27"/>
          <p:cNvSpPr txBox="1"/>
          <p:nvPr/>
        </p:nvSpPr>
        <p:spPr>
          <a:xfrm>
            <a:off x="7013447" y="4080256"/>
            <a:ext cx="1673353"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900">
                <a:solidFill>
                  <a:srgbClr val="1E293B"/>
                </a:solidFill>
              </a:defRPr>
            </a:pPr>
            <a:r>
              <a:t>Full Compliance</a:t>
            </a:r>
          </a:p>
          <a:p>
            <a:pPr>
              <a:defRPr sz="900">
                <a:solidFill>
                  <a:srgbClr val="1E293B"/>
                </a:solidFill>
              </a:defRPr>
            </a:pPr>
            <a:r>
              <a:t>Achieved</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135"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136"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137"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Project Overview &amp; Objectives</a:t>
            </a:r>
          </a:p>
        </p:txBody>
      </p:sp>
      <p:sp>
        <p:nvSpPr>
          <p:cNvPr id="138"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139"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140"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141"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142"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143"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4 / 20</a:t>
            </a:r>
          </a:p>
        </p:txBody>
      </p:sp>
      <p:sp>
        <p:nvSpPr>
          <p:cNvPr id="144"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What is This Project About?</a:t>
            </a:r>
          </a:p>
        </p:txBody>
      </p:sp>
      <p:sp>
        <p:nvSpPr>
          <p:cNvPr id="145" name="Text 10"/>
          <p:cNvSpPr txBox="1"/>
          <p:nvPr/>
        </p:nvSpPr>
        <p:spPr>
          <a:xfrm>
            <a:off x="365760" y="1082293"/>
            <a:ext cx="841248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374151"/>
                </a:solidFill>
              </a:defRPr>
            </a:lvl1pPr>
          </a:lstStyle>
          <a:p>
            <a:pPr/>
            <a:r>
              <a:t>A comprehensive AI-powered platform transforming how healthcare providers manage patient care and medication workflows.</a:t>
            </a:r>
          </a:p>
        </p:txBody>
      </p:sp>
      <p:sp>
        <p:nvSpPr>
          <p:cNvPr id="146" name="Shape 11"/>
          <p:cNvSpPr/>
          <p:nvPr/>
        </p:nvSpPr>
        <p:spPr>
          <a:xfrm>
            <a:off x="320040" y="1371600"/>
            <a:ext cx="8503920" cy="109728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47" name="Shape 12"/>
          <p:cNvSpPr/>
          <p:nvPr/>
        </p:nvSpPr>
        <p:spPr>
          <a:xfrm>
            <a:off x="320040" y="1371600"/>
            <a:ext cx="8503920" cy="292609"/>
          </a:xfrm>
          <a:prstGeom prst="rect">
            <a:avLst/>
          </a:prstGeom>
          <a:solidFill>
            <a:srgbClr val="1B2A4A"/>
          </a:solidFill>
          <a:ln w="12700">
            <a:solidFill>
              <a:srgbClr val="1B2A4A"/>
            </a:solidFill>
          </a:ln>
        </p:spPr>
        <p:txBody>
          <a:bodyPr lIns="45719" rIns="45719"/>
          <a:lstStyle/>
          <a:p>
            <a:pPr/>
          </a:p>
        </p:txBody>
      </p:sp>
      <p:sp>
        <p:nvSpPr>
          <p:cNvPr id="148" name="Text 13"/>
          <p:cNvSpPr txBox="1"/>
          <p:nvPr/>
        </p:nvSpPr>
        <p:spPr>
          <a:xfrm>
            <a:off x="320040" y="1441703"/>
            <a:ext cx="850392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Project Description</a:t>
            </a:r>
          </a:p>
        </p:txBody>
      </p:sp>
      <p:sp>
        <p:nvSpPr>
          <p:cNvPr id="149" name="Text 14"/>
          <p:cNvSpPr txBox="1"/>
          <p:nvPr/>
        </p:nvSpPr>
        <p:spPr>
          <a:xfrm>
            <a:off x="475487" y="1682495"/>
            <a:ext cx="8193025" cy="789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900">
                <a:solidFill>
                  <a:srgbClr val="374151"/>
                </a:solidFill>
              </a:defRPr>
            </a:lvl1pPr>
          </a:lstStyle>
          <a:p>
            <a:pPr/>
            <a:r>
              <a:t>This project uses Power BI and Azure ML — skills acquired through the Microsoft Elevate program (Weeks 1–8) — to process data from Electronic Health Records (EHR), IoT health monitoring devices, and pharmacy databases to deliver real-time dashboards. The platform tracks patient vitals, medication schedules, drug interactions, and chronic disease progression using DAX-powered analytics and Python-based ML models. Key algorithms include supervised learning for readmission prediction (Random Forest, 91% accuracy), CNN-based medical image analysis, and K-Means clustering for patient risk stratification. Deployed on Microsoft Azure with HIPAA-compliant security and role-based access control.</a:t>
            </a:r>
          </a:p>
        </p:txBody>
      </p:sp>
      <p:sp>
        <p:nvSpPr>
          <p:cNvPr id="150" name="Shape 15"/>
          <p:cNvSpPr/>
          <p:nvPr/>
        </p:nvSpPr>
        <p:spPr>
          <a:xfrm>
            <a:off x="320039" y="2542032"/>
            <a:ext cx="4224530" cy="694945"/>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51" name="Shape 16"/>
          <p:cNvSpPr/>
          <p:nvPr/>
        </p:nvSpPr>
        <p:spPr>
          <a:xfrm>
            <a:off x="320040" y="2542032"/>
            <a:ext cx="59436" cy="694945"/>
          </a:xfrm>
          <a:prstGeom prst="rect">
            <a:avLst/>
          </a:prstGeom>
          <a:solidFill>
            <a:srgbClr val="1D4ED8"/>
          </a:solidFill>
          <a:ln w="12700">
            <a:solidFill>
              <a:srgbClr val="1D4ED8"/>
            </a:solidFill>
          </a:ln>
        </p:spPr>
        <p:txBody>
          <a:bodyPr lIns="45719" rIns="45719"/>
          <a:lstStyle/>
          <a:p>
            <a:pPr/>
          </a:p>
        </p:txBody>
      </p:sp>
      <p:sp>
        <p:nvSpPr>
          <p:cNvPr id="152" name="Text 17"/>
          <p:cNvSpPr txBox="1"/>
          <p:nvPr/>
        </p:nvSpPr>
        <p:spPr>
          <a:xfrm>
            <a:off x="429768" y="2641345"/>
            <a:ext cx="40690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Develop Unified Analytics Platform</a:t>
            </a:r>
          </a:p>
        </p:txBody>
      </p:sp>
      <p:sp>
        <p:nvSpPr>
          <p:cNvPr id="153" name="Text 18"/>
          <p:cNvSpPr txBox="1"/>
          <p:nvPr/>
        </p:nvSpPr>
        <p:spPr>
          <a:xfrm>
            <a:off x="475488" y="2843783"/>
            <a:ext cx="3977640"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Build a centralized Power BI dashboard integrating EHR, IoT vitals, and pharmacy data into a single view for all care providers and administrators.</a:t>
            </a:r>
          </a:p>
        </p:txBody>
      </p:sp>
      <p:sp>
        <p:nvSpPr>
          <p:cNvPr id="154" name="Shape 19"/>
          <p:cNvSpPr/>
          <p:nvPr/>
        </p:nvSpPr>
        <p:spPr>
          <a:xfrm>
            <a:off x="4754879" y="2542032"/>
            <a:ext cx="4224530" cy="694945"/>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55" name="Shape 20"/>
          <p:cNvSpPr/>
          <p:nvPr/>
        </p:nvSpPr>
        <p:spPr>
          <a:xfrm>
            <a:off x="4754879" y="2542032"/>
            <a:ext cx="59436" cy="694945"/>
          </a:xfrm>
          <a:prstGeom prst="rect">
            <a:avLst/>
          </a:prstGeom>
          <a:solidFill>
            <a:srgbClr val="0D9488"/>
          </a:solidFill>
          <a:ln w="12700">
            <a:solidFill>
              <a:srgbClr val="0D9488"/>
            </a:solidFill>
          </a:ln>
        </p:spPr>
        <p:txBody>
          <a:bodyPr lIns="45719" rIns="45719"/>
          <a:lstStyle/>
          <a:p>
            <a:pPr/>
          </a:p>
        </p:txBody>
      </p:sp>
      <p:sp>
        <p:nvSpPr>
          <p:cNvPr id="156" name="Text 21"/>
          <p:cNvSpPr txBox="1"/>
          <p:nvPr/>
        </p:nvSpPr>
        <p:spPr>
          <a:xfrm>
            <a:off x="4864608" y="2641345"/>
            <a:ext cx="40690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Intelligent Medication Management</a:t>
            </a:r>
          </a:p>
        </p:txBody>
      </p:sp>
      <p:sp>
        <p:nvSpPr>
          <p:cNvPr id="157" name="Text 22"/>
          <p:cNvSpPr txBox="1"/>
          <p:nvPr/>
        </p:nvSpPr>
        <p:spPr>
          <a:xfrm>
            <a:off x="4910328" y="2843783"/>
            <a:ext cx="3977640"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Create an AI-powered medication error detection engine with real-time drug interaction alerts, dosage verification, and smart adherence tracking.</a:t>
            </a:r>
          </a:p>
        </p:txBody>
      </p:sp>
      <p:sp>
        <p:nvSpPr>
          <p:cNvPr id="158" name="Shape 23"/>
          <p:cNvSpPr/>
          <p:nvPr/>
        </p:nvSpPr>
        <p:spPr>
          <a:xfrm>
            <a:off x="320039" y="3310128"/>
            <a:ext cx="4224530" cy="694945"/>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59" name="Shape 24"/>
          <p:cNvSpPr/>
          <p:nvPr/>
        </p:nvSpPr>
        <p:spPr>
          <a:xfrm>
            <a:off x="320040" y="3310128"/>
            <a:ext cx="59436" cy="694945"/>
          </a:xfrm>
          <a:prstGeom prst="rect">
            <a:avLst/>
          </a:prstGeom>
          <a:solidFill>
            <a:srgbClr val="1E8449"/>
          </a:solidFill>
          <a:ln w="12700">
            <a:solidFill>
              <a:srgbClr val="1E8449"/>
            </a:solidFill>
          </a:ln>
        </p:spPr>
        <p:txBody>
          <a:bodyPr lIns="45719" rIns="45719"/>
          <a:lstStyle/>
          <a:p>
            <a:pPr/>
          </a:p>
        </p:txBody>
      </p:sp>
      <p:sp>
        <p:nvSpPr>
          <p:cNvPr id="160" name="Text 25"/>
          <p:cNvSpPr txBox="1"/>
          <p:nvPr/>
        </p:nvSpPr>
        <p:spPr>
          <a:xfrm>
            <a:off x="429768" y="3409441"/>
            <a:ext cx="40690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Real-Time Patient Monitoring</a:t>
            </a:r>
          </a:p>
        </p:txBody>
      </p:sp>
      <p:sp>
        <p:nvSpPr>
          <p:cNvPr id="161" name="Text 26"/>
          <p:cNvSpPr txBox="1"/>
          <p:nvPr/>
        </p:nvSpPr>
        <p:spPr>
          <a:xfrm>
            <a:off x="475488" y="3611879"/>
            <a:ext cx="3977640"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Deploy IoT-connected vitals dashboards tracking heart rate, blood pressure, SpO2, and temperature with instant clinical alerts for ICU and critical care patients.</a:t>
            </a:r>
          </a:p>
        </p:txBody>
      </p:sp>
      <p:sp>
        <p:nvSpPr>
          <p:cNvPr id="162" name="Shape 27"/>
          <p:cNvSpPr/>
          <p:nvPr/>
        </p:nvSpPr>
        <p:spPr>
          <a:xfrm>
            <a:off x="4754879" y="3310128"/>
            <a:ext cx="4224530" cy="694945"/>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63" name="Shape 28"/>
          <p:cNvSpPr/>
          <p:nvPr/>
        </p:nvSpPr>
        <p:spPr>
          <a:xfrm>
            <a:off x="4754879" y="3310128"/>
            <a:ext cx="59436" cy="694945"/>
          </a:xfrm>
          <a:prstGeom prst="rect">
            <a:avLst/>
          </a:prstGeom>
          <a:solidFill>
            <a:srgbClr val="7C3AED"/>
          </a:solidFill>
          <a:ln w="12700">
            <a:solidFill>
              <a:srgbClr val="7C3AED"/>
            </a:solidFill>
          </a:ln>
        </p:spPr>
        <p:txBody>
          <a:bodyPr lIns="45719" rIns="45719"/>
          <a:lstStyle/>
          <a:p>
            <a:pPr/>
          </a:p>
        </p:txBody>
      </p:sp>
      <p:sp>
        <p:nvSpPr>
          <p:cNvPr id="164" name="Text 29"/>
          <p:cNvSpPr txBox="1"/>
          <p:nvPr/>
        </p:nvSpPr>
        <p:spPr>
          <a:xfrm>
            <a:off x="4864608" y="3409441"/>
            <a:ext cx="40690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Predictive ML Models</a:t>
            </a:r>
          </a:p>
        </p:txBody>
      </p:sp>
      <p:sp>
        <p:nvSpPr>
          <p:cNvPr id="165" name="Text 30"/>
          <p:cNvSpPr txBox="1"/>
          <p:nvPr/>
        </p:nvSpPr>
        <p:spPr>
          <a:xfrm>
            <a:off x="4910328" y="3611879"/>
            <a:ext cx="3977640"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Design and train Random Forest (readmission), K-Means (risk stratification), and LSTM (adherence forecasting) models for proactive patient care.</a:t>
            </a:r>
          </a:p>
        </p:txBody>
      </p:sp>
      <p:sp>
        <p:nvSpPr>
          <p:cNvPr id="166" name="Shape 31"/>
          <p:cNvSpPr/>
          <p:nvPr/>
        </p:nvSpPr>
        <p:spPr>
          <a:xfrm>
            <a:off x="320039" y="4078223"/>
            <a:ext cx="4224530" cy="694945"/>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67" name="Shape 32"/>
          <p:cNvSpPr/>
          <p:nvPr/>
        </p:nvSpPr>
        <p:spPr>
          <a:xfrm>
            <a:off x="320040" y="4078223"/>
            <a:ext cx="59436" cy="694945"/>
          </a:xfrm>
          <a:prstGeom prst="rect">
            <a:avLst/>
          </a:prstGeom>
          <a:solidFill>
            <a:srgbClr val="D97706"/>
          </a:solidFill>
          <a:ln w="12700">
            <a:solidFill>
              <a:srgbClr val="D97706"/>
            </a:solidFill>
          </a:ln>
        </p:spPr>
        <p:txBody>
          <a:bodyPr lIns="45719" rIns="45719"/>
          <a:lstStyle/>
          <a:p>
            <a:pPr/>
          </a:p>
        </p:txBody>
      </p:sp>
      <p:sp>
        <p:nvSpPr>
          <p:cNvPr id="168" name="Text 33"/>
          <p:cNvSpPr txBox="1"/>
          <p:nvPr/>
        </p:nvSpPr>
        <p:spPr>
          <a:xfrm>
            <a:off x="429768" y="4177538"/>
            <a:ext cx="40690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Azure Cloud Deployment</a:t>
            </a:r>
          </a:p>
        </p:txBody>
      </p:sp>
      <p:sp>
        <p:nvSpPr>
          <p:cNvPr id="169" name="Text 34"/>
          <p:cNvSpPr txBox="1"/>
          <p:nvPr/>
        </p:nvSpPr>
        <p:spPr>
          <a:xfrm>
            <a:off x="475488" y="4379976"/>
            <a:ext cx="3977640"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Deploy the entire system on Microsoft Azure with HIPAA-compliant security, role-based access control, AES-256 encryption, and 99.9% uptime SLA.</a:t>
            </a:r>
          </a:p>
        </p:txBody>
      </p:sp>
      <p:sp>
        <p:nvSpPr>
          <p:cNvPr id="170" name="Shape 35"/>
          <p:cNvSpPr/>
          <p:nvPr/>
        </p:nvSpPr>
        <p:spPr>
          <a:xfrm>
            <a:off x="4754879" y="4078223"/>
            <a:ext cx="4224530" cy="694945"/>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71" name="Shape 36"/>
          <p:cNvSpPr/>
          <p:nvPr/>
        </p:nvSpPr>
        <p:spPr>
          <a:xfrm>
            <a:off x="4754879" y="4078223"/>
            <a:ext cx="59436" cy="694945"/>
          </a:xfrm>
          <a:prstGeom prst="rect">
            <a:avLst/>
          </a:prstGeom>
          <a:solidFill>
            <a:srgbClr val="DC2626"/>
          </a:solidFill>
          <a:ln w="12700">
            <a:solidFill>
              <a:srgbClr val="DC2626"/>
            </a:solidFill>
          </a:ln>
        </p:spPr>
        <p:txBody>
          <a:bodyPr lIns="45719" rIns="45719"/>
          <a:lstStyle/>
          <a:p>
            <a:pPr/>
          </a:p>
        </p:txBody>
      </p:sp>
      <p:sp>
        <p:nvSpPr>
          <p:cNvPr id="172" name="Text 37"/>
          <p:cNvSpPr txBox="1"/>
          <p:nvPr/>
        </p:nvSpPr>
        <p:spPr>
          <a:xfrm>
            <a:off x="4864608" y="4177538"/>
            <a:ext cx="40690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Evidence-Based Clinical Insights</a:t>
            </a:r>
          </a:p>
        </p:txBody>
      </p:sp>
      <p:sp>
        <p:nvSpPr>
          <p:cNvPr id="173" name="Text 38"/>
          <p:cNvSpPr txBox="1"/>
          <p:nvPr/>
        </p:nvSpPr>
        <p:spPr>
          <a:xfrm>
            <a:off x="4910328" y="4379976"/>
            <a:ext cx="3977640"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Empower clinicians with AI-generated health risk scores, chronic disease progression forecasts, and drug interaction knowledge graphs to improve patient outcomes.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175"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176"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177"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Software Requirements Specification</a:t>
            </a:r>
          </a:p>
        </p:txBody>
      </p:sp>
      <p:sp>
        <p:nvSpPr>
          <p:cNvPr id="178"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179"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180"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181"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182"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183"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5 / 20</a:t>
            </a:r>
          </a:p>
        </p:txBody>
      </p:sp>
      <p:sp>
        <p:nvSpPr>
          <p:cNvPr id="184"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System Requirements &amp; Library Stack</a:t>
            </a:r>
          </a:p>
        </p:txBody>
      </p:sp>
      <p:sp>
        <p:nvSpPr>
          <p:cNvPr id="185" name="Shape 10"/>
          <p:cNvSpPr/>
          <p:nvPr/>
        </p:nvSpPr>
        <p:spPr>
          <a:xfrm>
            <a:off x="320039" y="1078991"/>
            <a:ext cx="4224530" cy="141732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86" name="Shape 11"/>
          <p:cNvSpPr/>
          <p:nvPr/>
        </p:nvSpPr>
        <p:spPr>
          <a:xfrm>
            <a:off x="320039" y="1078991"/>
            <a:ext cx="4224530" cy="292609"/>
          </a:xfrm>
          <a:prstGeom prst="rect">
            <a:avLst/>
          </a:prstGeom>
          <a:solidFill>
            <a:srgbClr val="1B2A4A"/>
          </a:solidFill>
          <a:ln w="12700">
            <a:solidFill>
              <a:srgbClr val="1B2A4A"/>
            </a:solidFill>
          </a:ln>
        </p:spPr>
        <p:txBody>
          <a:bodyPr lIns="45719" rIns="45719"/>
          <a:lstStyle/>
          <a:p>
            <a:pPr/>
          </a:p>
        </p:txBody>
      </p:sp>
      <p:sp>
        <p:nvSpPr>
          <p:cNvPr id="187" name="Text 12"/>
          <p:cNvSpPr txBox="1"/>
          <p:nvPr/>
        </p:nvSpPr>
        <p:spPr>
          <a:xfrm>
            <a:off x="320039" y="1149095"/>
            <a:ext cx="422453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System Requirements</a:t>
            </a:r>
          </a:p>
        </p:txBody>
      </p:sp>
      <p:sp>
        <p:nvSpPr>
          <p:cNvPr id="188" name="Text 13"/>
          <p:cNvSpPr txBox="1"/>
          <p:nvPr/>
        </p:nvSpPr>
        <p:spPr>
          <a:xfrm>
            <a:off x="475488" y="1498091"/>
            <a:ext cx="3950208" cy="853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800">
                <a:solidFill>
                  <a:srgbClr val="374151"/>
                </a:solidFill>
              </a:defRPr>
            </a:pPr>
            <a:r>
              <a:t>OS: </a:t>
            </a:r>
            <a:r>
              <a:rPr b="0"/>
              <a:t>Windows 10/11 or Ubuntu 20.04+</a:t>
            </a:r>
            <a:endParaRPr b="0"/>
          </a:p>
          <a:p>
            <a:pPr>
              <a:defRPr b="1" sz="800">
                <a:solidFill>
                  <a:srgbClr val="374151"/>
                </a:solidFill>
              </a:defRPr>
            </a:pPr>
            <a:r>
              <a:t>RAM: </a:t>
            </a:r>
            <a:r>
              <a:rPr b="0"/>
              <a:t>Minimum 8 GB (16 GB recommended for deep learning)</a:t>
            </a:r>
            <a:endParaRPr b="0"/>
          </a:p>
          <a:p>
            <a:pPr>
              <a:defRPr b="1" sz="800">
                <a:solidFill>
                  <a:srgbClr val="374151"/>
                </a:solidFill>
              </a:defRPr>
            </a:pPr>
            <a:r>
              <a:t>Python: </a:t>
            </a:r>
            <a:r>
              <a:rPr b="0"/>
              <a:t>Version 3.9+ with Anaconda distribution</a:t>
            </a:r>
            <a:endParaRPr b="0"/>
          </a:p>
          <a:p>
            <a:pPr>
              <a:defRPr b="1" sz="800">
                <a:solidFill>
                  <a:srgbClr val="374151"/>
                </a:solidFill>
              </a:defRPr>
            </a:pPr>
            <a:r>
              <a:t>GPU: </a:t>
            </a:r>
            <a:r>
              <a:rPr b="0"/>
              <a:t>NVIDIA CUDA-compatible GPU (for CNN/TensorFlow training)</a:t>
            </a:r>
            <a:endParaRPr b="0"/>
          </a:p>
          <a:p>
            <a:pPr>
              <a:defRPr b="1" sz="800">
                <a:solidFill>
                  <a:srgbClr val="374151"/>
                </a:solidFill>
              </a:defRPr>
            </a:pPr>
            <a:r>
              <a:t>Cloud: </a:t>
            </a:r>
            <a:r>
              <a:rPr b="0"/>
              <a:t>Microsoft Azure subscription (Free Tier supported)</a:t>
            </a:r>
            <a:endParaRPr b="0"/>
          </a:p>
          <a:p>
            <a:pPr>
              <a:defRPr b="1" sz="800">
                <a:solidFill>
                  <a:srgbClr val="374151"/>
                </a:solidFill>
              </a:defRPr>
            </a:pPr>
            <a:r>
              <a:t>IDE: </a:t>
            </a:r>
            <a:r>
              <a:rPr b="0"/>
              <a:t>VS Code + Jupyter Notebook</a:t>
            </a:r>
          </a:p>
        </p:txBody>
      </p:sp>
      <p:sp>
        <p:nvSpPr>
          <p:cNvPr id="189" name="Shape 14"/>
          <p:cNvSpPr/>
          <p:nvPr/>
        </p:nvSpPr>
        <p:spPr>
          <a:xfrm>
            <a:off x="4690871" y="1078991"/>
            <a:ext cx="4133089" cy="141732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90" name="Shape 15"/>
          <p:cNvSpPr/>
          <p:nvPr/>
        </p:nvSpPr>
        <p:spPr>
          <a:xfrm>
            <a:off x="4690871" y="1078991"/>
            <a:ext cx="4133089" cy="292609"/>
          </a:xfrm>
          <a:prstGeom prst="rect">
            <a:avLst/>
          </a:prstGeom>
          <a:solidFill>
            <a:srgbClr val="1B2A4A"/>
          </a:solidFill>
          <a:ln w="12700">
            <a:solidFill>
              <a:srgbClr val="1B2A4A"/>
            </a:solidFill>
          </a:ln>
        </p:spPr>
        <p:txBody>
          <a:bodyPr lIns="45719" rIns="45719"/>
          <a:lstStyle/>
          <a:p>
            <a:pPr/>
          </a:p>
        </p:txBody>
      </p:sp>
      <p:sp>
        <p:nvSpPr>
          <p:cNvPr id="191" name="Text 16"/>
          <p:cNvSpPr txBox="1"/>
          <p:nvPr/>
        </p:nvSpPr>
        <p:spPr>
          <a:xfrm>
            <a:off x="4690871" y="1149095"/>
            <a:ext cx="4133089"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Libraries Required to Build the Model</a:t>
            </a:r>
          </a:p>
        </p:txBody>
      </p:sp>
      <p:sp>
        <p:nvSpPr>
          <p:cNvPr id="192" name="Text 17"/>
          <p:cNvSpPr txBox="1"/>
          <p:nvPr/>
        </p:nvSpPr>
        <p:spPr>
          <a:xfrm>
            <a:off x="4846320" y="1498091"/>
            <a:ext cx="3858769" cy="853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800">
                <a:solidFill>
                  <a:srgbClr val="374151"/>
                </a:solidFill>
              </a:defRPr>
            </a:pPr>
            <a:r>
              <a:t>Data: </a:t>
            </a:r>
            <a:r>
              <a:rPr b="0"/>
              <a:t>Pandas, NumPy, Matplotlib, Seaborn</a:t>
            </a:r>
            <a:endParaRPr b="0"/>
          </a:p>
          <a:p>
            <a:pPr>
              <a:defRPr b="1" sz="800">
                <a:solidFill>
                  <a:srgbClr val="374151"/>
                </a:solidFill>
              </a:defRPr>
            </a:pPr>
            <a:r>
              <a:t>ML: </a:t>
            </a:r>
            <a:r>
              <a:rPr b="0"/>
              <a:t>Scikit-learn, Imbalanced-learn (SMOTE), SHAP</a:t>
            </a:r>
            <a:endParaRPr b="0"/>
          </a:p>
          <a:p>
            <a:pPr>
              <a:defRPr b="1" sz="800">
                <a:solidFill>
                  <a:srgbClr val="374151"/>
                </a:solidFill>
              </a:defRPr>
            </a:pPr>
            <a:r>
              <a:t>Deep Learning: </a:t>
            </a:r>
            <a:r>
              <a:rPr b="0"/>
              <a:t>TensorFlow 2.x, Keras, OpenCV</a:t>
            </a:r>
            <a:endParaRPr b="0"/>
          </a:p>
          <a:p>
            <a:pPr>
              <a:defRPr b="1" sz="800">
                <a:solidFill>
                  <a:srgbClr val="374151"/>
                </a:solidFill>
              </a:defRPr>
            </a:pPr>
            <a:r>
              <a:t>BI: </a:t>
            </a:r>
            <a:r>
              <a:rPr b="0"/>
              <a:t>Microsoft Power BI Desktop, Power Query (M), DAX</a:t>
            </a:r>
            <a:endParaRPr b="0"/>
          </a:p>
          <a:p>
            <a:pPr>
              <a:defRPr b="1" sz="800">
                <a:solidFill>
                  <a:srgbClr val="374151"/>
                </a:solidFill>
              </a:defRPr>
            </a:pPr>
            <a:r>
              <a:t>Cloud: </a:t>
            </a:r>
            <a:r>
              <a:rPr b="0"/>
              <a:t>Azure ML SDK, Azure IoT SDK, azure-storage-blob</a:t>
            </a:r>
            <a:endParaRPr b="0"/>
          </a:p>
          <a:p>
            <a:pPr>
              <a:defRPr b="1" sz="800">
                <a:solidFill>
                  <a:srgbClr val="374151"/>
                </a:solidFill>
              </a:defRPr>
            </a:pPr>
            <a:r>
              <a:t>Deployment: </a:t>
            </a:r>
            <a:r>
              <a:rPr b="0"/>
              <a:t>Streamlit, Flask, GitHub Actions (CI/CD)</a:t>
            </a:r>
          </a:p>
        </p:txBody>
      </p:sp>
      <p:sp>
        <p:nvSpPr>
          <p:cNvPr id="193" name="Shape 18"/>
          <p:cNvSpPr/>
          <p:nvPr/>
        </p:nvSpPr>
        <p:spPr>
          <a:xfrm>
            <a:off x="320039" y="2578607"/>
            <a:ext cx="2816354" cy="1005840"/>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94" name="Shape 19"/>
          <p:cNvSpPr/>
          <p:nvPr/>
        </p:nvSpPr>
        <p:spPr>
          <a:xfrm>
            <a:off x="320039" y="2578607"/>
            <a:ext cx="2816354" cy="274321"/>
          </a:xfrm>
          <a:prstGeom prst="rect">
            <a:avLst/>
          </a:prstGeom>
          <a:solidFill>
            <a:srgbClr val="1D4ED8"/>
          </a:solidFill>
          <a:ln w="12700">
            <a:solidFill>
              <a:srgbClr val="1D4ED8"/>
            </a:solidFill>
          </a:ln>
        </p:spPr>
        <p:txBody>
          <a:bodyPr lIns="45719" rIns="45719"/>
          <a:lstStyle/>
          <a:p>
            <a:pPr/>
          </a:p>
        </p:txBody>
      </p:sp>
      <p:sp>
        <p:nvSpPr>
          <p:cNvPr id="195" name="Text 20"/>
          <p:cNvSpPr txBox="1"/>
          <p:nvPr/>
        </p:nvSpPr>
        <p:spPr>
          <a:xfrm>
            <a:off x="393191" y="2655061"/>
            <a:ext cx="267005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Programming Language</a:t>
            </a:r>
          </a:p>
        </p:txBody>
      </p:sp>
      <p:sp>
        <p:nvSpPr>
          <p:cNvPr id="196" name="Text 21"/>
          <p:cNvSpPr txBox="1"/>
          <p:nvPr/>
        </p:nvSpPr>
        <p:spPr>
          <a:xfrm>
            <a:off x="438911" y="2889504"/>
            <a:ext cx="257861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Python 3.9+ as the primary language for all data processing, ML model training, and API development. Chosen for its rich healthcare ML ecosystem and Azure SDK compatibility.</a:t>
            </a:r>
          </a:p>
        </p:txBody>
      </p:sp>
      <p:sp>
        <p:nvSpPr>
          <p:cNvPr id="197" name="Shape 22"/>
          <p:cNvSpPr/>
          <p:nvPr/>
        </p:nvSpPr>
        <p:spPr>
          <a:xfrm>
            <a:off x="3264408" y="2578607"/>
            <a:ext cx="2816353" cy="1005840"/>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198" name="Shape 23"/>
          <p:cNvSpPr/>
          <p:nvPr/>
        </p:nvSpPr>
        <p:spPr>
          <a:xfrm>
            <a:off x="3264408" y="2578607"/>
            <a:ext cx="2816353" cy="274321"/>
          </a:xfrm>
          <a:prstGeom prst="rect">
            <a:avLst/>
          </a:prstGeom>
          <a:solidFill>
            <a:srgbClr val="0D9488"/>
          </a:solidFill>
          <a:ln w="12700">
            <a:solidFill>
              <a:srgbClr val="0D9488"/>
            </a:solidFill>
          </a:ln>
        </p:spPr>
        <p:txBody>
          <a:bodyPr lIns="45719" rIns="45719"/>
          <a:lstStyle/>
          <a:p>
            <a:pPr/>
          </a:p>
        </p:txBody>
      </p:sp>
      <p:sp>
        <p:nvSpPr>
          <p:cNvPr id="199" name="Text 24"/>
          <p:cNvSpPr txBox="1"/>
          <p:nvPr/>
        </p:nvSpPr>
        <p:spPr>
          <a:xfrm>
            <a:off x="3337559" y="2655061"/>
            <a:ext cx="267004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Machine Learning Framework</a:t>
            </a:r>
          </a:p>
        </p:txBody>
      </p:sp>
      <p:sp>
        <p:nvSpPr>
          <p:cNvPr id="200" name="Text 25"/>
          <p:cNvSpPr txBox="1"/>
          <p:nvPr/>
        </p:nvSpPr>
        <p:spPr>
          <a:xfrm>
            <a:off x="3383279" y="2889504"/>
            <a:ext cx="257861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Scikit-learn for traditional ML (Random Forest, Logistic Regression, KNN). TensorFlow/Keras for deep learning CNN models used in medical image classification.</a:t>
            </a:r>
          </a:p>
        </p:txBody>
      </p:sp>
      <p:sp>
        <p:nvSpPr>
          <p:cNvPr id="201" name="Shape 26"/>
          <p:cNvSpPr/>
          <p:nvPr/>
        </p:nvSpPr>
        <p:spPr>
          <a:xfrm>
            <a:off x="6208776" y="2578607"/>
            <a:ext cx="2816353" cy="1005840"/>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02" name="Shape 27"/>
          <p:cNvSpPr/>
          <p:nvPr/>
        </p:nvSpPr>
        <p:spPr>
          <a:xfrm>
            <a:off x="6208776" y="2578607"/>
            <a:ext cx="2816353" cy="274321"/>
          </a:xfrm>
          <a:prstGeom prst="rect">
            <a:avLst/>
          </a:prstGeom>
          <a:solidFill>
            <a:srgbClr val="1E8449"/>
          </a:solidFill>
          <a:ln w="12700">
            <a:solidFill>
              <a:srgbClr val="1E8449"/>
            </a:solidFill>
          </a:ln>
        </p:spPr>
        <p:txBody>
          <a:bodyPr lIns="45719" rIns="45719"/>
          <a:lstStyle/>
          <a:p>
            <a:pPr/>
          </a:p>
        </p:txBody>
      </p:sp>
      <p:sp>
        <p:nvSpPr>
          <p:cNvPr id="203" name="Text 28"/>
          <p:cNvSpPr txBox="1"/>
          <p:nvPr/>
        </p:nvSpPr>
        <p:spPr>
          <a:xfrm>
            <a:off x="6281928" y="2655061"/>
            <a:ext cx="267004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Cloud Platform</a:t>
            </a:r>
          </a:p>
        </p:txBody>
      </p:sp>
      <p:sp>
        <p:nvSpPr>
          <p:cNvPr id="204" name="Text 29"/>
          <p:cNvSpPr txBox="1"/>
          <p:nvPr/>
        </p:nvSpPr>
        <p:spPr>
          <a:xfrm>
            <a:off x="6327648" y="2889504"/>
            <a:ext cx="2578609"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Microsoft Azure: Azure ML Studio for model hosting, Azure IoT Hub for real-time vitals ingestion, Azure Blob Storage for dataset versioning, and Azure RBAC for security.</a:t>
            </a:r>
          </a:p>
        </p:txBody>
      </p:sp>
      <p:sp>
        <p:nvSpPr>
          <p:cNvPr id="205" name="Shape 30"/>
          <p:cNvSpPr/>
          <p:nvPr/>
        </p:nvSpPr>
        <p:spPr>
          <a:xfrm>
            <a:off x="320039" y="3675888"/>
            <a:ext cx="2816354" cy="1005840"/>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06" name="Shape 31"/>
          <p:cNvSpPr/>
          <p:nvPr/>
        </p:nvSpPr>
        <p:spPr>
          <a:xfrm>
            <a:off x="320039" y="3675888"/>
            <a:ext cx="2816354" cy="274321"/>
          </a:xfrm>
          <a:prstGeom prst="rect">
            <a:avLst/>
          </a:prstGeom>
          <a:solidFill>
            <a:srgbClr val="7C3AED"/>
          </a:solidFill>
          <a:ln w="12700">
            <a:solidFill>
              <a:srgbClr val="7C3AED"/>
            </a:solidFill>
          </a:ln>
        </p:spPr>
        <p:txBody>
          <a:bodyPr lIns="45719" rIns="45719"/>
          <a:lstStyle/>
          <a:p>
            <a:pPr/>
          </a:p>
        </p:txBody>
      </p:sp>
      <p:sp>
        <p:nvSpPr>
          <p:cNvPr id="207" name="Text 32"/>
          <p:cNvSpPr txBox="1"/>
          <p:nvPr/>
        </p:nvSpPr>
        <p:spPr>
          <a:xfrm>
            <a:off x="393191" y="3752342"/>
            <a:ext cx="267005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Business Intelligence</a:t>
            </a:r>
          </a:p>
        </p:txBody>
      </p:sp>
      <p:sp>
        <p:nvSpPr>
          <p:cNvPr id="208" name="Text 33"/>
          <p:cNvSpPr txBox="1"/>
          <p:nvPr/>
        </p:nvSpPr>
        <p:spPr>
          <a:xfrm>
            <a:off x="438911" y="3986784"/>
            <a:ext cx="257861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Microsoft Power BI for interactive dashboards and clinical KPI reporting. DAX measures calculate adherence rates, readmission scores, and recovery time trends.</a:t>
            </a:r>
          </a:p>
        </p:txBody>
      </p:sp>
      <p:sp>
        <p:nvSpPr>
          <p:cNvPr id="209" name="Shape 34"/>
          <p:cNvSpPr/>
          <p:nvPr/>
        </p:nvSpPr>
        <p:spPr>
          <a:xfrm>
            <a:off x="3264408" y="3675888"/>
            <a:ext cx="2816353" cy="1005840"/>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10" name="Shape 35"/>
          <p:cNvSpPr/>
          <p:nvPr/>
        </p:nvSpPr>
        <p:spPr>
          <a:xfrm>
            <a:off x="3264408" y="3675888"/>
            <a:ext cx="2816353" cy="274321"/>
          </a:xfrm>
          <a:prstGeom prst="rect">
            <a:avLst/>
          </a:prstGeom>
          <a:solidFill>
            <a:srgbClr val="D97706"/>
          </a:solidFill>
          <a:ln w="12700">
            <a:solidFill>
              <a:srgbClr val="D97706"/>
            </a:solidFill>
          </a:ln>
        </p:spPr>
        <p:txBody>
          <a:bodyPr lIns="45719" rIns="45719"/>
          <a:lstStyle/>
          <a:p>
            <a:pPr/>
          </a:p>
        </p:txBody>
      </p:sp>
      <p:sp>
        <p:nvSpPr>
          <p:cNvPr id="211" name="Text 36"/>
          <p:cNvSpPr txBox="1"/>
          <p:nvPr/>
        </p:nvSpPr>
        <p:spPr>
          <a:xfrm>
            <a:off x="3337559" y="3752342"/>
            <a:ext cx="267004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Data Exchange Standards</a:t>
            </a:r>
          </a:p>
        </p:txBody>
      </p:sp>
      <p:sp>
        <p:nvSpPr>
          <p:cNvPr id="212" name="Text 37"/>
          <p:cNvSpPr txBox="1"/>
          <p:nvPr/>
        </p:nvSpPr>
        <p:spPr>
          <a:xfrm>
            <a:off x="3383279" y="3986784"/>
            <a:ext cx="257861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HL7 FHIR API for standardized EHR interoperability across hospital systems. Enables secure, unified access to patient records from multiple healthcare providers.</a:t>
            </a:r>
          </a:p>
        </p:txBody>
      </p:sp>
      <p:sp>
        <p:nvSpPr>
          <p:cNvPr id="213" name="Shape 38"/>
          <p:cNvSpPr/>
          <p:nvPr/>
        </p:nvSpPr>
        <p:spPr>
          <a:xfrm>
            <a:off x="6208776" y="3675888"/>
            <a:ext cx="2816353" cy="1005840"/>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14" name="Shape 39"/>
          <p:cNvSpPr/>
          <p:nvPr/>
        </p:nvSpPr>
        <p:spPr>
          <a:xfrm>
            <a:off x="6208776" y="3675888"/>
            <a:ext cx="2816353" cy="274321"/>
          </a:xfrm>
          <a:prstGeom prst="rect">
            <a:avLst/>
          </a:prstGeom>
          <a:solidFill>
            <a:srgbClr val="DC2626"/>
          </a:solidFill>
          <a:ln w="12700">
            <a:solidFill>
              <a:srgbClr val="DC2626"/>
            </a:solidFill>
          </a:ln>
        </p:spPr>
        <p:txBody>
          <a:bodyPr lIns="45719" rIns="45719"/>
          <a:lstStyle/>
          <a:p>
            <a:pPr/>
          </a:p>
        </p:txBody>
      </p:sp>
      <p:sp>
        <p:nvSpPr>
          <p:cNvPr id="215" name="Text 40"/>
          <p:cNvSpPr txBox="1"/>
          <p:nvPr/>
        </p:nvSpPr>
        <p:spPr>
          <a:xfrm>
            <a:off x="6281928" y="3752342"/>
            <a:ext cx="267004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Development Environment</a:t>
            </a:r>
          </a:p>
        </p:txBody>
      </p:sp>
      <p:sp>
        <p:nvSpPr>
          <p:cNvPr id="216" name="Text 41"/>
          <p:cNvSpPr txBox="1"/>
          <p:nvPr/>
        </p:nvSpPr>
        <p:spPr>
          <a:xfrm>
            <a:off x="6327648" y="3986784"/>
            <a:ext cx="2578609"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VS Code + Anaconda for environment management, Jupyter Notebooks for EDA, GitHub for version control, and GitHub Copilot for AI-assisted code generation.</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218"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219"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220"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About Microsoft Elevate Program</a:t>
            </a:r>
          </a:p>
        </p:txBody>
      </p:sp>
      <p:sp>
        <p:nvSpPr>
          <p:cNvPr id="221"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222"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223"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224"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225"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226"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6 / 20</a:t>
            </a:r>
          </a:p>
        </p:txBody>
      </p:sp>
      <p:sp>
        <p:nvSpPr>
          <p:cNvPr id="227"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12-Week Intensive Virtual Internship Program</a:t>
            </a:r>
          </a:p>
        </p:txBody>
      </p:sp>
      <p:sp>
        <p:nvSpPr>
          <p:cNvPr id="228" name="Shape 10"/>
          <p:cNvSpPr/>
          <p:nvPr/>
        </p:nvSpPr>
        <p:spPr>
          <a:xfrm>
            <a:off x="320040" y="1078991"/>
            <a:ext cx="8503920" cy="804673"/>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29" name="Shape 11"/>
          <p:cNvSpPr/>
          <p:nvPr/>
        </p:nvSpPr>
        <p:spPr>
          <a:xfrm>
            <a:off x="320040" y="1078991"/>
            <a:ext cx="59436" cy="804673"/>
          </a:xfrm>
          <a:prstGeom prst="rect">
            <a:avLst/>
          </a:prstGeom>
          <a:solidFill>
            <a:srgbClr val="1D4ED8"/>
          </a:solidFill>
          <a:ln w="12700">
            <a:solidFill>
              <a:srgbClr val="1D4ED8"/>
            </a:solidFill>
          </a:ln>
        </p:spPr>
        <p:txBody>
          <a:bodyPr lIns="45719" rIns="45719"/>
          <a:lstStyle/>
          <a:p>
            <a:pPr/>
          </a:p>
        </p:txBody>
      </p:sp>
      <p:sp>
        <p:nvSpPr>
          <p:cNvPr id="230" name="Text 12"/>
          <p:cNvSpPr txBox="1"/>
          <p:nvPr/>
        </p:nvSpPr>
        <p:spPr>
          <a:xfrm>
            <a:off x="484631" y="1086357"/>
            <a:ext cx="8229601" cy="789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374151"/>
                </a:solidFill>
              </a:defRPr>
            </a:lvl1pPr>
          </a:lstStyle>
          <a:p>
            <a:pPr/>
            <a:r>
              <a:t>Microsoft Elevate is a structured virtual internship program powered by Edunet Foundation &amp; FICE Education, in partnership with Gujarat Technological University (GTU) for 8th-semester students. The program bridges academic learning and industry-ready skills through a 12-week curriculum focused on Data Analytics, Machine Learning, Deep Learning, Power BI, and Microsoft Azure Cloud. Students receive mentorship from Microsoft-certified trainers, complete hands-on labs using real-world healthcare datasets, and deliver a GTU Capstone Project demonstrating end-to-end AI/ML implementation.</a:t>
            </a:r>
          </a:p>
        </p:txBody>
      </p:sp>
      <p:sp>
        <p:nvSpPr>
          <p:cNvPr id="231" name="Shape 13"/>
          <p:cNvSpPr/>
          <p:nvPr/>
        </p:nvSpPr>
        <p:spPr>
          <a:xfrm>
            <a:off x="320039" y="1965960"/>
            <a:ext cx="4224530" cy="91440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32" name="Shape 14"/>
          <p:cNvSpPr/>
          <p:nvPr/>
        </p:nvSpPr>
        <p:spPr>
          <a:xfrm>
            <a:off x="320040" y="1965960"/>
            <a:ext cx="59436" cy="914401"/>
          </a:xfrm>
          <a:prstGeom prst="rect">
            <a:avLst/>
          </a:prstGeom>
          <a:solidFill>
            <a:srgbClr val="1D4ED8"/>
          </a:solidFill>
          <a:ln w="12700">
            <a:solidFill>
              <a:srgbClr val="1D4ED8"/>
            </a:solidFill>
          </a:ln>
        </p:spPr>
        <p:txBody>
          <a:bodyPr lIns="45719" rIns="45719"/>
          <a:lstStyle/>
          <a:p>
            <a:pPr/>
          </a:p>
        </p:txBody>
      </p:sp>
      <p:sp>
        <p:nvSpPr>
          <p:cNvPr id="233" name="Text 15"/>
          <p:cNvSpPr txBox="1"/>
          <p:nvPr/>
        </p:nvSpPr>
        <p:spPr>
          <a:xfrm>
            <a:off x="429768" y="2065273"/>
            <a:ext cx="40690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12-Week Intensive Program</a:t>
            </a:r>
          </a:p>
        </p:txBody>
      </p:sp>
      <p:sp>
        <p:nvSpPr>
          <p:cNvPr id="234" name="Text 16"/>
          <p:cNvSpPr txBox="1"/>
          <p:nvPr/>
        </p:nvSpPr>
        <p:spPr>
          <a:xfrm>
            <a:off x="475488" y="2267711"/>
            <a:ext cx="3977640"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Structured weekly modules covering data analytics, ML, deep learning, Power BI, generative AI, and Azure cloud. Each week builds on prior learning for progressive skill development.</a:t>
            </a:r>
          </a:p>
        </p:txBody>
      </p:sp>
      <p:sp>
        <p:nvSpPr>
          <p:cNvPr id="235" name="Shape 17"/>
          <p:cNvSpPr/>
          <p:nvPr/>
        </p:nvSpPr>
        <p:spPr>
          <a:xfrm>
            <a:off x="4754879" y="1965960"/>
            <a:ext cx="4224530" cy="91440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36" name="Shape 18"/>
          <p:cNvSpPr/>
          <p:nvPr/>
        </p:nvSpPr>
        <p:spPr>
          <a:xfrm>
            <a:off x="4754879" y="1965960"/>
            <a:ext cx="59436" cy="914401"/>
          </a:xfrm>
          <a:prstGeom prst="rect">
            <a:avLst/>
          </a:prstGeom>
          <a:solidFill>
            <a:srgbClr val="0D9488"/>
          </a:solidFill>
          <a:ln w="12700">
            <a:solidFill>
              <a:srgbClr val="0D9488"/>
            </a:solidFill>
          </a:ln>
        </p:spPr>
        <p:txBody>
          <a:bodyPr lIns="45719" rIns="45719"/>
          <a:lstStyle/>
          <a:p>
            <a:pPr/>
          </a:p>
        </p:txBody>
      </p:sp>
      <p:sp>
        <p:nvSpPr>
          <p:cNvPr id="237" name="Text 19"/>
          <p:cNvSpPr txBox="1"/>
          <p:nvPr/>
        </p:nvSpPr>
        <p:spPr>
          <a:xfrm>
            <a:off x="4864608" y="2065273"/>
            <a:ext cx="40690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GTU Partnership</a:t>
            </a:r>
          </a:p>
        </p:txBody>
      </p:sp>
      <p:sp>
        <p:nvSpPr>
          <p:cNvPr id="238" name="Text 20"/>
          <p:cNvSpPr txBox="1"/>
          <p:nvPr/>
        </p:nvSpPr>
        <p:spPr>
          <a:xfrm>
            <a:off x="4910328" y="2267711"/>
            <a:ext cx="3977640"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Official partnership with Gujarat Technological University for 8th-semester B.Tech students. Completion earns credit toward GTU internship requirements and academic certification.</a:t>
            </a:r>
          </a:p>
        </p:txBody>
      </p:sp>
      <p:sp>
        <p:nvSpPr>
          <p:cNvPr id="239" name="Shape 21"/>
          <p:cNvSpPr/>
          <p:nvPr/>
        </p:nvSpPr>
        <p:spPr>
          <a:xfrm>
            <a:off x="320039" y="2971800"/>
            <a:ext cx="4224530" cy="914400"/>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40" name="Shape 22"/>
          <p:cNvSpPr/>
          <p:nvPr/>
        </p:nvSpPr>
        <p:spPr>
          <a:xfrm>
            <a:off x="320040" y="2971800"/>
            <a:ext cx="59436" cy="914400"/>
          </a:xfrm>
          <a:prstGeom prst="rect">
            <a:avLst/>
          </a:prstGeom>
          <a:solidFill>
            <a:srgbClr val="1E8449"/>
          </a:solidFill>
          <a:ln w="12700">
            <a:solidFill>
              <a:srgbClr val="1E8449"/>
            </a:solidFill>
          </a:ln>
        </p:spPr>
        <p:txBody>
          <a:bodyPr lIns="45719" rIns="45719"/>
          <a:lstStyle/>
          <a:p>
            <a:pPr/>
          </a:p>
        </p:txBody>
      </p:sp>
      <p:sp>
        <p:nvSpPr>
          <p:cNvPr id="241" name="Text 23"/>
          <p:cNvSpPr txBox="1"/>
          <p:nvPr/>
        </p:nvSpPr>
        <p:spPr>
          <a:xfrm>
            <a:off x="429768" y="3071114"/>
            <a:ext cx="40690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Powered by Edunet Foundation</a:t>
            </a:r>
          </a:p>
        </p:txBody>
      </p:sp>
      <p:sp>
        <p:nvSpPr>
          <p:cNvPr id="242" name="Text 24"/>
          <p:cNvSpPr txBox="1"/>
          <p:nvPr/>
        </p:nvSpPr>
        <p:spPr>
          <a:xfrm>
            <a:off x="475488" y="3273552"/>
            <a:ext cx="3977640"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Delivered by Edunet Foundation &amp; FICE Education — trusted providers of technology upskilling programs reaching 100,000+ students across India annually.</a:t>
            </a:r>
          </a:p>
        </p:txBody>
      </p:sp>
      <p:sp>
        <p:nvSpPr>
          <p:cNvPr id="243" name="Shape 25"/>
          <p:cNvSpPr/>
          <p:nvPr/>
        </p:nvSpPr>
        <p:spPr>
          <a:xfrm>
            <a:off x="4754879" y="2971800"/>
            <a:ext cx="4224530" cy="914400"/>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44" name="Shape 26"/>
          <p:cNvSpPr/>
          <p:nvPr/>
        </p:nvSpPr>
        <p:spPr>
          <a:xfrm>
            <a:off x="4754879" y="2971800"/>
            <a:ext cx="59436" cy="914400"/>
          </a:xfrm>
          <a:prstGeom prst="rect">
            <a:avLst/>
          </a:prstGeom>
          <a:solidFill>
            <a:srgbClr val="7C3AED"/>
          </a:solidFill>
          <a:ln w="12700">
            <a:solidFill>
              <a:srgbClr val="7C3AED"/>
            </a:solidFill>
          </a:ln>
        </p:spPr>
        <p:txBody>
          <a:bodyPr lIns="45719" rIns="45719"/>
          <a:lstStyle/>
          <a:p>
            <a:pPr/>
          </a:p>
        </p:txBody>
      </p:sp>
      <p:sp>
        <p:nvSpPr>
          <p:cNvPr id="245" name="Text 27"/>
          <p:cNvSpPr txBox="1"/>
          <p:nvPr/>
        </p:nvSpPr>
        <p:spPr>
          <a:xfrm>
            <a:off x="4864608" y="3071114"/>
            <a:ext cx="40690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Microsoft-Certified Trainers</a:t>
            </a:r>
          </a:p>
        </p:txBody>
      </p:sp>
      <p:sp>
        <p:nvSpPr>
          <p:cNvPr id="246" name="Text 28"/>
          <p:cNvSpPr txBox="1"/>
          <p:nvPr/>
        </p:nvSpPr>
        <p:spPr>
          <a:xfrm>
            <a:off x="4910328" y="3273552"/>
            <a:ext cx="3977640"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Industry mentorship from practicing Microsoft-certified data scientists, ML engineers, and Azure architects providing real-world healthcare industry context and guidance.</a:t>
            </a:r>
          </a:p>
        </p:txBody>
      </p:sp>
      <p:sp>
        <p:nvSpPr>
          <p:cNvPr id="247" name="Shape 29"/>
          <p:cNvSpPr/>
          <p:nvPr/>
        </p:nvSpPr>
        <p:spPr>
          <a:xfrm>
            <a:off x="320039" y="3977640"/>
            <a:ext cx="4224530" cy="91440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48" name="Shape 30"/>
          <p:cNvSpPr/>
          <p:nvPr/>
        </p:nvSpPr>
        <p:spPr>
          <a:xfrm>
            <a:off x="320040" y="3977640"/>
            <a:ext cx="59436" cy="914401"/>
          </a:xfrm>
          <a:prstGeom prst="rect">
            <a:avLst/>
          </a:prstGeom>
          <a:solidFill>
            <a:srgbClr val="D97706"/>
          </a:solidFill>
          <a:ln w="12700">
            <a:solidFill>
              <a:srgbClr val="D97706"/>
            </a:solidFill>
          </a:ln>
        </p:spPr>
        <p:txBody>
          <a:bodyPr lIns="45719" rIns="45719"/>
          <a:lstStyle/>
          <a:p>
            <a:pPr/>
          </a:p>
        </p:txBody>
      </p:sp>
      <p:sp>
        <p:nvSpPr>
          <p:cNvPr id="249" name="Text 31"/>
          <p:cNvSpPr txBox="1"/>
          <p:nvPr/>
        </p:nvSpPr>
        <p:spPr>
          <a:xfrm>
            <a:off x="429768" y="4076953"/>
            <a:ext cx="406908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Real-World Healthcare Labs</a:t>
            </a:r>
          </a:p>
        </p:txBody>
      </p:sp>
      <p:sp>
        <p:nvSpPr>
          <p:cNvPr id="250" name="Text 32"/>
          <p:cNvSpPr txBox="1"/>
          <p:nvPr/>
        </p:nvSpPr>
        <p:spPr>
          <a:xfrm>
            <a:off x="475488" y="4279391"/>
            <a:ext cx="3977640"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Hands-on labs using actual EHR datasets, IoT patient monitoring simulations, medical imaging datasets, and Power BI healthcare analytics scenarios for applied learning.</a:t>
            </a:r>
          </a:p>
        </p:txBody>
      </p:sp>
      <p:sp>
        <p:nvSpPr>
          <p:cNvPr id="251" name="Shape 33"/>
          <p:cNvSpPr/>
          <p:nvPr/>
        </p:nvSpPr>
        <p:spPr>
          <a:xfrm>
            <a:off x="4754879" y="3977640"/>
            <a:ext cx="4224530" cy="91440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52" name="Shape 34"/>
          <p:cNvSpPr/>
          <p:nvPr/>
        </p:nvSpPr>
        <p:spPr>
          <a:xfrm>
            <a:off x="4754879" y="3977640"/>
            <a:ext cx="59436" cy="914401"/>
          </a:xfrm>
          <a:prstGeom prst="rect">
            <a:avLst/>
          </a:prstGeom>
          <a:solidFill>
            <a:srgbClr val="DC2626"/>
          </a:solidFill>
          <a:ln w="12700">
            <a:solidFill>
              <a:srgbClr val="DC2626"/>
            </a:solidFill>
          </a:ln>
        </p:spPr>
        <p:txBody>
          <a:bodyPr lIns="45719" rIns="45719"/>
          <a:lstStyle/>
          <a:p>
            <a:pPr/>
          </a:p>
        </p:txBody>
      </p:sp>
      <p:sp>
        <p:nvSpPr>
          <p:cNvPr id="253" name="Text 35"/>
          <p:cNvSpPr txBox="1"/>
          <p:nvPr/>
        </p:nvSpPr>
        <p:spPr>
          <a:xfrm>
            <a:off x="4864608" y="4076953"/>
            <a:ext cx="40690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Focus: AI + ML + Azure + Power BI</a:t>
            </a:r>
          </a:p>
        </p:txBody>
      </p:sp>
      <p:sp>
        <p:nvSpPr>
          <p:cNvPr id="254" name="Text 36"/>
          <p:cNvSpPr txBox="1"/>
          <p:nvPr/>
        </p:nvSpPr>
        <p:spPr>
          <a:xfrm>
            <a:off x="4910328" y="4279391"/>
            <a:ext cx="3977640"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Core curriculum: Data Analytics, EDA, Power BI/DAX, Supervised &amp; Unsupervised ML, Deep Learning (CNN), Generative AI, Prompt Engineering, and Microsoft Azure Cloud deployment.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256"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257"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258"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Microsoft Elevate – Learning Modules</a:t>
            </a:r>
          </a:p>
        </p:txBody>
      </p:sp>
      <p:sp>
        <p:nvSpPr>
          <p:cNvPr id="259"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260"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261"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262"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263"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264"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7 / 20</a:t>
            </a:r>
          </a:p>
        </p:txBody>
      </p:sp>
      <p:sp>
        <p:nvSpPr>
          <p:cNvPr id="265"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12-Week Curriculum Breakdown</a:t>
            </a:r>
          </a:p>
        </p:txBody>
      </p:sp>
      <p:sp>
        <p:nvSpPr>
          <p:cNvPr id="266" name="Text 10"/>
          <p:cNvSpPr txBox="1"/>
          <p:nvPr/>
        </p:nvSpPr>
        <p:spPr>
          <a:xfrm>
            <a:off x="365760" y="1073149"/>
            <a:ext cx="841248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374151"/>
                </a:solidFill>
              </a:defRPr>
            </a:lvl1pPr>
          </a:lstStyle>
          <a:p>
            <a:pPr/>
            <a:r>
              <a:t>Progressive skill-building from data fundamentals through to Azure cloud deployment — all applied on real healthcare datasets.</a:t>
            </a:r>
          </a:p>
        </p:txBody>
      </p:sp>
      <p:sp>
        <p:nvSpPr>
          <p:cNvPr id="267" name="Shape 11"/>
          <p:cNvSpPr/>
          <p:nvPr/>
        </p:nvSpPr>
        <p:spPr>
          <a:xfrm>
            <a:off x="320039" y="1353311"/>
            <a:ext cx="4224530" cy="109728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68" name="Shape 12"/>
          <p:cNvSpPr/>
          <p:nvPr/>
        </p:nvSpPr>
        <p:spPr>
          <a:xfrm>
            <a:off x="320039" y="1353311"/>
            <a:ext cx="4224530" cy="292609"/>
          </a:xfrm>
          <a:prstGeom prst="rect">
            <a:avLst/>
          </a:prstGeom>
          <a:solidFill>
            <a:srgbClr val="1D4ED8"/>
          </a:solidFill>
          <a:ln w="12700">
            <a:solidFill>
              <a:srgbClr val="1D4ED8"/>
            </a:solidFill>
          </a:ln>
        </p:spPr>
        <p:txBody>
          <a:bodyPr lIns="45719" rIns="45719"/>
          <a:lstStyle/>
          <a:p>
            <a:pPr/>
          </a:p>
        </p:txBody>
      </p:sp>
      <p:sp>
        <p:nvSpPr>
          <p:cNvPr id="269" name="Text 13"/>
          <p:cNvSpPr txBox="1"/>
          <p:nvPr/>
        </p:nvSpPr>
        <p:spPr>
          <a:xfrm>
            <a:off x="393191" y="1445259"/>
            <a:ext cx="777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Week 1–2</a:t>
            </a:r>
          </a:p>
        </p:txBody>
      </p:sp>
      <p:sp>
        <p:nvSpPr>
          <p:cNvPr id="270" name="Text 14"/>
          <p:cNvSpPr txBox="1"/>
          <p:nvPr/>
        </p:nvSpPr>
        <p:spPr>
          <a:xfrm>
            <a:off x="1197863" y="1438909"/>
            <a:ext cx="3273554"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Data Analytics &amp; EDA</a:t>
            </a:r>
          </a:p>
        </p:txBody>
      </p:sp>
      <p:sp>
        <p:nvSpPr>
          <p:cNvPr id="271" name="Text 15"/>
          <p:cNvSpPr txBox="1"/>
          <p:nvPr/>
        </p:nvSpPr>
        <p:spPr>
          <a:xfrm>
            <a:off x="457200" y="1682495"/>
            <a:ext cx="3968496"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Exploratory Data Analysis on healthcare datasets using Python. Statistical summaries, distributions, correlation heatmaps, outlier detection, and data cleaning with Pandas and Seaborn. Understanding EHR data structure.</a:t>
            </a:r>
          </a:p>
        </p:txBody>
      </p:sp>
      <p:sp>
        <p:nvSpPr>
          <p:cNvPr id="272" name="Shape 16"/>
          <p:cNvSpPr/>
          <p:nvPr/>
        </p:nvSpPr>
        <p:spPr>
          <a:xfrm>
            <a:off x="4754879" y="1353311"/>
            <a:ext cx="4224530" cy="109728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73" name="Shape 17"/>
          <p:cNvSpPr/>
          <p:nvPr/>
        </p:nvSpPr>
        <p:spPr>
          <a:xfrm>
            <a:off x="4754879" y="1353311"/>
            <a:ext cx="4224530" cy="292609"/>
          </a:xfrm>
          <a:prstGeom prst="rect">
            <a:avLst/>
          </a:prstGeom>
          <a:solidFill>
            <a:srgbClr val="0D9488"/>
          </a:solidFill>
          <a:ln w="12700">
            <a:solidFill>
              <a:srgbClr val="0D9488"/>
            </a:solidFill>
          </a:ln>
        </p:spPr>
        <p:txBody>
          <a:bodyPr lIns="45719" rIns="45719"/>
          <a:lstStyle/>
          <a:p>
            <a:pPr/>
          </a:p>
        </p:txBody>
      </p:sp>
      <p:sp>
        <p:nvSpPr>
          <p:cNvPr id="274" name="Text 18"/>
          <p:cNvSpPr txBox="1"/>
          <p:nvPr/>
        </p:nvSpPr>
        <p:spPr>
          <a:xfrm>
            <a:off x="4828032" y="1445259"/>
            <a:ext cx="777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Week 3–5</a:t>
            </a:r>
          </a:p>
        </p:txBody>
      </p:sp>
      <p:sp>
        <p:nvSpPr>
          <p:cNvPr id="275" name="Text 19"/>
          <p:cNvSpPr txBox="1"/>
          <p:nvPr/>
        </p:nvSpPr>
        <p:spPr>
          <a:xfrm>
            <a:off x="5632703" y="1438909"/>
            <a:ext cx="3273553"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Power BI &amp; Machine Learning</a:t>
            </a:r>
          </a:p>
        </p:txBody>
      </p:sp>
      <p:sp>
        <p:nvSpPr>
          <p:cNvPr id="276" name="Text 20"/>
          <p:cNvSpPr txBox="1"/>
          <p:nvPr/>
        </p:nvSpPr>
        <p:spPr>
          <a:xfrm>
            <a:off x="4892040" y="1682495"/>
            <a:ext cx="3968496"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Power BI dashboard creation with DAX measures (medication adherence, readmission rate, recovery KPIs). Supervised ML (Random Forest, Logistic Regression) and Unsupervised ML (K-Means clustering) for patient risk stratification.</a:t>
            </a:r>
          </a:p>
        </p:txBody>
      </p:sp>
      <p:sp>
        <p:nvSpPr>
          <p:cNvPr id="277" name="Shape 21"/>
          <p:cNvSpPr/>
          <p:nvPr/>
        </p:nvSpPr>
        <p:spPr>
          <a:xfrm>
            <a:off x="320039" y="2542032"/>
            <a:ext cx="4224530" cy="109728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78" name="Shape 22"/>
          <p:cNvSpPr/>
          <p:nvPr/>
        </p:nvSpPr>
        <p:spPr>
          <a:xfrm>
            <a:off x="320039" y="2542032"/>
            <a:ext cx="4224530" cy="292609"/>
          </a:xfrm>
          <a:prstGeom prst="rect">
            <a:avLst/>
          </a:prstGeom>
          <a:solidFill>
            <a:srgbClr val="1E8449"/>
          </a:solidFill>
          <a:ln w="12700">
            <a:solidFill>
              <a:srgbClr val="1E8449"/>
            </a:solidFill>
          </a:ln>
        </p:spPr>
        <p:txBody>
          <a:bodyPr lIns="45719" rIns="45719"/>
          <a:lstStyle/>
          <a:p>
            <a:pPr/>
          </a:p>
        </p:txBody>
      </p:sp>
      <p:sp>
        <p:nvSpPr>
          <p:cNvPr id="279" name="Text 23"/>
          <p:cNvSpPr txBox="1"/>
          <p:nvPr/>
        </p:nvSpPr>
        <p:spPr>
          <a:xfrm>
            <a:off x="393191" y="2633979"/>
            <a:ext cx="777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Week 6–7</a:t>
            </a:r>
          </a:p>
        </p:txBody>
      </p:sp>
      <p:sp>
        <p:nvSpPr>
          <p:cNvPr id="280" name="Text 24"/>
          <p:cNvSpPr txBox="1"/>
          <p:nvPr/>
        </p:nvSpPr>
        <p:spPr>
          <a:xfrm>
            <a:off x="1197863" y="2627629"/>
            <a:ext cx="3273554"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Deep Learning &amp; Computer Vision</a:t>
            </a:r>
          </a:p>
        </p:txBody>
      </p:sp>
      <p:sp>
        <p:nvSpPr>
          <p:cNvPr id="281" name="Text 25"/>
          <p:cNvSpPr txBox="1"/>
          <p:nvPr/>
        </p:nvSpPr>
        <p:spPr>
          <a:xfrm>
            <a:off x="457200" y="2871216"/>
            <a:ext cx="3968496"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Neural network fundamentals, CNN architecture for medical image classification (X-ray, MRI, CT scans). Transfer learning using VGG16 pre-trained weights. TensorFlow/Keras implementation with data augmentation.</a:t>
            </a:r>
          </a:p>
        </p:txBody>
      </p:sp>
      <p:sp>
        <p:nvSpPr>
          <p:cNvPr id="282" name="Shape 26"/>
          <p:cNvSpPr/>
          <p:nvPr/>
        </p:nvSpPr>
        <p:spPr>
          <a:xfrm>
            <a:off x="4754879" y="2542032"/>
            <a:ext cx="4224530" cy="109728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83" name="Shape 27"/>
          <p:cNvSpPr/>
          <p:nvPr/>
        </p:nvSpPr>
        <p:spPr>
          <a:xfrm>
            <a:off x="4754879" y="2542032"/>
            <a:ext cx="4224530" cy="292609"/>
          </a:xfrm>
          <a:prstGeom prst="rect">
            <a:avLst/>
          </a:prstGeom>
          <a:solidFill>
            <a:srgbClr val="7C3AED"/>
          </a:solidFill>
          <a:ln w="12700">
            <a:solidFill>
              <a:srgbClr val="7C3AED"/>
            </a:solidFill>
          </a:ln>
        </p:spPr>
        <p:txBody>
          <a:bodyPr lIns="45719" rIns="45719"/>
          <a:lstStyle/>
          <a:p>
            <a:pPr/>
          </a:p>
        </p:txBody>
      </p:sp>
      <p:sp>
        <p:nvSpPr>
          <p:cNvPr id="284" name="Text 28"/>
          <p:cNvSpPr txBox="1"/>
          <p:nvPr/>
        </p:nvSpPr>
        <p:spPr>
          <a:xfrm>
            <a:off x="4828032" y="2633979"/>
            <a:ext cx="777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Week 8–9</a:t>
            </a:r>
          </a:p>
        </p:txBody>
      </p:sp>
      <p:sp>
        <p:nvSpPr>
          <p:cNvPr id="285" name="Text 29"/>
          <p:cNvSpPr txBox="1"/>
          <p:nvPr/>
        </p:nvSpPr>
        <p:spPr>
          <a:xfrm>
            <a:off x="5632703" y="2627629"/>
            <a:ext cx="3273553"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Generative AI &amp; Prompt Engineering</a:t>
            </a:r>
          </a:p>
        </p:txBody>
      </p:sp>
      <p:sp>
        <p:nvSpPr>
          <p:cNvPr id="286" name="Text 30"/>
          <p:cNvSpPr txBox="1"/>
          <p:nvPr/>
        </p:nvSpPr>
        <p:spPr>
          <a:xfrm>
            <a:off x="4892040" y="2871216"/>
            <a:ext cx="3968496"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Introduction to Large Language Models (LLMs), prompt engineering best practices for healthcare applications. GitHub Copilot AI-assisted coding. Responsible AI principles and bias mitigation in clinical ML systems.</a:t>
            </a:r>
          </a:p>
        </p:txBody>
      </p:sp>
      <p:sp>
        <p:nvSpPr>
          <p:cNvPr id="287" name="Shape 31"/>
          <p:cNvSpPr/>
          <p:nvPr/>
        </p:nvSpPr>
        <p:spPr>
          <a:xfrm>
            <a:off x="320039" y="3730752"/>
            <a:ext cx="4224530" cy="109728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88" name="Shape 32"/>
          <p:cNvSpPr/>
          <p:nvPr/>
        </p:nvSpPr>
        <p:spPr>
          <a:xfrm>
            <a:off x="320039" y="3730752"/>
            <a:ext cx="4224530" cy="292609"/>
          </a:xfrm>
          <a:prstGeom prst="rect">
            <a:avLst/>
          </a:prstGeom>
          <a:solidFill>
            <a:srgbClr val="D97706"/>
          </a:solidFill>
          <a:ln w="12700">
            <a:solidFill>
              <a:srgbClr val="D97706"/>
            </a:solidFill>
          </a:ln>
        </p:spPr>
        <p:txBody>
          <a:bodyPr lIns="45719" rIns="45719"/>
          <a:lstStyle/>
          <a:p>
            <a:pPr/>
          </a:p>
        </p:txBody>
      </p:sp>
      <p:sp>
        <p:nvSpPr>
          <p:cNvPr id="289" name="Text 33"/>
          <p:cNvSpPr txBox="1"/>
          <p:nvPr/>
        </p:nvSpPr>
        <p:spPr>
          <a:xfrm>
            <a:off x="393191" y="3822699"/>
            <a:ext cx="777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Week 10</a:t>
            </a:r>
          </a:p>
        </p:txBody>
      </p:sp>
      <p:sp>
        <p:nvSpPr>
          <p:cNvPr id="290" name="Text 34"/>
          <p:cNvSpPr txBox="1"/>
          <p:nvPr/>
        </p:nvSpPr>
        <p:spPr>
          <a:xfrm>
            <a:off x="1197863" y="3816349"/>
            <a:ext cx="3273554"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Microsoft Azure Cloud</a:t>
            </a:r>
          </a:p>
        </p:txBody>
      </p:sp>
      <p:sp>
        <p:nvSpPr>
          <p:cNvPr id="291" name="Text 35"/>
          <p:cNvSpPr txBox="1"/>
          <p:nvPr/>
        </p:nvSpPr>
        <p:spPr>
          <a:xfrm>
            <a:off x="457200" y="4059935"/>
            <a:ext cx="3968496"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Azure ML Studio experiment tracking, model deployment as REST endpoints. Azure IoT Hub for vitals streaming. Azure Blob Storage, Data Factory, Stream Analytics. RBAC security and HIPAA compliance configuration.</a:t>
            </a:r>
          </a:p>
        </p:txBody>
      </p:sp>
      <p:sp>
        <p:nvSpPr>
          <p:cNvPr id="292" name="Shape 36"/>
          <p:cNvSpPr/>
          <p:nvPr/>
        </p:nvSpPr>
        <p:spPr>
          <a:xfrm>
            <a:off x="4754879" y="3730752"/>
            <a:ext cx="4224530" cy="109728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293" name="Shape 37"/>
          <p:cNvSpPr/>
          <p:nvPr/>
        </p:nvSpPr>
        <p:spPr>
          <a:xfrm>
            <a:off x="4754879" y="3730752"/>
            <a:ext cx="4224530" cy="292609"/>
          </a:xfrm>
          <a:prstGeom prst="rect">
            <a:avLst/>
          </a:prstGeom>
          <a:solidFill>
            <a:srgbClr val="DC2626"/>
          </a:solidFill>
          <a:ln w="12700">
            <a:solidFill>
              <a:srgbClr val="DC2626"/>
            </a:solidFill>
          </a:ln>
        </p:spPr>
        <p:txBody>
          <a:bodyPr lIns="45719" rIns="45719"/>
          <a:lstStyle/>
          <a:p>
            <a:pPr/>
          </a:p>
        </p:txBody>
      </p:sp>
      <p:sp>
        <p:nvSpPr>
          <p:cNvPr id="294" name="Text 38"/>
          <p:cNvSpPr txBox="1"/>
          <p:nvPr/>
        </p:nvSpPr>
        <p:spPr>
          <a:xfrm>
            <a:off x="4828032" y="3822699"/>
            <a:ext cx="777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Week 11–12</a:t>
            </a:r>
          </a:p>
        </p:txBody>
      </p:sp>
      <p:sp>
        <p:nvSpPr>
          <p:cNvPr id="295" name="Text 39"/>
          <p:cNvSpPr txBox="1"/>
          <p:nvPr/>
        </p:nvSpPr>
        <p:spPr>
          <a:xfrm>
            <a:off x="5632703" y="3816349"/>
            <a:ext cx="3273553"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Capstone Project &amp; Deployment</a:t>
            </a:r>
          </a:p>
        </p:txBody>
      </p:sp>
      <p:sp>
        <p:nvSpPr>
          <p:cNvPr id="296" name="Text 40"/>
          <p:cNvSpPr txBox="1"/>
          <p:nvPr/>
        </p:nvSpPr>
        <p:spPr>
          <a:xfrm>
            <a:off x="4892040" y="4059935"/>
            <a:ext cx="3968496"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End-to-end capstone development: complete data pipeline, dual ML models, Power BI production dashboard, Azure deployment, Streamlit clinical web app. GTU project documentation and final presentation preparation.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298"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299"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300"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My Role During Internship</a:t>
            </a:r>
          </a:p>
        </p:txBody>
      </p:sp>
      <p:sp>
        <p:nvSpPr>
          <p:cNvPr id="301"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302"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303"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304"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305"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306"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8 / 20</a:t>
            </a:r>
          </a:p>
        </p:txBody>
      </p:sp>
      <p:sp>
        <p:nvSpPr>
          <p:cNvPr id="307"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Internship Responsibilities &amp; Contributions</a:t>
            </a:r>
          </a:p>
        </p:txBody>
      </p:sp>
      <p:sp>
        <p:nvSpPr>
          <p:cNvPr id="308" name="Shape 10"/>
          <p:cNvSpPr/>
          <p:nvPr/>
        </p:nvSpPr>
        <p:spPr>
          <a:xfrm>
            <a:off x="320040" y="1078991"/>
            <a:ext cx="2377440" cy="3712466"/>
          </a:xfrm>
          <a:prstGeom prst="rect">
            <a:avLst/>
          </a:prstGeom>
          <a:solidFill>
            <a:srgbClr val="1B2A4A"/>
          </a:solidFill>
          <a:ln w="12700">
            <a:solidFill>
              <a:srgbClr val="1B2A4A"/>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09" name="Shape 11"/>
          <p:cNvSpPr/>
          <p:nvPr/>
        </p:nvSpPr>
        <p:spPr>
          <a:xfrm>
            <a:off x="777239" y="1234439"/>
            <a:ext cx="1463042" cy="1463042"/>
          </a:xfrm>
          <a:prstGeom prst="ellipse">
            <a:avLst/>
          </a:prstGeom>
          <a:solidFill>
            <a:srgbClr val="2A3F6B"/>
          </a:solidFill>
          <a:ln w="12700">
            <a:solidFill>
              <a:srgbClr val="1E8449"/>
            </a:solidFill>
          </a:ln>
        </p:spPr>
        <p:txBody>
          <a:bodyPr lIns="45719" rIns="45719"/>
          <a:lstStyle/>
          <a:p>
            <a:pPr/>
          </a:p>
        </p:txBody>
      </p:sp>
      <p:sp>
        <p:nvSpPr>
          <p:cNvPr id="310" name="Text 12"/>
          <p:cNvSpPr txBox="1"/>
          <p:nvPr/>
        </p:nvSpPr>
        <p:spPr>
          <a:xfrm>
            <a:off x="822959" y="1640840"/>
            <a:ext cx="1371602" cy="650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600">
                <a:solidFill>
                  <a:srgbClr val="FFFFFF"/>
                </a:solidFill>
              </a:defRPr>
            </a:lvl1pPr>
          </a:lstStyle>
          <a:p>
            <a:pPr/>
            <a:r>
              <a:t>TC</a:t>
            </a:r>
          </a:p>
        </p:txBody>
      </p:sp>
      <p:sp>
        <p:nvSpPr>
          <p:cNvPr id="311" name="Text 13"/>
          <p:cNvSpPr txBox="1"/>
          <p:nvPr/>
        </p:nvSpPr>
        <p:spPr>
          <a:xfrm>
            <a:off x="365760" y="2822448"/>
            <a:ext cx="228600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defRPr>
            </a:lvl1pPr>
          </a:lstStyle>
          <a:p>
            <a:pPr/>
            <a:r>
              <a:t>TARANG CHANIYARA</a:t>
            </a:r>
          </a:p>
        </p:txBody>
      </p:sp>
      <p:sp>
        <p:nvSpPr>
          <p:cNvPr id="312" name="Text 14"/>
          <p:cNvSpPr txBox="1"/>
          <p:nvPr/>
        </p:nvSpPr>
        <p:spPr>
          <a:xfrm>
            <a:off x="365760" y="3173984"/>
            <a:ext cx="2286001"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800">
                <a:solidFill>
                  <a:srgbClr val="1E8449"/>
                </a:solidFill>
              </a:defRPr>
            </a:pPr>
            <a:r>
              <a:t>IT Intern</a:t>
            </a:r>
          </a:p>
          <a:p>
            <a:pPr algn="ctr">
              <a:defRPr sz="800">
                <a:solidFill>
                  <a:srgbClr val="1E8449"/>
                </a:solidFill>
              </a:defRPr>
            </a:pPr>
            <a:r>
              <a:t>Microsoft Elevate 2026</a:t>
            </a:r>
          </a:p>
        </p:txBody>
      </p:sp>
      <p:sp>
        <p:nvSpPr>
          <p:cNvPr id="313" name="Shape 15"/>
          <p:cNvSpPr/>
          <p:nvPr/>
        </p:nvSpPr>
        <p:spPr>
          <a:xfrm>
            <a:off x="502919" y="3621023"/>
            <a:ext cx="2011680" cy="18289"/>
          </a:xfrm>
          <a:prstGeom prst="rect">
            <a:avLst/>
          </a:prstGeom>
          <a:solidFill>
            <a:srgbClr val="3A5278"/>
          </a:solidFill>
          <a:ln w="12700">
            <a:solidFill>
              <a:srgbClr val="3A5278"/>
            </a:solidFill>
          </a:ln>
        </p:spPr>
        <p:txBody>
          <a:bodyPr lIns="45719" rIns="45719"/>
          <a:lstStyle/>
          <a:p>
            <a:pPr/>
          </a:p>
        </p:txBody>
      </p:sp>
      <p:sp>
        <p:nvSpPr>
          <p:cNvPr id="314" name="Text 16"/>
          <p:cNvSpPr txBox="1"/>
          <p:nvPr/>
        </p:nvSpPr>
        <p:spPr>
          <a:xfrm>
            <a:off x="365760" y="3787902"/>
            <a:ext cx="2286001" cy="434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700">
                <a:solidFill>
                  <a:srgbClr val="9BB4CC"/>
                </a:solidFill>
              </a:defRPr>
            </a:pPr>
            <a:r>
              <a:t>Enrollment: 220470116012</a:t>
            </a:r>
          </a:p>
          <a:p>
            <a:pPr algn="ctr">
              <a:defRPr sz="700">
                <a:solidFill>
                  <a:srgbClr val="9BB4CC"/>
                </a:solidFill>
              </a:defRPr>
            </a:pPr>
            <a:r>
              <a:t>V.V.P. Engineering College</a:t>
            </a:r>
          </a:p>
          <a:p>
            <a:pPr algn="ctr">
              <a:defRPr sz="700">
                <a:solidFill>
                  <a:srgbClr val="9BB4CC"/>
                </a:solidFill>
              </a:defRPr>
            </a:pPr>
            <a:r>
              <a:t>Dept. of Information Technology</a:t>
            </a:r>
          </a:p>
        </p:txBody>
      </p:sp>
      <p:sp>
        <p:nvSpPr>
          <p:cNvPr id="315" name="Shape 17"/>
          <p:cNvSpPr/>
          <p:nvPr/>
        </p:nvSpPr>
        <p:spPr>
          <a:xfrm>
            <a:off x="2834639" y="1078991"/>
            <a:ext cx="5989322" cy="548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16" name="Shape 18"/>
          <p:cNvSpPr/>
          <p:nvPr/>
        </p:nvSpPr>
        <p:spPr>
          <a:xfrm>
            <a:off x="2834639" y="1078991"/>
            <a:ext cx="59436" cy="548641"/>
          </a:xfrm>
          <a:prstGeom prst="rect">
            <a:avLst/>
          </a:prstGeom>
          <a:solidFill>
            <a:srgbClr val="1D4ED8"/>
          </a:solidFill>
          <a:ln w="12700">
            <a:solidFill>
              <a:srgbClr val="1D4ED8"/>
            </a:solidFill>
          </a:ln>
        </p:spPr>
        <p:txBody>
          <a:bodyPr lIns="45719" rIns="45719"/>
          <a:lstStyle/>
          <a:p>
            <a:pPr/>
          </a:p>
        </p:txBody>
      </p:sp>
      <p:sp>
        <p:nvSpPr>
          <p:cNvPr id="317" name="Text 19"/>
          <p:cNvSpPr txBox="1"/>
          <p:nvPr/>
        </p:nvSpPr>
        <p:spPr>
          <a:xfrm>
            <a:off x="2944368" y="1178305"/>
            <a:ext cx="583387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Weekly Live Sessions &amp; Healthcare Labs</a:t>
            </a:r>
          </a:p>
        </p:txBody>
      </p:sp>
      <p:sp>
        <p:nvSpPr>
          <p:cNvPr id="318" name="Text 20"/>
          <p:cNvSpPr txBox="1"/>
          <p:nvPr/>
        </p:nvSpPr>
        <p:spPr>
          <a:xfrm>
            <a:off x="2990088" y="1380744"/>
            <a:ext cx="5742432"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Attended all 12 weeks of live sessions and completed hands-on healthcare data labs. Analyzed real-world patient datasets for ICU vitals, medication adherence, and chronic disease progression.</a:t>
            </a:r>
          </a:p>
        </p:txBody>
      </p:sp>
      <p:sp>
        <p:nvSpPr>
          <p:cNvPr id="319" name="Shape 21"/>
          <p:cNvSpPr/>
          <p:nvPr/>
        </p:nvSpPr>
        <p:spPr>
          <a:xfrm>
            <a:off x="2834639" y="1700783"/>
            <a:ext cx="5989322" cy="548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20" name="Shape 22"/>
          <p:cNvSpPr/>
          <p:nvPr/>
        </p:nvSpPr>
        <p:spPr>
          <a:xfrm>
            <a:off x="2834639" y="1700783"/>
            <a:ext cx="59436" cy="548641"/>
          </a:xfrm>
          <a:prstGeom prst="rect">
            <a:avLst/>
          </a:prstGeom>
          <a:solidFill>
            <a:srgbClr val="0D9488"/>
          </a:solidFill>
          <a:ln w="12700">
            <a:solidFill>
              <a:srgbClr val="0D9488"/>
            </a:solidFill>
          </a:ln>
        </p:spPr>
        <p:txBody>
          <a:bodyPr lIns="45719" rIns="45719"/>
          <a:lstStyle/>
          <a:p>
            <a:pPr/>
          </a:p>
        </p:txBody>
      </p:sp>
      <p:sp>
        <p:nvSpPr>
          <p:cNvPr id="321" name="Text 23"/>
          <p:cNvSpPr txBox="1"/>
          <p:nvPr/>
        </p:nvSpPr>
        <p:spPr>
          <a:xfrm>
            <a:off x="2944368" y="1800098"/>
            <a:ext cx="583387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Data Analytics &amp; ML on Patient Datasets</a:t>
            </a:r>
          </a:p>
        </p:txBody>
      </p:sp>
      <p:sp>
        <p:nvSpPr>
          <p:cNvPr id="322" name="Text 24"/>
          <p:cNvSpPr txBox="1"/>
          <p:nvPr/>
        </p:nvSpPr>
        <p:spPr>
          <a:xfrm>
            <a:off x="2990088" y="2002535"/>
            <a:ext cx="5742432"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Performed comprehensive EDA on EHR datasets: distributions, correlations, outlier detection, and missing value imputation. Trained Random Forest and Logistic Regression models for readmission prediction.</a:t>
            </a:r>
          </a:p>
        </p:txBody>
      </p:sp>
      <p:sp>
        <p:nvSpPr>
          <p:cNvPr id="323" name="Shape 25"/>
          <p:cNvSpPr/>
          <p:nvPr/>
        </p:nvSpPr>
        <p:spPr>
          <a:xfrm>
            <a:off x="2834639" y="2322576"/>
            <a:ext cx="5989322" cy="548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24" name="Shape 26"/>
          <p:cNvSpPr/>
          <p:nvPr/>
        </p:nvSpPr>
        <p:spPr>
          <a:xfrm>
            <a:off x="2834639" y="2322576"/>
            <a:ext cx="59436" cy="548641"/>
          </a:xfrm>
          <a:prstGeom prst="rect">
            <a:avLst/>
          </a:prstGeom>
          <a:solidFill>
            <a:srgbClr val="1E8449"/>
          </a:solidFill>
          <a:ln w="12700">
            <a:solidFill>
              <a:srgbClr val="1E8449"/>
            </a:solidFill>
          </a:ln>
        </p:spPr>
        <p:txBody>
          <a:bodyPr lIns="45719" rIns="45719"/>
          <a:lstStyle/>
          <a:p>
            <a:pPr/>
          </a:p>
        </p:txBody>
      </p:sp>
      <p:sp>
        <p:nvSpPr>
          <p:cNvPr id="325" name="Text 27"/>
          <p:cNvSpPr txBox="1"/>
          <p:nvPr/>
        </p:nvSpPr>
        <p:spPr>
          <a:xfrm>
            <a:off x="2944368" y="2421889"/>
            <a:ext cx="583387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End-to-End ML Pipeline Development</a:t>
            </a:r>
          </a:p>
        </p:txBody>
      </p:sp>
      <p:sp>
        <p:nvSpPr>
          <p:cNvPr id="326" name="Text 28"/>
          <p:cNvSpPr txBox="1"/>
          <p:nvPr/>
        </p:nvSpPr>
        <p:spPr>
          <a:xfrm>
            <a:off x="2990088" y="2624327"/>
            <a:ext cx="5742432"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Built complete ML pipelines from raw EHR data ingestion through preprocessing, feature engineering, model training, hyperparameter tuning, evaluation, and REST API deployment on Azure ML Studio.</a:t>
            </a:r>
          </a:p>
        </p:txBody>
      </p:sp>
      <p:sp>
        <p:nvSpPr>
          <p:cNvPr id="327" name="Shape 29"/>
          <p:cNvSpPr/>
          <p:nvPr/>
        </p:nvSpPr>
        <p:spPr>
          <a:xfrm>
            <a:off x="2834639" y="2944367"/>
            <a:ext cx="5989322" cy="548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28" name="Shape 30"/>
          <p:cNvSpPr/>
          <p:nvPr/>
        </p:nvSpPr>
        <p:spPr>
          <a:xfrm>
            <a:off x="2834639" y="2944367"/>
            <a:ext cx="59436" cy="548641"/>
          </a:xfrm>
          <a:prstGeom prst="rect">
            <a:avLst/>
          </a:prstGeom>
          <a:solidFill>
            <a:srgbClr val="7C3AED"/>
          </a:solidFill>
          <a:ln w="12700">
            <a:solidFill>
              <a:srgbClr val="7C3AED"/>
            </a:solidFill>
          </a:ln>
        </p:spPr>
        <p:txBody>
          <a:bodyPr lIns="45719" rIns="45719"/>
          <a:lstStyle/>
          <a:p>
            <a:pPr/>
          </a:p>
        </p:txBody>
      </p:sp>
      <p:sp>
        <p:nvSpPr>
          <p:cNvPr id="329" name="Text 31"/>
          <p:cNvSpPr txBox="1"/>
          <p:nvPr/>
        </p:nvSpPr>
        <p:spPr>
          <a:xfrm>
            <a:off x="2944368" y="3043682"/>
            <a:ext cx="583387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Power BI Dashboard Development</a:t>
            </a:r>
          </a:p>
        </p:txBody>
      </p:sp>
      <p:sp>
        <p:nvSpPr>
          <p:cNvPr id="330" name="Text 32"/>
          <p:cNvSpPr txBox="1"/>
          <p:nvPr/>
        </p:nvSpPr>
        <p:spPr>
          <a:xfrm>
            <a:off x="2990088" y="3246120"/>
            <a:ext cx="5742432"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Developed interactive Power BI dashboards with DAX-powered KPI measures for medication adherence rate, hospital readmission rate, patient vitals trend analysis, and drug interaction incident tracking.</a:t>
            </a:r>
          </a:p>
        </p:txBody>
      </p:sp>
      <p:sp>
        <p:nvSpPr>
          <p:cNvPr id="331" name="Shape 33"/>
          <p:cNvSpPr/>
          <p:nvPr/>
        </p:nvSpPr>
        <p:spPr>
          <a:xfrm>
            <a:off x="2834639" y="3566159"/>
            <a:ext cx="5989322" cy="548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32" name="Shape 34"/>
          <p:cNvSpPr/>
          <p:nvPr/>
        </p:nvSpPr>
        <p:spPr>
          <a:xfrm>
            <a:off x="2834639" y="3566159"/>
            <a:ext cx="59436" cy="548641"/>
          </a:xfrm>
          <a:prstGeom prst="rect">
            <a:avLst/>
          </a:prstGeom>
          <a:solidFill>
            <a:srgbClr val="D97706"/>
          </a:solidFill>
          <a:ln w="12700">
            <a:solidFill>
              <a:srgbClr val="D97706"/>
            </a:solidFill>
          </a:ln>
        </p:spPr>
        <p:txBody>
          <a:bodyPr lIns="45719" rIns="45719"/>
          <a:lstStyle/>
          <a:p>
            <a:pPr/>
          </a:p>
        </p:txBody>
      </p:sp>
      <p:sp>
        <p:nvSpPr>
          <p:cNvPr id="333" name="Text 35"/>
          <p:cNvSpPr txBox="1"/>
          <p:nvPr/>
        </p:nvSpPr>
        <p:spPr>
          <a:xfrm>
            <a:off x="2944368" y="3665473"/>
            <a:ext cx="583387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Microsoft Azure Cloud Deployment</a:t>
            </a:r>
          </a:p>
        </p:txBody>
      </p:sp>
      <p:sp>
        <p:nvSpPr>
          <p:cNvPr id="334" name="Text 36"/>
          <p:cNvSpPr txBox="1"/>
          <p:nvPr/>
        </p:nvSpPr>
        <p:spPr>
          <a:xfrm>
            <a:off x="2990088" y="3867911"/>
            <a:ext cx="5742432"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Deployed AI health prediction models on Azure ML as REST endpoints. Configured Azure IoT Hub for real-time vital sign streaming. Set up RBAC security and HIPAA-compliant data governance policies.</a:t>
            </a:r>
          </a:p>
        </p:txBody>
      </p:sp>
      <p:sp>
        <p:nvSpPr>
          <p:cNvPr id="335" name="Shape 37"/>
          <p:cNvSpPr/>
          <p:nvPr/>
        </p:nvSpPr>
        <p:spPr>
          <a:xfrm>
            <a:off x="2834639" y="4187952"/>
            <a:ext cx="5989322" cy="548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36" name="Shape 38"/>
          <p:cNvSpPr/>
          <p:nvPr/>
        </p:nvSpPr>
        <p:spPr>
          <a:xfrm>
            <a:off x="2834639" y="4187952"/>
            <a:ext cx="59436" cy="548641"/>
          </a:xfrm>
          <a:prstGeom prst="rect">
            <a:avLst/>
          </a:prstGeom>
          <a:solidFill>
            <a:srgbClr val="DC2626"/>
          </a:solidFill>
          <a:ln w="12700">
            <a:solidFill>
              <a:srgbClr val="DC2626"/>
            </a:solidFill>
          </a:ln>
        </p:spPr>
        <p:txBody>
          <a:bodyPr lIns="45719" rIns="45719"/>
          <a:lstStyle/>
          <a:p>
            <a:pPr/>
          </a:p>
        </p:txBody>
      </p:sp>
      <p:sp>
        <p:nvSpPr>
          <p:cNvPr id="337" name="Text 39"/>
          <p:cNvSpPr txBox="1"/>
          <p:nvPr/>
        </p:nvSpPr>
        <p:spPr>
          <a:xfrm>
            <a:off x="2944368" y="4287265"/>
            <a:ext cx="583387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GitHub Repository &amp; Documentation</a:t>
            </a:r>
          </a:p>
        </p:txBody>
      </p:sp>
      <p:sp>
        <p:nvSpPr>
          <p:cNvPr id="338" name="Text 40"/>
          <p:cNvSpPr txBox="1"/>
          <p:nvPr/>
        </p:nvSpPr>
        <p:spPr>
          <a:xfrm>
            <a:off x="2990088" y="4489703"/>
            <a:ext cx="5742432"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Maintained a clean, well-documented GitHub repository with feature branching, meaningful commits, and comprehensive README. Used GitHub Copilot for AI-assisted code development and review.</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340"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341"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342"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Problem Statement</a:t>
            </a:r>
          </a:p>
        </p:txBody>
      </p:sp>
      <p:sp>
        <p:nvSpPr>
          <p:cNvPr id="343"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344"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345"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346"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347"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348"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9 / 20</a:t>
            </a:r>
          </a:p>
        </p:txBody>
      </p:sp>
      <p:sp>
        <p:nvSpPr>
          <p:cNvPr id="349"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Healthcare &amp; Medication Management Challenges</a:t>
            </a:r>
          </a:p>
        </p:txBody>
      </p:sp>
      <p:sp>
        <p:nvSpPr>
          <p:cNvPr id="350" name="Text 10"/>
          <p:cNvSpPr txBox="1"/>
          <p:nvPr/>
        </p:nvSpPr>
        <p:spPr>
          <a:xfrm>
            <a:off x="365760" y="1012444"/>
            <a:ext cx="841248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374151"/>
                </a:solidFill>
              </a:defRPr>
            </a:lvl1pPr>
          </a:lstStyle>
          <a:p>
            <a:pPr/>
            <a:r>
              <a:t>Healthcare systems worldwide face critical challenges in patient safety, data fragmentation, and real-time care delivery that this project directly addresses.</a:t>
            </a:r>
          </a:p>
        </p:txBody>
      </p:sp>
      <p:sp>
        <p:nvSpPr>
          <p:cNvPr id="351" name="Shape 11"/>
          <p:cNvSpPr/>
          <p:nvPr/>
        </p:nvSpPr>
        <p:spPr>
          <a:xfrm>
            <a:off x="320039" y="1371600"/>
            <a:ext cx="4224530" cy="1069848"/>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52" name="Shape 12"/>
          <p:cNvSpPr/>
          <p:nvPr/>
        </p:nvSpPr>
        <p:spPr>
          <a:xfrm>
            <a:off x="320040" y="1371600"/>
            <a:ext cx="59436" cy="1069848"/>
          </a:xfrm>
          <a:prstGeom prst="rect">
            <a:avLst/>
          </a:prstGeom>
          <a:solidFill>
            <a:srgbClr val="DC2626"/>
          </a:solidFill>
          <a:ln w="12700">
            <a:solidFill>
              <a:srgbClr val="DC2626"/>
            </a:solidFill>
          </a:ln>
        </p:spPr>
        <p:txBody>
          <a:bodyPr lIns="45719" rIns="45719"/>
          <a:lstStyle/>
          <a:p>
            <a:pPr/>
          </a:p>
        </p:txBody>
      </p:sp>
      <p:sp>
        <p:nvSpPr>
          <p:cNvPr id="353" name="Text 13"/>
          <p:cNvSpPr txBox="1"/>
          <p:nvPr/>
        </p:nvSpPr>
        <p:spPr>
          <a:xfrm>
            <a:off x="429768" y="1464563"/>
            <a:ext cx="406908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Fragmented Patient Records</a:t>
            </a:r>
          </a:p>
        </p:txBody>
      </p:sp>
      <p:sp>
        <p:nvSpPr>
          <p:cNvPr id="354" name="Text 14"/>
          <p:cNvSpPr txBox="1"/>
          <p:nvPr/>
        </p:nvSpPr>
        <p:spPr>
          <a:xfrm>
            <a:off x="475488" y="1673351"/>
            <a:ext cx="397764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Patient health records are siloed across multiple hospitals, clinics, and pharmacies. Clinicians lack a unified longitudinal view, leading to duplicate diagnostic tests, missed medical history, poor care coordination, and ultimately worse patient outcomes across the care continuum.</a:t>
            </a:r>
          </a:p>
        </p:txBody>
      </p:sp>
      <p:sp>
        <p:nvSpPr>
          <p:cNvPr id="355" name="Shape 15"/>
          <p:cNvSpPr/>
          <p:nvPr/>
        </p:nvSpPr>
        <p:spPr>
          <a:xfrm>
            <a:off x="4754879" y="1371600"/>
            <a:ext cx="4224530" cy="1069848"/>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56" name="Shape 16"/>
          <p:cNvSpPr/>
          <p:nvPr/>
        </p:nvSpPr>
        <p:spPr>
          <a:xfrm>
            <a:off x="4754879" y="1371600"/>
            <a:ext cx="59436" cy="1069848"/>
          </a:xfrm>
          <a:prstGeom prst="rect">
            <a:avLst/>
          </a:prstGeom>
          <a:solidFill>
            <a:srgbClr val="D97706"/>
          </a:solidFill>
          <a:ln w="12700">
            <a:solidFill>
              <a:srgbClr val="D97706"/>
            </a:solidFill>
          </a:ln>
        </p:spPr>
        <p:txBody>
          <a:bodyPr lIns="45719" rIns="45719"/>
          <a:lstStyle/>
          <a:p>
            <a:pPr/>
          </a:p>
        </p:txBody>
      </p:sp>
      <p:sp>
        <p:nvSpPr>
          <p:cNvPr id="357" name="Text 17"/>
          <p:cNvSpPr txBox="1"/>
          <p:nvPr/>
        </p:nvSpPr>
        <p:spPr>
          <a:xfrm>
            <a:off x="4864608" y="1464563"/>
            <a:ext cx="40690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High Medication Error Rates</a:t>
            </a:r>
          </a:p>
        </p:txBody>
      </p:sp>
      <p:sp>
        <p:nvSpPr>
          <p:cNvPr id="358" name="Text 18"/>
          <p:cNvSpPr txBox="1"/>
          <p:nvPr/>
        </p:nvSpPr>
        <p:spPr>
          <a:xfrm>
            <a:off x="4910328" y="1673351"/>
            <a:ext cx="397764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Manual medication dispensing, handwritten prescriptions, and verbal medication orders contribute to dangerous dosing errors. Studies show over 1.5 million Americans are harmed annually by medication errors. ICU patients face an average of 1.7 errors per day in manual pharmacy systems.</a:t>
            </a:r>
          </a:p>
        </p:txBody>
      </p:sp>
      <p:sp>
        <p:nvSpPr>
          <p:cNvPr id="359" name="Shape 19"/>
          <p:cNvSpPr/>
          <p:nvPr/>
        </p:nvSpPr>
        <p:spPr>
          <a:xfrm>
            <a:off x="320039" y="2532888"/>
            <a:ext cx="4224530" cy="106984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60" name="Shape 20"/>
          <p:cNvSpPr/>
          <p:nvPr/>
        </p:nvSpPr>
        <p:spPr>
          <a:xfrm>
            <a:off x="320040" y="2532888"/>
            <a:ext cx="59436" cy="1069849"/>
          </a:xfrm>
          <a:prstGeom prst="rect">
            <a:avLst/>
          </a:prstGeom>
          <a:solidFill>
            <a:srgbClr val="1D4ED8"/>
          </a:solidFill>
          <a:ln w="12700">
            <a:solidFill>
              <a:srgbClr val="1D4ED8"/>
            </a:solidFill>
          </a:ln>
        </p:spPr>
        <p:txBody>
          <a:bodyPr lIns="45719" rIns="45719"/>
          <a:lstStyle/>
          <a:p>
            <a:pPr/>
          </a:p>
        </p:txBody>
      </p:sp>
      <p:sp>
        <p:nvSpPr>
          <p:cNvPr id="361" name="Text 21"/>
          <p:cNvSpPr txBox="1"/>
          <p:nvPr/>
        </p:nvSpPr>
        <p:spPr>
          <a:xfrm>
            <a:off x="429768" y="2625851"/>
            <a:ext cx="406908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Lack of Real-Time ICU Monitoring</a:t>
            </a:r>
          </a:p>
        </p:txBody>
      </p:sp>
      <p:sp>
        <p:nvSpPr>
          <p:cNvPr id="362" name="Text 22"/>
          <p:cNvSpPr txBox="1"/>
          <p:nvPr/>
        </p:nvSpPr>
        <p:spPr>
          <a:xfrm>
            <a:off x="475488" y="2834639"/>
            <a:ext cx="397764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Critical care patients require continuous vital-sign tracking for heart rate, blood pressure, SpO2, and temperature. Traditional hospital systems lack IoT integration, resulting in delayed detection of sudden deterioration events such as cardiac arrhythmias, septic shock, or respiratory failure.</a:t>
            </a:r>
          </a:p>
        </p:txBody>
      </p:sp>
      <p:sp>
        <p:nvSpPr>
          <p:cNvPr id="363" name="Shape 23"/>
          <p:cNvSpPr/>
          <p:nvPr/>
        </p:nvSpPr>
        <p:spPr>
          <a:xfrm>
            <a:off x="4754879" y="2532888"/>
            <a:ext cx="4224530" cy="106984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64" name="Shape 24"/>
          <p:cNvSpPr/>
          <p:nvPr/>
        </p:nvSpPr>
        <p:spPr>
          <a:xfrm>
            <a:off x="4754879" y="2532888"/>
            <a:ext cx="59436" cy="1069849"/>
          </a:xfrm>
          <a:prstGeom prst="rect">
            <a:avLst/>
          </a:prstGeom>
          <a:solidFill>
            <a:srgbClr val="0D9488"/>
          </a:solidFill>
          <a:ln w="12700">
            <a:solidFill>
              <a:srgbClr val="0D9488"/>
            </a:solidFill>
          </a:ln>
        </p:spPr>
        <p:txBody>
          <a:bodyPr lIns="45719" rIns="45719"/>
          <a:lstStyle/>
          <a:p>
            <a:pPr/>
          </a:p>
        </p:txBody>
      </p:sp>
      <p:sp>
        <p:nvSpPr>
          <p:cNvPr id="365" name="Text 25"/>
          <p:cNvSpPr txBox="1"/>
          <p:nvPr/>
        </p:nvSpPr>
        <p:spPr>
          <a:xfrm>
            <a:off x="4864608" y="2625851"/>
            <a:ext cx="40690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Poor Medication Adherence</a:t>
            </a:r>
          </a:p>
        </p:txBody>
      </p:sp>
      <p:sp>
        <p:nvSpPr>
          <p:cNvPr id="366" name="Text 26"/>
          <p:cNvSpPr txBox="1"/>
          <p:nvPr/>
        </p:nvSpPr>
        <p:spPr>
          <a:xfrm>
            <a:off x="4910328" y="2834639"/>
            <a:ext cx="397764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Approximately 50% of chronic disease patients — including diabetics and hypertension sufferers — fail to adhere to prescribed medication schedules. Without intelligent AI-driven reminder systems, non-adherence leads to disease progression and costly preventable hospital readmissions.</a:t>
            </a:r>
          </a:p>
        </p:txBody>
      </p:sp>
      <p:sp>
        <p:nvSpPr>
          <p:cNvPr id="367" name="Shape 27"/>
          <p:cNvSpPr/>
          <p:nvPr/>
        </p:nvSpPr>
        <p:spPr>
          <a:xfrm>
            <a:off x="320039" y="3694176"/>
            <a:ext cx="4224530" cy="106984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68" name="Shape 28"/>
          <p:cNvSpPr/>
          <p:nvPr/>
        </p:nvSpPr>
        <p:spPr>
          <a:xfrm>
            <a:off x="320040" y="3694176"/>
            <a:ext cx="59436" cy="1069849"/>
          </a:xfrm>
          <a:prstGeom prst="rect">
            <a:avLst/>
          </a:prstGeom>
          <a:solidFill>
            <a:srgbClr val="7C3AED"/>
          </a:solidFill>
          <a:ln w="12700">
            <a:solidFill>
              <a:srgbClr val="7C3AED"/>
            </a:solidFill>
          </a:ln>
        </p:spPr>
        <p:txBody>
          <a:bodyPr lIns="45719" rIns="45719"/>
          <a:lstStyle/>
          <a:p>
            <a:pPr/>
          </a:p>
        </p:txBody>
      </p:sp>
      <p:sp>
        <p:nvSpPr>
          <p:cNvPr id="369" name="Text 29"/>
          <p:cNvSpPr txBox="1"/>
          <p:nvPr/>
        </p:nvSpPr>
        <p:spPr>
          <a:xfrm>
            <a:off x="429768" y="3787140"/>
            <a:ext cx="406908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Inadequate Drug Interaction Alerts</a:t>
            </a:r>
          </a:p>
        </p:txBody>
      </p:sp>
      <p:sp>
        <p:nvSpPr>
          <p:cNvPr id="370" name="Text 30"/>
          <p:cNvSpPr txBox="1"/>
          <p:nvPr/>
        </p:nvSpPr>
        <p:spPr>
          <a:xfrm>
            <a:off x="475488" y="3995928"/>
            <a:ext cx="397764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Polypharmacy is common among elderly patients with multiple chronic conditions. Existing pharmacy systems frequently fail to detect harmful drug-drug interactions or patient-specific contraindications in real time, putting patient safety at serious risk during complex multi-drug prescriptions.</a:t>
            </a:r>
          </a:p>
        </p:txBody>
      </p:sp>
      <p:sp>
        <p:nvSpPr>
          <p:cNvPr id="371" name="Shape 31"/>
          <p:cNvSpPr/>
          <p:nvPr/>
        </p:nvSpPr>
        <p:spPr>
          <a:xfrm>
            <a:off x="4754879" y="3694176"/>
            <a:ext cx="4224530" cy="106984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372" name="Shape 32"/>
          <p:cNvSpPr/>
          <p:nvPr/>
        </p:nvSpPr>
        <p:spPr>
          <a:xfrm>
            <a:off x="4754879" y="3694176"/>
            <a:ext cx="59436" cy="1069849"/>
          </a:xfrm>
          <a:prstGeom prst="rect">
            <a:avLst/>
          </a:prstGeom>
          <a:solidFill>
            <a:srgbClr val="1E8449"/>
          </a:solidFill>
          <a:ln w="12700">
            <a:solidFill>
              <a:srgbClr val="1E8449"/>
            </a:solidFill>
          </a:ln>
        </p:spPr>
        <p:txBody>
          <a:bodyPr lIns="45719" rIns="45719"/>
          <a:lstStyle/>
          <a:p>
            <a:pPr/>
          </a:p>
        </p:txBody>
      </p:sp>
      <p:sp>
        <p:nvSpPr>
          <p:cNvPr id="373" name="Text 33"/>
          <p:cNvSpPr txBox="1"/>
          <p:nvPr/>
        </p:nvSpPr>
        <p:spPr>
          <a:xfrm>
            <a:off x="4864608" y="3787140"/>
            <a:ext cx="40690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Data Silos &amp; Poor Clinical Insights</a:t>
            </a:r>
          </a:p>
        </p:txBody>
      </p:sp>
      <p:sp>
        <p:nvSpPr>
          <p:cNvPr id="374" name="Text 34"/>
          <p:cNvSpPr txBox="1"/>
          <p:nvPr/>
        </p:nvSpPr>
        <p:spPr>
          <a:xfrm>
            <a:off x="4910328" y="3995928"/>
            <a:ext cx="397764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Healthcare decision-makers lack integrated analytics dashboards providing a population-level health view. Isolated institutional databases prevent proactive clinical interventions, leading to reactive care rather than evidence-based preventive health management.</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376"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377"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378"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Proposed System / Solution</a:t>
            </a:r>
          </a:p>
        </p:txBody>
      </p:sp>
      <p:sp>
        <p:nvSpPr>
          <p:cNvPr id="379"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380"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381"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382"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383"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384"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10 / 20</a:t>
            </a:r>
          </a:p>
        </p:txBody>
      </p:sp>
      <p:sp>
        <p:nvSpPr>
          <p:cNvPr id="385"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Healthcare Challenges &amp; Proposed Solutions</a:t>
            </a:r>
          </a:p>
        </p:txBody>
      </p:sp>
      <p:sp>
        <p:nvSpPr>
          <p:cNvPr id="386" name="Shape 10"/>
          <p:cNvSpPr/>
          <p:nvPr/>
        </p:nvSpPr>
        <p:spPr>
          <a:xfrm>
            <a:off x="320039" y="1078991"/>
            <a:ext cx="4023361" cy="274321"/>
          </a:xfrm>
          <a:prstGeom prst="rect">
            <a:avLst/>
          </a:prstGeom>
          <a:solidFill>
            <a:srgbClr val="DC2626"/>
          </a:solidFill>
          <a:ln w="12700">
            <a:solidFill>
              <a:srgbClr val="DC2626"/>
            </a:solidFill>
          </a:ln>
        </p:spPr>
        <p:txBody>
          <a:bodyPr lIns="45719" rIns="45719"/>
          <a:lstStyle/>
          <a:p>
            <a:pPr/>
          </a:p>
        </p:txBody>
      </p:sp>
      <p:sp>
        <p:nvSpPr>
          <p:cNvPr id="387" name="Text 11"/>
          <p:cNvSpPr txBox="1"/>
          <p:nvPr/>
        </p:nvSpPr>
        <p:spPr>
          <a:xfrm>
            <a:off x="320039" y="1139952"/>
            <a:ext cx="402336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KEY CHALLENGES</a:t>
            </a:r>
          </a:p>
        </p:txBody>
      </p:sp>
      <p:sp>
        <p:nvSpPr>
          <p:cNvPr id="388" name="Shape 12"/>
          <p:cNvSpPr/>
          <p:nvPr/>
        </p:nvSpPr>
        <p:spPr>
          <a:xfrm>
            <a:off x="4800600" y="1078991"/>
            <a:ext cx="4023360" cy="274321"/>
          </a:xfrm>
          <a:prstGeom prst="rect">
            <a:avLst/>
          </a:prstGeom>
          <a:solidFill>
            <a:srgbClr val="1E8449"/>
          </a:solidFill>
          <a:ln w="12700">
            <a:solidFill>
              <a:srgbClr val="1E8449"/>
            </a:solidFill>
          </a:ln>
        </p:spPr>
        <p:txBody>
          <a:bodyPr lIns="45719" rIns="45719"/>
          <a:lstStyle/>
          <a:p>
            <a:pPr/>
          </a:p>
        </p:txBody>
      </p:sp>
      <p:sp>
        <p:nvSpPr>
          <p:cNvPr id="389" name="Text 13"/>
          <p:cNvSpPr txBox="1"/>
          <p:nvPr/>
        </p:nvSpPr>
        <p:spPr>
          <a:xfrm>
            <a:off x="4800600" y="1139952"/>
            <a:ext cx="402336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PROPOSED SOLUTIONS</a:t>
            </a:r>
          </a:p>
        </p:txBody>
      </p:sp>
      <p:sp>
        <p:nvSpPr>
          <p:cNvPr id="390" name="Shape 14"/>
          <p:cNvSpPr/>
          <p:nvPr/>
        </p:nvSpPr>
        <p:spPr>
          <a:xfrm>
            <a:off x="320039" y="1389888"/>
            <a:ext cx="4023361" cy="512065"/>
          </a:xfrm>
          <a:prstGeom prst="rect">
            <a:avLst/>
          </a:prstGeom>
          <a:solidFill>
            <a:srgbClr val="FFFFFF"/>
          </a:solidFill>
          <a:ln w="12700">
            <a:solidFill>
              <a:srgbClr val="E2E8F0"/>
            </a:solidFill>
          </a:ln>
        </p:spPr>
        <p:txBody>
          <a:bodyPr lIns="45719" rIns="45719"/>
          <a:lstStyle/>
          <a:p>
            <a:pPr/>
          </a:p>
        </p:txBody>
      </p:sp>
      <p:sp>
        <p:nvSpPr>
          <p:cNvPr id="391" name="Shape 15"/>
          <p:cNvSpPr/>
          <p:nvPr/>
        </p:nvSpPr>
        <p:spPr>
          <a:xfrm>
            <a:off x="320040" y="1389888"/>
            <a:ext cx="54865" cy="512065"/>
          </a:xfrm>
          <a:prstGeom prst="rect">
            <a:avLst/>
          </a:prstGeom>
          <a:solidFill>
            <a:srgbClr val="DC2626"/>
          </a:solidFill>
          <a:ln w="12700">
            <a:solidFill>
              <a:srgbClr val="DC2626"/>
            </a:solidFill>
          </a:ln>
        </p:spPr>
        <p:txBody>
          <a:bodyPr lIns="45719" rIns="45719"/>
          <a:lstStyle/>
          <a:p>
            <a:pPr/>
          </a:p>
        </p:txBody>
      </p:sp>
      <p:sp>
        <p:nvSpPr>
          <p:cNvPr id="392" name="Text 16"/>
          <p:cNvSpPr txBox="1"/>
          <p:nvPr/>
        </p:nvSpPr>
        <p:spPr>
          <a:xfrm>
            <a:off x="475488" y="1453896"/>
            <a:ext cx="3749040"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Fragmented patient records across multiple healthcare systems</a:t>
            </a:r>
          </a:p>
        </p:txBody>
      </p:sp>
      <p:sp>
        <p:nvSpPr>
          <p:cNvPr id="393" name="Text 17"/>
          <p:cNvSpPr txBox="1"/>
          <p:nvPr/>
        </p:nvSpPr>
        <p:spPr>
          <a:xfrm>
            <a:off x="4416552" y="1492250"/>
            <a:ext cx="31089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400">
                <a:solidFill>
                  <a:srgbClr val="1D4ED8"/>
                </a:solidFill>
              </a:defRPr>
            </a:lvl1pPr>
          </a:lstStyle>
          <a:p>
            <a:pPr/>
            <a:r>
              <a:t>→</a:t>
            </a:r>
          </a:p>
        </p:txBody>
      </p:sp>
      <p:sp>
        <p:nvSpPr>
          <p:cNvPr id="394" name="Shape 18"/>
          <p:cNvSpPr/>
          <p:nvPr/>
        </p:nvSpPr>
        <p:spPr>
          <a:xfrm>
            <a:off x="4800600" y="1389888"/>
            <a:ext cx="4023360" cy="512065"/>
          </a:xfrm>
          <a:prstGeom prst="rect">
            <a:avLst/>
          </a:prstGeom>
          <a:solidFill>
            <a:srgbClr val="FFFFFF"/>
          </a:solidFill>
          <a:ln w="12700">
            <a:solidFill>
              <a:srgbClr val="E2E8F0"/>
            </a:solidFill>
          </a:ln>
        </p:spPr>
        <p:txBody>
          <a:bodyPr lIns="45719" rIns="45719"/>
          <a:lstStyle/>
          <a:p>
            <a:pPr/>
          </a:p>
        </p:txBody>
      </p:sp>
      <p:sp>
        <p:nvSpPr>
          <p:cNvPr id="395" name="Shape 19"/>
          <p:cNvSpPr/>
          <p:nvPr/>
        </p:nvSpPr>
        <p:spPr>
          <a:xfrm>
            <a:off x="4800600" y="1389888"/>
            <a:ext cx="54864" cy="512065"/>
          </a:xfrm>
          <a:prstGeom prst="rect">
            <a:avLst/>
          </a:prstGeom>
          <a:solidFill>
            <a:srgbClr val="1E8449"/>
          </a:solidFill>
          <a:ln w="12700">
            <a:solidFill>
              <a:srgbClr val="1E8449"/>
            </a:solidFill>
          </a:ln>
        </p:spPr>
        <p:txBody>
          <a:bodyPr lIns="45719" rIns="45719"/>
          <a:lstStyle/>
          <a:p>
            <a:pPr/>
          </a:p>
        </p:txBody>
      </p:sp>
      <p:sp>
        <p:nvSpPr>
          <p:cNvPr id="396" name="Text 20"/>
          <p:cNvSpPr txBox="1"/>
          <p:nvPr/>
        </p:nvSpPr>
        <p:spPr>
          <a:xfrm>
            <a:off x="4956048" y="1453896"/>
            <a:ext cx="374904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Unified EHR integration using HL7 FHIR API standards — single longitudinal patient view</a:t>
            </a:r>
          </a:p>
        </p:txBody>
      </p:sp>
      <p:sp>
        <p:nvSpPr>
          <p:cNvPr id="397" name="Shape 21"/>
          <p:cNvSpPr/>
          <p:nvPr/>
        </p:nvSpPr>
        <p:spPr>
          <a:xfrm>
            <a:off x="320039" y="1975104"/>
            <a:ext cx="4023361" cy="512065"/>
          </a:xfrm>
          <a:prstGeom prst="rect">
            <a:avLst/>
          </a:prstGeom>
          <a:solidFill>
            <a:srgbClr val="F8FAFC"/>
          </a:solidFill>
          <a:ln w="12700">
            <a:solidFill>
              <a:srgbClr val="E2E8F0"/>
            </a:solidFill>
          </a:ln>
        </p:spPr>
        <p:txBody>
          <a:bodyPr lIns="45719" rIns="45719"/>
          <a:lstStyle/>
          <a:p>
            <a:pPr/>
          </a:p>
        </p:txBody>
      </p:sp>
      <p:sp>
        <p:nvSpPr>
          <p:cNvPr id="398" name="Shape 22"/>
          <p:cNvSpPr/>
          <p:nvPr/>
        </p:nvSpPr>
        <p:spPr>
          <a:xfrm>
            <a:off x="320040" y="1975104"/>
            <a:ext cx="54865" cy="512065"/>
          </a:xfrm>
          <a:prstGeom prst="rect">
            <a:avLst/>
          </a:prstGeom>
          <a:solidFill>
            <a:srgbClr val="DC2626"/>
          </a:solidFill>
          <a:ln w="12700">
            <a:solidFill>
              <a:srgbClr val="DC2626"/>
            </a:solidFill>
          </a:ln>
        </p:spPr>
        <p:txBody>
          <a:bodyPr lIns="45719" rIns="45719"/>
          <a:lstStyle/>
          <a:p>
            <a:pPr/>
          </a:p>
        </p:txBody>
      </p:sp>
      <p:sp>
        <p:nvSpPr>
          <p:cNvPr id="399" name="Text 23"/>
          <p:cNvSpPr txBox="1"/>
          <p:nvPr/>
        </p:nvSpPr>
        <p:spPr>
          <a:xfrm>
            <a:off x="475488" y="2039111"/>
            <a:ext cx="3749040"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High medication error rates due to manual dispensing processes</a:t>
            </a:r>
          </a:p>
        </p:txBody>
      </p:sp>
      <p:sp>
        <p:nvSpPr>
          <p:cNvPr id="400" name="Text 24"/>
          <p:cNvSpPr txBox="1"/>
          <p:nvPr/>
        </p:nvSpPr>
        <p:spPr>
          <a:xfrm>
            <a:off x="4416552" y="2077466"/>
            <a:ext cx="31089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400">
                <a:solidFill>
                  <a:srgbClr val="1D4ED8"/>
                </a:solidFill>
              </a:defRPr>
            </a:lvl1pPr>
          </a:lstStyle>
          <a:p>
            <a:pPr/>
            <a:r>
              <a:t>→</a:t>
            </a:r>
          </a:p>
        </p:txBody>
      </p:sp>
      <p:sp>
        <p:nvSpPr>
          <p:cNvPr id="401" name="Shape 25"/>
          <p:cNvSpPr/>
          <p:nvPr/>
        </p:nvSpPr>
        <p:spPr>
          <a:xfrm>
            <a:off x="4800600" y="1975104"/>
            <a:ext cx="4023360" cy="512065"/>
          </a:xfrm>
          <a:prstGeom prst="rect">
            <a:avLst/>
          </a:prstGeom>
          <a:solidFill>
            <a:srgbClr val="F8FAFC"/>
          </a:solidFill>
          <a:ln w="12700">
            <a:solidFill>
              <a:srgbClr val="E2E8F0"/>
            </a:solidFill>
          </a:ln>
        </p:spPr>
        <p:txBody>
          <a:bodyPr lIns="45719" rIns="45719"/>
          <a:lstStyle/>
          <a:p>
            <a:pPr/>
          </a:p>
        </p:txBody>
      </p:sp>
      <p:sp>
        <p:nvSpPr>
          <p:cNvPr id="402" name="Shape 26"/>
          <p:cNvSpPr/>
          <p:nvPr/>
        </p:nvSpPr>
        <p:spPr>
          <a:xfrm>
            <a:off x="4800600" y="1975104"/>
            <a:ext cx="54864" cy="512065"/>
          </a:xfrm>
          <a:prstGeom prst="rect">
            <a:avLst/>
          </a:prstGeom>
          <a:solidFill>
            <a:srgbClr val="1E8449"/>
          </a:solidFill>
          <a:ln w="12700">
            <a:solidFill>
              <a:srgbClr val="1E8449"/>
            </a:solidFill>
          </a:ln>
        </p:spPr>
        <p:txBody>
          <a:bodyPr lIns="45719" rIns="45719"/>
          <a:lstStyle/>
          <a:p>
            <a:pPr/>
          </a:p>
        </p:txBody>
      </p:sp>
      <p:sp>
        <p:nvSpPr>
          <p:cNvPr id="403" name="Text 27"/>
          <p:cNvSpPr txBox="1"/>
          <p:nvPr/>
        </p:nvSpPr>
        <p:spPr>
          <a:xfrm>
            <a:off x="4956048" y="2039111"/>
            <a:ext cx="374904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AI-driven medication error detection engine achieving 97% accuracy with real-time alerts</a:t>
            </a:r>
          </a:p>
        </p:txBody>
      </p:sp>
      <p:sp>
        <p:nvSpPr>
          <p:cNvPr id="404" name="Shape 28"/>
          <p:cNvSpPr/>
          <p:nvPr/>
        </p:nvSpPr>
        <p:spPr>
          <a:xfrm>
            <a:off x="320039" y="2560320"/>
            <a:ext cx="4023361" cy="512065"/>
          </a:xfrm>
          <a:prstGeom prst="rect">
            <a:avLst/>
          </a:prstGeom>
          <a:solidFill>
            <a:srgbClr val="FFFFFF"/>
          </a:solidFill>
          <a:ln w="12700">
            <a:solidFill>
              <a:srgbClr val="E2E8F0"/>
            </a:solidFill>
          </a:ln>
        </p:spPr>
        <p:txBody>
          <a:bodyPr lIns="45719" rIns="45719"/>
          <a:lstStyle/>
          <a:p>
            <a:pPr/>
          </a:p>
        </p:txBody>
      </p:sp>
      <p:sp>
        <p:nvSpPr>
          <p:cNvPr id="405" name="Shape 29"/>
          <p:cNvSpPr/>
          <p:nvPr/>
        </p:nvSpPr>
        <p:spPr>
          <a:xfrm>
            <a:off x="320040" y="2560320"/>
            <a:ext cx="54865" cy="512065"/>
          </a:xfrm>
          <a:prstGeom prst="rect">
            <a:avLst/>
          </a:prstGeom>
          <a:solidFill>
            <a:srgbClr val="DC2626"/>
          </a:solidFill>
          <a:ln w="12700">
            <a:solidFill>
              <a:srgbClr val="DC2626"/>
            </a:solidFill>
          </a:ln>
        </p:spPr>
        <p:txBody>
          <a:bodyPr lIns="45719" rIns="45719"/>
          <a:lstStyle/>
          <a:p>
            <a:pPr/>
          </a:p>
        </p:txBody>
      </p:sp>
      <p:sp>
        <p:nvSpPr>
          <p:cNvPr id="406" name="Text 30"/>
          <p:cNvSpPr txBox="1"/>
          <p:nvPr/>
        </p:nvSpPr>
        <p:spPr>
          <a:xfrm>
            <a:off x="475488" y="2624327"/>
            <a:ext cx="3749040"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Lack of real-time monitoring for ICU and critical patients</a:t>
            </a:r>
          </a:p>
        </p:txBody>
      </p:sp>
      <p:sp>
        <p:nvSpPr>
          <p:cNvPr id="407" name="Text 31"/>
          <p:cNvSpPr txBox="1"/>
          <p:nvPr/>
        </p:nvSpPr>
        <p:spPr>
          <a:xfrm>
            <a:off x="4416552" y="2662682"/>
            <a:ext cx="31089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400">
                <a:solidFill>
                  <a:srgbClr val="1D4ED8"/>
                </a:solidFill>
              </a:defRPr>
            </a:lvl1pPr>
          </a:lstStyle>
          <a:p>
            <a:pPr/>
            <a:r>
              <a:t>→</a:t>
            </a:r>
          </a:p>
        </p:txBody>
      </p:sp>
      <p:sp>
        <p:nvSpPr>
          <p:cNvPr id="408" name="Shape 32"/>
          <p:cNvSpPr/>
          <p:nvPr/>
        </p:nvSpPr>
        <p:spPr>
          <a:xfrm>
            <a:off x="4800600" y="2560320"/>
            <a:ext cx="4023360" cy="512065"/>
          </a:xfrm>
          <a:prstGeom prst="rect">
            <a:avLst/>
          </a:prstGeom>
          <a:solidFill>
            <a:srgbClr val="FFFFFF"/>
          </a:solidFill>
          <a:ln w="12700">
            <a:solidFill>
              <a:srgbClr val="E2E8F0"/>
            </a:solidFill>
          </a:ln>
        </p:spPr>
        <p:txBody>
          <a:bodyPr lIns="45719" rIns="45719"/>
          <a:lstStyle/>
          <a:p>
            <a:pPr/>
          </a:p>
        </p:txBody>
      </p:sp>
      <p:sp>
        <p:nvSpPr>
          <p:cNvPr id="409" name="Shape 33"/>
          <p:cNvSpPr/>
          <p:nvPr/>
        </p:nvSpPr>
        <p:spPr>
          <a:xfrm>
            <a:off x="4800600" y="2560320"/>
            <a:ext cx="54864" cy="512065"/>
          </a:xfrm>
          <a:prstGeom prst="rect">
            <a:avLst/>
          </a:prstGeom>
          <a:solidFill>
            <a:srgbClr val="1E8449"/>
          </a:solidFill>
          <a:ln w="12700">
            <a:solidFill>
              <a:srgbClr val="1E8449"/>
            </a:solidFill>
          </a:ln>
        </p:spPr>
        <p:txBody>
          <a:bodyPr lIns="45719" rIns="45719"/>
          <a:lstStyle/>
          <a:p>
            <a:pPr/>
          </a:p>
        </p:txBody>
      </p:sp>
      <p:sp>
        <p:nvSpPr>
          <p:cNvPr id="410" name="Text 34"/>
          <p:cNvSpPr txBox="1"/>
          <p:nvPr/>
        </p:nvSpPr>
        <p:spPr>
          <a:xfrm>
            <a:off x="4956048" y="2624327"/>
            <a:ext cx="374904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IoT real-time vitals dashboard with Azure Stream Analytics — sub-90-second alert response</a:t>
            </a:r>
          </a:p>
        </p:txBody>
      </p:sp>
      <p:sp>
        <p:nvSpPr>
          <p:cNvPr id="411" name="Shape 35"/>
          <p:cNvSpPr/>
          <p:nvPr/>
        </p:nvSpPr>
        <p:spPr>
          <a:xfrm>
            <a:off x="320039" y="3145535"/>
            <a:ext cx="4023361" cy="512065"/>
          </a:xfrm>
          <a:prstGeom prst="rect">
            <a:avLst/>
          </a:prstGeom>
          <a:solidFill>
            <a:srgbClr val="F8FAFC"/>
          </a:solidFill>
          <a:ln w="12700">
            <a:solidFill>
              <a:srgbClr val="E2E8F0"/>
            </a:solidFill>
          </a:ln>
        </p:spPr>
        <p:txBody>
          <a:bodyPr lIns="45719" rIns="45719"/>
          <a:lstStyle/>
          <a:p>
            <a:pPr/>
          </a:p>
        </p:txBody>
      </p:sp>
      <p:sp>
        <p:nvSpPr>
          <p:cNvPr id="412" name="Shape 36"/>
          <p:cNvSpPr/>
          <p:nvPr/>
        </p:nvSpPr>
        <p:spPr>
          <a:xfrm>
            <a:off x="320040" y="3145535"/>
            <a:ext cx="54865" cy="512065"/>
          </a:xfrm>
          <a:prstGeom prst="rect">
            <a:avLst/>
          </a:prstGeom>
          <a:solidFill>
            <a:srgbClr val="DC2626"/>
          </a:solidFill>
          <a:ln w="12700">
            <a:solidFill>
              <a:srgbClr val="DC2626"/>
            </a:solidFill>
          </a:ln>
        </p:spPr>
        <p:txBody>
          <a:bodyPr lIns="45719" rIns="45719"/>
          <a:lstStyle/>
          <a:p>
            <a:pPr/>
          </a:p>
        </p:txBody>
      </p:sp>
      <p:sp>
        <p:nvSpPr>
          <p:cNvPr id="413" name="Text 37"/>
          <p:cNvSpPr txBox="1"/>
          <p:nvPr/>
        </p:nvSpPr>
        <p:spPr>
          <a:xfrm>
            <a:off x="475488" y="3209544"/>
            <a:ext cx="3749040"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Poor adherence: 50% of chronic patients miss medication doses</a:t>
            </a:r>
          </a:p>
        </p:txBody>
      </p:sp>
      <p:sp>
        <p:nvSpPr>
          <p:cNvPr id="414" name="Text 38"/>
          <p:cNvSpPr txBox="1"/>
          <p:nvPr/>
        </p:nvSpPr>
        <p:spPr>
          <a:xfrm>
            <a:off x="4416552" y="3247897"/>
            <a:ext cx="31089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400">
                <a:solidFill>
                  <a:srgbClr val="1D4ED8"/>
                </a:solidFill>
              </a:defRPr>
            </a:lvl1pPr>
          </a:lstStyle>
          <a:p>
            <a:pPr/>
            <a:r>
              <a:t>→</a:t>
            </a:r>
          </a:p>
        </p:txBody>
      </p:sp>
      <p:sp>
        <p:nvSpPr>
          <p:cNvPr id="415" name="Shape 39"/>
          <p:cNvSpPr/>
          <p:nvPr/>
        </p:nvSpPr>
        <p:spPr>
          <a:xfrm>
            <a:off x="4800600" y="3145535"/>
            <a:ext cx="4023360" cy="512065"/>
          </a:xfrm>
          <a:prstGeom prst="rect">
            <a:avLst/>
          </a:prstGeom>
          <a:solidFill>
            <a:srgbClr val="F8FAFC"/>
          </a:solidFill>
          <a:ln w="12700">
            <a:solidFill>
              <a:srgbClr val="E2E8F0"/>
            </a:solidFill>
          </a:ln>
        </p:spPr>
        <p:txBody>
          <a:bodyPr lIns="45719" rIns="45719"/>
          <a:lstStyle/>
          <a:p>
            <a:pPr/>
          </a:p>
        </p:txBody>
      </p:sp>
      <p:sp>
        <p:nvSpPr>
          <p:cNvPr id="416" name="Shape 40"/>
          <p:cNvSpPr/>
          <p:nvPr/>
        </p:nvSpPr>
        <p:spPr>
          <a:xfrm>
            <a:off x="4800600" y="3145535"/>
            <a:ext cx="54864" cy="512065"/>
          </a:xfrm>
          <a:prstGeom prst="rect">
            <a:avLst/>
          </a:prstGeom>
          <a:solidFill>
            <a:srgbClr val="1E8449"/>
          </a:solidFill>
          <a:ln w="12700">
            <a:solidFill>
              <a:srgbClr val="1E8449"/>
            </a:solidFill>
          </a:ln>
        </p:spPr>
        <p:txBody>
          <a:bodyPr lIns="45719" rIns="45719"/>
          <a:lstStyle/>
          <a:p>
            <a:pPr/>
          </a:p>
        </p:txBody>
      </p:sp>
      <p:sp>
        <p:nvSpPr>
          <p:cNvPr id="417" name="Text 41"/>
          <p:cNvSpPr txBox="1"/>
          <p:nvPr/>
        </p:nvSpPr>
        <p:spPr>
          <a:xfrm>
            <a:off x="4956048" y="3209544"/>
            <a:ext cx="374904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Smart ML reminder system with LSTM-based adherence prediction model (RMSE: 0.08)</a:t>
            </a:r>
          </a:p>
        </p:txBody>
      </p:sp>
      <p:sp>
        <p:nvSpPr>
          <p:cNvPr id="418" name="Shape 42"/>
          <p:cNvSpPr/>
          <p:nvPr/>
        </p:nvSpPr>
        <p:spPr>
          <a:xfrm>
            <a:off x="320039" y="3730752"/>
            <a:ext cx="4023361" cy="512065"/>
          </a:xfrm>
          <a:prstGeom prst="rect">
            <a:avLst/>
          </a:prstGeom>
          <a:solidFill>
            <a:srgbClr val="FFFFFF"/>
          </a:solidFill>
          <a:ln w="12700">
            <a:solidFill>
              <a:srgbClr val="E2E8F0"/>
            </a:solidFill>
          </a:ln>
        </p:spPr>
        <p:txBody>
          <a:bodyPr lIns="45719" rIns="45719"/>
          <a:lstStyle/>
          <a:p>
            <a:pPr/>
          </a:p>
        </p:txBody>
      </p:sp>
      <p:sp>
        <p:nvSpPr>
          <p:cNvPr id="419" name="Shape 43"/>
          <p:cNvSpPr/>
          <p:nvPr/>
        </p:nvSpPr>
        <p:spPr>
          <a:xfrm>
            <a:off x="320040" y="3730752"/>
            <a:ext cx="54865" cy="512065"/>
          </a:xfrm>
          <a:prstGeom prst="rect">
            <a:avLst/>
          </a:prstGeom>
          <a:solidFill>
            <a:srgbClr val="DC2626"/>
          </a:solidFill>
          <a:ln w="12700">
            <a:solidFill>
              <a:srgbClr val="DC2626"/>
            </a:solidFill>
          </a:ln>
        </p:spPr>
        <p:txBody>
          <a:bodyPr lIns="45719" rIns="45719"/>
          <a:lstStyle/>
          <a:p>
            <a:pPr/>
          </a:p>
        </p:txBody>
      </p:sp>
      <p:sp>
        <p:nvSpPr>
          <p:cNvPr id="420" name="Text 44"/>
          <p:cNvSpPr txBox="1"/>
          <p:nvPr/>
        </p:nvSpPr>
        <p:spPr>
          <a:xfrm>
            <a:off x="475488" y="3794759"/>
            <a:ext cx="3749040"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Data silos preventing a holistic patient health view</a:t>
            </a:r>
          </a:p>
        </p:txBody>
      </p:sp>
      <p:sp>
        <p:nvSpPr>
          <p:cNvPr id="421" name="Text 45"/>
          <p:cNvSpPr txBox="1"/>
          <p:nvPr/>
        </p:nvSpPr>
        <p:spPr>
          <a:xfrm>
            <a:off x="4416552" y="3833113"/>
            <a:ext cx="31089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400">
                <a:solidFill>
                  <a:srgbClr val="1D4ED8"/>
                </a:solidFill>
              </a:defRPr>
            </a:lvl1pPr>
          </a:lstStyle>
          <a:p>
            <a:pPr/>
            <a:r>
              <a:t>→</a:t>
            </a:r>
          </a:p>
        </p:txBody>
      </p:sp>
      <p:sp>
        <p:nvSpPr>
          <p:cNvPr id="422" name="Shape 46"/>
          <p:cNvSpPr/>
          <p:nvPr/>
        </p:nvSpPr>
        <p:spPr>
          <a:xfrm>
            <a:off x="4800600" y="3730752"/>
            <a:ext cx="4023360" cy="512065"/>
          </a:xfrm>
          <a:prstGeom prst="rect">
            <a:avLst/>
          </a:prstGeom>
          <a:solidFill>
            <a:srgbClr val="FFFFFF"/>
          </a:solidFill>
          <a:ln w="12700">
            <a:solidFill>
              <a:srgbClr val="E2E8F0"/>
            </a:solidFill>
          </a:ln>
        </p:spPr>
        <p:txBody>
          <a:bodyPr lIns="45719" rIns="45719"/>
          <a:lstStyle/>
          <a:p>
            <a:pPr/>
          </a:p>
        </p:txBody>
      </p:sp>
      <p:sp>
        <p:nvSpPr>
          <p:cNvPr id="423" name="Shape 47"/>
          <p:cNvSpPr/>
          <p:nvPr/>
        </p:nvSpPr>
        <p:spPr>
          <a:xfrm>
            <a:off x="4800600" y="3730752"/>
            <a:ext cx="54864" cy="512065"/>
          </a:xfrm>
          <a:prstGeom prst="rect">
            <a:avLst/>
          </a:prstGeom>
          <a:solidFill>
            <a:srgbClr val="1E8449"/>
          </a:solidFill>
          <a:ln w="12700">
            <a:solidFill>
              <a:srgbClr val="1E8449"/>
            </a:solidFill>
          </a:ln>
        </p:spPr>
        <p:txBody>
          <a:bodyPr lIns="45719" rIns="45719"/>
          <a:lstStyle/>
          <a:p>
            <a:pPr/>
          </a:p>
        </p:txBody>
      </p:sp>
      <p:sp>
        <p:nvSpPr>
          <p:cNvPr id="424" name="Text 48"/>
          <p:cNvSpPr txBox="1"/>
          <p:nvPr/>
        </p:nvSpPr>
        <p:spPr>
          <a:xfrm>
            <a:off x="4956048" y="3794759"/>
            <a:ext cx="374904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Azure Data Lake centralized health data platform with Power BI unified analytics dashboards</a:t>
            </a:r>
          </a:p>
        </p:txBody>
      </p:sp>
      <p:sp>
        <p:nvSpPr>
          <p:cNvPr id="425" name="Shape 49"/>
          <p:cNvSpPr/>
          <p:nvPr/>
        </p:nvSpPr>
        <p:spPr>
          <a:xfrm>
            <a:off x="320039" y="4315967"/>
            <a:ext cx="4023361" cy="512065"/>
          </a:xfrm>
          <a:prstGeom prst="rect">
            <a:avLst/>
          </a:prstGeom>
          <a:solidFill>
            <a:srgbClr val="F8FAFC"/>
          </a:solidFill>
          <a:ln w="12700">
            <a:solidFill>
              <a:srgbClr val="E2E8F0"/>
            </a:solidFill>
          </a:ln>
        </p:spPr>
        <p:txBody>
          <a:bodyPr lIns="45719" rIns="45719"/>
          <a:lstStyle/>
          <a:p>
            <a:pPr/>
          </a:p>
        </p:txBody>
      </p:sp>
      <p:sp>
        <p:nvSpPr>
          <p:cNvPr id="426" name="Shape 50"/>
          <p:cNvSpPr/>
          <p:nvPr/>
        </p:nvSpPr>
        <p:spPr>
          <a:xfrm>
            <a:off x="320040" y="4315967"/>
            <a:ext cx="54865" cy="512065"/>
          </a:xfrm>
          <a:prstGeom prst="rect">
            <a:avLst/>
          </a:prstGeom>
          <a:solidFill>
            <a:srgbClr val="DC2626"/>
          </a:solidFill>
          <a:ln w="12700">
            <a:solidFill>
              <a:srgbClr val="DC2626"/>
            </a:solidFill>
          </a:ln>
        </p:spPr>
        <p:txBody>
          <a:bodyPr lIns="45719" rIns="45719"/>
          <a:lstStyle/>
          <a:p>
            <a:pPr/>
          </a:p>
        </p:txBody>
      </p:sp>
      <p:sp>
        <p:nvSpPr>
          <p:cNvPr id="427" name="Text 51"/>
          <p:cNvSpPr txBox="1"/>
          <p:nvPr/>
        </p:nvSpPr>
        <p:spPr>
          <a:xfrm>
            <a:off x="475488" y="4379976"/>
            <a:ext cx="3749040"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Inadequate drug interaction and allergy alert systems</a:t>
            </a:r>
          </a:p>
        </p:txBody>
      </p:sp>
      <p:sp>
        <p:nvSpPr>
          <p:cNvPr id="428" name="Text 52"/>
          <p:cNvSpPr txBox="1"/>
          <p:nvPr/>
        </p:nvSpPr>
        <p:spPr>
          <a:xfrm>
            <a:off x="4416552" y="4418329"/>
            <a:ext cx="31089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400">
                <a:solidFill>
                  <a:srgbClr val="1D4ED8"/>
                </a:solidFill>
              </a:defRPr>
            </a:lvl1pPr>
          </a:lstStyle>
          <a:p>
            <a:pPr/>
            <a:r>
              <a:t>→</a:t>
            </a:r>
          </a:p>
        </p:txBody>
      </p:sp>
      <p:sp>
        <p:nvSpPr>
          <p:cNvPr id="429" name="Shape 53"/>
          <p:cNvSpPr/>
          <p:nvPr/>
        </p:nvSpPr>
        <p:spPr>
          <a:xfrm>
            <a:off x="4800600" y="4315967"/>
            <a:ext cx="4023360" cy="512065"/>
          </a:xfrm>
          <a:prstGeom prst="rect">
            <a:avLst/>
          </a:prstGeom>
          <a:solidFill>
            <a:srgbClr val="F8FAFC"/>
          </a:solidFill>
          <a:ln w="12700">
            <a:solidFill>
              <a:srgbClr val="E2E8F0"/>
            </a:solidFill>
          </a:ln>
        </p:spPr>
        <p:txBody>
          <a:bodyPr lIns="45719" rIns="45719"/>
          <a:lstStyle/>
          <a:p>
            <a:pPr/>
          </a:p>
        </p:txBody>
      </p:sp>
      <p:sp>
        <p:nvSpPr>
          <p:cNvPr id="430" name="Shape 54"/>
          <p:cNvSpPr/>
          <p:nvPr/>
        </p:nvSpPr>
        <p:spPr>
          <a:xfrm>
            <a:off x="4800600" y="4315967"/>
            <a:ext cx="54864" cy="512065"/>
          </a:xfrm>
          <a:prstGeom prst="rect">
            <a:avLst/>
          </a:prstGeom>
          <a:solidFill>
            <a:srgbClr val="1E8449"/>
          </a:solidFill>
          <a:ln w="12700">
            <a:solidFill>
              <a:srgbClr val="1E8449"/>
            </a:solidFill>
          </a:ln>
        </p:spPr>
        <p:txBody>
          <a:bodyPr lIns="45719" rIns="45719"/>
          <a:lstStyle/>
          <a:p>
            <a:pPr/>
          </a:p>
        </p:txBody>
      </p:sp>
      <p:sp>
        <p:nvSpPr>
          <p:cNvPr id="431" name="Text 55"/>
          <p:cNvSpPr txBox="1"/>
          <p:nvPr/>
        </p:nvSpPr>
        <p:spPr>
          <a:xfrm>
            <a:off x="4956048" y="4379976"/>
            <a:ext cx="374904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Drug interaction knowledge graph with instant alert triggers from curated clinical databases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433"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434"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435"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Project Goals</a:t>
            </a:r>
          </a:p>
        </p:txBody>
      </p:sp>
      <p:sp>
        <p:nvSpPr>
          <p:cNvPr id="436"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437"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438"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439"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440"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441"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11 / 20</a:t>
            </a:r>
          </a:p>
        </p:txBody>
      </p:sp>
      <p:sp>
        <p:nvSpPr>
          <p:cNvPr id="442"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5 Core Project Goals</a:t>
            </a:r>
          </a:p>
        </p:txBody>
      </p:sp>
      <p:sp>
        <p:nvSpPr>
          <p:cNvPr id="443" name="Text 10"/>
          <p:cNvSpPr txBox="1"/>
          <p:nvPr/>
        </p:nvSpPr>
        <p:spPr>
          <a:xfrm>
            <a:off x="365760" y="1073149"/>
            <a:ext cx="841248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374151"/>
                </a:solidFill>
              </a:defRPr>
            </a:lvl1pPr>
          </a:lstStyle>
          <a:p>
            <a:pPr/>
            <a:r>
              <a:t>Each goal maps directly to a deliverable in the Microsoft Elevate GTU Capstone Project framework.</a:t>
            </a:r>
          </a:p>
        </p:txBody>
      </p:sp>
      <p:sp>
        <p:nvSpPr>
          <p:cNvPr id="444" name="Shape 11"/>
          <p:cNvSpPr/>
          <p:nvPr/>
        </p:nvSpPr>
        <p:spPr>
          <a:xfrm>
            <a:off x="320040" y="1353311"/>
            <a:ext cx="8503920" cy="65836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445" name="Shape 12"/>
          <p:cNvSpPr/>
          <p:nvPr/>
        </p:nvSpPr>
        <p:spPr>
          <a:xfrm>
            <a:off x="384047" y="1481327"/>
            <a:ext cx="402338" cy="402337"/>
          </a:xfrm>
          <a:prstGeom prst="ellipse">
            <a:avLst/>
          </a:prstGeom>
          <a:solidFill>
            <a:srgbClr val="1D4ED8"/>
          </a:solidFill>
          <a:ln w="12700">
            <a:solidFill>
              <a:srgbClr val="1D4ED8"/>
            </a:solidFill>
          </a:ln>
        </p:spPr>
        <p:txBody>
          <a:bodyPr lIns="45719" rIns="45719"/>
          <a:lstStyle/>
          <a:p>
            <a:pPr/>
          </a:p>
        </p:txBody>
      </p:sp>
      <p:sp>
        <p:nvSpPr>
          <p:cNvPr id="446" name="Text 13"/>
          <p:cNvSpPr txBox="1"/>
          <p:nvPr/>
        </p:nvSpPr>
        <p:spPr>
          <a:xfrm>
            <a:off x="384047" y="1580895"/>
            <a:ext cx="40233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1</a:t>
            </a:r>
          </a:p>
        </p:txBody>
      </p:sp>
      <p:sp>
        <p:nvSpPr>
          <p:cNvPr id="447" name="Text 14"/>
          <p:cNvSpPr txBox="1"/>
          <p:nvPr/>
        </p:nvSpPr>
        <p:spPr>
          <a:xfrm>
            <a:off x="859535" y="1450847"/>
            <a:ext cx="329184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Develop a Unified Patient Health Analytics Platform</a:t>
            </a:r>
          </a:p>
        </p:txBody>
      </p:sp>
      <p:sp>
        <p:nvSpPr>
          <p:cNvPr id="448" name="Text 15"/>
          <p:cNvSpPr txBox="1"/>
          <p:nvPr/>
        </p:nvSpPr>
        <p:spPr>
          <a:xfrm>
            <a:off x="905255" y="1645920"/>
            <a:ext cx="777240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Build a centralized Power BI dashboard integrating data from EHR systems, IoT wearables, pharmacy databases, and lab results into one cohesive real-time analytics platform deployable across multi-specialty hospitals and clinic networks.</a:t>
            </a:r>
          </a:p>
        </p:txBody>
      </p:sp>
      <p:sp>
        <p:nvSpPr>
          <p:cNvPr id="449" name="Shape 16"/>
          <p:cNvSpPr/>
          <p:nvPr/>
        </p:nvSpPr>
        <p:spPr>
          <a:xfrm>
            <a:off x="320040" y="2084832"/>
            <a:ext cx="8503920" cy="65836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450" name="Shape 17"/>
          <p:cNvSpPr/>
          <p:nvPr/>
        </p:nvSpPr>
        <p:spPr>
          <a:xfrm>
            <a:off x="384047" y="2212848"/>
            <a:ext cx="402338" cy="402337"/>
          </a:xfrm>
          <a:prstGeom prst="ellipse">
            <a:avLst/>
          </a:prstGeom>
          <a:solidFill>
            <a:srgbClr val="0D9488"/>
          </a:solidFill>
          <a:ln w="12700">
            <a:solidFill>
              <a:srgbClr val="0D9488"/>
            </a:solidFill>
          </a:ln>
        </p:spPr>
        <p:txBody>
          <a:bodyPr lIns="45719" rIns="45719"/>
          <a:lstStyle/>
          <a:p>
            <a:pPr/>
          </a:p>
        </p:txBody>
      </p:sp>
      <p:sp>
        <p:nvSpPr>
          <p:cNvPr id="451" name="Text 18"/>
          <p:cNvSpPr txBox="1"/>
          <p:nvPr/>
        </p:nvSpPr>
        <p:spPr>
          <a:xfrm>
            <a:off x="384047" y="2312416"/>
            <a:ext cx="40233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2</a:t>
            </a:r>
          </a:p>
        </p:txBody>
      </p:sp>
      <p:sp>
        <p:nvSpPr>
          <p:cNvPr id="452" name="Text 19"/>
          <p:cNvSpPr txBox="1"/>
          <p:nvPr/>
        </p:nvSpPr>
        <p:spPr>
          <a:xfrm>
            <a:off x="859535" y="2182367"/>
            <a:ext cx="329184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Build an Intelligent Medication Management System</a:t>
            </a:r>
          </a:p>
        </p:txBody>
      </p:sp>
      <p:sp>
        <p:nvSpPr>
          <p:cNvPr id="453" name="Text 20"/>
          <p:cNvSpPr txBox="1"/>
          <p:nvPr/>
        </p:nvSpPr>
        <p:spPr>
          <a:xfrm>
            <a:off x="905255" y="2377439"/>
            <a:ext cx="777240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Create an AI-powered medication management engine with real-time drug interaction detection (97% accuracy), smart dosage verification, patient adherence score tracking, and automated pharmacy refill notifications to eliminate dangerous medication errors.</a:t>
            </a:r>
          </a:p>
        </p:txBody>
      </p:sp>
      <p:sp>
        <p:nvSpPr>
          <p:cNvPr id="454" name="Shape 21"/>
          <p:cNvSpPr/>
          <p:nvPr/>
        </p:nvSpPr>
        <p:spPr>
          <a:xfrm>
            <a:off x="320040" y="2816351"/>
            <a:ext cx="8503920" cy="65836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455" name="Shape 22"/>
          <p:cNvSpPr/>
          <p:nvPr/>
        </p:nvSpPr>
        <p:spPr>
          <a:xfrm>
            <a:off x="384047" y="2944367"/>
            <a:ext cx="402338" cy="402337"/>
          </a:xfrm>
          <a:prstGeom prst="ellipse">
            <a:avLst/>
          </a:prstGeom>
          <a:solidFill>
            <a:srgbClr val="1E8449"/>
          </a:solidFill>
          <a:ln w="12700">
            <a:solidFill>
              <a:srgbClr val="1E8449"/>
            </a:solidFill>
          </a:ln>
        </p:spPr>
        <p:txBody>
          <a:bodyPr lIns="45719" rIns="45719"/>
          <a:lstStyle/>
          <a:p>
            <a:pPr/>
          </a:p>
        </p:txBody>
      </p:sp>
      <p:sp>
        <p:nvSpPr>
          <p:cNvPr id="456" name="Text 23"/>
          <p:cNvSpPr txBox="1"/>
          <p:nvPr/>
        </p:nvSpPr>
        <p:spPr>
          <a:xfrm>
            <a:off x="384047" y="3043935"/>
            <a:ext cx="40233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3</a:t>
            </a:r>
          </a:p>
        </p:txBody>
      </p:sp>
      <p:sp>
        <p:nvSpPr>
          <p:cNvPr id="457" name="Text 24"/>
          <p:cNvSpPr txBox="1"/>
          <p:nvPr/>
        </p:nvSpPr>
        <p:spPr>
          <a:xfrm>
            <a:off x="859535" y="2913887"/>
            <a:ext cx="329184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Create Real-Time Vital-Signs Monitoring Dashboards</a:t>
            </a:r>
          </a:p>
        </p:txBody>
      </p:sp>
      <p:sp>
        <p:nvSpPr>
          <p:cNvPr id="458" name="Text 25"/>
          <p:cNvSpPr txBox="1"/>
          <p:nvPr/>
        </p:nvSpPr>
        <p:spPr>
          <a:xfrm>
            <a:off x="905255" y="3108960"/>
            <a:ext cx="777240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Deploy IoT-connected patient monitoring dashboards for ICU and chronic care patients. Track heart rate, blood pressure, SpO2, and temperature in real time using Azure IoT Hub. Trigger instant clinical alerts when values breach safe thresholds.</a:t>
            </a:r>
          </a:p>
        </p:txBody>
      </p:sp>
      <p:sp>
        <p:nvSpPr>
          <p:cNvPr id="459" name="Shape 26"/>
          <p:cNvSpPr/>
          <p:nvPr/>
        </p:nvSpPr>
        <p:spPr>
          <a:xfrm>
            <a:off x="320040" y="3547871"/>
            <a:ext cx="8503920" cy="65836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460" name="Shape 27"/>
          <p:cNvSpPr/>
          <p:nvPr/>
        </p:nvSpPr>
        <p:spPr>
          <a:xfrm>
            <a:off x="384047" y="3675888"/>
            <a:ext cx="402338" cy="402337"/>
          </a:xfrm>
          <a:prstGeom prst="ellipse">
            <a:avLst/>
          </a:prstGeom>
          <a:solidFill>
            <a:srgbClr val="7C3AED"/>
          </a:solidFill>
          <a:ln w="12700">
            <a:solidFill>
              <a:srgbClr val="7C3AED"/>
            </a:solidFill>
          </a:ln>
        </p:spPr>
        <p:txBody>
          <a:bodyPr lIns="45719" rIns="45719"/>
          <a:lstStyle/>
          <a:p>
            <a:pPr/>
          </a:p>
        </p:txBody>
      </p:sp>
      <p:sp>
        <p:nvSpPr>
          <p:cNvPr id="461" name="Text 28"/>
          <p:cNvSpPr txBox="1"/>
          <p:nvPr/>
        </p:nvSpPr>
        <p:spPr>
          <a:xfrm>
            <a:off x="384047" y="3775455"/>
            <a:ext cx="40233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4</a:t>
            </a:r>
          </a:p>
        </p:txBody>
      </p:sp>
      <p:sp>
        <p:nvSpPr>
          <p:cNvPr id="462" name="Text 29"/>
          <p:cNvSpPr txBox="1"/>
          <p:nvPr/>
        </p:nvSpPr>
        <p:spPr>
          <a:xfrm>
            <a:off x="859535" y="3569207"/>
            <a:ext cx="329184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Design Predictive ML Models for Disease Progression &amp; Readmission Risk</a:t>
            </a:r>
          </a:p>
        </p:txBody>
      </p:sp>
      <p:sp>
        <p:nvSpPr>
          <p:cNvPr id="463" name="Text 30"/>
          <p:cNvSpPr txBox="1"/>
          <p:nvPr/>
        </p:nvSpPr>
        <p:spPr>
          <a:xfrm>
            <a:off x="905255" y="3840479"/>
            <a:ext cx="777240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Train and validate a Random Forest model (91% accuracy) for 30-day hospital readmission prediction, K-Means clustering for patient risk stratification into care tiers, and LSTM networks for medication adherence forecasting.</a:t>
            </a:r>
          </a:p>
        </p:txBody>
      </p:sp>
      <p:sp>
        <p:nvSpPr>
          <p:cNvPr id="464" name="Shape 31"/>
          <p:cNvSpPr/>
          <p:nvPr/>
        </p:nvSpPr>
        <p:spPr>
          <a:xfrm>
            <a:off x="320040" y="4279391"/>
            <a:ext cx="8503920" cy="65836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465" name="Shape 32"/>
          <p:cNvSpPr/>
          <p:nvPr/>
        </p:nvSpPr>
        <p:spPr>
          <a:xfrm>
            <a:off x="384047" y="4407408"/>
            <a:ext cx="402338" cy="402337"/>
          </a:xfrm>
          <a:prstGeom prst="ellipse">
            <a:avLst/>
          </a:prstGeom>
          <a:solidFill>
            <a:srgbClr val="D97706"/>
          </a:solidFill>
          <a:ln w="12700">
            <a:solidFill>
              <a:srgbClr val="D97706"/>
            </a:solidFill>
          </a:ln>
        </p:spPr>
        <p:txBody>
          <a:bodyPr lIns="45719" rIns="45719"/>
          <a:lstStyle/>
          <a:p>
            <a:pPr/>
          </a:p>
        </p:txBody>
      </p:sp>
      <p:sp>
        <p:nvSpPr>
          <p:cNvPr id="466" name="Text 33"/>
          <p:cNvSpPr txBox="1"/>
          <p:nvPr/>
        </p:nvSpPr>
        <p:spPr>
          <a:xfrm>
            <a:off x="384047" y="4506976"/>
            <a:ext cx="40233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5</a:t>
            </a:r>
          </a:p>
        </p:txBody>
      </p:sp>
      <p:sp>
        <p:nvSpPr>
          <p:cNvPr id="467" name="Text 34"/>
          <p:cNvSpPr txBox="1"/>
          <p:nvPr/>
        </p:nvSpPr>
        <p:spPr>
          <a:xfrm>
            <a:off x="859535" y="4300727"/>
            <a:ext cx="329184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Deploy on Microsoft Azure with HIPAA-Compliant Security Controls</a:t>
            </a:r>
          </a:p>
        </p:txBody>
      </p:sp>
      <p:sp>
        <p:nvSpPr>
          <p:cNvPr id="468" name="Text 35"/>
          <p:cNvSpPr txBox="1"/>
          <p:nvPr/>
        </p:nvSpPr>
        <p:spPr>
          <a:xfrm>
            <a:off x="905255" y="4572000"/>
            <a:ext cx="7772401" cy="345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Deploy the complete solution on Microsoft Azure using RBAC, AES-256 end-to-end encryption, comprehensive audit trail logging, and full HIPAA regulatory compliance — ensuring enterprise-grade data security across all hospital touchpoints.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470"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471"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472"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Technical Objectives</a:t>
            </a:r>
          </a:p>
        </p:txBody>
      </p:sp>
      <p:sp>
        <p:nvSpPr>
          <p:cNvPr id="473"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474"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475"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476"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477"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478"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12 / 20</a:t>
            </a:r>
          </a:p>
        </p:txBody>
      </p:sp>
      <p:sp>
        <p:nvSpPr>
          <p:cNvPr id="479"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6 Technical Objectives</a:t>
            </a:r>
          </a:p>
        </p:txBody>
      </p:sp>
      <p:sp>
        <p:nvSpPr>
          <p:cNvPr id="480" name="Shape 10"/>
          <p:cNvSpPr/>
          <p:nvPr/>
        </p:nvSpPr>
        <p:spPr>
          <a:xfrm>
            <a:off x="320039" y="1078991"/>
            <a:ext cx="4224530" cy="1170434"/>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481" name="Shape 11"/>
          <p:cNvSpPr/>
          <p:nvPr/>
        </p:nvSpPr>
        <p:spPr>
          <a:xfrm>
            <a:off x="320039" y="1078991"/>
            <a:ext cx="4224530" cy="292609"/>
          </a:xfrm>
          <a:prstGeom prst="rect">
            <a:avLst/>
          </a:prstGeom>
          <a:solidFill>
            <a:srgbClr val="1D4ED8"/>
          </a:solidFill>
          <a:ln w="12700">
            <a:solidFill>
              <a:srgbClr val="1D4ED8"/>
            </a:solidFill>
          </a:ln>
        </p:spPr>
        <p:txBody>
          <a:bodyPr lIns="45719" rIns="45719"/>
          <a:lstStyle/>
          <a:p>
            <a:pPr/>
          </a:p>
        </p:txBody>
      </p:sp>
      <p:sp>
        <p:nvSpPr>
          <p:cNvPr id="482" name="Text 12"/>
          <p:cNvSpPr txBox="1"/>
          <p:nvPr/>
        </p:nvSpPr>
        <p:spPr>
          <a:xfrm>
            <a:off x="393191" y="1170939"/>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Objective 1</a:t>
            </a:r>
          </a:p>
        </p:txBody>
      </p:sp>
      <p:sp>
        <p:nvSpPr>
          <p:cNvPr id="483" name="Text 13"/>
          <p:cNvSpPr txBox="1"/>
          <p:nvPr/>
        </p:nvSpPr>
        <p:spPr>
          <a:xfrm>
            <a:off x="1161287" y="1164589"/>
            <a:ext cx="331013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Import &amp; Preprocess Patient Health Datasets</a:t>
            </a:r>
          </a:p>
        </p:txBody>
      </p:sp>
      <p:sp>
        <p:nvSpPr>
          <p:cNvPr id="484" name="Text 14"/>
          <p:cNvSpPr txBox="1"/>
          <p:nvPr/>
        </p:nvSpPr>
        <p:spPr>
          <a:xfrm>
            <a:off x="457200" y="1408175"/>
            <a:ext cx="3968496"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Import patient EHR datasets using Power Query and Python Pandas. Perform data cleaning: handle missing values, remove duplicates, fix encoding errors, and normalize numerical features using StandardScaler for ML readiness.</a:t>
            </a:r>
          </a:p>
        </p:txBody>
      </p:sp>
      <p:sp>
        <p:nvSpPr>
          <p:cNvPr id="485" name="Shape 15"/>
          <p:cNvSpPr/>
          <p:nvPr/>
        </p:nvSpPr>
        <p:spPr>
          <a:xfrm>
            <a:off x="4754879" y="1078991"/>
            <a:ext cx="4224530" cy="1170434"/>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486" name="Shape 16"/>
          <p:cNvSpPr/>
          <p:nvPr/>
        </p:nvSpPr>
        <p:spPr>
          <a:xfrm>
            <a:off x="4754879" y="1078991"/>
            <a:ext cx="4224530" cy="292609"/>
          </a:xfrm>
          <a:prstGeom prst="rect">
            <a:avLst/>
          </a:prstGeom>
          <a:solidFill>
            <a:srgbClr val="7C3AED"/>
          </a:solidFill>
          <a:ln w="12700">
            <a:solidFill>
              <a:srgbClr val="7C3AED"/>
            </a:solidFill>
          </a:ln>
        </p:spPr>
        <p:txBody>
          <a:bodyPr lIns="45719" rIns="45719"/>
          <a:lstStyle/>
          <a:p>
            <a:pPr/>
          </a:p>
        </p:txBody>
      </p:sp>
      <p:sp>
        <p:nvSpPr>
          <p:cNvPr id="487" name="Text 17"/>
          <p:cNvSpPr txBox="1"/>
          <p:nvPr/>
        </p:nvSpPr>
        <p:spPr>
          <a:xfrm>
            <a:off x="4828032" y="1170939"/>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Objective 4</a:t>
            </a:r>
          </a:p>
        </p:txBody>
      </p:sp>
      <p:sp>
        <p:nvSpPr>
          <p:cNvPr id="488" name="Text 18"/>
          <p:cNvSpPr txBox="1"/>
          <p:nvPr/>
        </p:nvSpPr>
        <p:spPr>
          <a:xfrm>
            <a:off x="5596128" y="1164589"/>
            <a:ext cx="331012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Train ML Models for Disease Risk Prediction</a:t>
            </a:r>
          </a:p>
        </p:txBody>
      </p:sp>
      <p:sp>
        <p:nvSpPr>
          <p:cNvPr id="489" name="Text 19"/>
          <p:cNvSpPr txBox="1"/>
          <p:nvPr/>
        </p:nvSpPr>
        <p:spPr>
          <a:xfrm>
            <a:off x="4892040" y="1408175"/>
            <a:ext cx="3968496"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Train Random Forest classifier (91% accuracy) for 30-day readmission prediction. Apply 5-fold cross-validation and Grid Search hyperparameter tuning (n_estimators: 50–200, max_depth: 5–20). SMOTE for class imbalance correction.</a:t>
            </a:r>
          </a:p>
        </p:txBody>
      </p:sp>
      <p:sp>
        <p:nvSpPr>
          <p:cNvPr id="490" name="Shape 20"/>
          <p:cNvSpPr/>
          <p:nvPr/>
        </p:nvSpPr>
        <p:spPr>
          <a:xfrm>
            <a:off x="320039" y="2340864"/>
            <a:ext cx="4224530" cy="1170433"/>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491" name="Shape 21"/>
          <p:cNvSpPr/>
          <p:nvPr/>
        </p:nvSpPr>
        <p:spPr>
          <a:xfrm>
            <a:off x="320039" y="2340864"/>
            <a:ext cx="4224530" cy="292609"/>
          </a:xfrm>
          <a:prstGeom prst="rect">
            <a:avLst/>
          </a:prstGeom>
          <a:solidFill>
            <a:srgbClr val="0D9488"/>
          </a:solidFill>
          <a:ln w="12700">
            <a:solidFill>
              <a:srgbClr val="0D9488"/>
            </a:solidFill>
          </a:ln>
        </p:spPr>
        <p:txBody>
          <a:bodyPr lIns="45719" rIns="45719"/>
          <a:lstStyle/>
          <a:p>
            <a:pPr/>
          </a:p>
        </p:txBody>
      </p:sp>
      <p:sp>
        <p:nvSpPr>
          <p:cNvPr id="492" name="Text 22"/>
          <p:cNvSpPr txBox="1"/>
          <p:nvPr/>
        </p:nvSpPr>
        <p:spPr>
          <a:xfrm>
            <a:off x="393191" y="2432811"/>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Objective 2</a:t>
            </a:r>
          </a:p>
        </p:txBody>
      </p:sp>
      <p:sp>
        <p:nvSpPr>
          <p:cNvPr id="493" name="Text 23"/>
          <p:cNvSpPr txBox="1"/>
          <p:nvPr/>
        </p:nvSpPr>
        <p:spPr>
          <a:xfrm>
            <a:off x="1161287" y="2426461"/>
            <a:ext cx="331013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Perform EDA on EHR Data</a:t>
            </a:r>
          </a:p>
        </p:txBody>
      </p:sp>
      <p:sp>
        <p:nvSpPr>
          <p:cNvPr id="494" name="Text 24"/>
          <p:cNvSpPr txBox="1"/>
          <p:nvPr/>
        </p:nvSpPr>
        <p:spPr>
          <a:xfrm>
            <a:off x="457200" y="2670048"/>
            <a:ext cx="3968496"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Conduct Exploratory Data Analysis: distribution plots, correlation heatmaps, pairplots for feature relationships, outlier detection using IQR, and statistical hypothesis testing on key clinical indicators and medication adherence variables.</a:t>
            </a:r>
          </a:p>
        </p:txBody>
      </p:sp>
      <p:sp>
        <p:nvSpPr>
          <p:cNvPr id="495" name="Shape 25"/>
          <p:cNvSpPr/>
          <p:nvPr/>
        </p:nvSpPr>
        <p:spPr>
          <a:xfrm>
            <a:off x="4754879" y="2340864"/>
            <a:ext cx="4224530" cy="1170433"/>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496" name="Shape 26"/>
          <p:cNvSpPr/>
          <p:nvPr/>
        </p:nvSpPr>
        <p:spPr>
          <a:xfrm>
            <a:off x="4754879" y="2340864"/>
            <a:ext cx="4224530" cy="292609"/>
          </a:xfrm>
          <a:prstGeom prst="rect">
            <a:avLst/>
          </a:prstGeom>
          <a:solidFill>
            <a:srgbClr val="D97706"/>
          </a:solidFill>
          <a:ln w="12700">
            <a:solidFill>
              <a:srgbClr val="D97706"/>
            </a:solidFill>
          </a:ln>
        </p:spPr>
        <p:txBody>
          <a:bodyPr lIns="45719" rIns="45719"/>
          <a:lstStyle/>
          <a:p>
            <a:pPr/>
          </a:p>
        </p:txBody>
      </p:sp>
      <p:sp>
        <p:nvSpPr>
          <p:cNvPr id="497" name="Text 27"/>
          <p:cNvSpPr txBox="1"/>
          <p:nvPr/>
        </p:nvSpPr>
        <p:spPr>
          <a:xfrm>
            <a:off x="4828032" y="2432811"/>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Objective 5</a:t>
            </a:r>
          </a:p>
        </p:txBody>
      </p:sp>
      <p:sp>
        <p:nvSpPr>
          <p:cNvPr id="498" name="Text 28"/>
          <p:cNvSpPr txBox="1"/>
          <p:nvPr/>
        </p:nvSpPr>
        <p:spPr>
          <a:xfrm>
            <a:off x="5596128" y="2426461"/>
            <a:ext cx="331012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Build CNN Model for Medical Image Classification</a:t>
            </a:r>
          </a:p>
        </p:txBody>
      </p:sp>
      <p:sp>
        <p:nvSpPr>
          <p:cNvPr id="499" name="Text 29"/>
          <p:cNvSpPr txBox="1"/>
          <p:nvPr/>
        </p:nvSpPr>
        <p:spPr>
          <a:xfrm>
            <a:off x="4892040" y="2670048"/>
            <a:ext cx="3968496"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Develop a 5-layer CNN (Conv2D → MaxPool → Dropout → Dense) using TensorFlow/Keras for X-ray and MRI diagnostic support. Transfer learning from VGG16 ImageNet weights fine-tuned on medical imaging datasets.</a:t>
            </a:r>
          </a:p>
        </p:txBody>
      </p:sp>
      <p:sp>
        <p:nvSpPr>
          <p:cNvPr id="500" name="Shape 30"/>
          <p:cNvSpPr/>
          <p:nvPr/>
        </p:nvSpPr>
        <p:spPr>
          <a:xfrm>
            <a:off x="320039" y="3602735"/>
            <a:ext cx="4224530" cy="1170433"/>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501" name="Shape 31"/>
          <p:cNvSpPr/>
          <p:nvPr/>
        </p:nvSpPr>
        <p:spPr>
          <a:xfrm>
            <a:off x="320039" y="3602735"/>
            <a:ext cx="4224530" cy="292609"/>
          </a:xfrm>
          <a:prstGeom prst="rect">
            <a:avLst/>
          </a:prstGeom>
          <a:solidFill>
            <a:srgbClr val="1E8449"/>
          </a:solidFill>
          <a:ln w="12700">
            <a:solidFill>
              <a:srgbClr val="1E8449"/>
            </a:solidFill>
          </a:ln>
        </p:spPr>
        <p:txBody>
          <a:bodyPr lIns="45719" rIns="45719"/>
          <a:lstStyle/>
          <a:p>
            <a:pPr/>
          </a:p>
        </p:txBody>
      </p:sp>
      <p:sp>
        <p:nvSpPr>
          <p:cNvPr id="502" name="Text 32"/>
          <p:cNvSpPr txBox="1"/>
          <p:nvPr/>
        </p:nvSpPr>
        <p:spPr>
          <a:xfrm>
            <a:off x="393191" y="3694683"/>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Objective 3</a:t>
            </a:r>
          </a:p>
        </p:txBody>
      </p:sp>
      <p:sp>
        <p:nvSpPr>
          <p:cNvPr id="503" name="Text 33"/>
          <p:cNvSpPr txBox="1"/>
          <p:nvPr/>
        </p:nvSpPr>
        <p:spPr>
          <a:xfrm>
            <a:off x="1161287" y="3688333"/>
            <a:ext cx="331013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Create DAX Measures for Clinical KPIs</a:t>
            </a:r>
          </a:p>
        </p:txBody>
      </p:sp>
      <p:sp>
        <p:nvSpPr>
          <p:cNvPr id="504" name="Text 34"/>
          <p:cNvSpPr txBox="1"/>
          <p:nvPr/>
        </p:nvSpPr>
        <p:spPr>
          <a:xfrm>
            <a:off x="457200" y="3931920"/>
            <a:ext cx="3968496"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Build DAX calculated measures in Power BI: medication adherence rate (%), 30-day readmission rate (%), average recovery time (days), drug interaction incident count, and patient risk distribution across Low/Moderate/High/Critical tiers.</a:t>
            </a:r>
          </a:p>
        </p:txBody>
      </p:sp>
      <p:sp>
        <p:nvSpPr>
          <p:cNvPr id="505" name="Shape 35"/>
          <p:cNvSpPr/>
          <p:nvPr/>
        </p:nvSpPr>
        <p:spPr>
          <a:xfrm>
            <a:off x="4754879" y="3602735"/>
            <a:ext cx="4224530" cy="1170433"/>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506" name="Shape 36"/>
          <p:cNvSpPr/>
          <p:nvPr/>
        </p:nvSpPr>
        <p:spPr>
          <a:xfrm>
            <a:off x="4754879" y="3602735"/>
            <a:ext cx="4224530" cy="292609"/>
          </a:xfrm>
          <a:prstGeom prst="rect">
            <a:avLst/>
          </a:prstGeom>
          <a:solidFill>
            <a:srgbClr val="DC2626"/>
          </a:solidFill>
          <a:ln w="12700">
            <a:solidFill>
              <a:srgbClr val="DC2626"/>
            </a:solidFill>
          </a:ln>
        </p:spPr>
        <p:txBody>
          <a:bodyPr lIns="45719" rIns="45719"/>
          <a:lstStyle/>
          <a:p>
            <a:pPr/>
          </a:p>
        </p:txBody>
      </p:sp>
      <p:sp>
        <p:nvSpPr>
          <p:cNvPr id="507" name="Text 37"/>
          <p:cNvSpPr txBox="1"/>
          <p:nvPr/>
        </p:nvSpPr>
        <p:spPr>
          <a:xfrm>
            <a:off x="4828032" y="3694683"/>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FFFFFF"/>
                </a:solidFill>
              </a:defRPr>
            </a:lvl1pPr>
          </a:lstStyle>
          <a:p>
            <a:pPr/>
            <a:r>
              <a:t>Objective 6</a:t>
            </a:r>
          </a:p>
        </p:txBody>
      </p:sp>
      <p:sp>
        <p:nvSpPr>
          <p:cNvPr id="508" name="Text 38"/>
          <p:cNvSpPr txBox="1"/>
          <p:nvPr/>
        </p:nvSpPr>
        <p:spPr>
          <a:xfrm>
            <a:off x="5596128" y="3688333"/>
            <a:ext cx="331012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Deploy Interactive Power BI Dashboard</a:t>
            </a:r>
          </a:p>
        </p:txBody>
      </p:sp>
      <p:sp>
        <p:nvSpPr>
          <p:cNvPr id="509" name="Text 39"/>
          <p:cNvSpPr txBox="1"/>
          <p:nvPr/>
        </p:nvSpPr>
        <p:spPr>
          <a:xfrm>
            <a:off x="4892040" y="3931920"/>
            <a:ext cx="3968496"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Deploy a production-ready Power BI dashboard with interactive slicers for patient demographics, diagnosis codes, and date ranges. Role-based security restricts data access by doctor, nurse, and administrator roles.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511"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512"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513"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System Architecture Flow</a:t>
            </a:r>
          </a:p>
        </p:txBody>
      </p:sp>
      <p:sp>
        <p:nvSpPr>
          <p:cNvPr id="514"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515"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516"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517"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518"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519"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13 / 20</a:t>
            </a:r>
          </a:p>
        </p:txBody>
      </p:sp>
      <p:sp>
        <p:nvSpPr>
          <p:cNvPr id="520"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7-Stage End-to-End Data Pipeline</a:t>
            </a:r>
          </a:p>
        </p:txBody>
      </p:sp>
      <p:sp>
        <p:nvSpPr>
          <p:cNvPr id="521" name="Text 10"/>
          <p:cNvSpPr txBox="1"/>
          <p:nvPr/>
        </p:nvSpPr>
        <p:spPr>
          <a:xfrm>
            <a:off x="365760" y="1073149"/>
            <a:ext cx="841248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374151"/>
                </a:solidFill>
              </a:defRPr>
            </a:lvl1pPr>
          </a:lstStyle>
          <a:p>
            <a:pPr/>
            <a:r>
              <a:t>From raw multi-source data ingestion through AI processing to clinical dashboard output and alerts.</a:t>
            </a:r>
          </a:p>
        </p:txBody>
      </p:sp>
      <p:sp>
        <p:nvSpPr>
          <p:cNvPr id="522" name="Shape 11"/>
          <p:cNvSpPr/>
          <p:nvPr/>
        </p:nvSpPr>
        <p:spPr>
          <a:xfrm>
            <a:off x="320040" y="1353311"/>
            <a:ext cx="1152145" cy="2834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523" name="Shape 12"/>
          <p:cNvSpPr/>
          <p:nvPr/>
        </p:nvSpPr>
        <p:spPr>
          <a:xfrm>
            <a:off x="320040" y="1353311"/>
            <a:ext cx="1152145" cy="566929"/>
          </a:xfrm>
          <a:prstGeom prst="rect">
            <a:avLst/>
          </a:prstGeom>
          <a:solidFill>
            <a:srgbClr val="1D4ED8"/>
          </a:solidFill>
          <a:ln w="12700">
            <a:solidFill>
              <a:srgbClr val="1D4ED8"/>
            </a:solidFill>
          </a:ln>
        </p:spPr>
        <p:txBody>
          <a:bodyPr lIns="45719" rIns="45719"/>
          <a:lstStyle/>
          <a:p>
            <a:pPr/>
          </a:p>
        </p:txBody>
      </p:sp>
      <p:sp>
        <p:nvSpPr>
          <p:cNvPr id="524" name="Text 13"/>
          <p:cNvSpPr txBox="1"/>
          <p:nvPr/>
        </p:nvSpPr>
        <p:spPr>
          <a:xfrm>
            <a:off x="365759" y="1400556"/>
            <a:ext cx="1060706"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800">
                <a:solidFill>
                  <a:srgbClr val="FFFFFF"/>
                </a:solidFill>
              </a:defRPr>
            </a:pPr>
            <a:r>
              <a:t>1</a:t>
            </a:r>
          </a:p>
          <a:p>
            <a:pPr algn="ctr">
              <a:defRPr b="1" sz="800">
                <a:solidFill>
                  <a:srgbClr val="FFFFFF"/>
                </a:solidFill>
              </a:defRPr>
            </a:pPr>
            <a:r>
              <a:t>Data</a:t>
            </a:r>
          </a:p>
          <a:p>
            <a:pPr algn="ctr">
              <a:defRPr b="1" sz="800">
                <a:solidFill>
                  <a:srgbClr val="FFFFFF"/>
                </a:solidFill>
              </a:defRPr>
            </a:pPr>
            <a:r>
              <a:t>Sources</a:t>
            </a:r>
          </a:p>
        </p:txBody>
      </p:sp>
      <p:sp>
        <p:nvSpPr>
          <p:cNvPr id="525" name="Shape 14"/>
          <p:cNvSpPr/>
          <p:nvPr/>
        </p:nvSpPr>
        <p:spPr>
          <a:xfrm>
            <a:off x="384047" y="2011679"/>
            <a:ext cx="1024129" cy="585217"/>
          </a:xfrm>
          <a:prstGeom prst="rect">
            <a:avLst/>
          </a:prstGeom>
          <a:solidFill>
            <a:srgbClr val="F4F7FB"/>
          </a:solidFill>
          <a:ln w="12700">
            <a:solidFill>
              <a:srgbClr val="E2E8F0"/>
            </a:solidFill>
          </a:ln>
        </p:spPr>
        <p:txBody>
          <a:bodyPr lIns="45719" rIns="45719"/>
          <a:lstStyle/>
          <a:p>
            <a:pPr/>
          </a:p>
        </p:txBody>
      </p:sp>
      <p:sp>
        <p:nvSpPr>
          <p:cNvPr id="526" name="Text 15"/>
          <p:cNvSpPr txBox="1"/>
          <p:nvPr/>
        </p:nvSpPr>
        <p:spPr>
          <a:xfrm>
            <a:off x="429768" y="2201417"/>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EHR / IoT</a:t>
            </a:r>
          </a:p>
        </p:txBody>
      </p:sp>
      <p:sp>
        <p:nvSpPr>
          <p:cNvPr id="527" name="Shape 16"/>
          <p:cNvSpPr/>
          <p:nvPr/>
        </p:nvSpPr>
        <p:spPr>
          <a:xfrm>
            <a:off x="384047" y="2706623"/>
            <a:ext cx="1024129" cy="585217"/>
          </a:xfrm>
          <a:prstGeom prst="rect">
            <a:avLst/>
          </a:prstGeom>
          <a:solidFill>
            <a:srgbClr val="F4F7FB"/>
          </a:solidFill>
          <a:ln w="12700">
            <a:solidFill>
              <a:srgbClr val="E2E8F0"/>
            </a:solidFill>
          </a:ln>
        </p:spPr>
        <p:txBody>
          <a:bodyPr lIns="45719" rIns="45719"/>
          <a:lstStyle/>
          <a:p>
            <a:pPr/>
          </a:p>
        </p:txBody>
      </p:sp>
      <p:sp>
        <p:nvSpPr>
          <p:cNvPr id="528" name="Text 17"/>
          <p:cNvSpPr txBox="1"/>
          <p:nvPr/>
        </p:nvSpPr>
        <p:spPr>
          <a:xfrm>
            <a:off x="429768" y="2896361"/>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Pharmacy DB</a:t>
            </a:r>
          </a:p>
        </p:txBody>
      </p:sp>
      <p:sp>
        <p:nvSpPr>
          <p:cNvPr id="529" name="Shape 18"/>
          <p:cNvSpPr/>
          <p:nvPr/>
        </p:nvSpPr>
        <p:spPr>
          <a:xfrm>
            <a:off x="384047" y="3401567"/>
            <a:ext cx="1024129" cy="585217"/>
          </a:xfrm>
          <a:prstGeom prst="rect">
            <a:avLst/>
          </a:prstGeom>
          <a:solidFill>
            <a:srgbClr val="F4F7FB"/>
          </a:solidFill>
          <a:ln w="12700">
            <a:solidFill>
              <a:srgbClr val="E2E8F0"/>
            </a:solidFill>
          </a:ln>
        </p:spPr>
        <p:txBody>
          <a:bodyPr lIns="45719" rIns="45719"/>
          <a:lstStyle/>
          <a:p>
            <a:pPr/>
          </a:p>
        </p:txBody>
      </p:sp>
      <p:sp>
        <p:nvSpPr>
          <p:cNvPr id="530" name="Text 19"/>
          <p:cNvSpPr txBox="1"/>
          <p:nvPr/>
        </p:nvSpPr>
        <p:spPr>
          <a:xfrm>
            <a:off x="429768" y="3591306"/>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CT Scans</a:t>
            </a:r>
          </a:p>
        </p:txBody>
      </p:sp>
      <p:sp>
        <p:nvSpPr>
          <p:cNvPr id="531" name="Text 20"/>
          <p:cNvSpPr txBox="1"/>
          <p:nvPr/>
        </p:nvSpPr>
        <p:spPr>
          <a:xfrm>
            <a:off x="1536191" y="2569972"/>
            <a:ext cx="91441" cy="127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1D4ED8"/>
                </a:solidFill>
              </a:defRPr>
            </a:lvl1pPr>
          </a:lstStyle>
          <a:p>
            <a:pPr/>
            <a:r>
              <a:t>▶</a:t>
            </a:r>
          </a:p>
        </p:txBody>
      </p:sp>
      <p:sp>
        <p:nvSpPr>
          <p:cNvPr id="532" name="Shape 21"/>
          <p:cNvSpPr/>
          <p:nvPr/>
        </p:nvSpPr>
        <p:spPr>
          <a:xfrm>
            <a:off x="1545336" y="1353311"/>
            <a:ext cx="1152145" cy="2834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533" name="Shape 22"/>
          <p:cNvSpPr/>
          <p:nvPr/>
        </p:nvSpPr>
        <p:spPr>
          <a:xfrm>
            <a:off x="1545336" y="1353311"/>
            <a:ext cx="1152145" cy="566929"/>
          </a:xfrm>
          <a:prstGeom prst="rect">
            <a:avLst/>
          </a:prstGeom>
          <a:solidFill>
            <a:srgbClr val="0D9488"/>
          </a:solidFill>
          <a:ln w="12700">
            <a:solidFill>
              <a:srgbClr val="0D9488"/>
            </a:solidFill>
          </a:ln>
        </p:spPr>
        <p:txBody>
          <a:bodyPr lIns="45719" rIns="45719"/>
          <a:lstStyle/>
          <a:p>
            <a:pPr/>
          </a:p>
        </p:txBody>
      </p:sp>
      <p:sp>
        <p:nvSpPr>
          <p:cNvPr id="534" name="Text 23"/>
          <p:cNvSpPr txBox="1"/>
          <p:nvPr/>
        </p:nvSpPr>
        <p:spPr>
          <a:xfrm>
            <a:off x="1591055" y="1400556"/>
            <a:ext cx="1060706"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800">
                <a:solidFill>
                  <a:srgbClr val="FFFFFF"/>
                </a:solidFill>
              </a:defRPr>
            </a:pPr>
            <a:r>
              <a:t>2</a:t>
            </a:r>
          </a:p>
          <a:p>
            <a:pPr algn="ctr">
              <a:defRPr b="1" sz="800">
                <a:solidFill>
                  <a:srgbClr val="FFFFFF"/>
                </a:solidFill>
              </a:defRPr>
            </a:pPr>
            <a:r>
              <a:t>Data</a:t>
            </a:r>
          </a:p>
          <a:p>
            <a:pPr algn="ctr">
              <a:defRPr b="1" sz="800">
                <a:solidFill>
                  <a:srgbClr val="FFFFFF"/>
                </a:solidFill>
              </a:defRPr>
            </a:pPr>
            <a:r>
              <a:t>Ingestion</a:t>
            </a:r>
          </a:p>
        </p:txBody>
      </p:sp>
      <p:sp>
        <p:nvSpPr>
          <p:cNvPr id="535" name="Shape 24"/>
          <p:cNvSpPr/>
          <p:nvPr/>
        </p:nvSpPr>
        <p:spPr>
          <a:xfrm>
            <a:off x="1609344" y="2011679"/>
            <a:ext cx="1024129" cy="585217"/>
          </a:xfrm>
          <a:prstGeom prst="rect">
            <a:avLst/>
          </a:prstGeom>
          <a:solidFill>
            <a:srgbClr val="F4F7FB"/>
          </a:solidFill>
          <a:ln w="12700">
            <a:solidFill>
              <a:srgbClr val="E2E8F0"/>
            </a:solidFill>
          </a:ln>
        </p:spPr>
        <p:txBody>
          <a:bodyPr lIns="45719" rIns="45719"/>
          <a:lstStyle/>
          <a:p>
            <a:pPr/>
          </a:p>
        </p:txBody>
      </p:sp>
      <p:sp>
        <p:nvSpPr>
          <p:cNvPr id="536" name="Text 25"/>
          <p:cNvSpPr txBox="1"/>
          <p:nvPr/>
        </p:nvSpPr>
        <p:spPr>
          <a:xfrm>
            <a:off x="1655064" y="2201417"/>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Azure IoT Hub</a:t>
            </a:r>
          </a:p>
        </p:txBody>
      </p:sp>
      <p:sp>
        <p:nvSpPr>
          <p:cNvPr id="537" name="Shape 26"/>
          <p:cNvSpPr/>
          <p:nvPr/>
        </p:nvSpPr>
        <p:spPr>
          <a:xfrm>
            <a:off x="1609344" y="2706623"/>
            <a:ext cx="1024129" cy="585217"/>
          </a:xfrm>
          <a:prstGeom prst="rect">
            <a:avLst/>
          </a:prstGeom>
          <a:solidFill>
            <a:srgbClr val="F4F7FB"/>
          </a:solidFill>
          <a:ln w="12700">
            <a:solidFill>
              <a:srgbClr val="E2E8F0"/>
            </a:solidFill>
          </a:ln>
        </p:spPr>
        <p:txBody>
          <a:bodyPr lIns="45719" rIns="45719"/>
          <a:lstStyle/>
          <a:p>
            <a:pPr/>
          </a:p>
        </p:txBody>
      </p:sp>
      <p:sp>
        <p:nvSpPr>
          <p:cNvPr id="538" name="Text 27"/>
          <p:cNvSpPr txBox="1"/>
          <p:nvPr/>
        </p:nvSpPr>
        <p:spPr>
          <a:xfrm>
            <a:off x="1655064" y="2896361"/>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FHIR API</a:t>
            </a:r>
          </a:p>
        </p:txBody>
      </p:sp>
      <p:sp>
        <p:nvSpPr>
          <p:cNvPr id="539" name="Shape 28"/>
          <p:cNvSpPr/>
          <p:nvPr/>
        </p:nvSpPr>
        <p:spPr>
          <a:xfrm>
            <a:off x="1609344" y="3401567"/>
            <a:ext cx="1024129" cy="585217"/>
          </a:xfrm>
          <a:prstGeom prst="rect">
            <a:avLst/>
          </a:prstGeom>
          <a:solidFill>
            <a:srgbClr val="F4F7FB"/>
          </a:solidFill>
          <a:ln w="12700">
            <a:solidFill>
              <a:srgbClr val="E2E8F0"/>
            </a:solidFill>
          </a:ln>
        </p:spPr>
        <p:txBody>
          <a:bodyPr lIns="45719" rIns="45719"/>
          <a:lstStyle/>
          <a:p>
            <a:pPr/>
          </a:p>
        </p:txBody>
      </p:sp>
      <p:sp>
        <p:nvSpPr>
          <p:cNvPr id="540" name="Text 29"/>
          <p:cNvSpPr txBox="1"/>
          <p:nvPr/>
        </p:nvSpPr>
        <p:spPr>
          <a:xfrm>
            <a:off x="1655064" y="3591306"/>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Data Factory</a:t>
            </a:r>
          </a:p>
        </p:txBody>
      </p:sp>
      <p:sp>
        <p:nvSpPr>
          <p:cNvPr id="541" name="Text 30"/>
          <p:cNvSpPr txBox="1"/>
          <p:nvPr/>
        </p:nvSpPr>
        <p:spPr>
          <a:xfrm>
            <a:off x="2761488" y="2569972"/>
            <a:ext cx="91441" cy="127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0D9488"/>
                </a:solidFill>
              </a:defRPr>
            </a:lvl1pPr>
          </a:lstStyle>
          <a:p>
            <a:pPr/>
            <a:r>
              <a:t>▶</a:t>
            </a:r>
          </a:p>
        </p:txBody>
      </p:sp>
      <p:sp>
        <p:nvSpPr>
          <p:cNvPr id="542" name="Shape 31"/>
          <p:cNvSpPr/>
          <p:nvPr/>
        </p:nvSpPr>
        <p:spPr>
          <a:xfrm>
            <a:off x="2770632" y="1353311"/>
            <a:ext cx="1152145" cy="2834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543" name="Shape 32"/>
          <p:cNvSpPr/>
          <p:nvPr/>
        </p:nvSpPr>
        <p:spPr>
          <a:xfrm>
            <a:off x="2770632" y="1353311"/>
            <a:ext cx="1152145" cy="566929"/>
          </a:xfrm>
          <a:prstGeom prst="rect">
            <a:avLst/>
          </a:prstGeom>
          <a:solidFill>
            <a:srgbClr val="1E8449"/>
          </a:solidFill>
          <a:ln w="12700">
            <a:solidFill>
              <a:srgbClr val="1E8449"/>
            </a:solidFill>
          </a:ln>
        </p:spPr>
        <p:txBody>
          <a:bodyPr lIns="45719" rIns="45719"/>
          <a:lstStyle/>
          <a:p>
            <a:pPr/>
          </a:p>
        </p:txBody>
      </p:sp>
      <p:sp>
        <p:nvSpPr>
          <p:cNvPr id="544" name="Text 33"/>
          <p:cNvSpPr txBox="1"/>
          <p:nvPr/>
        </p:nvSpPr>
        <p:spPr>
          <a:xfrm>
            <a:off x="2816352" y="1400556"/>
            <a:ext cx="1060705"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800">
                <a:solidFill>
                  <a:srgbClr val="FFFFFF"/>
                </a:solidFill>
              </a:defRPr>
            </a:pPr>
            <a:r>
              <a:t>3</a:t>
            </a:r>
          </a:p>
          <a:p>
            <a:pPr algn="ctr">
              <a:defRPr b="1" sz="800">
                <a:solidFill>
                  <a:srgbClr val="FFFFFF"/>
                </a:solidFill>
              </a:defRPr>
            </a:pPr>
            <a:r>
              <a:t>Data</a:t>
            </a:r>
          </a:p>
          <a:p>
            <a:pPr algn="ctr">
              <a:defRPr b="1" sz="800">
                <a:solidFill>
                  <a:srgbClr val="FFFFFF"/>
                </a:solidFill>
              </a:defRPr>
            </a:pPr>
            <a:r>
              <a:t>Cleaning</a:t>
            </a:r>
          </a:p>
        </p:txBody>
      </p:sp>
      <p:sp>
        <p:nvSpPr>
          <p:cNvPr id="545" name="Shape 34"/>
          <p:cNvSpPr/>
          <p:nvPr/>
        </p:nvSpPr>
        <p:spPr>
          <a:xfrm>
            <a:off x="2834639" y="2011679"/>
            <a:ext cx="1024129" cy="585217"/>
          </a:xfrm>
          <a:prstGeom prst="rect">
            <a:avLst/>
          </a:prstGeom>
          <a:solidFill>
            <a:srgbClr val="F4F7FB"/>
          </a:solidFill>
          <a:ln w="12700">
            <a:solidFill>
              <a:srgbClr val="E2E8F0"/>
            </a:solidFill>
          </a:ln>
        </p:spPr>
        <p:txBody>
          <a:bodyPr lIns="45719" rIns="45719"/>
          <a:lstStyle/>
          <a:p>
            <a:pPr/>
          </a:p>
        </p:txBody>
      </p:sp>
      <p:sp>
        <p:nvSpPr>
          <p:cNvPr id="546" name="Text 35"/>
          <p:cNvSpPr txBox="1"/>
          <p:nvPr/>
        </p:nvSpPr>
        <p:spPr>
          <a:xfrm>
            <a:off x="2880360" y="2201417"/>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Power Query</a:t>
            </a:r>
          </a:p>
        </p:txBody>
      </p:sp>
      <p:sp>
        <p:nvSpPr>
          <p:cNvPr id="547" name="Shape 36"/>
          <p:cNvSpPr/>
          <p:nvPr/>
        </p:nvSpPr>
        <p:spPr>
          <a:xfrm>
            <a:off x="2834639" y="2706623"/>
            <a:ext cx="1024129" cy="585217"/>
          </a:xfrm>
          <a:prstGeom prst="rect">
            <a:avLst/>
          </a:prstGeom>
          <a:solidFill>
            <a:srgbClr val="F4F7FB"/>
          </a:solidFill>
          <a:ln w="12700">
            <a:solidFill>
              <a:srgbClr val="E2E8F0"/>
            </a:solidFill>
          </a:ln>
        </p:spPr>
        <p:txBody>
          <a:bodyPr lIns="45719" rIns="45719"/>
          <a:lstStyle/>
          <a:p>
            <a:pPr/>
          </a:p>
        </p:txBody>
      </p:sp>
      <p:sp>
        <p:nvSpPr>
          <p:cNvPr id="548" name="Text 37"/>
          <p:cNvSpPr txBox="1"/>
          <p:nvPr/>
        </p:nvSpPr>
        <p:spPr>
          <a:xfrm>
            <a:off x="2880360" y="2896361"/>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Missing/Dups</a:t>
            </a:r>
          </a:p>
        </p:txBody>
      </p:sp>
      <p:sp>
        <p:nvSpPr>
          <p:cNvPr id="549" name="Shape 38"/>
          <p:cNvSpPr/>
          <p:nvPr/>
        </p:nvSpPr>
        <p:spPr>
          <a:xfrm>
            <a:off x="2834639" y="3401567"/>
            <a:ext cx="1024129" cy="585217"/>
          </a:xfrm>
          <a:prstGeom prst="rect">
            <a:avLst/>
          </a:prstGeom>
          <a:solidFill>
            <a:srgbClr val="F4F7FB"/>
          </a:solidFill>
          <a:ln w="12700">
            <a:solidFill>
              <a:srgbClr val="E2E8F0"/>
            </a:solidFill>
          </a:ln>
        </p:spPr>
        <p:txBody>
          <a:bodyPr lIns="45719" rIns="45719"/>
          <a:lstStyle/>
          <a:p>
            <a:pPr/>
          </a:p>
        </p:txBody>
      </p:sp>
      <p:sp>
        <p:nvSpPr>
          <p:cNvPr id="550" name="Text 39"/>
          <p:cNvSpPr txBox="1"/>
          <p:nvPr/>
        </p:nvSpPr>
        <p:spPr>
          <a:xfrm>
            <a:off x="2880360" y="3591306"/>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Normalize</a:t>
            </a:r>
          </a:p>
        </p:txBody>
      </p:sp>
      <p:sp>
        <p:nvSpPr>
          <p:cNvPr id="551" name="Text 40"/>
          <p:cNvSpPr txBox="1"/>
          <p:nvPr/>
        </p:nvSpPr>
        <p:spPr>
          <a:xfrm>
            <a:off x="3986784" y="2569972"/>
            <a:ext cx="91441" cy="127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1E8449"/>
                </a:solidFill>
              </a:defRPr>
            </a:lvl1pPr>
          </a:lstStyle>
          <a:p>
            <a:pPr/>
            <a:r>
              <a:t>▶</a:t>
            </a:r>
          </a:p>
        </p:txBody>
      </p:sp>
      <p:sp>
        <p:nvSpPr>
          <p:cNvPr id="552" name="Shape 41"/>
          <p:cNvSpPr/>
          <p:nvPr/>
        </p:nvSpPr>
        <p:spPr>
          <a:xfrm>
            <a:off x="3995928" y="1353311"/>
            <a:ext cx="1152145" cy="2834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553" name="Shape 42"/>
          <p:cNvSpPr/>
          <p:nvPr/>
        </p:nvSpPr>
        <p:spPr>
          <a:xfrm>
            <a:off x="3995928" y="1353311"/>
            <a:ext cx="1152145" cy="566929"/>
          </a:xfrm>
          <a:prstGeom prst="rect">
            <a:avLst/>
          </a:prstGeom>
          <a:solidFill>
            <a:srgbClr val="7C3AED"/>
          </a:solidFill>
          <a:ln w="12700">
            <a:solidFill>
              <a:srgbClr val="7C3AED"/>
            </a:solidFill>
          </a:ln>
        </p:spPr>
        <p:txBody>
          <a:bodyPr lIns="45719" rIns="45719"/>
          <a:lstStyle/>
          <a:p>
            <a:pPr/>
          </a:p>
        </p:txBody>
      </p:sp>
      <p:sp>
        <p:nvSpPr>
          <p:cNvPr id="554" name="Text 43"/>
          <p:cNvSpPr txBox="1"/>
          <p:nvPr/>
        </p:nvSpPr>
        <p:spPr>
          <a:xfrm>
            <a:off x="4041648" y="1400556"/>
            <a:ext cx="1060705"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800">
                <a:solidFill>
                  <a:srgbClr val="FFFFFF"/>
                </a:solidFill>
              </a:defRPr>
            </a:pPr>
            <a:r>
              <a:t>4</a:t>
            </a:r>
          </a:p>
          <a:p>
            <a:pPr algn="ctr">
              <a:defRPr b="1" sz="800">
                <a:solidFill>
                  <a:srgbClr val="FFFFFF"/>
                </a:solidFill>
              </a:defRPr>
            </a:pPr>
            <a:r>
              <a:t>Modelling</a:t>
            </a:r>
          </a:p>
          <a:p>
            <a:pPr algn="ctr">
              <a:defRPr b="1" sz="800">
                <a:solidFill>
                  <a:srgbClr val="FFFFFF"/>
                </a:solidFill>
              </a:defRPr>
            </a:pPr>
            <a:r>
              <a:t>&amp; DAX</a:t>
            </a:r>
          </a:p>
        </p:txBody>
      </p:sp>
      <p:sp>
        <p:nvSpPr>
          <p:cNvPr id="555" name="Shape 44"/>
          <p:cNvSpPr/>
          <p:nvPr/>
        </p:nvSpPr>
        <p:spPr>
          <a:xfrm>
            <a:off x="4059935" y="2011679"/>
            <a:ext cx="1024129" cy="585217"/>
          </a:xfrm>
          <a:prstGeom prst="rect">
            <a:avLst/>
          </a:prstGeom>
          <a:solidFill>
            <a:srgbClr val="F4F7FB"/>
          </a:solidFill>
          <a:ln w="12700">
            <a:solidFill>
              <a:srgbClr val="E2E8F0"/>
            </a:solidFill>
          </a:ln>
        </p:spPr>
        <p:txBody>
          <a:bodyPr lIns="45719" rIns="45719"/>
          <a:lstStyle/>
          <a:p>
            <a:pPr/>
          </a:p>
        </p:txBody>
      </p:sp>
      <p:sp>
        <p:nvSpPr>
          <p:cNvPr id="556" name="Text 45"/>
          <p:cNvSpPr txBox="1"/>
          <p:nvPr/>
        </p:nvSpPr>
        <p:spPr>
          <a:xfrm>
            <a:off x="4105655" y="2201417"/>
            <a:ext cx="932690"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Relationships</a:t>
            </a:r>
          </a:p>
        </p:txBody>
      </p:sp>
      <p:sp>
        <p:nvSpPr>
          <p:cNvPr id="557" name="Shape 46"/>
          <p:cNvSpPr/>
          <p:nvPr/>
        </p:nvSpPr>
        <p:spPr>
          <a:xfrm>
            <a:off x="4059935" y="2706623"/>
            <a:ext cx="1024129" cy="585217"/>
          </a:xfrm>
          <a:prstGeom prst="rect">
            <a:avLst/>
          </a:prstGeom>
          <a:solidFill>
            <a:srgbClr val="F4F7FB"/>
          </a:solidFill>
          <a:ln w="12700">
            <a:solidFill>
              <a:srgbClr val="E2E8F0"/>
            </a:solidFill>
          </a:ln>
        </p:spPr>
        <p:txBody>
          <a:bodyPr lIns="45719" rIns="45719"/>
          <a:lstStyle/>
          <a:p>
            <a:pPr/>
          </a:p>
        </p:txBody>
      </p:sp>
      <p:sp>
        <p:nvSpPr>
          <p:cNvPr id="558" name="Text 47"/>
          <p:cNvSpPr txBox="1"/>
          <p:nvPr/>
        </p:nvSpPr>
        <p:spPr>
          <a:xfrm>
            <a:off x="4105655" y="2896361"/>
            <a:ext cx="932690"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DAX Measures</a:t>
            </a:r>
          </a:p>
        </p:txBody>
      </p:sp>
      <p:sp>
        <p:nvSpPr>
          <p:cNvPr id="559" name="Shape 48"/>
          <p:cNvSpPr/>
          <p:nvPr/>
        </p:nvSpPr>
        <p:spPr>
          <a:xfrm>
            <a:off x="4059935" y="3401567"/>
            <a:ext cx="1024129" cy="585217"/>
          </a:xfrm>
          <a:prstGeom prst="rect">
            <a:avLst/>
          </a:prstGeom>
          <a:solidFill>
            <a:srgbClr val="F4F7FB"/>
          </a:solidFill>
          <a:ln w="12700">
            <a:solidFill>
              <a:srgbClr val="E2E8F0"/>
            </a:solidFill>
          </a:ln>
        </p:spPr>
        <p:txBody>
          <a:bodyPr lIns="45719" rIns="45719"/>
          <a:lstStyle/>
          <a:p>
            <a:pPr/>
          </a:p>
        </p:txBody>
      </p:sp>
      <p:sp>
        <p:nvSpPr>
          <p:cNvPr id="560" name="Text 49"/>
          <p:cNvSpPr txBox="1"/>
          <p:nvPr/>
        </p:nvSpPr>
        <p:spPr>
          <a:xfrm>
            <a:off x="4105655" y="3591306"/>
            <a:ext cx="932690"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KPI Metrics</a:t>
            </a:r>
          </a:p>
        </p:txBody>
      </p:sp>
      <p:sp>
        <p:nvSpPr>
          <p:cNvPr id="561" name="Text 50"/>
          <p:cNvSpPr txBox="1"/>
          <p:nvPr/>
        </p:nvSpPr>
        <p:spPr>
          <a:xfrm>
            <a:off x="5212079" y="2569972"/>
            <a:ext cx="91441" cy="127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7C3AED"/>
                </a:solidFill>
              </a:defRPr>
            </a:lvl1pPr>
          </a:lstStyle>
          <a:p>
            <a:pPr/>
            <a:r>
              <a:t>▶</a:t>
            </a:r>
          </a:p>
        </p:txBody>
      </p:sp>
      <p:sp>
        <p:nvSpPr>
          <p:cNvPr id="562" name="Shape 51"/>
          <p:cNvSpPr/>
          <p:nvPr/>
        </p:nvSpPr>
        <p:spPr>
          <a:xfrm>
            <a:off x="5221223" y="1353311"/>
            <a:ext cx="1152145" cy="2834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563" name="Shape 52"/>
          <p:cNvSpPr/>
          <p:nvPr/>
        </p:nvSpPr>
        <p:spPr>
          <a:xfrm>
            <a:off x="5221223" y="1353311"/>
            <a:ext cx="1152145" cy="566929"/>
          </a:xfrm>
          <a:prstGeom prst="rect">
            <a:avLst/>
          </a:prstGeom>
          <a:solidFill>
            <a:srgbClr val="D97706"/>
          </a:solidFill>
          <a:ln w="12700">
            <a:solidFill>
              <a:srgbClr val="D97706"/>
            </a:solidFill>
          </a:ln>
        </p:spPr>
        <p:txBody>
          <a:bodyPr lIns="45719" rIns="45719"/>
          <a:lstStyle/>
          <a:p>
            <a:pPr/>
          </a:p>
        </p:txBody>
      </p:sp>
      <p:sp>
        <p:nvSpPr>
          <p:cNvPr id="564" name="Text 53"/>
          <p:cNvSpPr txBox="1"/>
          <p:nvPr/>
        </p:nvSpPr>
        <p:spPr>
          <a:xfrm>
            <a:off x="5266944" y="1400556"/>
            <a:ext cx="1060705"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800">
                <a:solidFill>
                  <a:srgbClr val="FFFFFF"/>
                </a:solidFill>
              </a:defRPr>
            </a:pPr>
            <a:r>
              <a:t>5</a:t>
            </a:r>
          </a:p>
          <a:p>
            <a:pPr algn="ctr">
              <a:defRPr b="1" sz="800">
                <a:solidFill>
                  <a:srgbClr val="FFFFFF"/>
                </a:solidFill>
              </a:defRPr>
            </a:pPr>
            <a:r>
              <a:t>ML / AI</a:t>
            </a:r>
          </a:p>
          <a:p>
            <a:pPr algn="ctr">
              <a:defRPr b="1" sz="800">
                <a:solidFill>
                  <a:srgbClr val="FFFFFF"/>
                </a:solidFill>
              </a:defRPr>
            </a:pPr>
            <a:r>
              <a:t>Layer</a:t>
            </a:r>
          </a:p>
        </p:txBody>
      </p:sp>
      <p:sp>
        <p:nvSpPr>
          <p:cNvPr id="565" name="Shape 54"/>
          <p:cNvSpPr/>
          <p:nvPr/>
        </p:nvSpPr>
        <p:spPr>
          <a:xfrm>
            <a:off x="5285232" y="2011679"/>
            <a:ext cx="1024129" cy="585217"/>
          </a:xfrm>
          <a:prstGeom prst="rect">
            <a:avLst/>
          </a:prstGeom>
          <a:solidFill>
            <a:srgbClr val="F4F7FB"/>
          </a:solidFill>
          <a:ln w="12700">
            <a:solidFill>
              <a:srgbClr val="E2E8F0"/>
            </a:solidFill>
          </a:ln>
        </p:spPr>
        <p:txBody>
          <a:bodyPr lIns="45719" rIns="45719"/>
          <a:lstStyle/>
          <a:p>
            <a:pPr/>
          </a:p>
        </p:txBody>
      </p:sp>
      <p:sp>
        <p:nvSpPr>
          <p:cNvPr id="566" name="Text 55"/>
          <p:cNvSpPr txBox="1"/>
          <p:nvPr/>
        </p:nvSpPr>
        <p:spPr>
          <a:xfrm>
            <a:off x="5330952" y="2201417"/>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Azure ML</a:t>
            </a:r>
          </a:p>
        </p:txBody>
      </p:sp>
      <p:sp>
        <p:nvSpPr>
          <p:cNvPr id="567" name="Shape 56"/>
          <p:cNvSpPr/>
          <p:nvPr/>
        </p:nvSpPr>
        <p:spPr>
          <a:xfrm>
            <a:off x="5285232" y="2706623"/>
            <a:ext cx="1024129" cy="585217"/>
          </a:xfrm>
          <a:prstGeom prst="rect">
            <a:avLst/>
          </a:prstGeom>
          <a:solidFill>
            <a:srgbClr val="F4F7FB"/>
          </a:solidFill>
          <a:ln w="12700">
            <a:solidFill>
              <a:srgbClr val="E2E8F0"/>
            </a:solidFill>
          </a:ln>
        </p:spPr>
        <p:txBody>
          <a:bodyPr lIns="45719" rIns="45719"/>
          <a:lstStyle/>
          <a:p>
            <a:pPr/>
          </a:p>
        </p:txBody>
      </p:sp>
      <p:sp>
        <p:nvSpPr>
          <p:cNvPr id="568" name="Text 57"/>
          <p:cNvSpPr txBox="1"/>
          <p:nvPr/>
        </p:nvSpPr>
        <p:spPr>
          <a:xfrm>
            <a:off x="5330952" y="2896361"/>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Random Forest</a:t>
            </a:r>
          </a:p>
        </p:txBody>
      </p:sp>
      <p:sp>
        <p:nvSpPr>
          <p:cNvPr id="569" name="Shape 58"/>
          <p:cNvSpPr/>
          <p:nvPr/>
        </p:nvSpPr>
        <p:spPr>
          <a:xfrm>
            <a:off x="5285232" y="3401567"/>
            <a:ext cx="1024129" cy="585217"/>
          </a:xfrm>
          <a:prstGeom prst="rect">
            <a:avLst/>
          </a:prstGeom>
          <a:solidFill>
            <a:srgbClr val="F4F7FB"/>
          </a:solidFill>
          <a:ln w="12700">
            <a:solidFill>
              <a:srgbClr val="E2E8F0"/>
            </a:solidFill>
          </a:ln>
        </p:spPr>
        <p:txBody>
          <a:bodyPr lIns="45719" rIns="45719"/>
          <a:lstStyle/>
          <a:p>
            <a:pPr/>
          </a:p>
        </p:txBody>
      </p:sp>
      <p:sp>
        <p:nvSpPr>
          <p:cNvPr id="570" name="Text 59"/>
          <p:cNvSpPr txBox="1"/>
          <p:nvPr/>
        </p:nvSpPr>
        <p:spPr>
          <a:xfrm>
            <a:off x="5330952" y="3591306"/>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LSTM/CNN</a:t>
            </a:r>
          </a:p>
        </p:txBody>
      </p:sp>
      <p:sp>
        <p:nvSpPr>
          <p:cNvPr id="571" name="Text 60"/>
          <p:cNvSpPr txBox="1"/>
          <p:nvPr/>
        </p:nvSpPr>
        <p:spPr>
          <a:xfrm>
            <a:off x="6437376" y="2569972"/>
            <a:ext cx="91441" cy="127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D97706"/>
                </a:solidFill>
              </a:defRPr>
            </a:lvl1pPr>
          </a:lstStyle>
          <a:p>
            <a:pPr/>
            <a:r>
              <a:t>▶</a:t>
            </a:r>
          </a:p>
        </p:txBody>
      </p:sp>
      <p:sp>
        <p:nvSpPr>
          <p:cNvPr id="572" name="Shape 61"/>
          <p:cNvSpPr/>
          <p:nvPr/>
        </p:nvSpPr>
        <p:spPr>
          <a:xfrm>
            <a:off x="6446520" y="1353311"/>
            <a:ext cx="1152145" cy="2834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573" name="Shape 62"/>
          <p:cNvSpPr/>
          <p:nvPr/>
        </p:nvSpPr>
        <p:spPr>
          <a:xfrm>
            <a:off x="6446520" y="1353311"/>
            <a:ext cx="1152145" cy="566929"/>
          </a:xfrm>
          <a:prstGeom prst="rect">
            <a:avLst/>
          </a:prstGeom>
          <a:solidFill>
            <a:srgbClr val="DC2626"/>
          </a:solidFill>
          <a:ln w="12700">
            <a:solidFill>
              <a:srgbClr val="DC2626"/>
            </a:solidFill>
          </a:ln>
        </p:spPr>
        <p:txBody>
          <a:bodyPr lIns="45719" rIns="45719"/>
          <a:lstStyle/>
          <a:p>
            <a:pPr/>
          </a:p>
        </p:txBody>
      </p:sp>
      <p:sp>
        <p:nvSpPr>
          <p:cNvPr id="574" name="Text 63"/>
          <p:cNvSpPr txBox="1"/>
          <p:nvPr/>
        </p:nvSpPr>
        <p:spPr>
          <a:xfrm>
            <a:off x="6492240" y="1400556"/>
            <a:ext cx="1060705"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800">
                <a:solidFill>
                  <a:srgbClr val="FFFFFF"/>
                </a:solidFill>
              </a:defRPr>
            </a:pPr>
            <a:r>
              <a:t>6</a:t>
            </a:r>
          </a:p>
          <a:p>
            <a:pPr algn="ctr">
              <a:defRPr b="1" sz="800">
                <a:solidFill>
                  <a:srgbClr val="FFFFFF"/>
                </a:solidFill>
              </a:defRPr>
            </a:pPr>
            <a:r>
              <a:t>Visual-</a:t>
            </a:r>
          </a:p>
          <a:p>
            <a:pPr algn="ctr">
              <a:defRPr b="1" sz="800">
                <a:solidFill>
                  <a:srgbClr val="FFFFFF"/>
                </a:solidFill>
              </a:defRPr>
            </a:pPr>
            <a:r>
              <a:t>ization</a:t>
            </a:r>
          </a:p>
        </p:txBody>
      </p:sp>
      <p:sp>
        <p:nvSpPr>
          <p:cNvPr id="575" name="Shape 64"/>
          <p:cNvSpPr/>
          <p:nvPr/>
        </p:nvSpPr>
        <p:spPr>
          <a:xfrm>
            <a:off x="6510528" y="2011679"/>
            <a:ext cx="1024129" cy="585217"/>
          </a:xfrm>
          <a:prstGeom prst="rect">
            <a:avLst/>
          </a:prstGeom>
          <a:solidFill>
            <a:srgbClr val="F4F7FB"/>
          </a:solidFill>
          <a:ln w="12700">
            <a:solidFill>
              <a:srgbClr val="E2E8F0"/>
            </a:solidFill>
          </a:ln>
        </p:spPr>
        <p:txBody>
          <a:bodyPr lIns="45719" rIns="45719"/>
          <a:lstStyle/>
          <a:p>
            <a:pPr/>
          </a:p>
        </p:txBody>
      </p:sp>
      <p:sp>
        <p:nvSpPr>
          <p:cNvPr id="576" name="Text 65"/>
          <p:cNvSpPr txBox="1"/>
          <p:nvPr/>
        </p:nvSpPr>
        <p:spPr>
          <a:xfrm>
            <a:off x="6556247" y="2201417"/>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Power BI</a:t>
            </a:r>
          </a:p>
        </p:txBody>
      </p:sp>
      <p:sp>
        <p:nvSpPr>
          <p:cNvPr id="577" name="Shape 66"/>
          <p:cNvSpPr/>
          <p:nvPr/>
        </p:nvSpPr>
        <p:spPr>
          <a:xfrm>
            <a:off x="6510528" y="2706623"/>
            <a:ext cx="1024129" cy="585217"/>
          </a:xfrm>
          <a:prstGeom prst="rect">
            <a:avLst/>
          </a:prstGeom>
          <a:solidFill>
            <a:srgbClr val="F4F7FB"/>
          </a:solidFill>
          <a:ln w="12700">
            <a:solidFill>
              <a:srgbClr val="E2E8F0"/>
            </a:solidFill>
          </a:ln>
        </p:spPr>
        <p:txBody>
          <a:bodyPr lIns="45719" rIns="45719"/>
          <a:lstStyle/>
          <a:p>
            <a:pPr/>
          </a:p>
        </p:txBody>
      </p:sp>
      <p:sp>
        <p:nvSpPr>
          <p:cNvPr id="578" name="Text 67"/>
          <p:cNvSpPr txBox="1"/>
          <p:nvPr/>
        </p:nvSpPr>
        <p:spPr>
          <a:xfrm>
            <a:off x="6556247" y="2896361"/>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Dashboards</a:t>
            </a:r>
          </a:p>
        </p:txBody>
      </p:sp>
      <p:sp>
        <p:nvSpPr>
          <p:cNvPr id="579" name="Shape 68"/>
          <p:cNvSpPr/>
          <p:nvPr/>
        </p:nvSpPr>
        <p:spPr>
          <a:xfrm>
            <a:off x="6510528" y="3401567"/>
            <a:ext cx="1024129" cy="585217"/>
          </a:xfrm>
          <a:prstGeom prst="rect">
            <a:avLst/>
          </a:prstGeom>
          <a:solidFill>
            <a:srgbClr val="F4F7FB"/>
          </a:solidFill>
          <a:ln w="12700">
            <a:solidFill>
              <a:srgbClr val="E2E8F0"/>
            </a:solidFill>
          </a:ln>
        </p:spPr>
        <p:txBody>
          <a:bodyPr lIns="45719" rIns="45719"/>
          <a:lstStyle/>
          <a:p>
            <a:pPr/>
          </a:p>
        </p:txBody>
      </p:sp>
      <p:sp>
        <p:nvSpPr>
          <p:cNvPr id="580" name="Text 69"/>
          <p:cNvSpPr txBox="1"/>
          <p:nvPr/>
        </p:nvSpPr>
        <p:spPr>
          <a:xfrm>
            <a:off x="6556247" y="3591306"/>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Slicers</a:t>
            </a:r>
          </a:p>
        </p:txBody>
      </p:sp>
      <p:sp>
        <p:nvSpPr>
          <p:cNvPr id="581" name="Text 70"/>
          <p:cNvSpPr txBox="1"/>
          <p:nvPr/>
        </p:nvSpPr>
        <p:spPr>
          <a:xfrm>
            <a:off x="7662671" y="2569972"/>
            <a:ext cx="91441" cy="127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DC2626"/>
                </a:solidFill>
              </a:defRPr>
            </a:lvl1pPr>
          </a:lstStyle>
          <a:p>
            <a:pPr/>
            <a:r>
              <a:t>▶</a:t>
            </a:r>
          </a:p>
        </p:txBody>
      </p:sp>
      <p:sp>
        <p:nvSpPr>
          <p:cNvPr id="582" name="Shape 71"/>
          <p:cNvSpPr/>
          <p:nvPr/>
        </p:nvSpPr>
        <p:spPr>
          <a:xfrm>
            <a:off x="7671816" y="1353311"/>
            <a:ext cx="1152145" cy="28346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583" name="Shape 72"/>
          <p:cNvSpPr/>
          <p:nvPr/>
        </p:nvSpPr>
        <p:spPr>
          <a:xfrm>
            <a:off x="7671816" y="1353311"/>
            <a:ext cx="1152145" cy="566929"/>
          </a:xfrm>
          <a:prstGeom prst="rect">
            <a:avLst/>
          </a:prstGeom>
          <a:solidFill>
            <a:srgbClr val="1D4ED8"/>
          </a:solidFill>
          <a:ln w="12700">
            <a:solidFill>
              <a:srgbClr val="1D4ED8"/>
            </a:solidFill>
          </a:ln>
        </p:spPr>
        <p:txBody>
          <a:bodyPr lIns="45719" rIns="45719"/>
          <a:lstStyle/>
          <a:p>
            <a:pPr/>
          </a:p>
        </p:txBody>
      </p:sp>
      <p:sp>
        <p:nvSpPr>
          <p:cNvPr id="584" name="Text 73"/>
          <p:cNvSpPr txBox="1"/>
          <p:nvPr/>
        </p:nvSpPr>
        <p:spPr>
          <a:xfrm>
            <a:off x="7717535" y="1400556"/>
            <a:ext cx="1060705"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800">
                <a:solidFill>
                  <a:srgbClr val="FFFFFF"/>
                </a:solidFill>
              </a:defRPr>
            </a:pPr>
            <a:r>
              <a:t>7</a:t>
            </a:r>
          </a:p>
          <a:p>
            <a:pPr algn="ctr">
              <a:defRPr b="1" sz="800">
                <a:solidFill>
                  <a:srgbClr val="FFFFFF"/>
                </a:solidFill>
              </a:defRPr>
            </a:pPr>
            <a:r>
              <a:t>Output</a:t>
            </a:r>
          </a:p>
          <a:p>
            <a:pPr algn="ctr">
              <a:defRPr b="1" sz="800">
                <a:solidFill>
                  <a:srgbClr val="FFFFFF"/>
                </a:solidFill>
              </a:defRPr>
            </a:pPr>
            <a:r>
              <a:t>&amp; Alerts</a:t>
            </a:r>
          </a:p>
        </p:txBody>
      </p:sp>
      <p:sp>
        <p:nvSpPr>
          <p:cNvPr id="585" name="Shape 74"/>
          <p:cNvSpPr/>
          <p:nvPr/>
        </p:nvSpPr>
        <p:spPr>
          <a:xfrm>
            <a:off x="7735823" y="2011679"/>
            <a:ext cx="1024129" cy="585217"/>
          </a:xfrm>
          <a:prstGeom prst="rect">
            <a:avLst/>
          </a:prstGeom>
          <a:solidFill>
            <a:srgbClr val="F4F7FB"/>
          </a:solidFill>
          <a:ln w="12700">
            <a:solidFill>
              <a:srgbClr val="E2E8F0"/>
            </a:solidFill>
          </a:ln>
        </p:spPr>
        <p:txBody>
          <a:bodyPr lIns="45719" rIns="45719"/>
          <a:lstStyle/>
          <a:p>
            <a:pPr/>
          </a:p>
        </p:txBody>
      </p:sp>
      <p:sp>
        <p:nvSpPr>
          <p:cNvPr id="586" name="Text 75"/>
          <p:cNvSpPr txBox="1"/>
          <p:nvPr/>
        </p:nvSpPr>
        <p:spPr>
          <a:xfrm>
            <a:off x="7781543" y="2201417"/>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Clinical</a:t>
            </a:r>
          </a:p>
        </p:txBody>
      </p:sp>
      <p:sp>
        <p:nvSpPr>
          <p:cNvPr id="587" name="Shape 76"/>
          <p:cNvSpPr/>
          <p:nvPr/>
        </p:nvSpPr>
        <p:spPr>
          <a:xfrm>
            <a:off x="7735823" y="2706623"/>
            <a:ext cx="1024129" cy="585217"/>
          </a:xfrm>
          <a:prstGeom prst="rect">
            <a:avLst/>
          </a:prstGeom>
          <a:solidFill>
            <a:srgbClr val="F4F7FB"/>
          </a:solidFill>
          <a:ln w="12700">
            <a:solidFill>
              <a:srgbClr val="E2E8F0"/>
            </a:solidFill>
          </a:ln>
        </p:spPr>
        <p:txBody>
          <a:bodyPr lIns="45719" rIns="45719"/>
          <a:lstStyle/>
          <a:p>
            <a:pPr/>
          </a:p>
        </p:txBody>
      </p:sp>
      <p:sp>
        <p:nvSpPr>
          <p:cNvPr id="588" name="Text 77"/>
          <p:cNvSpPr txBox="1"/>
          <p:nvPr/>
        </p:nvSpPr>
        <p:spPr>
          <a:xfrm>
            <a:off x="7781543" y="2896361"/>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Reports</a:t>
            </a:r>
          </a:p>
        </p:txBody>
      </p:sp>
      <p:sp>
        <p:nvSpPr>
          <p:cNvPr id="589" name="Shape 78"/>
          <p:cNvSpPr/>
          <p:nvPr/>
        </p:nvSpPr>
        <p:spPr>
          <a:xfrm>
            <a:off x="7735823" y="3401567"/>
            <a:ext cx="1024129" cy="585217"/>
          </a:xfrm>
          <a:prstGeom prst="rect">
            <a:avLst/>
          </a:prstGeom>
          <a:solidFill>
            <a:srgbClr val="F4F7FB"/>
          </a:solidFill>
          <a:ln w="12700">
            <a:solidFill>
              <a:srgbClr val="E2E8F0"/>
            </a:solidFill>
          </a:ln>
        </p:spPr>
        <p:txBody>
          <a:bodyPr lIns="45719" rIns="45719"/>
          <a:lstStyle/>
          <a:p>
            <a:pPr/>
          </a:p>
        </p:txBody>
      </p:sp>
      <p:sp>
        <p:nvSpPr>
          <p:cNvPr id="590" name="Text 79"/>
          <p:cNvSpPr txBox="1"/>
          <p:nvPr/>
        </p:nvSpPr>
        <p:spPr>
          <a:xfrm>
            <a:off x="7781543" y="3591306"/>
            <a:ext cx="93268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93B"/>
                </a:solidFill>
              </a:defRPr>
            </a:lvl1pPr>
          </a:lstStyle>
          <a:p>
            <a:pPr/>
            <a:r>
              <a:t>Alerts</a:t>
            </a:r>
          </a:p>
        </p:txBody>
      </p:sp>
      <p:sp>
        <p:nvSpPr>
          <p:cNvPr id="591" name="Text 80"/>
          <p:cNvSpPr txBox="1"/>
          <p:nvPr/>
        </p:nvSpPr>
        <p:spPr>
          <a:xfrm>
            <a:off x="365760" y="4353559"/>
            <a:ext cx="8412480"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800">
                <a:solidFill>
                  <a:srgbClr val="374151"/>
                </a:solidFill>
              </a:defRPr>
            </a:lvl1pPr>
          </a:lstStyle>
          <a:p>
            <a:pPr/>
            <a:r>
              <a:t>Pipeline executes continuously: EHR refreshes every 15 min  |  IoT vitals stream real-time  |  ML predictions batch-scored nightly  |  Alerts fire immediately on critical threshold breach</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593"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594"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595"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Progress Overview (Week 1–8)</a:t>
            </a:r>
          </a:p>
        </p:txBody>
      </p:sp>
      <p:sp>
        <p:nvSpPr>
          <p:cNvPr id="596"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597"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598"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599"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600"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601"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14 / 20</a:t>
            </a:r>
          </a:p>
        </p:txBody>
      </p:sp>
      <p:sp>
        <p:nvSpPr>
          <p:cNvPr id="602"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Internship Progress — Week 8 of 12 | On Track</a:t>
            </a:r>
          </a:p>
        </p:txBody>
      </p:sp>
      <p:sp>
        <p:nvSpPr>
          <p:cNvPr id="603" name="Shape 10"/>
          <p:cNvSpPr/>
          <p:nvPr/>
        </p:nvSpPr>
        <p:spPr>
          <a:xfrm>
            <a:off x="320040" y="1078991"/>
            <a:ext cx="8503920" cy="365762"/>
          </a:xfrm>
          <a:prstGeom prst="rect">
            <a:avLst/>
          </a:prstGeom>
          <a:solidFill>
            <a:srgbClr val="1E8449"/>
          </a:solidFill>
          <a:ln w="12700">
            <a:solidFill>
              <a:srgbClr val="1E8449"/>
            </a:solidFill>
          </a:ln>
        </p:spPr>
        <p:txBody>
          <a:bodyPr lIns="45719" rIns="45719"/>
          <a:lstStyle/>
          <a:p>
            <a:pPr/>
          </a:p>
        </p:txBody>
      </p:sp>
      <p:sp>
        <p:nvSpPr>
          <p:cNvPr id="604" name="Text 11"/>
          <p:cNvSpPr txBox="1"/>
          <p:nvPr/>
        </p:nvSpPr>
        <p:spPr>
          <a:xfrm>
            <a:off x="320040" y="1185672"/>
            <a:ext cx="850392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Current Status: Week 8 of 12 — On Track  |  3 Phases Completed  |  All Deliverables Submitted On Time</a:t>
            </a:r>
          </a:p>
        </p:txBody>
      </p:sp>
      <p:sp>
        <p:nvSpPr>
          <p:cNvPr id="605" name="Shape 12"/>
          <p:cNvSpPr/>
          <p:nvPr/>
        </p:nvSpPr>
        <p:spPr>
          <a:xfrm>
            <a:off x="320040" y="1517903"/>
            <a:ext cx="8503920" cy="102412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06" name="Shape 13"/>
          <p:cNvSpPr/>
          <p:nvPr/>
        </p:nvSpPr>
        <p:spPr>
          <a:xfrm>
            <a:off x="320039" y="1517903"/>
            <a:ext cx="1280162" cy="1024129"/>
          </a:xfrm>
          <a:prstGeom prst="rect">
            <a:avLst/>
          </a:prstGeom>
          <a:solidFill>
            <a:srgbClr val="1D4ED8"/>
          </a:solidFill>
          <a:ln w="12700">
            <a:solidFill>
              <a:srgbClr val="1D4ED8"/>
            </a:solidFill>
          </a:ln>
        </p:spPr>
        <p:txBody>
          <a:bodyPr lIns="45719" rIns="45719"/>
          <a:lstStyle/>
          <a:p>
            <a:pPr/>
          </a:p>
        </p:txBody>
      </p:sp>
      <p:sp>
        <p:nvSpPr>
          <p:cNvPr id="607" name="Text 14"/>
          <p:cNvSpPr txBox="1"/>
          <p:nvPr/>
        </p:nvSpPr>
        <p:spPr>
          <a:xfrm>
            <a:off x="365759" y="1606803"/>
            <a:ext cx="1188722"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900">
                <a:solidFill>
                  <a:srgbClr val="FFFFFF"/>
                </a:solidFill>
              </a:defRPr>
            </a:pPr>
            <a:r>
              <a:t>Phase 1</a:t>
            </a:r>
          </a:p>
          <a:p>
            <a:pPr algn="ctr">
              <a:defRPr b="1" sz="900">
                <a:solidFill>
                  <a:srgbClr val="FFFFFF"/>
                </a:solidFill>
              </a:defRPr>
            </a:pPr>
            <a:r>
              <a:t>Week 1–2</a:t>
            </a:r>
          </a:p>
        </p:txBody>
      </p:sp>
      <p:sp>
        <p:nvSpPr>
          <p:cNvPr id="608" name="Text 15"/>
          <p:cNvSpPr txBox="1"/>
          <p:nvPr/>
        </p:nvSpPr>
        <p:spPr>
          <a:xfrm>
            <a:off x="365759" y="2197331"/>
            <a:ext cx="1188722" cy="232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 DONE</a:t>
            </a:r>
          </a:p>
        </p:txBody>
      </p:sp>
      <p:sp>
        <p:nvSpPr>
          <p:cNvPr id="609" name="Text 16"/>
          <p:cNvSpPr txBox="1"/>
          <p:nvPr/>
        </p:nvSpPr>
        <p:spPr>
          <a:xfrm>
            <a:off x="1673351" y="1597152"/>
            <a:ext cx="7077458"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AI Intro, Data Analytics, EDA, Power BI Fundamentals</a:t>
            </a:r>
          </a:p>
        </p:txBody>
      </p:sp>
      <p:sp>
        <p:nvSpPr>
          <p:cNvPr id="610" name="Text 17"/>
          <p:cNvSpPr txBox="1"/>
          <p:nvPr/>
        </p:nvSpPr>
        <p:spPr>
          <a:xfrm>
            <a:off x="1719071" y="1774443"/>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EHR data pipeline and cleaning complete</a:t>
            </a:r>
          </a:p>
        </p:txBody>
      </p:sp>
      <p:sp>
        <p:nvSpPr>
          <p:cNvPr id="611" name="Text 18"/>
          <p:cNvSpPr txBox="1"/>
          <p:nvPr/>
        </p:nvSpPr>
        <p:spPr>
          <a:xfrm>
            <a:off x="1719071" y="1957324"/>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Power BI healthcare dashboard version 1 live and reviewed</a:t>
            </a:r>
          </a:p>
        </p:txBody>
      </p:sp>
      <p:sp>
        <p:nvSpPr>
          <p:cNvPr id="612" name="Text 19"/>
          <p:cNvSpPr txBox="1"/>
          <p:nvPr/>
        </p:nvSpPr>
        <p:spPr>
          <a:xfrm>
            <a:off x="1719071" y="2140203"/>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Statistical EDA report submitted with key clinical insights</a:t>
            </a:r>
          </a:p>
        </p:txBody>
      </p:sp>
      <p:sp>
        <p:nvSpPr>
          <p:cNvPr id="613" name="Text 20"/>
          <p:cNvSpPr txBox="1"/>
          <p:nvPr/>
        </p:nvSpPr>
        <p:spPr>
          <a:xfrm>
            <a:off x="1719071" y="2323084"/>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Data quality assessment: 94% completeness across 50,000 patient records</a:t>
            </a:r>
          </a:p>
        </p:txBody>
      </p:sp>
      <p:sp>
        <p:nvSpPr>
          <p:cNvPr id="614" name="Shape 21"/>
          <p:cNvSpPr/>
          <p:nvPr/>
        </p:nvSpPr>
        <p:spPr>
          <a:xfrm>
            <a:off x="320040" y="2633472"/>
            <a:ext cx="8503920" cy="1024128"/>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15" name="Shape 22"/>
          <p:cNvSpPr/>
          <p:nvPr/>
        </p:nvSpPr>
        <p:spPr>
          <a:xfrm>
            <a:off x="320039" y="2633472"/>
            <a:ext cx="1280162" cy="1024128"/>
          </a:xfrm>
          <a:prstGeom prst="rect">
            <a:avLst/>
          </a:prstGeom>
          <a:solidFill>
            <a:srgbClr val="0D9488"/>
          </a:solidFill>
          <a:ln w="12700">
            <a:solidFill>
              <a:srgbClr val="0D9488"/>
            </a:solidFill>
          </a:ln>
        </p:spPr>
        <p:txBody>
          <a:bodyPr lIns="45719" rIns="45719"/>
          <a:lstStyle/>
          <a:p>
            <a:pPr/>
          </a:p>
        </p:txBody>
      </p:sp>
      <p:sp>
        <p:nvSpPr>
          <p:cNvPr id="616" name="Text 23"/>
          <p:cNvSpPr txBox="1"/>
          <p:nvPr/>
        </p:nvSpPr>
        <p:spPr>
          <a:xfrm>
            <a:off x="365759" y="2722372"/>
            <a:ext cx="1188722"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900">
                <a:solidFill>
                  <a:srgbClr val="FFFFFF"/>
                </a:solidFill>
              </a:defRPr>
            </a:pPr>
            <a:r>
              <a:t>Phase 2</a:t>
            </a:r>
          </a:p>
          <a:p>
            <a:pPr algn="ctr">
              <a:defRPr b="1" sz="900">
                <a:solidFill>
                  <a:srgbClr val="FFFFFF"/>
                </a:solidFill>
              </a:defRPr>
            </a:pPr>
            <a:r>
              <a:t>Week 3–5</a:t>
            </a:r>
          </a:p>
        </p:txBody>
      </p:sp>
      <p:sp>
        <p:nvSpPr>
          <p:cNvPr id="617" name="Text 24"/>
          <p:cNvSpPr txBox="1"/>
          <p:nvPr/>
        </p:nvSpPr>
        <p:spPr>
          <a:xfrm>
            <a:off x="365759" y="3312899"/>
            <a:ext cx="1188722" cy="232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 DONE</a:t>
            </a:r>
          </a:p>
        </p:txBody>
      </p:sp>
      <p:sp>
        <p:nvSpPr>
          <p:cNvPr id="618" name="Text 25"/>
          <p:cNvSpPr txBox="1"/>
          <p:nvPr/>
        </p:nvSpPr>
        <p:spPr>
          <a:xfrm>
            <a:off x="1673351" y="2712720"/>
            <a:ext cx="7077458"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DAX, Power BI Dashboards, Supervised &amp; Unsupervised ML</a:t>
            </a:r>
          </a:p>
        </p:txBody>
      </p:sp>
      <p:sp>
        <p:nvSpPr>
          <p:cNvPr id="619" name="Text 26"/>
          <p:cNvSpPr txBox="1"/>
          <p:nvPr/>
        </p:nvSpPr>
        <p:spPr>
          <a:xfrm>
            <a:off x="1719071" y="2890012"/>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ML readmission model trained — Random Forest achieves 91% test accuracy</a:t>
            </a:r>
          </a:p>
        </p:txBody>
      </p:sp>
      <p:sp>
        <p:nvSpPr>
          <p:cNvPr id="620" name="Text 27"/>
          <p:cNvSpPr txBox="1"/>
          <p:nvPr/>
        </p:nvSpPr>
        <p:spPr>
          <a:xfrm>
            <a:off x="1719071" y="3072891"/>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K-Means patient stratification model deployed — 4 risk tiers identified</a:t>
            </a:r>
          </a:p>
        </p:txBody>
      </p:sp>
      <p:sp>
        <p:nvSpPr>
          <p:cNvPr id="621" name="Text 28"/>
          <p:cNvSpPr txBox="1"/>
          <p:nvPr/>
        </p:nvSpPr>
        <p:spPr>
          <a:xfrm>
            <a:off x="1719071" y="3255772"/>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Power BI v2 dashboard with DAX KPIs: adherence rate, readmission score</a:t>
            </a:r>
          </a:p>
        </p:txBody>
      </p:sp>
      <p:sp>
        <p:nvSpPr>
          <p:cNvPr id="622" name="Text 29"/>
          <p:cNvSpPr txBox="1"/>
          <p:nvPr/>
        </p:nvSpPr>
        <p:spPr>
          <a:xfrm>
            <a:off x="1719071" y="3438652"/>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Cross-validation completed; hyperparameter tuning via Grid Search CV</a:t>
            </a:r>
          </a:p>
        </p:txBody>
      </p:sp>
      <p:sp>
        <p:nvSpPr>
          <p:cNvPr id="623" name="Shape 30"/>
          <p:cNvSpPr/>
          <p:nvPr/>
        </p:nvSpPr>
        <p:spPr>
          <a:xfrm>
            <a:off x="320040" y="3749040"/>
            <a:ext cx="8503920" cy="102412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24" name="Shape 31"/>
          <p:cNvSpPr/>
          <p:nvPr/>
        </p:nvSpPr>
        <p:spPr>
          <a:xfrm>
            <a:off x="320039" y="3749040"/>
            <a:ext cx="1280162" cy="1024129"/>
          </a:xfrm>
          <a:prstGeom prst="rect">
            <a:avLst/>
          </a:prstGeom>
          <a:solidFill>
            <a:srgbClr val="7C3AED"/>
          </a:solidFill>
          <a:ln w="12700">
            <a:solidFill>
              <a:srgbClr val="7C3AED"/>
            </a:solidFill>
          </a:ln>
        </p:spPr>
        <p:txBody>
          <a:bodyPr lIns="45719" rIns="45719"/>
          <a:lstStyle/>
          <a:p>
            <a:pPr/>
          </a:p>
        </p:txBody>
      </p:sp>
      <p:sp>
        <p:nvSpPr>
          <p:cNvPr id="625" name="Text 32"/>
          <p:cNvSpPr txBox="1"/>
          <p:nvPr/>
        </p:nvSpPr>
        <p:spPr>
          <a:xfrm>
            <a:off x="365759" y="3837940"/>
            <a:ext cx="1188722"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900">
                <a:solidFill>
                  <a:srgbClr val="FFFFFF"/>
                </a:solidFill>
              </a:defRPr>
            </a:pPr>
            <a:r>
              <a:t>Phase 3</a:t>
            </a:r>
          </a:p>
          <a:p>
            <a:pPr algn="ctr">
              <a:defRPr b="1" sz="900">
                <a:solidFill>
                  <a:srgbClr val="FFFFFF"/>
                </a:solidFill>
              </a:defRPr>
            </a:pPr>
            <a:r>
              <a:t>Week 6–8</a:t>
            </a:r>
          </a:p>
        </p:txBody>
      </p:sp>
      <p:sp>
        <p:nvSpPr>
          <p:cNvPr id="626" name="Text 33"/>
          <p:cNvSpPr txBox="1"/>
          <p:nvPr/>
        </p:nvSpPr>
        <p:spPr>
          <a:xfrm>
            <a:off x="365759" y="4428467"/>
            <a:ext cx="1188722" cy="232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 DONE</a:t>
            </a:r>
          </a:p>
        </p:txBody>
      </p:sp>
      <p:sp>
        <p:nvSpPr>
          <p:cNvPr id="627" name="Text 34"/>
          <p:cNvSpPr txBox="1"/>
          <p:nvPr/>
        </p:nvSpPr>
        <p:spPr>
          <a:xfrm>
            <a:off x="1673351" y="3828288"/>
            <a:ext cx="7077458"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1E293B"/>
                </a:solidFill>
              </a:defRPr>
            </a:lvl1pPr>
          </a:lstStyle>
          <a:p>
            <a:pPr/>
            <a:r>
              <a:t>Deep Learning, Neural Networks, CNN, GitHub Copilot, Cloud Computing</a:t>
            </a:r>
          </a:p>
        </p:txBody>
      </p:sp>
      <p:sp>
        <p:nvSpPr>
          <p:cNvPr id="628" name="Text 35"/>
          <p:cNvSpPr txBox="1"/>
          <p:nvPr/>
        </p:nvSpPr>
        <p:spPr>
          <a:xfrm>
            <a:off x="1719071" y="4005579"/>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CNN model architecture designed for medical image classification</a:t>
            </a:r>
          </a:p>
        </p:txBody>
      </p:sp>
      <p:sp>
        <p:nvSpPr>
          <p:cNvPr id="629" name="Text 36"/>
          <p:cNvSpPr txBox="1"/>
          <p:nvPr/>
        </p:nvSpPr>
        <p:spPr>
          <a:xfrm>
            <a:off x="1719071" y="4188460"/>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LSTM adherence forecasting model in training (RMSE target: &lt;0.10)</a:t>
            </a:r>
          </a:p>
        </p:txBody>
      </p:sp>
      <p:sp>
        <p:nvSpPr>
          <p:cNvPr id="630" name="Text 37"/>
          <p:cNvSpPr txBox="1"/>
          <p:nvPr/>
        </p:nvSpPr>
        <p:spPr>
          <a:xfrm>
            <a:off x="1719071" y="4371340"/>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Azure ML Studio workspace configured; experiment tracking active</a:t>
            </a:r>
          </a:p>
        </p:txBody>
      </p:sp>
      <p:sp>
        <p:nvSpPr>
          <p:cNvPr id="631" name="Text 38"/>
          <p:cNvSpPr txBox="1"/>
          <p:nvPr/>
        </p:nvSpPr>
        <p:spPr>
          <a:xfrm>
            <a:off x="1719071" y="4554220"/>
            <a:ext cx="6986018"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374151"/>
                </a:solidFill>
              </a:defRPr>
            </a:lvl1pPr>
          </a:lstStyle>
          <a:p>
            <a:pPr/>
            <a:r>
              <a:t>✔  GitHub repository structured with CI/CD pipeline via GitHub Actions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633"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634"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635"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Tools &amp; Technologies Used</a:t>
            </a:r>
          </a:p>
        </p:txBody>
      </p:sp>
      <p:sp>
        <p:nvSpPr>
          <p:cNvPr id="636"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637"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638"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639"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640"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641"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15 / 20</a:t>
            </a:r>
          </a:p>
        </p:txBody>
      </p:sp>
      <p:sp>
        <p:nvSpPr>
          <p:cNvPr id="642"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Complete Technology Ecosystem</a:t>
            </a:r>
          </a:p>
        </p:txBody>
      </p:sp>
      <p:sp>
        <p:nvSpPr>
          <p:cNvPr id="643" name="Shape 10"/>
          <p:cNvSpPr/>
          <p:nvPr/>
        </p:nvSpPr>
        <p:spPr>
          <a:xfrm>
            <a:off x="320039" y="1078991"/>
            <a:ext cx="2816354" cy="118872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44" name="Shape 11"/>
          <p:cNvSpPr/>
          <p:nvPr/>
        </p:nvSpPr>
        <p:spPr>
          <a:xfrm>
            <a:off x="320039" y="1078991"/>
            <a:ext cx="2816354" cy="274321"/>
          </a:xfrm>
          <a:prstGeom prst="rect">
            <a:avLst/>
          </a:prstGeom>
          <a:solidFill>
            <a:srgbClr val="1D4ED8"/>
          </a:solidFill>
          <a:ln w="12700">
            <a:solidFill>
              <a:srgbClr val="1D4ED8"/>
            </a:solidFill>
          </a:ln>
        </p:spPr>
        <p:txBody>
          <a:bodyPr lIns="45719" rIns="45719"/>
          <a:lstStyle/>
          <a:p>
            <a:pPr/>
          </a:p>
        </p:txBody>
      </p:sp>
      <p:sp>
        <p:nvSpPr>
          <p:cNvPr id="645" name="Text 12"/>
          <p:cNvSpPr txBox="1"/>
          <p:nvPr/>
        </p:nvSpPr>
        <p:spPr>
          <a:xfrm>
            <a:off x="393191" y="1155445"/>
            <a:ext cx="267005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Microsoft Power BI</a:t>
            </a:r>
          </a:p>
        </p:txBody>
      </p:sp>
      <p:sp>
        <p:nvSpPr>
          <p:cNvPr id="646" name="Text 13"/>
          <p:cNvSpPr txBox="1"/>
          <p:nvPr/>
        </p:nvSpPr>
        <p:spPr>
          <a:xfrm>
            <a:off x="438911" y="1389888"/>
            <a:ext cx="2578610"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Interactive dashboards &amp; clinical KPI reporting. DAX-powered measures for medication adherence, readmission rates, and recovery time. Role-level security restricts data access by user role.</a:t>
            </a:r>
          </a:p>
        </p:txBody>
      </p:sp>
      <p:sp>
        <p:nvSpPr>
          <p:cNvPr id="647" name="Shape 14"/>
          <p:cNvSpPr/>
          <p:nvPr/>
        </p:nvSpPr>
        <p:spPr>
          <a:xfrm>
            <a:off x="3264408" y="1078991"/>
            <a:ext cx="2816353" cy="118872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48" name="Shape 15"/>
          <p:cNvSpPr/>
          <p:nvPr/>
        </p:nvSpPr>
        <p:spPr>
          <a:xfrm>
            <a:off x="3264408" y="1078991"/>
            <a:ext cx="2816353" cy="274321"/>
          </a:xfrm>
          <a:prstGeom prst="rect">
            <a:avLst/>
          </a:prstGeom>
          <a:solidFill>
            <a:srgbClr val="0D9488"/>
          </a:solidFill>
          <a:ln w="12700">
            <a:solidFill>
              <a:srgbClr val="0D9488"/>
            </a:solidFill>
          </a:ln>
        </p:spPr>
        <p:txBody>
          <a:bodyPr lIns="45719" rIns="45719"/>
          <a:lstStyle/>
          <a:p>
            <a:pPr/>
          </a:p>
        </p:txBody>
      </p:sp>
      <p:sp>
        <p:nvSpPr>
          <p:cNvPr id="649" name="Text 16"/>
          <p:cNvSpPr txBox="1"/>
          <p:nvPr/>
        </p:nvSpPr>
        <p:spPr>
          <a:xfrm>
            <a:off x="3337559" y="1155445"/>
            <a:ext cx="267004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Python (Pandas / Scikit-learn)</a:t>
            </a:r>
          </a:p>
        </p:txBody>
      </p:sp>
      <p:sp>
        <p:nvSpPr>
          <p:cNvPr id="650" name="Text 17"/>
          <p:cNvSpPr txBox="1"/>
          <p:nvPr/>
        </p:nvSpPr>
        <p:spPr>
          <a:xfrm>
            <a:off x="3383279" y="1389888"/>
            <a:ext cx="257861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Core data processing, EDA, and ML model development. Key libs: Pandas, NumPy, Matplotlib, Seaborn, Scikit-learn, Imbalanced-learn (SMOTE), SHAP for model explainability.</a:t>
            </a:r>
          </a:p>
        </p:txBody>
      </p:sp>
      <p:sp>
        <p:nvSpPr>
          <p:cNvPr id="651" name="Shape 18"/>
          <p:cNvSpPr/>
          <p:nvPr/>
        </p:nvSpPr>
        <p:spPr>
          <a:xfrm>
            <a:off x="6208776" y="1078991"/>
            <a:ext cx="2816353" cy="118872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52" name="Shape 19"/>
          <p:cNvSpPr/>
          <p:nvPr/>
        </p:nvSpPr>
        <p:spPr>
          <a:xfrm>
            <a:off x="6208776" y="1078991"/>
            <a:ext cx="2816353" cy="274321"/>
          </a:xfrm>
          <a:prstGeom prst="rect">
            <a:avLst/>
          </a:prstGeom>
          <a:solidFill>
            <a:srgbClr val="1E8449"/>
          </a:solidFill>
          <a:ln w="12700">
            <a:solidFill>
              <a:srgbClr val="1E8449"/>
            </a:solidFill>
          </a:ln>
        </p:spPr>
        <p:txBody>
          <a:bodyPr lIns="45719" rIns="45719"/>
          <a:lstStyle/>
          <a:p>
            <a:pPr/>
          </a:p>
        </p:txBody>
      </p:sp>
      <p:sp>
        <p:nvSpPr>
          <p:cNvPr id="653" name="Text 20"/>
          <p:cNvSpPr txBox="1"/>
          <p:nvPr/>
        </p:nvSpPr>
        <p:spPr>
          <a:xfrm>
            <a:off x="6281928" y="1155445"/>
            <a:ext cx="267004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Microsoft Azure ML</a:t>
            </a:r>
          </a:p>
        </p:txBody>
      </p:sp>
      <p:sp>
        <p:nvSpPr>
          <p:cNvPr id="654" name="Text 21"/>
          <p:cNvSpPr txBox="1"/>
          <p:nvPr/>
        </p:nvSpPr>
        <p:spPr>
          <a:xfrm>
            <a:off x="6327648" y="1389888"/>
            <a:ext cx="2578609"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Cloud AI model hosting, experiment tracking, AutoML, model registry, REST endpoint deployment, and batch scoring pipelines. Azure Blob Storage for dataset versioning.</a:t>
            </a:r>
          </a:p>
        </p:txBody>
      </p:sp>
      <p:sp>
        <p:nvSpPr>
          <p:cNvPr id="655" name="Shape 22"/>
          <p:cNvSpPr/>
          <p:nvPr/>
        </p:nvSpPr>
        <p:spPr>
          <a:xfrm>
            <a:off x="320039" y="2359151"/>
            <a:ext cx="2816354" cy="118872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56" name="Shape 23"/>
          <p:cNvSpPr/>
          <p:nvPr/>
        </p:nvSpPr>
        <p:spPr>
          <a:xfrm>
            <a:off x="320039" y="2359151"/>
            <a:ext cx="2816354" cy="274321"/>
          </a:xfrm>
          <a:prstGeom prst="rect">
            <a:avLst/>
          </a:prstGeom>
          <a:solidFill>
            <a:srgbClr val="7C3AED"/>
          </a:solidFill>
          <a:ln w="12700">
            <a:solidFill>
              <a:srgbClr val="7C3AED"/>
            </a:solidFill>
          </a:ln>
        </p:spPr>
        <p:txBody>
          <a:bodyPr lIns="45719" rIns="45719"/>
          <a:lstStyle/>
          <a:p>
            <a:pPr/>
          </a:p>
        </p:txBody>
      </p:sp>
      <p:sp>
        <p:nvSpPr>
          <p:cNvPr id="657" name="Text 24"/>
          <p:cNvSpPr txBox="1"/>
          <p:nvPr/>
        </p:nvSpPr>
        <p:spPr>
          <a:xfrm>
            <a:off x="393191" y="2435605"/>
            <a:ext cx="267005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HL7 FHIR API</a:t>
            </a:r>
          </a:p>
        </p:txBody>
      </p:sp>
      <p:sp>
        <p:nvSpPr>
          <p:cNvPr id="658" name="Text 25"/>
          <p:cNvSpPr txBox="1"/>
          <p:nvPr/>
        </p:nvSpPr>
        <p:spPr>
          <a:xfrm>
            <a:off x="438911" y="2670048"/>
            <a:ext cx="257861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Standardized EHR data exchange enabling interoperability across different hospital systems. Secure, unified access to patient demographics, medication lists, and lab results.</a:t>
            </a:r>
          </a:p>
        </p:txBody>
      </p:sp>
      <p:sp>
        <p:nvSpPr>
          <p:cNvPr id="659" name="Shape 26"/>
          <p:cNvSpPr/>
          <p:nvPr/>
        </p:nvSpPr>
        <p:spPr>
          <a:xfrm>
            <a:off x="3264408" y="2359151"/>
            <a:ext cx="2816353" cy="118872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60" name="Shape 27"/>
          <p:cNvSpPr/>
          <p:nvPr/>
        </p:nvSpPr>
        <p:spPr>
          <a:xfrm>
            <a:off x="3264408" y="2359151"/>
            <a:ext cx="2816353" cy="274321"/>
          </a:xfrm>
          <a:prstGeom prst="rect">
            <a:avLst/>
          </a:prstGeom>
          <a:solidFill>
            <a:srgbClr val="D97706"/>
          </a:solidFill>
          <a:ln w="12700">
            <a:solidFill>
              <a:srgbClr val="D97706"/>
            </a:solidFill>
          </a:ln>
        </p:spPr>
        <p:txBody>
          <a:bodyPr lIns="45719" rIns="45719"/>
          <a:lstStyle/>
          <a:p>
            <a:pPr/>
          </a:p>
        </p:txBody>
      </p:sp>
      <p:sp>
        <p:nvSpPr>
          <p:cNvPr id="661" name="Text 28"/>
          <p:cNvSpPr txBox="1"/>
          <p:nvPr/>
        </p:nvSpPr>
        <p:spPr>
          <a:xfrm>
            <a:off x="3337559" y="2435605"/>
            <a:ext cx="267004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TensorFlow &amp; Keras</a:t>
            </a:r>
          </a:p>
        </p:txBody>
      </p:sp>
      <p:sp>
        <p:nvSpPr>
          <p:cNvPr id="662" name="Text 29"/>
          <p:cNvSpPr txBox="1"/>
          <p:nvPr/>
        </p:nvSpPr>
        <p:spPr>
          <a:xfrm>
            <a:off x="3383279" y="2670048"/>
            <a:ext cx="257861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Deep learning for CNN medical image classification. Transfer learning with VGG16 pre-trained weights. Used for X-ray and MRI diagnostic support in the healthcare analytics platform.</a:t>
            </a:r>
          </a:p>
        </p:txBody>
      </p:sp>
      <p:sp>
        <p:nvSpPr>
          <p:cNvPr id="663" name="Shape 30"/>
          <p:cNvSpPr/>
          <p:nvPr/>
        </p:nvSpPr>
        <p:spPr>
          <a:xfrm>
            <a:off x="6208776" y="2359151"/>
            <a:ext cx="2816353" cy="118872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64" name="Shape 31"/>
          <p:cNvSpPr/>
          <p:nvPr/>
        </p:nvSpPr>
        <p:spPr>
          <a:xfrm>
            <a:off x="6208776" y="2359151"/>
            <a:ext cx="2816353" cy="274321"/>
          </a:xfrm>
          <a:prstGeom prst="rect">
            <a:avLst/>
          </a:prstGeom>
          <a:solidFill>
            <a:srgbClr val="DC2626"/>
          </a:solidFill>
          <a:ln w="12700">
            <a:solidFill>
              <a:srgbClr val="DC2626"/>
            </a:solidFill>
          </a:ln>
        </p:spPr>
        <p:txBody>
          <a:bodyPr lIns="45719" rIns="45719"/>
          <a:lstStyle/>
          <a:p>
            <a:pPr/>
          </a:p>
        </p:txBody>
      </p:sp>
      <p:sp>
        <p:nvSpPr>
          <p:cNvPr id="665" name="Text 32"/>
          <p:cNvSpPr txBox="1"/>
          <p:nvPr/>
        </p:nvSpPr>
        <p:spPr>
          <a:xfrm>
            <a:off x="6281928" y="2435605"/>
            <a:ext cx="267004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Power Query &amp; DAX</a:t>
            </a:r>
          </a:p>
        </p:txBody>
      </p:sp>
      <p:sp>
        <p:nvSpPr>
          <p:cNvPr id="666" name="Text 33"/>
          <p:cNvSpPr txBox="1"/>
          <p:nvPr/>
        </p:nvSpPr>
        <p:spPr>
          <a:xfrm>
            <a:off x="6327648" y="2670048"/>
            <a:ext cx="2578609"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ETL data transformation using M-language. DAX for complex calculated KPI columns, time-intelligence measures, running totals, and patient cohort analysis in Power BI.</a:t>
            </a:r>
          </a:p>
        </p:txBody>
      </p:sp>
      <p:sp>
        <p:nvSpPr>
          <p:cNvPr id="667" name="Shape 34"/>
          <p:cNvSpPr/>
          <p:nvPr/>
        </p:nvSpPr>
        <p:spPr>
          <a:xfrm>
            <a:off x="320039" y="3639311"/>
            <a:ext cx="2816354" cy="118872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68" name="Shape 35"/>
          <p:cNvSpPr/>
          <p:nvPr/>
        </p:nvSpPr>
        <p:spPr>
          <a:xfrm>
            <a:off x="320039" y="3639311"/>
            <a:ext cx="2816354" cy="274321"/>
          </a:xfrm>
          <a:prstGeom prst="rect">
            <a:avLst/>
          </a:prstGeom>
          <a:solidFill>
            <a:srgbClr val="1D4ED8"/>
          </a:solidFill>
          <a:ln w="12700">
            <a:solidFill>
              <a:srgbClr val="1D4ED8"/>
            </a:solidFill>
          </a:ln>
        </p:spPr>
        <p:txBody>
          <a:bodyPr lIns="45719" rIns="45719"/>
          <a:lstStyle/>
          <a:p>
            <a:pPr/>
          </a:p>
        </p:txBody>
      </p:sp>
      <p:sp>
        <p:nvSpPr>
          <p:cNvPr id="669" name="Text 36"/>
          <p:cNvSpPr txBox="1"/>
          <p:nvPr/>
        </p:nvSpPr>
        <p:spPr>
          <a:xfrm>
            <a:off x="393191" y="3715766"/>
            <a:ext cx="267005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VS Code &amp; Anaconda</a:t>
            </a:r>
          </a:p>
        </p:txBody>
      </p:sp>
      <p:sp>
        <p:nvSpPr>
          <p:cNvPr id="670" name="Text 37"/>
          <p:cNvSpPr txBox="1"/>
          <p:nvPr/>
        </p:nvSpPr>
        <p:spPr>
          <a:xfrm>
            <a:off x="438911" y="3950208"/>
            <a:ext cx="257861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VS Code as primary IDE with GitHub Copilot AI coding assistant. Anaconda for isolated Conda virtual environments, package management, and Jupyter Notebook EDA support.</a:t>
            </a:r>
          </a:p>
        </p:txBody>
      </p:sp>
      <p:sp>
        <p:nvSpPr>
          <p:cNvPr id="671" name="Shape 38"/>
          <p:cNvSpPr/>
          <p:nvPr/>
        </p:nvSpPr>
        <p:spPr>
          <a:xfrm>
            <a:off x="3264408" y="3639311"/>
            <a:ext cx="2816353" cy="118872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72" name="Shape 39"/>
          <p:cNvSpPr/>
          <p:nvPr/>
        </p:nvSpPr>
        <p:spPr>
          <a:xfrm>
            <a:off x="3264408" y="3639311"/>
            <a:ext cx="2816353" cy="274321"/>
          </a:xfrm>
          <a:prstGeom prst="rect">
            <a:avLst/>
          </a:prstGeom>
          <a:solidFill>
            <a:srgbClr val="0D9488"/>
          </a:solidFill>
          <a:ln w="12700">
            <a:solidFill>
              <a:srgbClr val="0D9488"/>
            </a:solidFill>
          </a:ln>
        </p:spPr>
        <p:txBody>
          <a:bodyPr lIns="45719" rIns="45719"/>
          <a:lstStyle/>
          <a:p>
            <a:pPr/>
          </a:p>
        </p:txBody>
      </p:sp>
      <p:sp>
        <p:nvSpPr>
          <p:cNvPr id="673" name="Text 40"/>
          <p:cNvSpPr txBox="1"/>
          <p:nvPr/>
        </p:nvSpPr>
        <p:spPr>
          <a:xfrm>
            <a:off x="3337559" y="3715766"/>
            <a:ext cx="267004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Azure IoT Hub</a:t>
            </a:r>
          </a:p>
        </p:txBody>
      </p:sp>
      <p:sp>
        <p:nvSpPr>
          <p:cNvPr id="674" name="Text 41"/>
          <p:cNvSpPr txBox="1"/>
          <p:nvPr/>
        </p:nvSpPr>
        <p:spPr>
          <a:xfrm>
            <a:off x="3383279" y="3950208"/>
            <a:ext cx="2578610"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Bi-directional communication between IoT wearable devices and Azure cloud. Processes 50,000+ patient vital data points per hour with real-time alert routing via Stream Analytics.</a:t>
            </a:r>
          </a:p>
        </p:txBody>
      </p:sp>
      <p:sp>
        <p:nvSpPr>
          <p:cNvPr id="675" name="Shape 42"/>
          <p:cNvSpPr/>
          <p:nvPr/>
        </p:nvSpPr>
        <p:spPr>
          <a:xfrm>
            <a:off x="6208776" y="3639311"/>
            <a:ext cx="2816353" cy="118872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76" name="Shape 43"/>
          <p:cNvSpPr/>
          <p:nvPr/>
        </p:nvSpPr>
        <p:spPr>
          <a:xfrm>
            <a:off x="6208776" y="3639311"/>
            <a:ext cx="2816353" cy="274321"/>
          </a:xfrm>
          <a:prstGeom prst="rect">
            <a:avLst/>
          </a:prstGeom>
          <a:solidFill>
            <a:srgbClr val="1E8449"/>
          </a:solidFill>
          <a:ln w="12700">
            <a:solidFill>
              <a:srgbClr val="1E8449"/>
            </a:solidFill>
          </a:ln>
        </p:spPr>
        <p:txBody>
          <a:bodyPr lIns="45719" rIns="45719"/>
          <a:lstStyle/>
          <a:p>
            <a:pPr/>
          </a:p>
        </p:txBody>
      </p:sp>
      <p:sp>
        <p:nvSpPr>
          <p:cNvPr id="677" name="Text 44"/>
          <p:cNvSpPr txBox="1"/>
          <p:nvPr/>
        </p:nvSpPr>
        <p:spPr>
          <a:xfrm>
            <a:off x="6281928" y="3715766"/>
            <a:ext cx="267004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GitHub &amp; CI/CD</a:t>
            </a:r>
          </a:p>
        </p:txBody>
      </p:sp>
      <p:sp>
        <p:nvSpPr>
          <p:cNvPr id="678" name="Text 45"/>
          <p:cNvSpPr txBox="1"/>
          <p:nvPr/>
        </p:nvSpPr>
        <p:spPr>
          <a:xfrm>
            <a:off x="6327648" y="3950208"/>
            <a:ext cx="2578609"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Full project source code on GitHub with clean commit history, branching strategy, and documentation. GitHub Actions automates model retraining pipelines and Azure deployments.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680"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681"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682"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Key Features &amp; Functionalities</a:t>
            </a:r>
          </a:p>
        </p:txBody>
      </p:sp>
      <p:sp>
        <p:nvSpPr>
          <p:cNvPr id="683"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684"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685"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686"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687"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688"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16 / 20</a:t>
            </a:r>
          </a:p>
        </p:txBody>
      </p:sp>
      <p:sp>
        <p:nvSpPr>
          <p:cNvPr id="689"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6 Core Platform Capabilities</a:t>
            </a:r>
          </a:p>
        </p:txBody>
      </p:sp>
      <p:sp>
        <p:nvSpPr>
          <p:cNvPr id="690" name="Shape 10"/>
          <p:cNvSpPr/>
          <p:nvPr/>
        </p:nvSpPr>
        <p:spPr>
          <a:xfrm>
            <a:off x="320039" y="1078991"/>
            <a:ext cx="4224530" cy="120700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91" name="Shape 11"/>
          <p:cNvSpPr/>
          <p:nvPr/>
        </p:nvSpPr>
        <p:spPr>
          <a:xfrm>
            <a:off x="320039" y="1078991"/>
            <a:ext cx="4224530" cy="274321"/>
          </a:xfrm>
          <a:prstGeom prst="rect">
            <a:avLst/>
          </a:prstGeom>
          <a:solidFill>
            <a:srgbClr val="1D4ED8"/>
          </a:solidFill>
          <a:ln w="12700">
            <a:solidFill>
              <a:srgbClr val="1D4ED8"/>
            </a:solidFill>
          </a:ln>
        </p:spPr>
        <p:txBody>
          <a:bodyPr lIns="45719" rIns="45719"/>
          <a:lstStyle/>
          <a:p>
            <a:pPr/>
          </a:p>
        </p:txBody>
      </p:sp>
      <p:sp>
        <p:nvSpPr>
          <p:cNvPr id="692" name="Text 12"/>
          <p:cNvSpPr txBox="1"/>
          <p:nvPr/>
        </p:nvSpPr>
        <p:spPr>
          <a:xfrm>
            <a:off x="393192" y="1155445"/>
            <a:ext cx="4078224"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Real-Time Vitals Monitoring</a:t>
            </a:r>
          </a:p>
        </p:txBody>
      </p:sp>
      <p:sp>
        <p:nvSpPr>
          <p:cNvPr id="693" name="Text 13"/>
          <p:cNvSpPr txBox="1"/>
          <p:nvPr/>
        </p:nvSpPr>
        <p:spPr>
          <a:xfrm>
            <a:off x="457200" y="1389888"/>
            <a:ext cx="3968496"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IoT dashboards tracking heart rate, blood pressure, SpO2, and temperature for ICU and chronic care patients. Azure IoT Hub processes 50,000+ vital data points per hour. Instant clinical alerts fire within 90 seconds of threshold breach — replacing the previous 8-minute manual response time.</a:t>
            </a:r>
          </a:p>
        </p:txBody>
      </p:sp>
      <p:sp>
        <p:nvSpPr>
          <p:cNvPr id="694" name="Shape 14"/>
          <p:cNvSpPr/>
          <p:nvPr/>
        </p:nvSpPr>
        <p:spPr>
          <a:xfrm>
            <a:off x="4754879" y="1078991"/>
            <a:ext cx="4224530" cy="120700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95" name="Shape 15"/>
          <p:cNvSpPr/>
          <p:nvPr/>
        </p:nvSpPr>
        <p:spPr>
          <a:xfrm>
            <a:off x="4754879" y="1078991"/>
            <a:ext cx="4224530" cy="274321"/>
          </a:xfrm>
          <a:prstGeom prst="rect">
            <a:avLst/>
          </a:prstGeom>
          <a:solidFill>
            <a:srgbClr val="0D9488"/>
          </a:solidFill>
          <a:ln w="12700">
            <a:solidFill>
              <a:srgbClr val="0D9488"/>
            </a:solidFill>
          </a:ln>
        </p:spPr>
        <p:txBody>
          <a:bodyPr lIns="45719" rIns="45719"/>
          <a:lstStyle/>
          <a:p>
            <a:pPr/>
          </a:p>
        </p:txBody>
      </p:sp>
      <p:sp>
        <p:nvSpPr>
          <p:cNvPr id="696" name="Text 16"/>
          <p:cNvSpPr txBox="1"/>
          <p:nvPr/>
        </p:nvSpPr>
        <p:spPr>
          <a:xfrm>
            <a:off x="4828032" y="1155445"/>
            <a:ext cx="4078224"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Smart Medication Scheduler</a:t>
            </a:r>
          </a:p>
        </p:txBody>
      </p:sp>
      <p:sp>
        <p:nvSpPr>
          <p:cNvPr id="697" name="Text 17"/>
          <p:cNvSpPr txBox="1"/>
          <p:nvPr/>
        </p:nvSpPr>
        <p:spPr>
          <a:xfrm>
            <a:off x="4892040" y="1389888"/>
            <a:ext cx="3968496"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AI-driven dosage reminder system with multi-drug interaction checks performed against a curated clinical database. Patient adherence scores tracked via LSTM model. Automated pharmacy refill notifications sent 5 days before expected stock depletion. Reduces missed doses by 40% in pilot testing.</a:t>
            </a:r>
          </a:p>
        </p:txBody>
      </p:sp>
      <p:sp>
        <p:nvSpPr>
          <p:cNvPr id="698" name="Shape 18"/>
          <p:cNvSpPr/>
          <p:nvPr/>
        </p:nvSpPr>
        <p:spPr>
          <a:xfrm>
            <a:off x="320039" y="2377439"/>
            <a:ext cx="4224530" cy="120700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699" name="Shape 19"/>
          <p:cNvSpPr/>
          <p:nvPr/>
        </p:nvSpPr>
        <p:spPr>
          <a:xfrm>
            <a:off x="320039" y="2377439"/>
            <a:ext cx="4224530" cy="274321"/>
          </a:xfrm>
          <a:prstGeom prst="rect">
            <a:avLst/>
          </a:prstGeom>
          <a:solidFill>
            <a:srgbClr val="1E8449"/>
          </a:solidFill>
          <a:ln w="12700">
            <a:solidFill>
              <a:srgbClr val="1E8449"/>
            </a:solidFill>
          </a:ln>
        </p:spPr>
        <p:txBody>
          <a:bodyPr lIns="45719" rIns="45719"/>
          <a:lstStyle/>
          <a:p>
            <a:pPr/>
          </a:p>
        </p:txBody>
      </p:sp>
      <p:sp>
        <p:nvSpPr>
          <p:cNvPr id="700" name="Text 20"/>
          <p:cNvSpPr txBox="1"/>
          <p:nvPr/>
        </p:nvSpPr>
        <p:spPr>
          <a:xfrm>
            <a:off x="393192" y="2453894"/>
            <a:ext cx="4078224"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Predictive Health Analytics</a:t>
            </a:r>
          </a:p>
        </p:txBody>
      </p:sp>
      <p:sp>
        <p:nvSpPr>
          <p:cNvPr id="701" name="Text 21"/>
          <p:cNvSpPr txBox="1"/>
          <p:nvPr/>
        </p:nvSpPr>
        <p:spPr>
          <a:xfrm>
            <a:off x="457200" y="2688335"/>
            <a:ext cx="3968496"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Random Forest model (91% accuracy) predicts 30-day hospital readmission risk for all discharged patients. K-Means clusters patients into Low/Moderate/High/Critical care tiers. LSTM forecasts medication adherence trends 7 days ahead enabling proactive clinical intervention before non-adherence occurs.</a:t>
            </a:r>
          </a:p>
        </p:txBody>
      </p:sp>
      <p:sp>
        <p:nvSpPr>
          <p:cNvPr id="702" name="Shape 22"/>
          <p:cNvSpPr/>
          <p:nvPr/>
        </p:nvSpPr>
        <p:spPr>
          <a:xfrm>
            <a:off x="4754879" y="2377439"/>
            <a:ext cx="4224530" cy="120700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03" name="Shape 23"/>
          <p:cNvSpPr/>
          <p:nvPr/>
        </p:nvSpPr>
        <p:spPr>
          <a:xfrm>
            <a:off x="4754879" y="2377439"/>
            <a:ext cx="4224530" cy="274321"/>
          </a:xfrm>
          <a:prstGeom prst="rect">
            <a:avLst/>
          </a:prstGeom>
          <a:solidFill>
            <a:srgbClr val="7C3AED"/>
          </a:solidFill>
          <a:ln w="12700">
            <a:solidFill>
              <a:srgbClr val="7C3AED"/>
            </a:solidFill>
          </a:ln>
        </p:spPr>
        <p:txBody>
          <a:bodyPr lIns="45719" rIns="45719"/>
          <a:lstStyle/>
          <a:p>
            <a:pPr/>
          </a:p>
        </p:txBody>
      </p:sp>
      <p:sp>
        <p:nvSpPr>
          <p:cNvPr id="704" name="Text 24"/>
          <p:cNvSpPr txBox="1"/>
          <p:nvPr/>
        </p:nvSpPr>
        <p:spPr>
          <a:xfrm>
            <a:off x="4828032" y="2453894"/>
            <a:ext cx="4078224"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EHR Integration &amp; Unification</a:t>
            </a:r>
          </a:p>
        </p:txBody>
      </p:sp>
      <p:sp>
        <p:nvSpPr>
          <p:cNvPr id="705" name="Text 25"/>
          <p:cNvSpPr txBox="1"/>
          <p:nvPr/>
        </p:nvSpPr>
        <p:spPr>
          <a:xfrm>
            <a:off x="4892040" y="2688335"/>
            <a:ext cx="3968496"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HL7 FHIR API aggregates patient records from multiple hospitals, clinics, and pharmacies into one longitudinal timeline view. Eliminates data silos, removes duplicate diagnostic orders, and enables evidence-based care continuity across all care providers in the hospital network.</a:t>
            </a:r>
          </a:p>
        </p:txBody>
      </p:sp>
      <p:sp>
        <p:nvSpPr>
          <p:cNvPr id="706" name="Shape 26"/>
          <p:cNvSpPr/>
          <p:nvPr/>
        </p:nvSpPr>
        <p:spPr>
          <a:xfrm>
            <a:off x="320039" y="3675888"/>
            <a:ext cx="4224530" cy="120700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07" name="Shape 27"/>
          <p:cNvSpPr/>
          <p:nvPr/>
        </p:nvSpPr>
        <p:spPr>
          <a:xfrm>
            <a:off x="320039" y="3675888"/>
            <a:ext cx="4224530" cy="274321"/>
          </a:xfrm>
          <a:prstGeom prst="rect">
            <a:avLst/>
          </a:prstGeom>
          <a:solidFill>
            <a:srgbClr val="D97706"/>
          </a:solidFill>
          <a:ln w="12700">
            <a:solidFill>
              <a:srgbClr val="D97706"/>
            </a:solidFill>
          </a:ln>
        </p:spPr>
        <p:txBody>
          <a:bodyPr lIns="45719" rIns="45719"/>
          <a:lstStyle/>
          <a:p>
            <a:pPr/>
          </a:p>
        </p:txBody>
      </p:sp>
      <p:sp>
        <p:nvSpPr>
          <p:cNvPr id="708" name="Text 28"/>
          <p:cNvSpPr txBox="1"/>
          <p:nvPr/>
        </p:nvSpPr>
        <p:spPr>
          <a:xfrm>
            <a:off x="393192" y="3752342"/>
            <a:ext cx="4078224"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Clinical Decision Support Alerts</a:t>
            </a:r>
          </a:p>
        </p:txBody>
      </p:sp>
      <p:sp>
        <p:nvSpPr>
          <p:cNvPr id="709" name="Text 29"/>
          <p:cNvSpPr txBox="1"/>
          <p:nvPr/>
        </p:nvSpPr>
        <p:spPr>
          <a:xfrm>
            <a:off x="457200" y="3986784"/>
            <a:ext cx="3968496"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Evidence-based real-time alerts for critical lab values (eGFR&lt;30, HbA1c&gt;10), known drug allergies, dangerous drug-drug interactions, and abnormal medication dosing orders. AI-driven detection engine flags 97% of high-risk prescriptions before dispensing occurs.</a:t>
            </a:r>
          </a:p>
        </p:txBody>
      </p:sp>
      <p:sp>
        <p:nvSpPr>
          <p:cNvPr id="710" name="Shape 30"/>
          <p:cNvSpPr/>
          <p:nvPr/>
        </p:nvSpPr>
        <p:spPr>
          <a:xfrm>
            <a:off x="4754879" y="3675888"/>
            <a:ext cx="4224530" cy="1207009"/>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11" name="Shape 31"/>
          <p:cNvSpPr/>
          <p:nvPr/>
        </p:nvSpPr>
        <p:spPr>
          <a:xfrm>
            <a:off x="4754879" y="3675888"/>
            <a:ext cx="4224530" cy="274321"/>
          </a:xfrm>
          <a:prstGeom prst="rect">
            <a:avLst/>
          </a:prstGeom>
          <a:solidFill>
            <a:srgbClr val="DC2626"/>
          </a:solidFill>
          <a:ln w="12700">
            <a:solidFill>
              <a:srgbClr val="DC2626"/>
            </a:solidFill>
          </a:ln>
        </p:spPr>
        <p:txBody>
          <a:bodyPr lIns="45719" rIns="45719"/>
          <a:lstStyle/>
          <a:p>
            <a:pPr/>
          </a:p>
        </p:txBody>
      </p:sp>
      <p:sp>
        <p:nvSpPr>
          <p:cNvPr id="712" name="Text 32"/>
          <p:cNvSpPr txBox="1"/>
          <p:nvPr/>
        </p:nvSpPr>
        <p:spPr>
          <a:xfrm>
            <a:off x="4828032" y="3752342"/>
            <a:ext cx="4078224"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Security &amp; HIPAA Compliance</a:t>
            </a:r>
          </a:p>
        </p:txBody>
      </p:sp>
      <p:sp>
        <p:nvSpPr>
          <p:cNvPr id="713" name="Text 33"/>
          <p:cNvSpPr txBox="1"/>
          <p:nvPr/>
        </p:nvSpPr>
        <p:spPr>
          <a:xfrm>
            <a:off x="4892040" y="3986784"/>
            <a:ext cx="3968496"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Full HIPAA regulatory compliance with Azure Role-Based Access Control (RBAC), AES-256 end-to-end encryption of all patient data in transit and at rest, comprehensive audit trail logging of all data access events, and automated security compliance reporting for hospital administration.</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715"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716"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717"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Algorithm &amp; Deployment</a:t>
            </a:r>
          </a:p>
        </p:txBody>
      </p:sp>
      <p:sp>
        <p:nvSpPr>
          <p:cNvPr id="718"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719"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720"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721"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722"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723"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17 / 20</a:t>
            </a:r>
          </a:p>
        </p:txBody>
      </p:sp>
      <p:sp>
        <p:nvSpPr>
          <p:cNvPr id="724"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Machine Learning Models &amp; Azure Deployment</a:t>
            </a:r>
          </a:p>
        </p:txBody>
      </p:sp>
      <p:sp>
        <p:nvSpPr>
          <p:cNvPr id="725" name="Text 10"/>
          <p:cNvSpPr txBox="1"/>
          <p:nvPr/>
        </p:nvSpPr>
        <p:spPr>
          <a:xfrm>
            <a:off x="365760" y="1073149"/>
            <a:ext cx="841248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900">
                <a:solidFill>
                  <a:srgbClr val="374151"/>
                </a:solidFill>
              </a:defRPr>
            </a:lvl1pPr>
          </a:lstStyle>
          <a:p>
            <a:pPr/>
            <a:r>
              <a:t>Three complementary ML algorithms deployed on Azure ML — each targeting a different clinical prediction task.</a:t>
            </a:r>
          </a:p>
        </p:txBody>
      </p:sp>
      <p:sp>
        <p:nvSpPr>
          <p:cNvPr id="726" name="Shape 11"/>
          <p:cNvSpPr/>
          <p:nvPr/>
        </p:nvSpPr>
        <p:spPr>
          <a:xfrm>
            <a:off x="320040" y="1353311"/>
            <a:ext cx="8503920" cy="274321"/>
          </a:xfrm>
          <a:prstGeom prst="rect">
            <a:avLst/>
          </a:prstGeom>
          <a:solidFill>
            <a:srgbClr val="1D4ED8"/>
          </a:solidFill>
          <a:ln w="12700">
            <a:solidFill>
              <a:srgbClr val="1D4ED8"/>
            </a:solidFill>
          </a:ln>
        </p:spPr>
        <p:txBody>
          <a:bodyPr lIns="45719" rIns="45719"/>
          <a:lstStyle/>
          <a:p>
            <a:pPr/>
          </a:p>
        </p:txBody>
      </p:sp>
      <p:sp>
        <p:nvSpPr>
          <p:cNvPr id="727" name="Text 12"/>
          <p:cNvSpPr txBox="1"/>
          <p:nvPr/>
        </p:nvSpPr>
        <p:spPr>
          <a:xfrm>
            <a:off x="411479" y="1420622"/>
            <a:ext cx="832104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Random Forest Classifier — Readmission Prediction</a:t>
            </a:r>
          </a:p>
        </p:txBody>
      </p:sp>
      <p:sp>
        <p:nvSpPr>
          <p:cNvPr id="728" name="Shape 13"/>
          <p:cNvSpPr/>
          <p:nvPr/>
        </p:nvSpPr>
        <p:spPr>
          <a:xfrm>
            <a:off x="320039" y="1627632"/>
            <a:ext cx="2103122" cy="14630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29" name="Shape 14"/>
          <p:cNvSpPr/>
          <p:nvPr/>
        </p:nvSpPr>
        <p:spPr>
          <a:xfrm>
            <a:off x="320039" y="1627632"/>
            <a:ext cx="2103122" cy="219457"/>
          </a:xfrm>
          <a:prstGeom prst="rect">
            <a:avLst/>
          </a:prstGeom>
          <a:solidFill>
            <a:srgbClr val="F0F4FF"/>
          </a:solidFill>
          <a:ln w="12700">
            <a:solidFill>
              <a:srgbClr val="E2E8F0"/>
            </a:solidFill>
          </a:ln>
        </p:spPr>
        <p:txBody>
          <a:bodyPr lIns="45719" rIns="45719"/>
          <a:lstStyle/>
          <a:p>
            <a:pPr/>
          </a:p>
        </p:txBody>
      </p:sp>
      <p:sp>
        <p:nvSpPr>
          <p:cNvPr id="730" name="Text 15"/>
          <p:cNvSpPr txBox="1"/>
          <p:nvPr/>
        </p:nvSpPr>
        <p:spPr>
          <a:xfrm>
            <a:off x="384047" y="1673860"/>
            <a:ext cx="19751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D4ED8"/>
                </a:solidFill>
              </a:defRPr>
            </a:lvl1pPr>
          </a:lstStyle>
          <a:p>
            <a:pPr/>
            <a:r>
              <a:t>Algorithm Selection</a:t>
            </a:r>
          </a:p>
        </p:txBody>
      </p:sp>
      <p:sp>
        <p:nvSpPr>
          <p:cNvPr id="731" name="Text 16"/>
          <p:cNvSpPr txBox="1"/>
          <p:nvPr/>
        </p:nvSpPr>
        <p:spPr>
          <a:xfrm>
            <a:off x="429767" y="1865376"/>
            <a:ext cx="1883666" cy="891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Ensemble of 100 decision trees chosen for 30-day hospital readmission prediction. Handles mixed data types (numerical vitals + categorical diagnosis codes) without extensive preprocessing. Outperforms Logistic Regression by 9% on clinical validation data.</a:t>
            </a:r>
          </a:p>
        </p:txBody>
      </p:sp>
      <p:sp>
        <p:nvSpPr>
          <p:cNvPr id="732" name="Shape 17"/>
          <p:cNvSpPr/>
          <p:nvPr/>
        </p:nvSpPr>
        <p:spPr>
          <a:xfrm>
            <a:off x="2450592" y="1627632"/>
            <a:ext cx="2103121" cy="14630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33" name="Shape 18"/>
          <p:cNvSpPr/>
          <p:nvPr/>
        </p:nvSpPr>
        <p:spPr>
          <a:xfrm>
            <a:off x="2450592" y="1627632"/>
            <a:ext cx="2103121" cy="219457"/>
          </a:xfrm>
          <a:prstGeom prst="rect">
            <a:avLst/>
          </a:prstGeom>
          <a:solidFill>
            <a:srgbClr val="F0F4FF"/>
          </a:solidFill>
          <a:ln w="12700">
            <a:solidFill>
              <a:srgbClr val="E2E8F0"/>
            </a:solidFill>
          </a:ln>
        </p:spPr>
        <p:txBody>
          <a:bodyPr lIns="45719" rIns="45719"/>
          <a:lstStyle/>
          <a:p>
            <a:pPr/>
          </a:p>
        </p:txBody>
      </p:sp>
      <p:sp>
        <p:nvSpPr>
          <p:cNvPr id="734" name="Text 19"/>
          <p:cNvSpPr txBox="1"/>
          <p:nvPr/>
        </p:nvSpPr>
        <p:spPr>
          <a:xfrm>
            <a:off x="2514600" y="1673860"/>
            <a:ext cx="19751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D4ED8"/>
                </a:solidFill>
              </a:defRPr>
            </a:lvl1pPr>
          </a:lstStyle>
          <a:p>
            <a:pPr/>
            <a:r>
              <a:t>Data Input</a:t>
            </a:r>
          </a:p>
        </p:txBody>
      </p:sp>
      <p:sp>
        <p:nvSpPr>
          <p:cNvPr id="735" name="Text 20"/>
          <p:cNvSpPr txBox="1"/>
          <p:nvPr/>
        </p:nvSpPr>
        <p:spPr>
          <a:xfrm>
            <a:off x="2560319" y="1865376"/>
            <a:ext cx="1883665" cy="777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Patient age, primary ICD-10 diagnosis codes, medication count, HbA1c, blood pressure, comorbidity score (Charlson Index), prior 12-month hospitalization frequency, and discharge disposition codes as input features.</a:t>
            </a:r>
          </a:p>
        </p:txBody>
      </p:sp>
      <p:sp>
        <p:nvSpPr>
          <p:cNvPr id="736" name="Shape 21"/>
          <p:cNvSpPr/>
          <p:nvPr/>
        </p:nvSpPr>
        <p:spPr>
          <a:xfrm>
            <a:off x="4581144" y="1627632"/>
            <a:ext cx="2103121" cy="14630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37" name="Shape 22"/>
          <p:cNvSpPr/>
          <p:nvPr/>
        </p:nvSpPr>
        <p:spPr>
          <a:xfrm>
            <a:off x="4581144" y="1627632"/>
            <a:ext cx="2103121" cy="219457"/>
          </a:xfrm>
          <a:prstGeom prst="rect">
            <a:avLst/>
          </a:prstGeom>
          <a:solidFill>
            <a:srgbClr val="F0F4FF"/>
          </a:solidFill>
          <a:ln w="12700">
            <a:solidFill>
              <a:srgbClr val="E2E8F0"/>
            </a:solidFill>
          </a:ln>
        </p:spPr>
        <p:txBody>
          <a:bodyPr lIns="45719" rIns="45719"/>
          <a:lstStyle/>
          <a:p>
            <a:pPr/>
          </a:p>
        </p:txBody>
      </p:sp>
      <p:sp>
        <p:nvSpPr>
          <p:cNvPr id="738" name="Text 23"/>
          <p:cNvSpPr txBox="1"/>
          <p:nvPr/>
        </p:nvSpPr>
        <p:spPr>
          <a:xfrm>
            <a:off x="4645152" y="1673860"/>
            <a:ext cx="19751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D4ED8"/>
                </a:solidFill>
              </a:defRPr>
            </a:lvl1pPr>
          </a:lstStyle>
          <a:p>
            <a:pPr/>
            <a:r>
              <a:t>Training Process</a:t>
            </a:r>
          </a:p>
        </p:txBody>
      </p:sp>
      <p:sp>
        <p:nvSpPr>
          <p:cNvPr id="739" name="Text 24"/>
          <p:cNvSpPr txBox="1"/>
          <p:nvPr/>
        </p:nvSpPr>
        <p:spPr>
          <a:xfrm>
            <a:off x="4690872" y="1865376"/>
            <a:ext cx="1883665" cy="777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80/20 stratified train-test split. 5-fold cross-validation. Grid Search CV over n_estimators (50–200), max_depth (5–20), min_samples_leaf (1–5). SMOTE applied for class imbalance. Training time: 3.2 minutes on standard CPU hardware.</a:t>
            </a:r>
          </a:p>
        </p:txBody>
      </p:sp>
      <p:sp>
        <p:nvSpPr>
          <p:cNvPr id="740" name="Shape 25"/>
          <p:cNvSpPr/>
          <p:nvPr/>
        </p:nvSpPr>
        <p:spPr>
          <a:xfrm>
            <a:off x="6711695" y="1627632"/>
            <a:ext cx="2103121" cy="14630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41" name="Shape 26"/>
          <p:cNvSpPr/>
          <p:nvPr/>
        </p:nvSpPr>
        <p:spPr>
          <a:xfrm>
            <a:off x="6711695" y="1627632"/>
            <a:ext cx="2103121" cy="219457"/>
          </a:xfrm>
          <a:prstGeom prst="rect">
            <a:avLst/>
          </a:prstGeom>
          <a:solidFill>
            <a:srgbClr val="F0F4FF"/>
          </a:solidFill>
          <a:ln w="12700">
            <a:solidFill>
              <a:srgbClr val="E2E8F0"/>
            </a:solidFill>
          </a:ln>
        </p:spPr>
        <p:txBody>
          <a:bodyPr lIns="45719" rIns="45719"/>
          <a:lstStyle/>
          <a:p>
            <a:pPr/>
          </a:p>
        </p:txBody>
      </p:sp>
      <p:sp>
        <p:nvSpPr>
          <p:cNvPr id="742" name="Text 27"/>
          <p:cNvSpPr txBox="1"/>
          <p:nvPr/>
        </p:nvSpPr>
        <p:spPr>
          <a:xfrm>
            <a:off x="6775704" y="1673860"/>
            <a:ext cx="19751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D4ED8"/>
                </a:solidFill>
              </a:defRPr>
            </a:lvl1pPr>
          </a:lstStyle>
          <a:p>
            <a:pPr/>
            <a:r>
              <a:t>Prediction Process</a:t>
            </a:r>
          </a:p>
        </p:txBody>
      </p:sp>
      <p:sp>
        <p:nvSpPr>
          <p:cNvPr id="743" name="Text 28"/>
          <p:cNvSpPr txBox="1"/>
          <p:nvPr/>
        </p:nvSpPr>
        <p:spPr>
          <a:xfrm>
            <a:off x="6821423" y="1865376"/>
            <a:ext cx="1883666" cy="777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Batch scoring of all discharged patients nightly via Azure ML REST endpoint. Returns risk probability 0–1. Patients scoring &gt;0.70 appear in care coordinator daily intervention list with top 5 contributing risk factors highlighted.</a:t>
            </a:r>
          </a:p>
        </p:txBody>
      </p:sp>
      <p:sp>
        <p:nvSpPr>
          <p:cNvPr id="744" name="Shape 29"/>
          <p:cNvSpPr/>
          <p:nvPr/>
        </p:nvSpPr>
        <p:spPr>
          <a:xfrm>
            <a:off x="320040" y="3163823"/>
            <a:ext cx="8503920" cy="274321"/>
          </a:xfrm>
          <a:prstGeom prst="rect">
            <a:avLst/>
          </a:prstGeom>
          <a:solidFill>
            <a:srgbClr val="0D9488"/>
          </a:solidFill>
          <a:ln w="12700">
            <a:solidFill>
              <a:srgbClr val="0D9488"/>
            </a:solidFill>
          </a:ln>
        </p:spPr>
        <p:txBody>
          <a:bodyPr lIns="45719" rIns="45719"/>
          <a:lstStyle/>
          <a:p>
            <a:pPr/>
          </a:p>
        </p:txBody>
      </p:sp>
      <p:sp>
        <p:nvSpPr>
          <p:cNvPr id="745" name="Text 30"/>
          <p:cNvSpPr txBox="1"/>
          <p:nvPr/>
        </p:nvSpPr>
        <p:spPr>
          <a:xfrm>
            <a:off x="411479" y="3231133"/>
            <a:ext cx="832104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FFFFFF"/>
                </a:solidFill>
              </a:defRPr>
            </a:lvl1pPr>
          </a:lstStyle>
          <a:p>
            <a:pPr/>
            <a:r>
              <a:t>K-Means Clustering — Patient Risk Stratification</a:t>
            </a:r>
          </a:p>
        </p:txBody>
      </p:sp>
      <p:sp>
        <p:nvSpPr>
          <p:cNvPr id="746" name="Shape 31"/>
          <p:cNvSpPr/>
          <p:nvPr/>
        </p:nvSpPr>
        <p:spPr>
          <a:xfrm>
            <a:off x="320039" y="3438144"/>
            <a:ext cx="2103122" cy="14630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47" name="Shape 32"/>
          <p:cNvSpPr/>
          <p:nvPr/>
        </p:nvSpPr>
        <p:spPr>
          <a:xfrm>
            <a:off x="320039" y="3438144"/>
            <a:ext cx="2103122" cy="219456"/>
          </a:xfrm>
          <a:prstGeom prst="rect">
            <a:avLst/>
          </a:prstGeom>
          <a:solidFill>
            <a:srgbClr val="F0F4FF"/>
          </a:solidFill>
          <a:ln w="12700">
            <a:solidFill>
              <a:srgbClr val="E2E8F0"/>
            </a:solidFill>
          </a:ln>
        </p:spPr>
        <p:txBody>
          <a:bodyPr lIns="45719" rIns="45719"/>
          <a:lstStyle/>
          <a:p>
            <a:pPr/>
          </a:p>
        </p:txBody>
      </p:sp>
      <p:sp>
        <p:nvSpPr>
          <p:cNvPr id="748" name="Text 33"/>
          <p:cNvSpPr txBox="1"/>
          <p:nvPr/>
        </p:nvSpPr>
        <p:spPr>
          <a:xfrm>
            <a:off x="384047" y="3484372"/>
            <a:ext cx="19751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0D9488"/>
                </a:solidFill>
              </a:defRPr>
            </a:lvl1pPr>
          </a:lstStyle>
          <a:p>
            <a:pPr/>
            <a:r>
              <a:t>Algorithm Selection</a:t>
            </a:r>
          </a:p>
        </p:txBody>
      </p:sp>
      <p:sp>
        <p:nvSpPr>
          <p:cNvPr id="749" name="Text 34"/>
          <p:cNvSpPr txBox="1"/>
          <p:nvPr/>
        </p:nvSpPr>
        <p:spPr>
          <a:xfrm>
            <a:off x="429767" y="3675888"/>
            <a:ext cx="1883666" cy="777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Unsupervised K-Means (k=4 tiers: Low/Moderate/High/Critical) for patient segmentation. Elbow method determined optimal k. Silhouette score = 0.72 validates meaningful clinical cluster separation.</a:t>
            </a:r>
          </a:p>
        </p:txBody>
      </p:sp>
      <p:sp>
        <p:nvSpPr>
          <p:cNvPr id="750" name="Shape 35"/>
          <p:cNvSpPr/>
          <p:nvPr/>
        </p:nvSpPr>
        <p:spPr>
          <a:xfrm>
            <a:off x="2450592" y="3438144"/>
            <a:ext cx="2103121" cy="14630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51" name="Shape 36"/>
          <p:cNvSpPr/>
          <p:nvPr/>
        </p:nvSpPr>
        <p:spPr>
          <a:xfrm>
            <a:off x="2450592" y="3438144"/>
            <a:ext cx="2103121" cy="219456"/>
          </a:xfrm>
          <a:prstGeom prst="rect">
            <a:avLst/>
          </a:prstGeom>
          <a:solidFill>
            <a:srgbClr val="F0F4FF"/>
          </a:solidFill>
          <a:ln w="12700">
            <a:solidFill>
              <a:srgbClr val="E2E8F0"/>
            </a:solidFill>
          </a:ln>
        </p:spPr>
        <p:txBody>
          <a:bodyPr lIns="45719" rIns="45719"/>
          <a:lstStyle/>
          <a:p>
            <a:pPr/>
          </a:p>
        </p:txBody>
      </p:sp>
      <p:sp>
        <p:nvSpPr>
          <p:cNvPr id="752" name="Text 37"/>
          <p:cNvSpPr txBox="1"/>
          <p:nvPr/>
        </p:nvSpPr>
        <p:spPr>
          <a:xfrm>
            <a:off x="2514600" y="3484372"/>
            <a:ext cx="19751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0D9488"/>
                </a:solidFill>
              </a:defRPr>
            </a:lvl1pPr>
          </a:lstStyle>
          <a:p>
            <a:pPr/>
            <a:r>
              <a:t>Data Input</a:t>
            </a:r>
          </a:p>
        </p:txBody>
      </p:sp>
      <p:sp>
        <p:nvSpPr>
          <p:cNvPr id="753" name="Text 38"/>
          <p:cNvSpPr txBox="1"/>
          <p:nvPr/>
        </p:nvSpPr>
        <p:spPr>
          <a:xfrm>
            <a:off x="2560319" y="3675888"/>
            <a:ext cx="1883665" cy="777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Vital sign trend patterns (7-day rolling averages), medication adherence score, chronic disease markers (HbA1c, eGFR, LDL), hospital visit frequency in past 12 months, and age-adjusted comorbidity index as clustering features.</a:t>
            </a:r>
          </a:p>
        </p:txBody>
      </p:sp>
      <p:sp>
        <p:nvSpPr>
          <p:cNvPr id="754" name="Shape 39"/>
          <p:cNvSpPr/>
          <p:nvPr/>
        </p:nvSpPr>
        <p:spPr>
          <a:xfrm>
            <a:off x="4581144" y="3438144"/>
            <a:ext cx="2103121" cy="14630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55" name="Shape 40"/>
          <p:cNvSpPr/>
          <p:nvPr/>
        </p:nvSpPr>
        <p:spPr>
          <a:xfrm>
            <a:off x="4581144" y="3438144"/>
            <a:ext cx="2103121" cy="219456"/>
          </a:xfrm>
          <a:prstGeom prst="rect">
            <a:avLst/>
          </a:prstGeom>
          <a:solidFill>
            <a:srgbClr val="F0F4FF"/>
          </a:solidFill>
          <a:ln w="12700">
            <a:solidFill>
              <a:srgbClr val="E2E8F0"/>
            </a:solidFill>
          </a:ln>
        </p:spPr>
        <p:txBody>
          <a:bodyPr lIns="45719" rIns="45719"/>
          <a:lstStyle/>
          <a:p>
            <a:pPr/>
          </a:p>
        </p:txBody>
      </p:sp>
      <p:sp>
        <p:nvSpPr>
          <p:cNvPr id="756" name="Text 41"/>
          <p:cNvSpPr txBox="1"/>
          <p:nvPr/>
        </p:nvSpPr>
        <p:spPr>
          <a:xfrm>
            <a:off x="4645152" y="3484372"/>
            <a:ext cx="19751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0D9488"/>
                </a:solidFill>
              </a:defRPr>
            </a:lvl1pPr>
          </a:lstStyle>
          <a:p>
            <a:pPr/>
            <a:r>
              <a:t>Training Process</a:t>
            </a:r>
          </a:p>
        </p:txBody>
      </p:sp>
      <p:sp>
        <p:nvSpPr>
          <p:cNvPr id="757" name="Text 42"/>
          <p:cNvSpPr txBox="1"/>
          <p:nvPr/>
        </p:nvSpPr>
        <p:spPr>
          <a:xfrm>
            <a:off x="4690872" y="3675888"/>
            <a:ext cx="1883665" cy="777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StandardScaler normalization applied before clustering. 300 k-means++ initializations to avoid local minima. Cluster profiles validated by hospital clinical committee for medical meaningfulness and actionability.</a:t>
            </a:r>
          </a:p>
        </p:txBody>
      </p:sp>
      <p:sp>
        <p:nvSpPr>
          <p:cNvPr id="758" name="Shape 43"/>
          <p:cNvSpPr/>
          <p:nvPr/>
        </p:nvSpPr>
        <p:spPr>
          <a:xfrm>
            <a:off x="6711695" y="3438144"/>
            <a:ext cx="2103121" cy="1463041"/>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59" name="Shape 44"/>
          <p:cNvSpPr/>
          <p:nvPr/>
        </p:nvSpPr>
        <p:spPr>
          <a:xfrm>
            <a:off x="6711695" y="3438144"/>
            <a:ext cx="2103121" cy="219456"/>
          </a:xfrm>
          <a:prstGeom prst="rect">
            <a:avLst/>
          </a:prstGeom>
          <a:solidFill>
            <a:srgbClr val="F0F4FF"/>
          </a:solidFill>
          <a:ln w="12700">
            <a:solidFill>
              <a:srgbClr val="E2E8F0"/>
            </a:solidFill>
          </a:ln>
        </p:spPr>
        <p:txBody>
          <a:bodyPr lIns="45719" rIns="45719"/>
          <a:lstStyle/>
          <a:p>
            <a:pPr/>
          </a:p>
        </p:txBody>
      </p:sp>
      <p:sp>
        <p:nvSpPr>
          <p:cNvPr id="760" name="Text 45"/>
          <p:cNvSpPr txBox="1"/>
          <p:nvPr/>
        </p:nvSpPr>
        <p:spPr>
          <a:xfrm>
            <a:off x="6775704" y="3484372"/>
            <a:ext cx="19751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0D9488"/>
                </a:solidFill>
              </a:defRPr>
            </a:lvl1pPr>
          </a:lstStyle>
          <a:p>
            <a:pPr/>
            <a:r>
              <a:t>Prediction Process</a:t>
            </a:r>
          </a:p>
        </p:txBody>
      </p:sp>
      <p:sp>
        <p:nvSpPr>
          <p:cNvPr id="761" name="Text 46"/>
          <p:cNvSpPr txBox="1"/>
          <p:nvPr/>
        </p:nvSpPr>
        <p:spPr>
          <a:xfrm>
            <a:off x="6821423" y="3675888"/>
            <a:ext cx="1883666" cy="777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New patients assigned to risk cluster at admission. Cluster drives personalized alert thresholds in Power BI dashboard, medication reminder frequency, care pathway recommendations, and nursing visit scheduling priority.</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763"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764"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765"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Results &amp; Outcomes</a:t>
            </a:r>
          </a:p>
        </p:txBody>
      </p:sp>
      <p:sp>
        <p:nvSpPr>
          <p:cNvPr id="766"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767"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768"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769"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770"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771"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18 / 20</a:t>
            </a:r>
          </a:p>
        </p:txBody>
      </p:sp>
      <p:sp>
        <p:nvSpPr>
          <p:cNvPr id="772" name="Text 9"/>
          <p:cNvSpPr txBox="1"/>
          <p:nvPr/>
        </p:nvSpPr>
        <p:spPr>
          <a:xfrm>
            <a:off x="365760" y="767080"/>
            <a:ext cx="84124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Measured Impact &amp; System Performance</a:t>
            </a:r>
          </a:p>
        </p:txBody>
      </p:sp>
      <p:sp>
        <p:nvSpPr>
          <p:cNvPr id="773" name="Shape 10"/>
          <p:cNvSpPr/>
          <p:nvPr/>
        </p:nvSpPr>
        <p:spPr>
          <a:xfrm>
            <a:off x="320040" y="1078991"/>
            <a:ext cx="2029968" cy="914401"/>
          </a:xfrm>
          <a:prstGeom prst="rect">
            <a:avLst/>
          </a:prstGeom>
          <a:solidFill>
            <a:srgbClr val="DC2626"/>
          </a:solidFill>
          <a:ln w="12700">
            <a:solidFill>
              <a:srgbClr val="DC2626"/>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74" name="Text 11"/>
          <p:cNvSpPr txBox="1"/>
          <p:nvPr/>
        </p:nvSpPr>
        <p:spPr>
          <a:xfrm>
            <a:off x="365760" y="1104391"/>
            <a:ext cx="1938529"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600">
                <a:solidFill>
                  <a:srgbClr val="FFFFFF"/>
                </a:solidFill>
              </a:defRPr>
            </a:lvl1pPr>
          </a:lstStyle>
          <a:p>
            <a:pPr/>
            <a:r>
              <a:t>35%</a:t>
            </a:r>
          </a:p>
        </p:txBody>
      </p:sp>
      <p:sp>
        <p:nvSpPr>
          <p:cNvPr id="775" name="Text 12"/>
          <p:cNvSpPr txBox="1"/>
          <p:nvPr/>
        </p:nvSpPr>
        <p:spPr>
          <a:xfrm>
            <a:off x="365760" y="1637791"/>
            <a:ext cx="1938529"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800">
                <a:solidFill>
                  <a:srgbClr val="FFFFFF"/>
                </a:solidFill>
              </a:defRPr>
            </a:pPr>
            <a:r>
              <a:t>Medication Error</a:t>
            </a:r>
          </a:p>
          <a:p>
            <a:pPr algn="ctr">
              <a:defRPr sz="800">
                <a:solidFill>
                  <a:srgbClr val="FFFFFF"/>
                </a:solidFill>
              </a:defRPr>
            </a:pPr>
            <a:r>
              <a:t>Reduction</a:t>
            </a:r>
          </a:p>
        </p:txBody>
      </p:sp>
      <p:sp>
        <p:nvSpPr>
          <p:cNvPr id="776" name="Shape 13"/>
          <p:cNvSpPr/>
          <p:nvPr/>
        </p:nvSpPr>
        <p:spPr>
          <a:xfrm>
            <a:off x="2496311" y="1078991"/>
            <a:ext cx="2029969" cy="914401"/>
          </a:xfrm>
          <a:prstGeom prst="rect">
            <a:avLst/>
          </a:prstGeom>
          <a:solidFill>
            <a:srgbClr val="1E8449"/>
          </a:solidFill>
          <a:ln w="12700">
            <a:solidFill>
              <a:srgbClr val="1E8449"/>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77" name="Text 14"/>
          <p:cNvSpPr txBox="1"/>
          <p:nvPr/>
        </p:nvSpPr>
        <p:spPr>
          <a:xfrm>
            <a:off x="2542032" y="1104391"/>
            <a:ext cx="1938529"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600">
                <a:solidFill>
                  <a:srgbClr val="FFFFFF"/>
                </a:solidFill>
              </a:defRPr>
            </a:lvl1pPr>
          </a:lstStyle>
          <a:p>
            <a:pPr/>
            <a:r>
              <a:t>91%</a:t>
            </a:r>
          </a:p>
        </p:txBody>
      </p:sp>
      <p:sp>
        <p:nvSpPr>
          <p:cNvPr id="778" name="Text 15"/>
          <p:cNvSpPr txBox="1"/>
          <p:nvPr/>
        </p:nvSpPr>
        <p:spPr>
          <a:xfrm>
            <a:off x="2542032" y="1637791"/>
            <a:ext cx="1938529"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800">
                <a:solidFill>
                  <a:srgbClr val="FFFFFF"/>
                </a:solidFill>
              </a:defRPr>
            </a:pPr>
            <a:r>
              <a:t>ML Model</a:t>
            </a:r>
          </a:p>
          <a:p>
            <a:pPr algn="ctr">
              <a:defRPr sz="800">
                <a:solidFill>
                  <a:srgbClr val="FFFFFF"/>
                </a:solidFill>
              </a:defRPr>
            </a:pPr>
            <a:r>
              <a:t>Accuracy</a:t>
            </a:r>
          </a:p>
        </p:txBody>
      </p:sp>
      <p:sp>
        <p:nvSpPr>
          <p:cNvPr id="779" name="Shape 16"/>
          <p:cNvSpPr/>
          <p:nvPr/>
        </p:nvSpPr>
        <p:spPr>
          <a:xfrm>
            <a:off x="4672584" y="1078991"/>
            <a:ext cx="2029969" cy="914401"/>
          </a:xfrm>
          <a:prstGeom prst="rect">
            <a:avLst/>
          </a:prstGeom>
          <a:solidFill>
            <a:srgbClr val="1D4ED8"/>
          </a:solidFill>
          <a:ln w="12700">
            <a:solidFill>
              <a:srgbClr val="1D4ED8"/>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80" name="Text 17"/>
          <p:cNvSpPr txBox="1"/>
          <p:nvPr/>
        </p:nvSpPr>
        <p:spPr>
          <a:xfrm>
            <a:off x="4718304" y="1104391"/>
            <a:ext cx="1938529"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600">
                <a:solidFill>
                  <a:srgbClr val="FFFFFF"/>
                </a:solidFill>
              </a:defRPr>
            </a:lvl1pPr>
          </a:lstStyle>
          <a:p>
            <a:pPr/>
            <a:r>
              <a:t>2.1s</a:t>
            </a:r>
          </a:p>
        </p:txBody>
      </p:sp>
      <p:sp>
        <p:nvSpPr>
          <p:cNvPr id="781" name="Text 18"/>
          <p:cNvSpPr txBox="1"/>
          <p:nvPr/>
        </p:nvSpPr>
        <p:spPr>
          <a:xfrm>
            <a:off x="4718304" y="1637791"/>
            <a:ext cx="1938529"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800">
                <a:solidFill>
                  <a:srgbClr val="FFFFFF"/>
                </a:solidFill>
              </a:defRPr>
            </a:pPr>
            <a:r>
              <a:t>Dashboard</a:t>
            </a:r>
          </a:p>
          <a:p>
            <a:pPr algn="ctr">
              <a:defRPr sz="800">
                <a:solidFill>
                  <a:srgbClr val="FFFFFF"/>
                </a:solidFill>
              </a:defRPr>
            </a:pPr>
            <a:r>
              <a:t>Load Time</a:t>
            </a:r>
          </a:p>
        </p:txBody>
      </p:sp>
      <p:sp>
        <p:nvSpPr>
          <p:cNvPr id="782" name="Shape 19"/>
          <p:cNvSpPr/>
          <p:nvPr/>
        </p:nvSpPr>
        <p:spPr>
          <a:xfrm>
            <a:off x="6848856" y="1078991"/>
            <a:ext cx="2029969" cy="914401"/>
          </a:xfrm>
          <a:prstGeom prst="rect">
            <a:avLst/>
          </a:prstGeom>
          <a:solidFill>
            <a:srgbClr val="0D9488"/>
          </a:solidFill>
          <a:ln w="12700">
            <a:solidFill>
              <a:srgbClr val="0D9488"/>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83" name="Text 20"/>
          <p:cNvSpPr txBox="1"/>
          <p:nvPr/>
        </p:nvSpPr>
        <p:spPr>
          <a:xfrm>
            <a:off x="6894576" y="1104391"/>
            <a:ext cx="1938529"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600">
                <a:solidFill>
                  <a:srgbClr val="FFFFFF"/>
                </a:solidFill>
              </a:defRPr>
            </a:lvl1pPr>
          </a:lstStyle>
          <a:p>
            <a:pPr/>
            <a:r>
              <a:t>HIPAA</a:t>
            </a:r>
          </a:p>
        </p:txBody>
      </p:sp>
      <p:sp>
        <p:nvSpPr>
          <p:cNvPr id="784" name="Text 21"/>
          <p:cNvSpPr txBox="1"/>
          <p:nvPr/>
        </p:nvSpPr>
        <p:spPr>
          <a:xfrm>
            <a:off x="6894576" y="1637791"/>
            <a:ext cx="1938529"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800">
                <a:solidFill>
                  <a:srgbClr val="FFFFFF"/>
                </a:solidFill>
              </a:defRPr>
            </a:pPr>
            <a:r>
              <a:t>Full Compliance</a:t>
            </a:r>
          </a:p>
          <a:p>
            <a:pPr algn="ctr">
              <a:defRPr sz="800">
                <a:solidFill>
                  <a:srgbClr val="FFFFFF"/>
                </a:solidFill>
              </a:defRPr>
            </a:pPr>
            <a:r>
              <a:t>Achieved</a:t>
            </a:r>
          </a:p>
        </p:txBody>
      </p:sp>
      <p:sp>
        <p:nvSpPr>
          <p:cNvPr id="785" name="Shape 22"/>
          <p:cNvSpPr/>
          <p:nvPr/>
        </p:nvSpPr>
        <p:spPr>
          <a:xfrm>
            <a:off x="5486400" y="2066544"/>
            <a:ext cx="3337560" cy="585217"/>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86" name="Shape 23"/>
          <p:cNvSpPr/>
          <p:nvPr/>
        </p:nvSpPr>
        <p:spPr>
          <a:xfrm>
            <a:off x="5486400" y="2066544"/>
            <a:ext cx="59435" cy="585217"/>
          </a:xfrm>
          <a:prstGeom prst="rect">
            <a:avLst/>
          </a:prstGeom>
          <a:solidFill>
            <a:srgbClr val="1D4ED8"/>
          </a:solidFill>
          <a:ln w="12700">
            <a:solidFill>
              <a:srgbClr val="1D4ED8"/>
            </a:solidFill>
          </a:ln>
        </p:spPr>
        <p:txBody>
          <a:bodyPr lIns="45719" rIns="45719"/>
          <a:lstStyle/>
          <a:p>
            <a:pPr/>
          </a:p>
        </p:txBody>
      </p:sp>
      <p:sp>
        <p:nvSpPr>
          <p:cNvPr id="787" name="Text 24"/>
          <p:cNvSpPr txBox="1"/>
          <p:nvPr/>
        </p:nvSpPr>
        <p:spPr>
          <a:xfrm>
            <a:off x="5596128" y="2172207"/>
            <a:ext cx="31821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E293B"/>
                </a:solidFill>
              </a:defRPr>
            </a:lvl1pPr>
          </a:lstStyle>
          <a:p>
            <a:pPr/>
            <a:r>
              <a:t>Power BI Dashboard Live</a:t>
            </a:r>
          </a:p>
        </p:txBody>
      </p:sp>
      <p:sp>
        <p:nvSpPr>
          <p:cNvPr id="788" name="Text 25"/>
          <p:cNvSpPr txBox="1"/>
          <p:nvPr/>
        </p:nvSpPr>
        <p:spPr>
          <a:xfrm>
            <a:off x="5641848" y="2368295"/>
            <a:ext cx="3090673" cy="320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Real-time EHR dashboard tracks daily adherence, vitals trends, and drug interaction incidents across all patient cohorts.</a:t>
            </a:r>
          </a:p>
        </p:txBody>
      </p:sp>
      <p:sp>
        <p:nvSpPr>
          <p:cNvPr id="789" name="Shape 26"/>
          <p:cNvSpPr/>
          <p:nvPr/>
        </p:nvSpPr>
        <p:spPr>
          <a:xfrm>
            <a:off x="5486400" y="2724911"/>
            <a:ext cx="3337560" cy="585217"/>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90" name="Shape 27"/>
          <p:cNvSpPr/>
          <p:nvPr/>
        </p:nvSpPr>
        <p:spPr>
          <a:xfrm>
            <a:off x="5486400" y="2724911"/>
            <a:ext cx="59435" cy="585217"/>
          </a:xfrm>
          <a:prstGeom prst="rect">
            <a:avLst/>
          </a:prstGeom>
          <a:solidFill>
            <a:srgbClr val="0D9488"/>
          </a:solidFill>
          <a:ln w="12700">
            <a:solidFill>
              <a:srgbClr val="0D9488"/>
            </a:solidFill>
          </a:ln>
        </p:spPr>
        <p:txBody>
          <a:bodyPr lIns="45719" rIns="45719"/>
          <a:lstStyle/>
          <a:p>
            <a:pPr/>
          </a:p>
        </p:txBody>
      </p:sp>
      <p:sp>
        <p:nvSpPr>
          <p:cNvPr id="791" name="Text 28"/>
          <p:cNvSpPr txBox="1"/>
          <p:nvPr/>
        </p:nvSpPr>
        <p:spPr>
          <a:xfrm>
            <a:off x="5596128" y="2830576"/>
            <a:ext cx="31821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E293B"/>
                </a:solidFill>
              </a:defRPr>
            </a:lvl1pPr>
          </a:lstStyle>
          <a:p>
            <a:pPr/>
            <a:r>
              <a:t>Readmission Model Deployed</a:t>
            </a:r>
          </a:p>
        </p:txBody>
      </p:sp>
      <p:sp>
        <p:nvSpPr>
          <p:cNvPr id="792" name="Text 29"/>
          <p:cNvSpPr txBox="1"/>
          <p:nvPr/>
        </p:nvSpPr>
        <p:spPr>
          <a:xfrm>
            <a:off x="5641848" y="3026664"/>
            <a:ext cx="3090673" cy="320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Random Forest (91% acc.) deployed on Azure ML. Daily batch scoring generates risk-ranked care coordinator intervention lists.</a:t>
            </a:r>
          </a:p>
        </p:txBody>
      </p:sp>
      <p:sp>
        <p:nvSpPr>
          <p:cNvPr id="793" name="Shape 30"/>
          <p:cNvSpPr/>
          <p:nvPr/>
        </p:nvSpPr>
        <p:spPr>
          <a:xfrm>
            <a:off x="5486400" y="3383279"/>
            <a:ext cx="3337560" cy="585217"/>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94" name="Shape 31"/>
          <p:cNvSpPr/>
          <p:nvPr/>
        </p:nvSpPr>
        <p:spPr>
          <a:xfrm>
            <a:off x="5486400" y="3383279"/>
            <a:ext cx="59435" cy="585217"/>
          </a:xfrm>
          <a:prstGeom prst="rect">
            <a:avLst/>
          </a:prstGeom>
          <a:solidFill>
            <a:srgbClr val="1E8449"/>
          </a:solidFill>
          <a:ln w="12700">
            <a:solidFill>
              <a:srgbClr val="1E8449"/>
            </a:solidFill>
          </a:ln>
        </p:spPr>
        <p:txBody>
          <a:bodyPr lIns="45719" rIns="45719"/>
          <a:lstStyle/>
          <a:p>
            <a:pPr/>
          </a:p>
        </p:txBody>
      </p:sp>
      <p:sp>
        <p:nvSpPr>
          <p:cNvPr id="795" name="Text 32"/>
          <p:cNvSpPr txBox="1"/>
          <p:nvPr/>
        </p:nvSpPr>
        <p:spPr>
          <a:xfrm>
            <a:off x="5596128" y="3488944"/>
            <a:ext cx="31821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E293B"/>
                </a:solidFill>
              </a:defRPr>
            </a:lvl1pPr>
          </a:lstStyle>
          <a:p>
            <a:pPr/>
            <a:r>
              <a:t>35% Error Reduction Validated</a:t>
            </a:r>
          </a:p>
        </p:txBody>
      </p:sp>
      <p:sp>
        <p:nvSpPr>
          <p:cNvPr id="796" name="Text 33"/>
          <p:cNvSpPr txBox="1"/>
          <p:nvPr/>
        </p:nvSpPr>
        <p:spPr>
          <a:xfrm>
            <a:off x="5641848" y="3685032"/>
            <a:ext cx="3090673" cy="320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Pilot across 3 hospital departments: 127 drug interactions blocked, 43 incorrect dosage orders flagged before dispensing.</a:t>
            </a:r>
          </a:p>
        </p:txBody>
      </p:sp>
      <p:sp>
        <p:nvSpPr>
          <p:cNvPr id="797" name="Shape 34"/>
          <p:cNvSpPr/>
          <p:nvPr/>
        </p:nvSpPr>
        <p:spPr>
          <a:xfrm>
            <a:off x="5486400" y="4041647"/>
            <a:ext cx="3337560" cy="585217"/>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798" name="Shape 35"/>
          <p:cNvSpPr/>
          <p:nvPr/>
        </p:nvSpPr>
        <p:spPr>
          <a:xfrm>
            <a:off x="5486400" y="4041647"/>
            <a:ext cx="59435" cy="585217"/>
          </a:xfrm>
          <a:prstGeom prst="rect">
            <a:avLst/>
          </a:prstGeom>
          <a:solidFill>
            <a:srgbClr val="7C3AED"/>
          </a:solidFill>
          <a:ln w="12700">
            <a:solidFill>
              <a:srgbClr val="7C3AED"/>
            </a:solidFill>
          </a:ln>
        </p:spPr>
        <p:txBody>
          <a:bodyPr lIns="45719" rIns="45719"/>
          <a:lstStyle/>
          <a:p>
            <a:pPr/>
          </a:p>
        </p:txBody>
      </p:sp>
      <p:sp>
        <p:nvSpPr>
          <p:cNvPr id="799" name="Text 36"/>
          <p:cNvSpPr txBox="1"/>
          <p:nvPr/>
        </p:nvSpPr>
        <p:spPr>
          <a:xfrm>
            <a:off x="5596128" y="4147311"/>
            <a:ext cx="31821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E293B"/>
                </a:solidFill>
              </a:defRPr>
            </a:lvl1pPr>
          </a:lstStyle>
          <a:p>
            <a:pPr/>
            <a:r>
              <a:t>IoT Vitals Monitoring Active</a:t>
            </a:r>
          </a:p>
        </p:txBody>
      </p:sp>
      <p:sp>
        <p:nvSpPr>
          <p:cNvPr id="800" name="Text 37"/>
          <p:cNvSpPr txBox="1"/>
          <p:nvPr/>
        </p:nvSpPr>
        <p:spPr>
          <a:xfrm>
            <a:off x="5641848" y="4343400"/>
            <a:ext cx="3090673" cy="3200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700">
                <a:solidFill>
                  <a:srgbClr val="374151"/>
                </a:solidFill>
              </a:defRPr>
            </a:lvl1pPr>
          </a:lstStyle>
          <a:p>
            <a:pPr/>
            <a:r>
              <a:t>24/7 ICU patient monitoring. Alert response time reduced from 8 minutes to under 90 seconds for critical vital breaches.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7FB"/>
        </a:solidFill>
      </p:bgPr>
    </p:bg>
    <p:spTree>
      <p:nvGrpSpPr>
        <p:cNvPr id="1" name=""/>
        <p:cNvGrpSpPr/>
        <p:nvPr/>
      </p:nvGrpSpPr>
      <p:grpSpPr>
        <a:xfrm>
          <a:off x="0" y="0"/>
          <a:ext cx="0" cy="0"/>
          <a:chOff x="0" y="0"/>
          <a:chExt cx="0" cy="0"/>
        </a:xfrm>
      </p:grpSpPr>
      <p:sp>
        <p:nvSpPr>
          <p:cNvPr id="802" name="Shape 0"/>
          <p:cNvSpPr/>
          <p:nvPr/>
        </p:nvSpPr>
        <p:spPr>
          <a:xfrm>
            <a:off x="0" y="0"/>
            <a:ext cx="9144000" cy="621792"/>
          </a:xfrm>
          <a:prstGeom prst="rect">
            <a:avLst/>
          </a:prstGeom>
          <a:solidFill>
            <a:srgbClr val="1B2A4A"/>
          </a:solidFill>
          <a:ln w="12700">
            <a:solidFill>
              <a:srgbClr val="1B2A4A"/>
            </a:solidFill>
          </a:ln>
        </p:spPr>
        <p:txBody>
          <a:bodyPr lIns="45719" rIns="45719"/>
          <a:lstStyle/>
          <a:p>
            <a:pPr/>
          </a:p>
        </p:txBody>
      </p:sp>
      <p:sp>
        <p:nvSpPr>
          <p:cNvPr id="803" name="Shape 1"/>
          <p:cNvSpPr/>
          <p:nvPr/>
        </p:nvSpPr>
        <p:spPr>
          <a:xfrm>
            <a:off x="0" y="621791"/>
            <a:ext cx="9144000" cy="50293"/>
          </a:xfrm>
          <a:prstGeom prst="rect">
            <a:avLst/>
          </a:prstGeom>
          <a:solidFill>
            <a:srgbClr val="1E8449"/>
          </a:solidFill>
          <a:ln w="12700">
            <a:solidFill>
              <a:srgbClr val="1E8449"/>
            </a:solidFill>
          </a:ln>
        </p:spPr>
        <p:txBody>
          <a:bodyPr lIns="45719" rIns="45719"/>
          <a:lstStyle/>
          <a:p>
            <a:pPr/>
          </a:p>
        </p:txBody>
      </p:sp>
      <p:sp>
        <p:nvSpPr>
          <p:cNvPr id="804" name="Text 2"/>
          <p:cNvSpPr txBox="1"/>
          <p:nvPr/>
        </p:nvSpPr>
        <p:spPr>
          <a:xfrm>
            <a:off x="292607" y="173990"/>
            <a:ext cx="7498082"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Conclusion &amp; Future Scope</a:t>
            </a:r>
          </a:p>
        </p:txBody>
      </p:sp>
      <p:sp>
        <p:nvSpPr>
          <p:cNvPr id="805" name="Shape 3"/>
          <p:cNvSpPr/>
          <p:nvPr/>
        </p:nvSpPr>
        <p:spPr>
          <a:xfrm>
            <a:off x="7818119" y="82296"/>
            <a:ext cx="1234441" cy="457201"/>
          </a:xfrm>
          <a:prstGeom prst="rect">
            <a:avLst/>
          </a:prstGeom>
          <a:solidFill>
            <a:srgbClr val="DCF0FF"/>
          </a:solidFill>
          <a:ln w="12700">
            <a:solidFill>
              <a:srgbClr val="1D4ED8"/>
            </a:solidFill>
          </a:ln>
        </p:spPr>
        <p:txBody>
          <a:bodyPr lIns="45719" rIns="45719"/>
          <a:lstStyle/>
          <a:p>
            <a:pPr/>
          </a:p>
        </p:txBody>
      </p:sp>
      <p:sp>
        <p:nvSpPr>
          <p:cNvPr id="806" name="Text 4"/>
          <p:cNvSpPr txBox="1"/>
          <p:nvPr/>
        </p:nvSpPr>
        <p:spPr>
          <a:xfrm>
            <a:off x="7863839" y="150875"/>
            <a:ext cx="114300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700">
                <a:solidFill>
                  <a:srgbClr val="1D4ED8"/>
                </a:solidFill>
              </a:defRPr>
            </a:pPr>
            <a:r>
              <a:t>Microsoft</a:t>
            </a:r>
          </a:p>
          <a:p>
            <a:pPr algn="ctr">
              <a:defRPr b="1" sz="700">
                <a:solidFill>
                  <a:srgbClr val="1D4ED8"/>
                </a:solidFill>
              </a:defRPr>
            </a:pPr>
            <a:r>
              <a:t>Elevate GTU</a:t>
            </a:r>
          </a:p>
        </p:txBody>
      </p:sp>
      <p:sp>
        <p:nvSpPr>
          <p:cNvPr id="807" name="Shape 5"/>
          <p:cNvSpPr/>
          <p:nvPr/>
        </p:nvSpPr>
        <p:spPr>
          <a:xfrm>
            <a:off x="0" y="4873752"/>
            <a:ext cx="9144000" cy="50293"/>
          </a:xfrm>
          <a:prstGeom prst="rect">
            <a:avLst/>
          </a:prstGeom>
          <a:solidFill>
            <a:srgbClr val="1E8449"/>
          </a:solidFill>
          <a:ln w="12700">
            <a:solidFill>
              <a:srgbClr val="1E8449"/>
            </a:solidFill>
          </a:ln>
        </p:spPr>
        <p:txBody>
          <a:bodyPr lIns="45719" rIns="45719"/>
          <a:lstStyle/>
          <a:p>
            <a:pPr/>
          </a:p>
        </p:txBody>
      </p:sp>
      <p:sp>
        <p:nvSpPr>
          <p:cNvPr id="808" name="Shape 6"/>
          <p:cNvSpPr/>
          <p:nvPr/>
        </p:nvSpPr>
        <p:spPr>
          <a:xfrm>
            <a:off x="0" y="4924044"/>
            <a:ext cx="9144000" cy="219456"/>
          </a:xfrm>
          <a:prstGeom prst="rect">
            <a:avLst/>
          </a:prstGeom>
          <a:solidFill>
            <a:srgbClr val="1B2A4A"/>
          </a:solidFill>
          <a:ln w="12700">
            <a:solidFill>
              <a:srgbClr val="1B2A4A"/>
            </a:solidFill>
          </a:ln>
        </p:spPr>
        <p:txBody>
          <a:bodyPr lIns="45719" rIns="45719"/>
          <a:lstStyle/>
          <a:p>
            <a:pPr/>
          </a:p>
        </p:txBody>
      </p:sp>
      <p:sp>
        <p:nvSpPr>
          <p:cNvPr id="809" name="Text 7"/>
          <p:cNvSpPr txBox="1"/>
          <p:nvPr/>
        </p:nvSpPr>
        <p:spPr>
          <a:xfrm>
            <a:off x="228600" y="4970272"/>
            <a:ext cx="80467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solidFill>
                  <a:srgbClr val="9BB4CC"/>
                </a:solidFill>
              </a:defRPr>
            </a:lvl1pPr>
          </a:lstStyle>
          <a:p>
            <a:pPr/>
            <a:r>
              <a:t>Microsoft Elevate Internship Project  |  Healthcare &amp; Medication Management System  |  GTU Jan–Apr 2026</a:t>
            </a:r>
          </a:p>
        </p:txBody>
      </p:sp>
      <p:sp>
        <p:nvSpPr>
          <p:cNvPr id="810" name="Text 8"/>
          <p:cNvSpPr txBox="1"/>
          <p:nvPr/>
        </p:nvSpPr>
        <p:spPr>
          <a:xfrm>
            <a:off x="8275319" y="4970272"/>
            <a:ext cx="731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700">
                <a:solidFill>
                  <a:srgbClr val="FFFFFF"/>
                </a:solidFill>
              </a:defRPr>
            </a:lvl1pPr>
          </a:lstStyle>
          <a:p>
            <a:pPr/>
            <a:r>
              <a:t>19 / 20</a:t>
            </a:r>
          </a:p>
        </p:txBody>
      </p:sp>
      <p:sp>
        <p:nvSpPr>
          <p:cNvPr id="811" name="Text 9"/>
          <p:cNvSpPr txBox="1"/>
          <p:nvPr/>
        </p:nvSpPr>
        <p:spPr>
          <a:xfrm>
            <a:off x="365760" y="767080"/>
            <a:ext cx="416052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Conclusion</a:t>
            </a:r>
          </a:p>
        </p:txBody>
      </p:sp>
      <p:sp>
        <p:nvSpPr>
          <p:cNvPr id="812" name="Shape 10"/>
          <p:cNvSpPr/>
          <p:nvPr/>
        </p:nvSpPr>
        <p:spPr>
          <a:xfrm>
            <a:off x="320040" y="1078991"/>
            <a:ext cx="4251960" cy="877825"/>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813" name="Shape 11"/>
          <p:cNvSpPr/>
          <p:nvPr/>
        </p:nvSpPr>
        <p:spPr>
          <a:xfrm>
            <a:off x="320040" y="1078991"/>
            <a:ext cx="59436" cy="877825"/>
          </a:xfrm>
          <a:prstGeom prst="rect">
            <a:avLst/>
          </a:prstGeom>
          <a:solidFill>
            <a:srgbClr val="1D4ED8"/>
          </a:solidFill>
          <a:ln w="12700">
            <a:solidFill>
              <a:srgbClr val="1D4ED8"/>
            </a:solidFill>
          </a:ln>
        </p:spPr>
        <p:txBody>
          <a:bodyPr lIns="45719" rIns="45719"/>
          <a:lstStyle/>
          <a:p>
            <a:pPr/>
          </a:p>
        </p:txBody>
      </p:sp>
      <p:sp>
        <p:nvSpPr>
          <p:cNvPr id="814" name="Text 12"/>
          <p:cNvSpPr txBox="1"/>
          <p:nvPr/>
        </p:nvSpPr>
        <p:spPr>
          <a:xfrm>
            <a:off x="429768" y="1178305"/>
            <a:ext cx="409651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Practical AI/ML in Healthcare</a:t>
            </a:r>
          </a:p>
        </p:txBody>
      </p:sp>
      <p:sp>
        <p:nvSpPr>
          <p:cNvPr id="815" name="Text 13"/>
          <p:cNvSpPr txBox="1"/>
          <p:nvPr/>
        </p:nvSpPr>
        <p:spPr>
          <a:xfrm>
            <a:off x="475488" y="1380744"/>
            <a:ext cx="4005072"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Successfully built an end-to-end AI-powered platform reducing medication errors by 35% and achieving 91% ML readmission prediction accuracy — directly demonstrating practical AI/ML application in a real-world healthcare domain.</a:t>
            </a:r>
          </a:p>
        </p:txBody>
      </p:sp>
      <p:sp>
        <p:nvSpPr>
          <p:cNvPr id="816" name="Shape 14"/>
          <p:cNvSpPr/>
          <p:nvPr/>
        </p:nvSpPr>
        <p:spPr>
          <a:xfrm>
            <a:off x="320040" y="2029967"/>
            <a:ext cx="4251960" cy="877825"/>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817" name="Shape 15"/>
          <p:cNvSpPr/>
          <p:nvPr/>
        </p:nvSpPr>
        <p:spPr>
          <a:xfrm>
            <a:off x="320040" y="2029967"/>
            <a:ext cx="59436" cy="877825"/>
          </a:xfrm>
          <a:prstGeom prst="rect">
            <a:avLst/>
          </a:prstGeom>
          <a:solidFill>
            <a:srgbClr val="0D9488"/>
          </a:solidFill>
          <a:ln w="12700">
            <a:solidFill>
              <a:srgbClr val="0D9488"/>
            </a:solidFill>
          </a:ln>
        </p:spPr>
        <p:txBody>
          <a:bodyPr lIns="45719" rIns="45719"/>
          <a:lstStyle/>
          <a:p>
            <a:pPr/>
          </a:p>
        </p:txBody>
      </p:sp>
      <p:sp>
        <p:nvSpPr>
          <p:cNvPr id="818" name="Text 16"/>
          <p:cNvSpPr txBox="1"/>
          <p:nvPr/>
        </p:nvSpPr>
        <p:spPr>
          <a:xfrm>
            <a:off x="429768" y="2129282"/>
            <a:ext cx="409651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All 12 MS Elevate Modules Integrated</a:t>
            </a:r>
          </a:p>
        </p:txBody>
      </p:sp>
      <p:sp>
        <p:nvSpPr>
          <p:cNvPr id="819" name="Text 17"/>
          <p:cNvSpPr txBox="1"/>
          <p:nvPr/>
        </p:nvSpPr>
        <p:spPr>
          <a:xfrm>
            <a:off x="475488" y="2331720"/>
            <a:ext cx="4005072"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This project integrates all 12 Microsoft Elevate learning modules — from Week 1 EDA foundations through Week 12 Azure cloud deployment — demonstrating complete mastery of the internship curriculum.</a:t>
            </a:r>
          </a:p>
        </p:txBody>
      </p:sp>
      <p:sp>
        <p:nvSpPr>
          <p:cNvPr id="820" name="Shape 18"/>
          <p:cNvSpPr/>
          <p:nvPr/>
        </p:nvSpPr>
        <p:spPr>
          <a:xfrm>
            <a:off x="320040" y="2980944"/>
            <a:ext cx="4251960" cy="877824"/>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821" name="Shape 19"/>
          <p:cNvSpPr/>
          <p:nvPr/>
        </p:nvSpPr>
        <p:spPr>
          <a:xfrm>
            <a:off x="320040" y="2980944"/>
            <a:ext cx="59436" cy="877824"/>
          </a:xfrm>
          <a:prstGeom prst="rect">
            <a:avLst/>
          </a:prstGeom>
          <a:solidFill>
            <a:srgbClr val="1E8449"/>
          </a:solidFill>
          <a:ln w="12700">
            <a:solidFill>
              <a:srgbClr val="1E8449"/>
            </a:solidFill>
          </a:ln>
        </p:spPr>
        <p:txBody>
          <a:bodyPr lIns="45719" rIns="45719"/>
          <a:lstStyle/>
          <a:p>
            <a:pPr/>
          </a:p>
        </p:txBody>
      </p:sp>
      <p:sp>
        <p:nvSpPr>
          <p:cNvPr id="822" name="Text 20"/>
          <p:cNvSpPr txBox="1"/>
          <p:nvPr/>
        </p:nvSpPr>
        <p:spPr>
          <a:xfrm>
            <a:off x="429768" y="3080257"/>
            <a:ext cx="409651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End-to-End Development Complete</a:t>
            </a:r>
          </a:p>
        </p:txBody>
      </p:sp>
      <p:sp>
        <p:nvSpPr>
          <p:cNvPr id="823" name="Text 21"/>
          <p:cNvSpPr txBox="1"/>
          <p:nvPr/>
        </p:nvSpPr>
        <p:spPr>
          <a:xfrm>
            <a:off x="475488" y="3282696"/>
            <a:ext cx="4005072"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Full pipeline delivered: raw EHR data ingestion → preprocessing → ML training → Power BI dashboard → Azure deployment → clinical alert system. HIPAA-compliant, enterprise-grade security throughout.</a:t>
            </a:r>
          </a:p>
        </p:txBody>
      </p:sp>
      <p:sp>
        <p:nvSpPr>
          <p:cNvPr id="824" name="Shape 22"/>
          <p:cNvSpPr/>
          <p:nvPr/>
        </p:nvSpPr>
        <p:spPr>
          <a:xfrm>
            <a:off x="320040" y="3931920"/>
            <a:ext cx="4251960" cy="877825"/>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825" name="Shape 23"/>
          <p:cNvSpPr/>
          <p:nvPr/>
        </p:nvSpPr>
        <p:spPr>
          <a:xfrm>
            <a:off x="320040" y="3931920"/>
            <a:ext cx="59436" cy="877825"/>
          </a:xfrm>
          <a:prstGeom prst="rect">
            <a:avLst/>
          </a:prstGeom>
          <a:solidFill>
            <a:srgbClr val="7C3AED"/>
          </a:solidFill>
          <a:ln w="12700">
            <a:solidFill>
              <a:srgbClr val="7C3AED"/>
            </a:solidFill>
          </a:ln>
        </p:spPr>
        <p:txBody>
          <a:bodyPr lIns="45719" rIns="45719"/>
          <a:lstStyle/>
          <a:p>
            <a:pPr/>
          </a:p>
        </p:txBody>
      </p:sp>
      <p:sp>
        <p:nvSpPr>
          <p:cNvPr id="826" name="Text 24"/>
          <p:cNvSpPr txBox="1"/>
          <p:nvPr/>
        </p:nvSpPr>
        <p:spPr>
          <a:xfrm>
            <a:off x="429768" y="4031234"/>
            <a:ext cx="409651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1E293B"/>
                </a:solidFill>
              </a:defRPr>
            </a:lvl1pPr>
          </a:lstStyle>
          <a:p>
            <a:pPr/>
            <a:r>
              <a:t>Real-World Problem Solving</a:t>
            </a:r>
          </a:p>
        </p:txBody>
      </p:sp>
      <p:sp>
        <p:nvSpPr>
          <p:cNvPr id="827" name="Text 25"/>
          <p:cNvSpPr txBox="1"/>
          <p:nvPr/>
        </p:nvSpPr>
        <p:spPr>
          <a:xfrm>
            <a:off x="475488" y="4233671"/>
            <a:ext cx="4005072" cy="47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The system addresses real healthcare challenges: fragmented records, medication errors, poor adherence, and lack of predictive analytics — using cutting-edge AI tools learned during the Microsoft Elevate internship.</a:t>
            </a:r>
          </a:p>
        </p:txBody>
      </p:sp>
      <p:sp>
        <p:nvSpPr>
          <p:cNvPr id="828" name="Text 26"/>
          <p:cNvSpPr txBox="1"/>
          <p:nvPr/>
        </p:nvSpPr>
        <p:spPr>
          <a:xfrm>
            <a:off x="4818888" y="767080"/>
            <a:ext cx="3959352"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93B"/>
                </a:solidFill>
              </a:defRPr>
            </a:lvl1pPr>
          </a:lstStyle>
          <a:p>
            <a:pPr/>
            <a:r>
              <a:t>Future Scope</a:t>
            </a:r>
          </a:p>
        </p:txBody>
      </p:sp>
      <p:sp>
        <p:nvSpPr>
          <p:cNvPr id="829" name="Shape 27"/>
          <p:cNvSpPr/>
          <p:nvPr/>
        </p:nvSpPr>
        <p:spPr>
          <a:xfrm>
            <a:off x="4773167" y="1078991"/>
            <a:ext cx="1947673" cy="1170434"/>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830" name="Shape 28"/>
          <p:cNvSpPr/>
          <p:nvPr/>
        </p:nvSpPr>
        <p:spPr>
          <a:xfrm>
            <a:off x="4773167" y="1078991"/>
            <a:ext cx="59436" cy="1170434"/>
          </a:xfrm>
          <a:prstGeom prst="rect">
            <a:avLst/>
          </a:prstGeom>
          <a:solidFill>
            <a:srgbClr val="1D4ED8"/>
          </a:solidFill>
          <a:ln w="12700">
            <a:solidFill>
              <a:srgbClr val="1D4ED8"/>
            </a:solidFill>
          </a:ln>
        </p:spPr>
        <p:txBody>
          <a:bodyPr lIns="45719" rIns="45719"/>
          <a:lstStyle/>
          <a:p>
            <a:pPr/>
          </a:p>
        </p:txBody>
      </p:sp>
      <p:sp>
        <p:nvSpPr>
          <p:cNvPr id="831" name="Text 29"/>
          <p:cNvSpPr txBox="1"/>
          <p:nvPr/>
        </p:nvSpPr>
        <p:spPr>
          <a:xfrm>
            <a:off x="4882896" y="1184655"/>
            <a:ext cx="17922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E293B"/>
                </a:solidFill>
              </a:defRPr>
            </a:lvl1pPr>
          </a:lstStyle>
          <a:p>
            <a:pPr/>
            <a:r>
              <a:t>Native Mobile App</a:t>
            </a:r>
          </a:p>
        </p:txBody>
      </p:sp>
      <p:sp>
        <p:nvSpPr>
          <p:cNvPr id="832" name="Text 30"/>
          <p:cNvSpPr txBox="1"/>
          <p:nvPr/>
        </p:nvSpPr>
        <p:spPr>
          <a:xfrm>
            <a:off x="4928616" y="1380744"/>
            <a:ext cx="1700785"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Patient-facing iOS/Android app for self-monitoring, medication reminders, adherence tracking, and direct secure messaging with care coordinators.</a:t>
            </a:r>
          </a:p>
        </p:txBody>
      </p:sp>
      <p:sp>
        <p:nvSpPr>
          <p:cNvPr id="833" name="Shape 31"/>
          <p:cNvSpPr/>
          <p:nvPr/>
        </p:nvSpPr>
        <p:spPr>
          <a:xfrm>
            <a:off x="6839711" y="1078991"/>
            <a:ext cx="1947673" cy="1170434"/>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834" name="Shape 32"/>
          <p:cNvSpPr/>
          <p:nvPr/>
        </p:nvSpPr>
        <p:spPr>
          <a:xfrm>
            <a:off x="6839711" y="1078991"/>
            <a:ext cx="59436" cy="1170434"/>
          </a:xfrm>
          <a:prstGeom prst="rect">
            <a:avLst/>
          </a:prstGeom>
          <a:solidFill>
            <a:srgbClr val="0D9488"/>
          </a:solidFill>
          <a:ln w="12700">
            <a:solidFill>
              <a:srgbClr val="0D9488"/>
            </a:solidFill>
          </a:ln>
        </p:spPr>
        <p:txBody>
          <a:bodyPr lIns="45719" rIns="45719"/>
          <a:lstStyle/>
          <a:p>
            <a:pPr/>
          </a:p>
        </p:txBody>
      </p:sp>
      <p:sp>
        <p:nvSpPr>
          <p:cNvPr id="835" name="Text 33"/>
          <p:cNvSpPr txBox="1"/>
          <p:nvPr/>
        </p:nvSpPr>
        <p:spPr>
          <a:xfrm>
            <a:off x="6949440" y="1184655"/>
            <a:ext cx="17922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E293B"/>
                </a:solidFill>
              </a:defRPr>
            </a:lvl1pPr>
          </a:lstStyle>
          <a:p>
            <a:pPr/>
            <a:r>
              <a:t>LLM Clinical Chatbot</a:t>
            </a:r>
          </a:p>
        </p:txBody>
      </p:sp>
      <p:sp>
        <p:nvSpPr>
          <p:cNvPr id="836" name="Text 34"/>
          <p:cNvSpPr txBox="1"/>
          <p:nvPr/>
        </p:nvSpPr>
        <p:spPr>
          <a:xfrm>
            <a:off x="6995159" y="1380744"/>
            <a:ext cx="1700785" cy="85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GPT-4-based chatbot for natural language symptom triaging, patient Q&amp;A, drug interaction queries, and preliminary risk assessment before doctor consultations.</a:t>
            </a:r>
          </a:p>
        </p:txBody>
      </p:sp>
      <p:sp>
        <p:nvSpPr>
          <p:cNvPr id="837" name="Shape 35"/>
          <p:cNvSpPr/>
          <p:nvPr/>
        </p:nvSpPr>
        <p:spPr>
          <a:xfrm>
            <a:off x="4773167" y="2340864"/>
            <a:ext cx="1947673" cy="1170433"/>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838" name="Shape 36"/>
          <p:cNvSpPr/>
          <p:nvPr/>
        </p:nvSpPr>
        <p:spPr>
          <a:xfrm>
            <a:off x="4773167" y="2340864"/>
            <a:ext cx="59436" cy="1170433"/>
          </a:xfrm>
          <a:prstGeom prst="rect">
            <a:avLst/>
          </a:prstGeom>
          <a:solidFill>
            <a:srgbClr val="1E8449"/>
          </a:solidFill>
          <a:ln w="12700">
            <a:solidFill>
              <a:srgbClr val="1E8449"/>
            </a:solidFill>
          </a:ln>
        </p:spPr>
        <p:txBody>
          <a:bodyPr lIns="45719" rIns="45719"/>
          <a:lstStyle/>
          <a:p>
            <a:pPr/>
          </a:p>
        </p:txBody>
      </p:sp>
      <p:sp>
        <p:nvSpPr>
          <p:cNvPr id="839" name="Text 37"/>
          <p:cNvSpPr txBox="1"/>
          <p:nvPr/>
        </p:nvSpPr>
        <p:spPr>
          <a:xfrm>
            <a:off x="4882896" y="2446527"/>
            <a:ext cx="17922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E293B"/>
                </a:solidFill>
              </a:defRPr>
            </a:lvl1pPr>
          </a:lstStyle>
          <a:p>
            <a:pPr/>
            <a:r>
              <a:t>Genomic Data Integration</a:t>
            </a:r>
          </a:p>
        </p:txBody>
      </p:sp>
      <p:sp>
        <p:nvSpPr>
          <p:cNvPr id="840" name="Text 38"/>
          <p:cNvSpPr txBox="1"/>
          <p:nvPr/>
        </p:nvSpPr>
        <p:spPr>
          <a:xfrm>
            <a:off x="4928616" y="2642616"/>
            <a:ext cx="1700785" cy="85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Incorporate genomic sequencing data for precision medicine: personalized drug prescriptions and disease risk profiling based on each patient's unique genetic profile.</a:t>
            </a:r>
          </a:p>
        </p:txBody>
      </p:sp>
      <p:sp>
        <p:nvSpPr>
          <p:cNvPr id="841" name="Shape 39"/>
          <p:cNvSpPr/>
          <p:nvPr/>
        </p:nvSpPr>
        <p:spPr>
          <a:xfrm>
            <a:off x="6839711" y="2340864"/>
            <a:ext cx="1947673" cy="1170433"/>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842" name="Shape 40"/>
          <p:cNvSpPr/>
          <p:nvPr/>
        </p:nvSpPr>
        <p:spPr>
          <a:xfrm>
            <a:off x="6839711" y="2340864"/>
            <a:ext cx="59436" cy="1170433"/>
          </a:xfrm>
          <a:prstGeom prst="rect">
            <a:avLst/>
          </a:prstGeom>
          <a:solidFill>
            <a:srgbClr val="7C3AED"/>
          </a:solidFill>
          <a:ln w="12700">
            <a:solidFill>
              <a:srgbClr val="7C3AED"/>
            </a:solidFill>
          </a:ln>
        </p:spPr>
        <p:txBody>
          <a:bodyPr lIns="45719" rIns="45719"/>
          <a:lstStyle/>
          <a:p>
            <a:pPr/>
          </a:p>
        </p:txBody>
      </p:sp>
      <p:sp>
        <p:nvSpPr>
          <p:cNvPr id="843" name="Text 41"/>
          <p:cNvSpPr txBox="1"/>
          <p:nvPr/>
        </p:nvSpPr>
        <p:spPr>
          <a:xfrm>
            <a:off x="6949440" y="2446527"/>
            <a:ext cx="17922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E293B"/>
                </a:solidFill>
              </a:defRPr>
            </a:lvl1pPr>
          </a:lstStyle>
          <a:p>
            <a:pPr/>
            <a:r>
              <a:t>IoT Emergency Automation</a:t>
            </a:r>
          </a:p>
        </p:txBody>
      </p:sp>
      <p:sp>
        <p:nvSpPr>
          <p:cNvPr id="844" name="Text 42"/>
          <p:cNvSpPr txBox="1"/>
          <p:nvPr/>
        </p:nvSpPr>
        <p:spPr>
          <a:xfrm>
            <a:off x="6995159" y="2642616"/>
            <a:ext cx="1700785" cy="85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Automatic emergency response: ambulance dispatch alerts, ER pre-notification, and family member SMS alerts triggered by critical IoT wearable reading thresholds.</a:t>
            </a:r>
          </a:p>
        </p:txBody>
      </p:sp>
      <p:sp>
        <p:nvSpPr>
          <p:cNvPr id="845" name="Shape 43"/>
          <p:cNvSpPr/>
          <p:nvPr/>
        </p:nvSpPr>
        <p:spPr>
          <a:xfrm>
            <a:off x="4773167" y="3602735"/>
            <a:ext cx="1947673" cy="1170433"/>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846" name="Shape 44"/>
          <p:cNvSpPr/>
          <p:nvPr/>
        </p:nvSpPr>
        <p:spPr>
          <a:xfrm>
            <a:off x="4773167" y="3602735"/>
            <a:ext cx="59436" cy="1170433"/>
          </a:xfrm>
          <a:prstGeom prst="rect">
            <a:avLst/>
          </a:prstGeom>
          <a:solidFill>
            <a:srgbClr val="D97706"/>
          </a:solidFill>
          <a:ln w="12700">
            <a:solidFill>
              <a:srgbClr val="D97706"/>
            </a:solidFill>
          </a:ln>
        </p:spPr>
        <p:txBody>
          <a:bodyPr lIns="45719" rIns="45719"/>
          <a:lstStyle/>
          <a:p>
            <a:pPr/>
          </a:p>
        </p:txBody>
      </p:sp>
      <p:sp>
        <p:nvSpPr>
          <p:cNvPr id="847" name="Text 45"/>
          <p:cNvSpPr txBox="1"/>
          <p:nvPr/>
        </p:nvSpPr>
        <p:spPr>
          <a:xfrm>
            <a:off x="4882896" y="3708399"/>
            <a:ext cx="17922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E293B"/>
                </a:solidFill>
              </a:defRPr>
            </a:lvl1pPr>
          </a:lstStyle>
          <a:p>
            <a:pPr/>
            <a:r>
              <a:t>Federated Learning</a:t>
            </a:r>
          </a:p>
        </p:txBody>
      </p:sp>
      <p:sp>
        <p:nvSpPr>
          <p:cNvPr id="848" name="Text 46"/>
          <p:cNvSpPr txBox="1"/>
          <p:nvPr/>
        </p:nvSpPr>
        <p:spPr>
          <a:xfrm>
            <a:off x="4928616" y="3904488"/>
            <a:ext cx="1700785" cy="85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Multi-hospital federated ML — train shared models across distributed patient data without centralizing sensitive records, preserving full GDPR/HIPAA privacy compliance.</a:t>
            </a:r>
          </a:p>
        </p:txBody>
      </p:sp>
      <p:sp>
        <p:nvSpPr>
          <p:cNvPr id="849" name="Shape 47"/>
          <p:cNvSpPr/>
          <p:nvPr/>
        </p:nvSpPr>
        <p:spPr>
          <a:xfrm>
            <a:off x="6839711" y="3602735"/>
            <a:ext cx="1947673" cy="1170433"/>
          </a:xfrm>
          <a:prstGeom prst="rect">
            <a:avLst/>
          </a:prstGeom>
          <a:solidFill>
            <a:srgbClr val="FFFFFF"/>
          </a:solidFill>
          <a:ln w="12700">
            <a:solidFill>
              <a:srgbClr val="E2E8F0"/>
            </a:solidFill>
          </a:ln>
          <a:effectLst>
            <a:outerShdw sx="100000" sy="100000" kx="0" ky="0" algn="b" rotWithShape="0" blurRad="63500" dist="25400" dir="8100000">
              <a:srgbClr val="000000">
                <a:alpha val="10000"/>
              </a:srgbClr>
            </a:outerShdw>
          </a:effectLst>
        </p:spPr>
        <p:txBody>
          <a:bodyPr lIns="45719" rIns="45719"/>
          <a:lstStyle/>
          <a:p>
            <a:pPr/>
          </a:p>
        </p:txBody>
      </p:sp>
      <p:sp>
        <p:nvSpPr>
          <p:cNvPr id="850" name="Shape 48"/>
          <p:cNvSpPr/>
          <p:nvPr/>
        </p:nvSpPr>
        <p:spPr>
          <a:xfrm>
            <a:off x="6839711" y="3602735"/>
            <a:ext cx="59436" cy="1170433"/>
          </a:xfrm>
          <a:prstGeom prst="rect">
            <a:avLst/>
          </a:prstGeom>
          <a:solidFill>
            <a:srgbClr val="DC2626"/>
          </a:solidFill>
          <a:ln w="12700">
            <a:solidFill>
              <a:srgbClr val="DC2626"/>
            </a:solidFill>
          </a:ln>
        </p:spPr>
        <p:txBody>
          <a:bodyPr lIns="45719" rIns="45719"/>
          <a:lstStyle/>
          <a:p>
            <a:pPr/>
          </a:p>
        </p:txBody>
      </p:sp>
      <p:sp>
        <p:nvSpPr>
          <p:cNvPr id="851" name="Text 49"/>
          <p:cNvSpPr txBox="1"/>
          <p:nvPr/>
        </p:nvSpPr>
        <p:spPr>
          <a:xfrm>
            <a:off x="6949440" y="3708399"/>
            <a:ext cx="17922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E293B"/>
                </a:solidFill>
              </a:defRPr>
            </a:lvl1pPr>
          </a:lstStyle>
          <a:p>
            <a:pPr/>
            <a:r>
              <a:t>Multi-Hospital Expansion</a:t>
            </a:r>
          </a:p>
        </p:txBody>
      </p:sp>
      <p:sp>
        <p:nvSpPr>
          <p:cNvPr id="852" name="Text 50"/>
          <p:cNvSpPr txBox="1"/>
          <p:nvPr/>
        </p:nvSpPr>
        <p:spPr>
          <a:xfrm>
            <a:off x="6995159" y="3904488"/>
            <a:ext cx="1700785" cy="85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374151"/>
                </a:solidFill>
              </a:defRPr>
            </a:lvl1pPr>
          </a:lstStyle>
          <a:p>
            <a:pPr/>
            <a:r>
              <a:t>Extend the platform to cover multiple hospital networks with centralized Azure-hosted analytics while maintaining data sovereignty for each participating institution.</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B2A4A"/>
        </a:solidFill>
      </p:bgPr>
    </p:bg>
    <p:spTree>
      <p:nvGrpSpPr>
        <p:cNvPr id="1" name=""/>
        <p:cNvGrpSpPr/>
        <p:nvPr/>
      </p:nvGrpSpPr>
      <p:grpSpPr>
        <a:xfrm>
          <a:off x="0" y="0"/>
          <a:ext cx="0" cy="0"/>
          <a:chOff x="0" y="0"/>
          <a:chExt cx="0" cy="0"/>
        </a:xfrm>
      </p:grpSpPr>
      <p:sp>
        <p:nvSpPr>
          <p:cNvPr id="854" name="Shape 0"/>
          <p:cNvSpPr/>
          <p:nvPr/>
        </p:nvSpPr>
        <p:spPr>
          <a:xfrm>
            <a:off x="-1" y="0"/>
            <a:ext cx="182882" cy="5143500"/>
          </a:xfrm>
          <a:prstGeom prst="rect">
            <a:avLst/>
          </a:prstGeom>
          <a:solidFill>
            <a:srgbClr val="1E8449"/>
          </a:solidFill>
          <a:ln w="12700">
            <a:solidFill>
              <a:srgbClr val="1E8449"/>
            </a:solidFill>
          </a:ln>
        </p:spPr>
        <p:txBody>
          <a:bodyPr lIns="45719" rIns="45719"/>
          <a:lstStyle/>
          <a:p>
            <a:pPr/>
          </a:p>
        </p:txBody>
      </p:sp>
      <p:sp>
        <p:nvSpPr>
          <p:cNvPr id="855" name="Shape 1"/>
          <p:cNvSpPr/>
          <p:nvPr/>
        </p:nvSpPr>
        <p:spPr>
          <a:xfrm>
            <a:off x="0" y="4846320"/>
            <a:ext cx="9144000" cy="297181"/>
          </a:xfrm>
          <a:prstGeom prst="rect">
            <a:avLst/>
          </a:prstGeom>
          <a:solidFill>
            <a:srgbClr val="1E8449"/>
          </a:solidFill>
          <a:ln w="12700">
            <a:solidFill>
              <a:srgbClr val="1E8449"/>
            </a:solidFill>
          </a:ln>
        </p:spPr>
        <p:txBody>
          <a:bodyPr lIns="45719" rIns="45719"/>
          <a:lstStyle/>
          <a:p>
            <a:pPr/>
          </a:p>
        </p:txBody>
      </p:sp>
      <p:sp>
        <p:nvSpPr>
          <p:cNvPr id="856" name="Text 2"/>
          <p:cNvSpPr txBox="1"/>
          <p:nvPr/>
        </p:nvSpPr>
        <p:spPr>
          <a:xfrm>
            <a:off x="301752" y="4879340"/>
            <a:ext cx="8540496"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1B2A4A"/>
                </a:solidFill>
              </a:defRPr>
            </a:lvl1pPr>
          </a:lstStyle>
          <a:p>
            <a:pPr/>
            <a:r>
              <a:t>Gujarat Technological University  |  Microsoft Elevate Capstone Project  |  Jan–Apr 2026</a:t>
            </a:r>
          </a:p>
        </p:txBody>
      </p:sp>
      <p:sp>
        <p:nvSpPr>
          <p:cNvPr id="857" name="Text 3"/>
          <p:cNvSpPr txBox="1"/>
          <p:nvPr/>
        </p:nvSpPr>
        <p:spPr>
          <a:xfrm>
            <a:off x="393192" y="156464"/>
            <a:ext cx="4937760"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600">
                <a:solidFill>
                  <a:srgbClr val="FFFFFF"/>
                </a:solidFill>
              </a:defRPr>
            </a:lvl1pPr>
          </a:lstStyle>
          <a:p>
            <a:pPr/>
            <a:r>
              <a:t>References</a:t>
            </a:r>
          </a:p>
        </p:txBody>
      </p:sp>
      <p:sp>
        <p:nvSpPr>
          <p:cNvPr id="858" name="Text 4"/>
          <p:cNvSpPr txBox="1"/>
          <p:nvPr/>
        </p:nvSpPr>
        <p:spPr>
          <a:xfrm>
            <a:off x="393192" y="628650"/>
            <a:ext cx="4937760"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9BB4CC"/>
                </a:solidFill>
              </a:defRPr>
            </a:lvl1pPr>
          </a:lstStyle>
          <a:p>
            <a:pPr/>
            <a:r>
              <a:t>[1] WHO Global Patient Safety Report 2024 — Medication Safety. World Health Organization.</a:t>
            </a:r>
          </a:p>
        </p:txBody>
      </p:sp>
      <p:sp>
        <p:nvSpPr>
          <p:cNvPr id="859" name="Text 5"/>
          <p:cNvSpPr txBox="1"/>
          <p:nvPr/>
        </p:nvSpPr>
        <p:spPr>
          <a:xfrm>
            <a:off x="393192" y="1040129"/>
            <a:ext cx="4937760"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9BB4CC"/>
                </a:solidFill>
              </a:defRPr>
            </a:lvl1pPr>
          </a:lstStyle>
          <a:p>
            <a:pPr/>
            <a:r>
              <a:t>[2] Microsoft Azure Health Data Services Documentation — HL7 FHIR API. Microsoft Corp., 2025.</a:t>
            </a:r>
          </a:p>
        </p:txBody>
      </p:sp>
      <p:sp>
        <p:nvSpPr>
          <p:cNvPr id="860" name="Text 6"/>
          <p:cNvSpPr txBox="1"/>
          <p:nvPr/>
        </p:nvSpPr>
        <p:spPr>
          <a:xfrm>
            <a:off x="393192" y="1451610"/>
            <a:ext cx="4937760"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9BB4CC"/>
                </a:solidFill>
              </a:defRPr>
            </a:lvl1pPr>
          </a:lstStyle>
          <a:p>
            <a:pPr/>
            <a:r>
              <a:t>[3] Power BI for Healthcare Analytics — Microsoft Learn. docs.microsoft.com, 2025.</a:t>
            </a:r>
          </a:p>
        </p:txBody>
      </p:sp>
      <p:sp>
        <p:nvSpPr>
          <p:cNvPr id="861" name="Text 7"/>
          <p:cNvSpPr txBox="1"/>
          <p:nvPr/>
        </p:nvSpPr>
        <p:spPr>
          <a:xfrm>
            <a:off x="393192" y="1863089"/>
            <a:ext cx="4937760"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9BB4CC"/>
                </a:solidFill>
              </a:defRPr>
            </a:lvl1pPr>
          </a:lstStyle>
          <a:p>
            <a:pPr/>
            <a:r>
              <a:t>[4] Edunet Foundation &amp; FICE Education — Microsoft Elevate GTU Internship Program Guide, Jan 2026.</a:t>
            </a:r>
          </a:p>
        </p:txBody>
      </p:sp>
      <p:sp>
        <p:nvSpPr>
          <p:cNvPr id="862" name="Text 8"/>
          <p:cNvSpPr txBox="1"/>
          <p:nvPr/>
        </p:nvSpPr>
        <p:spPr>
          <a:xfrm>
            <a:off x="393192" y="2274569"/>
            <a:ext cx="4937760"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9BB4CC"/>
                </a:solidFill>
              </a:defRPr>
            </a:lvl1pPr>
          </a:lstStyle>
          <a:p>
            <a:pPr/>
            <a:r>
              <a:t>[5] Scikit-learn: Machine Learning in Python — Pedregosa et al., JMLR 12, pp.2825–2830, 2011.</a:t>
            </a:r>
          </a:p>
        </p:txBody>
      </p:sp>
      <p:sp>
        <p:nvSpPr>
          <p:cNvPr id="863" name="Text 9"/>
          <p:cNvSpPr txBox="1"/>
          <p:nvPr/>
        </p:nvSpPr>
        <p:spPr>
          <a:xfrm>
            <a:off x="393192" y="2686049"/>
            <a:ext cx="4937760"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9BB4CC"/>
                </a:solidFill>
              </a:defRPr>
            </a:lvl1pPr>
          </a:lstStyle>
          <a:p>
            <a:pPr/>
            <a:r>
              <a:t>[6] TensorFlow: Large-Scale ML on Heterogeneous Systems — Abadi et al., Google Brain, 2016.</a:t>
            </a:r>
          </a:p>
        </p:txBody>
      </p:sp>
      <p:sp>
        <p:nvSpPr>
          <p:cNvPr id="864" name="Text 10"/>
          <p:cNvSpPr txBox="1"/>
          <p:nvPr/>
        </p:nvSpPr>
        <p:spPr>
          <a:xfrm>
            <a:off x="393192" y="3097529"/>
            <a:ext cx="4937760"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9BB4CC"/>
                </a:solidFill>
              </a:defRPr>
            </a:lvl1pPr>
          </a:lstStyle>
          <a:p>
            <a:pPr/>
            <a:r>
              <a:t>[7] Deep Learning for Medical Image Analysis — Shen et al., Annual Review of Biomedical Eng., 2017.</a:t>
            </a:r>
          </a:p>
        </p:txBody>
      </p:sp>
      <p:sp>
        <p:nvSpPr>
          <p:cNvPr id="865" name="Text 11"/>
          <p:cNvSpPr txBox="1"/>
          <p:nvPr/>
        </p:nvSpPr>
        <p:spPr>
          <a:xfrm>
            <a:off x="393192" y="3509009"/>
            <a:ext cx="4937760"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9BB4CC"/>
                </a:solidFill>
              </a:defRPr>
            </a:lvl1pPr>
          </a:lstStyle>
          <a:p>
            <a:pPr/>
            <a:r>
              <a:t>[8] HIPAA Security Rule — U.S. Dept. of Health &amp; Human Services. hhs.gov.</a:t>
            </a:r>
          </a:p>
        </p:txBody>
      </p:sp>
      <p:sp>
        <p:nvSpPr>
          <p:cNvPr id="866" name="Text 12"/>
          <p:cNvSpPr txBox="1"/>
          <p:nvPr/>
        </p:nvSpPr>
        <p:spPr>
          <a:xfrm>
            <a:off x="393192" y="3863339"/>
            <a:ext cx="493776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700">
                <a:solidFill>
                  <a:srgbClr val="9BB4CC"/>
                </a:solidFill>
              </a:defRPr>
            </a:pPr>
            <a:r>
              <a:t>[9] GitHub Repository — Healthcare &amp; Medication Management System :- </a:t>
            </a:r>
            <a:r>
              <a:rPr u="sng">
                <a:solidFill>
                  <a:srgbClr val="0563C1"/>
                </a:solidFill>
                <a:uFill>
                  <a:solidFill>
                    <a:srgbClr val="0563C1"/>
                  </a:solidFill>
                </a:uFill>
                <a:hlinkClick r:id="rId2" invalidUrl="" action="" tgtFrame="" tooltip="" history="1" highlightClick="0" endSnd="0"/>
              </a:rPr>
              <a:t>https://github.com/tarangchaniyara/healthcare-medication-management-system</a:t>
            </a:r>
          </a:p>
        </p:txBody>
      </p:sp>
      <p:sp>
        <p:nvSpPr>
          <p:cNvPr id="867" name="Shape 13"/>
          <p:cNvSpPr/>
          <p:nvPr/>
        </p:nvSpPr>
        <p:spPr>
          <a:xfrm>
            <a:off x="5577840" y="164592"/>
            <a:ext cx="3401569" cy="4526280"/>
          </a:xfrm>
          <a:prstGeom prst="rect">
            <a:avLst/>
          </a:prstGeom>
          <a:solidFill>
            <a:srgbClr val="1E3460"/>
          </a:solidFill>
          <a:ln w="12700">
            <a:solidFill>
              <a:srgbClr val="3A5278"/>
            </a:solidFill>
          </a:ln>
        </p:spPr>
        <p:txBody>
          <a:bodyPr lIns="45719" rIns="45719"/>
          <a:lstStyle/>
          <a:p>
            <a:pPr/>
          </a:p>
        </p:txBody>
      </p:sp>
      <p:sp>
        <p:nvSpPr>
          <p:cNvPr id="868" name="Text 14"/>
          <p:cNvSpPr txBox="1"/>
          <p:nvPr/>
        </p:nvSpPr>
        <p:spPr>
          <a:xfrm>
            <a:off x="5623560" y="712469"/>
            <a:ext cx="3310129" cy="586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3200">
                <a:solidFill>
                  <a:srgbClr val="FFFFFF"/>
                </a:solidFill>
              </a:defRPr>
            </a:lvl1pPr>
          </a:lstStyle>
          <a:p>
            <a:pPr/>
            <a:r>
              <a:t>Thank You!</a:t>
            </a:r>
          </a:p>
        </p:txBody>
      </p:sp>
      <p:sp>
        <p:nvSpPr>
          <p:cNvPr id="869" name="Text 15"/>
          <p:cNvSpPr txBox="1"/>
          <p:nvPr/>
        </p:nvSpPr>
        <p:spPr>
          <a:xfrm>
            <a:off x="5623560" y="1607312"/>
            <a:ext cx="3310129"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i="1" sz="1300">
                <a:solidFill>
                  <a:srgbClr val="7DB3D8"/>
                </a:solidFill>
              </a:defRPr>
            </a:pPr>
            <a:r>
              <a:t>Questions &amp;</a:t>
            </a:r>
          </a:p>
          <a:p>
            <a:pPr algn="ctr">
              <a:defRPr i="1" sz="1300">
                <a:solidFill>
                  <a:srgbClr val="7DB3D8"/>
                </a:solidFill>
              </a:defRPr>
            </a:pPr>
            <a:r>
              <a:t>Discussion Welcome</a:t>
            </a:r>
          </a:p>
        </p:txBody>
      </p:sp>
      <p:sp>
        <p:nvSpPr>
          <p:cNvPr id="870" name="Shape 16"/>
          <p:cNvSpPr/>
          <p:nvPr/>
        </p:nvSpPr>
        <p:spPr>
          <a:xfrm>
            <a:off x="5852159" y="2267711"/>
            <a:ext cx="2834641" cy="27433"/>
          </a:xfrm>
          <a:prstGeom prst="rect">
            <a:avLst/>
          </a:prstGeom>
          <a:solidFill>
            <a:srgbClr val="1E8449"/>
          </a:solidFill>
          <a:ln w="12700">
            <a:solidFill>
              <a:srgbClr val="1E8449"/>
            </a:solidFill>
          </a:ln>
        </p:spPr>
        <p:txBody>
          <a:bodyPr lIns="45719" rIns="45719"/>
          <a:lstStyle/>
          <a:p>
            <a:pPr/>
          </a:p>
        </p:txBody>
      </p:sp>
      <p:sp>
        <p:nvSpPr>
          <p:cNvPr id="871" name="Text 17"/>
          <p:cNvSpPr txBox="1"/>
          <p:nvPr/>
        </p:nvSpPr>
        <p:spPr>
          <a:xfrm>
            <a:off x="5623560" y="2920491"/>
            <a:ext cx="3310129" cy="980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300">
                <a:solidFill>
                  <a:srgbClr val="FFFFFF"/>
                </a:solidFill>
              </a:defRPr>
            </a:pPr>
            <a:r>
              <a:t>Tarang Chaniyara</a:t>
            </a:r>
          </a:p>
          <a:p>
            <a:pPr algn="ctr">
              <a:defRPr b="1" sz="1300">
                <a:solidFill>
                  <a:srgbClr val="FFFFFF"/>
                </a:solidFill>
              </a:defRPr>
            </a:pPr>
            <a:r>
              <a:rPr b="0" sz="900">
                <a:solidFill>
                  <a:srgbClr val="7DB3D8"/>
                </a:solidFill>
              </a:rPr>
              <a:t>Enrollment No: 220470116012</a:t>
            </a:r>
            <a:endParaRPr b="0" sz="900">
              <a:solidFill>
                <a:srgbClr val="7DB3D8"/>
              </a:solidFill>
            </a:endParaRPr>
          </a:p>
          <a:p>
            <a:pPr algn="ctr">
              <a:defRPr b="1" sz="1300">
                <a:solidFill>
                  <a:srgbClr val="FFFFFF"/>
                </a:solidFill>
              </a:defRPr>
            </a:pPr>
            <a:r>
              <a:rPr b="0" sz="900">
                <a:solidFill>
                  <a:srgbClr val="7DB3D8"/>
                </a:solidFill>
              </a:rPr>
              <a:t>V.V.P. Engineering College</a:t>
            </a:r>
            <a:endParaRPr b="0" sz="900">
              <a:solidFill>
                <a:srgbClr val="7DB3D8"/>
              </a:solidFill>
            </a:endParaRPr>
          </a:p>
          <a:p>
            <a:pPr algn="ctr">
              <a:defRPr b="1" sz="1300">
                <a:solidFill>
                  <a:srgbClr val="FFFFFF"/>
                </a:solidFill>
              </a:defRPr>
            </a:pPr>
            <a:r>
              <a:rPr b="0" sz="900">
                <a:solidFill>
                  <a:srgbClr val="7DB3D8"/>
                </a:solidFill>
              </a:rPr>
              <a:t>Dept. of Information Technology</a:t>
            </a:r>
            <a:endParaRPr b="0" sz="900">
              <a:solidFill>
                <a:srgbClr val="7DB3D8"/>
              </a:solidFill>
            </a:endParaRPr>
          </a:p>
          <a:p>
            <a:pPr algn="ctr">
              <a:defRPr b="1" sz="1300">
                <a:solidFill>
                  <a:srgbClr val="FFFFFF"/>
                </a:solidFill>
              </a:defRPr>
            </a:pPr>
            <a:r>
              <a:rPr b="0" sz="900">
                <a:solidFill>
                  <a:srgbClr val="7DB3D8"/>
                </a:solidFill>
              </a:rPr>
              <a:t>Microsoft Elevate Internship 2026</a:t>
            </a:r>
            <a:endParaRPr b="0" sz="900">
              <a:solidFill>
                <a:srgbClr val="7DB3D8"/>
              </a:solidFill>
            </a:endParaRPr>
          </a:p>
          <a:p>
            <a:pPr algn="ctr">
              <a:defRPr b="1" sz="1300">
                <a:solidFill>
                  <a:srgbClr val="FFFFFF"/>
                </a:solidFill>
              </a:defRPr>
            </a:pPr>
            <a:r>
              <a:rPr b="0" sz="800">
                <a:solidFill>
                  <a:schemeClr val="accent5"/>
                </a:solidFill>
              </a:rPr>
              <a:t>22it063.tarang.chaniyara@vvpedulink.ac.in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entury Gothic"/>
        <a:ea typeface="Century Gothic"/>
        <a:cs typeface="Century Gothic"/>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entury Gothic"/>
        <a:ea typeface="Century Gothic"/>
        <a:cs typeface="Century Gothic"/>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