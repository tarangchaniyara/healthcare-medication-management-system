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1.xml" ContentType="application/vnd.openxmlformats-officedocument.drawingml.chart+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6" r:id="rId16"/>
    <p:sldId id="270" r:id="rId17"/>
    <p:sldId id="271" r:id="rId18"/>
    <p:sldId id="272" r:id="rId19"/>
    <p:sldId id="273" r:id="rId20"/>
    <p:sldId id="274" r:id="rId21"/>
    <p:sldId id="275" r:id="rId2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25" d="100"/>
          <a:sy n="125" d="100"/>
        </p:scale>
        <p:origin x="226" y="11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pPr>
              <a:defRPr sz="900" b="0" i="0" u="none" strike="noStrike">
                <a:solidFill>
                  <a:srgbClr val="1E293B"/>
                </a:solidFill>
                <a:latin typeface="Arial"/>
              </a:defRPr>
            </a:pPr>
            <a:r>
              <a:rPr lang="en-IN" sz="900" b="0" i="0" u="none" strike="noStrike">
                <a:solidFill>
                  <a:srgbClr val="1E293B"/>
                </a:solidFill>
                <a:latin typeface="Arial"/>
              </a:rPr>
              <a:t>Medication Adherence Improvement (%)</a:t>
            </a:r>
          </a:p>
        </c:rich>
      </c:tx>
      <c:overlay val="0"/>
    </c:title>
    <c:autoTitleDeleted val="0"/>
    <c:plotArea>
      <c:layout/>
      <c:barChart>
        <c:barDir val="col"/>
        <c:grouping val="clustered"/>
        <c:varyColors val="0"/>
        <c:ser>
          <c:idx val="0"/>
          <c:order val="0"/>
          <c:tx>
            <c:strRef>
              <c:f>Sheet1!$B$1</c:f>
              <c:strCache>
                <c:ptCount val="1"/>
                <c:pt idx="0">
                  <c:v>Adherence Rate %</c:v>
                </c:pt>
              </c:strCache>
            </c:strRef>
          </c:tx>
          <c:spPr>
            <a:solidFill>
              <a:srgbClr val="1D4ED8"/>
            </a:solidFill>
            <a:effectLst/>
          </c:spPr>
          <c:invertIfNegative val="0"/>
          <c:dLbls>
            <c:numFmt formatCode="#,##0" sourceLinked="0"/>
            <c:spPr>
              <a:noFill/>
              <a:ln>
                <a:noFill/>
              </a:ln>
              <a:effectLst/>
            </c:spPr>
            <c:txPr>
              <a:bodyPr/>
              <a:lstStyle/>
              <a:p>
                <a:pPr>
                  <a:defRPr sz="8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Wk 1</c:v>
                </c:pt>
                <c:pt idx="1">
                  <c:v>Wk 2</c:v>
                </c:pt>
                <c:pt idx="2">
                  <c:v>Wk 3</c:v>
                </c:pt>
                <c:pt idx="3">
                  <c:v>Wk 4</c:v>
                </c:pt>
                <c:pt idx="4">
                  <c:v>Wk 5</c:v>
                </c:pt>
                <c:pt idx="5">
                  <c:v>Wk 6</c:v>
                </c:pt>
                <c:pt idx="6">
                  <c:v>Wk 7</c:v>
                </c:pt>
                <c:pt idx="7">
                  <c:v>Wk 8</c:v>
                </c:pt>
              </c:strCache>
            </c:strRef>
          </c:cat>
          <c:val>
            <c:numRef>
              <c:f>Sheet1!$B$2:$B$9</c:f>
              <c:numCache>
                <c:formatCode>General</c:formatCode>
                <c:ptCount val="8"/>
                <c:pt idx="0">
                  <c:v>52</c:v>
                </c:pt>
                <c:pt idx="1">
                  <c:v>58</c:v>
                </c:pt>
                <c:pt idx="2">
                  <c:v>63</c:v>
                </c:pt>
                <c:pt idx="3">
                  <c:v>67</c:v>
                </c:pt>
                <c:pt idx="4">
                  <c:v>72</c:v>
                </c:pt>
                <c:pt idx="5">
                  <c:v>76</c:v>
                </c:pt>
                <c:pt idx="6">
                  <c:v>81</c:v>
                </c:pt>
                <c:pt idx="7">
                  <c:v>85</c:v>
                </c:pt>
              </c:numCache>
            </c:numRef>
          </c:val>
          <c:extLst>
            <c:ext xmlns:c16="http://schemas.microsoft.com/office/drawing/2014/chart" uri="{C3380CC4-5D6E-409C-BE32-E72D297353CC}">
              <c16:uniqueId val="{00000000-719C-4B5B-85C6-30A8CBB8EE06}"/>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28914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1E8449"/>
          </a:solidFill>
          <a:ln w="12700">
            <a:solidFill>
              <a:srgbClr val="1E8449"/>
            </a:solidFill>
            <a:prstDash val="solid"/>
          </a:ln>
        </p:spPr>
      </p:sp>
      <p:sp>
        <p:nvSpPr>
          <p:cNvPr id="3" name="Shape 1"/>
          <p:cNvSpPr/>
          <p:nvPr/>
        </p:nvSpPr>
        <p:spPr>
          <a:xfrm>
            <a:off x="0" y="4846320"/>
            <a:ext cx="9144000" cy="297180"/>
          </a:xfrm>
          <a:prstGeom prst="rect">
            <a:avLst/>
          </a:prstGeom>
          <a:solidFill>
            <a:srgbClr val="1E8449"/>
          </a:solidFill>
          <a:ln w="12700">
            <a:solidFill>
              <a:srgbClr val="1E8449"/>
            </a:solidFill>
            <a:prstDash val="solid"/>
          </a:ln>
        </p:spPr>
      </p:sp>
      <p:sp>
        <p:nvSpPr>
          <p:cNvPr id="4" name="Shape 2"/>
          <p:cNvSpPr/>
          <p:nvPr/>
        </p:nvSpPr>
        <p:spPr>
          <a:xfrm>
            <a:off x="347472" y="201168"/>
            <a:ext cx="2377440" cy="530352"/>
          </a:xfrm>
          <a:prstGeom prst="rect">
            <a:avLst/>
          </a:prstGeom>
          <a:solidFill>
            <a:srgbClr val="F0F4FA"/>
          </a:solidFill>
          <a:ln w="12700">
            <a:solidFill>
              <a:srgbClr val="3A5278"/>
            </a:solidFill>
            <a:prstDash val="solid"/>
          </a:ln>
        </p:spPr>
        <p:txBody>
          <a:bodyPr/>
          <a:lstStyle/>
          <a:p>
            <a:endParaRPr lang="en-IN" dirty="0"/>
          </a:p>
        </p:txBody>
      </p:sp>
      <p:sp>
        <p:nvSpPr>
          <p:cNvPr id="5" name="Text 3"/>
          <p:cNvSpPr/>
          <p:nvPr/>
        </p:nvSpPr>
        <p:spPr>
          <a:xfrm>
            <a:off x="347472" y="201168"/>
            <a:ext cx="2377440" cy="530352"/>
          </a:xfrm>
          <a:prstGeom prst="rect">
            <a:avLst/>
          </a:prstGeom>
          <a:noFill/>
          <a:ln/>
        </p:spPr>
        <p:txBody>
          <a:bodyPr wrap="square" rtlCol="0" anchor="ctr"/>
          <a:lstStyle/>
          <a:p>
            <a:pPr marL="0" indent="0" algn="ctr">
              <a:buNone/>
            </a:pPr>
            <a:r>
              <a:rPr lang="en-US" sz="650" b="1" dirty="0">
                <a:latin typeface="Calibri" pitchFamily="34" charset="0"/>
                <a:ea typeface="Calibri" pitchFamily="34" charset="-122"/>
                <a:cs typeface="Calibri" pitchFamily="34" charset="-120"/>
              </a:rPr>
              <a:t>GUJARAT TECHNOLOGICAL UNIVERSITY</a:t>
            </a:r>
            <a:endParaRPr lang="en-US" sz="650" dirty="0"/>
          </a:p>
        </p:txBody>
      </p:sp>
      <p:sp>
        <p:nvSpPr>
          <p:cNvPr id="7" name="Text 5"/>
          <p:cNvSpPr/>
          <p:nvPr/>
        </p:nvSpPr>
        <p:spPr>
          <a:xfrm>
            <a:off x="347472" y="1298448"/>
            <a:ext cx="5669280" cy="1371600"/>
          </a:xfrm>
          <a:prstGeom prst="rect">
            <a:avLst/>
          </a:prstGeom>
          <a:noFill/>
          <a:ln/>
        </p:spPr>
        <p:txBody>
          <a:bodyPr wrap="square" rtlCol="0" anchor="ctr"/>
          <a:lstStyle/>
          <a:p>
            <a:pPr marL="0" indent="0">
              <a:buNone/>
            </a:pPr>
            <a:r>
              <a:rPr lang="en-US" sz="3000" b="1" dirty="0">
                <a:solidFill>
                  <a:srgbClr val="1A1A2E"/>
                </a:solidFill>
                <a:latin typeface="Calibri" pitchFamily="34" charset="0"/>
                <a:ea typeface="Calibri" pitchFamily="34" charset="-122"/>
                <a:cs typeface="Calibri" pitchFamily="34" charset="-120"/>
              </a:rPr>
              <a:t>Healthcare &amp; Medication</a:t>
            </a:r>
            <a:endParaRPr lang="en-US" sz="3000" dirty="0"/>
          </a:p>
          <a:p>
            <a:pPr marL="0" indent="0">
              <a:buNone/>
            </a:pPr>
            <a:r>
              <a:rPr lang="en-US" sz="3000" b="1" dirty="0">
                <a:solidFill>
                  <a:srgbClr val="1A1A2E"/>
                </a:solidFill>
                <a:latin typeface="Calibri" pitchFamily="34" charset="0"/>
                <a:ea typeface="Calibri" pitchFamily="34" charset="-122"/>
                <a:cs typeface="Calibri" pitchFamily="34" charset="-120"/>
              </a:rPr>
              <a:t>Management System</a:t>
            </a:r>
            <a:endParaRPr lang="en-US" sz="3000" dirty="0"/>
          </a:p>
        </p:txBody>
      </p:sp>
      <p:sp>
        <p:nvSpPr>
          <p:cNvPr id="8" name="Text 6"/>
          <p:cNvSpPr/>
          <p:nvPr/>
        </p:nvSpPr>
        <p:spPr>
          <a:xfrm>
            <a:off x="347472" y="2706624"/>
            <a:ext cx="5669280" cy="384048"/>
          </a:xfrm>
          <a:prstGeom prst="rect">
            <a:avLst/>
          </a:prstGeom>
          <a:noFill/>
          <a:ln/>
        </p:spPr>
        <p:txBody>
          <a:bodyPr wrap="square" rtlCol="0" anchor="ctr"/>
          <a:lstStyle/>
          <a:p>
            <a:pPr marL="0" indent="0">
              <a:buNone/>
            </a:pPr>
            <a:r>
              <a:rPr lang="en-US" sz="1300" i="1" dirty="0">
                <a:solidFill>
                  <a:srgbClr val="7DB3D8"/>
                </a:solidFill>
                <a:latin typeface="Calibri" pitchFamily="34" charset="0"/>
                <a:ea typeface="Calibri" pitchFamily="34" charset="-122"/>
                <a:cs typeface="Calibri" pitchFamily="34" charset="-120"/>
              </a:rPr>
              <a:t>AI-Powered Patient-Centric Healthcare Analytics Platform</a:t>
            </a:r>
            <a:endParaRPr lang="en-US" sz="1300" dirty="0"/>
          </a:p>
        </p:txBody>
      </p:sp>
      <p:sp>
        <p:nvSpPr>
          <p:cNvPr id="9" name="Shape 7"/>
          <p:cNvSpPr/>
          <p:nvPr/>
        </p:nvSpPr>
        <p:spPr>
          <a:xfrm>
            <a:off x="347472" y="3200400"/>
            <a:ext cx="5120640" cy="27432"/>
          </a:xfrm>
          <a:prstGeom prst="rect">
            <a:avLst/>
          </a:prstGeom>
          <a:solidFill>
            <a:srgbClr val="3A5278"/>
          </a:solidFill>
          <a:ln w="12700">
            <a:solidFill>
              <a:srgbClr val="3A5278"/>
            </a:solidFill>
            <a:prstDash val="solid"/>
          </a:ln>
        </p:spPr>
      </p:sp>
      <p:sp>
        <p:nvSpPr>
          <p:cNvPr id="10" name="Text 8"/>
          <p:cNvSpPr/>
          <p:nvPr/>
        </p:nvSpPr>
        <p:spPr>
          <a:xfrm>
            <a:off x="347472" y="3310128"/>
            <a:ext cx="5120640" cy="1188720"/>
          </a:xfrm>
          <a:prstGeom prst="rect">
            <a:avLst/>
          </a:prstGeom>
          <a:noFill/>
          <a:ln/>
        </p:spPr>
        <p:txBody>
          <a:bodyPr wrap="square" rtlCol="0" anchor="ctr"/>
          <a:lstStyle/>
          <a:p>
            <a:pPr marL="0" indent="0">
              <a:buNone/>
            </a:pPr>
            <a:r>
              <a:rPr lang="en-US" sz="850" b="1" dirty="0">
                <a:solidFill>
                  <a:srgbClr val="7DB3D8"/>
                </a:solidFill>
              </a:rPr>
              <a:t>PRESENTED BY
</a:t>
            </a:r>
            <a:r>
              <a:rPr lang="en-US" sz="1050" dirty="0">
                <a:solidFill>
                  <a:srgbClr val="1A1A2E"/>
                </a:solidFill>
              </a:rPr>
              <a:t>Raj Gambhava  |  Enrollment No: 220470116024
</a:t>
            </a:r>
            <a:r>
              <a:rPr lang="en-US" sz="900" dirty="0">
                <a:solidFill>
                  <a:srgbClr val="7DB3D8"/>
                </a:solidFill>
              </a:rPr>
              <a:t>V.V.P. Engineering College  |  Department of Information Technology
Guided By: Prashant Chauhan</a:t>
            </a:r>
            <a:endParaRPr lang="en-US" sz="850" dirty="0"/>
          </a:p>
        </p:txBody>
      </p:sp>
      <p:sp>
        <p:nvSpPr>
          <p:cNvPr id="15" name="Text 13"/>
          <p:cNvSpPr/>
          <p:nvPr/>
        </p:nvSpPr>
        <p:spPr>
          <a:xfrm>
            <a:off x="256032" y="4846320"/>
            <a:ext cx="8631936" cy="297180"/>
          </a:xfrm>
          <a:prstGeom prst="rect">
            <a:avLst/>
          </a:prstGeom>
          <a:noFill/>
          <a:ln/>
        </p:spPr>
        <p:txBody>
          <a:bodyPr wrap="square" rtlCol="0" anchor="ctr"/>
          <a:lstStyle/>
          <a:p>
            <a:pPr marL="0" indent="0" algn="ctr">
              <a:buNone/>
            </a:pPr>
            <a:r>
              <a:rPr lang="en-US" sz="900" b="1" dirty="0">
                <a:solidFill>
                  <a:srgbClr val="1A1A2E"/>
                </a:solidFill>
                <a:latin typeface="Calibri" pitchFamily="34" charset="0"/>
                <a:ea typeface="Calibri" pitchFamily="34" charset="-122"/>
                <a:cs typeface="Calibri" pitchFamily="34" charset="-120"/>
              </a:rPr>
              <a:t>Microsoft Elevate Internship Project  |  Jan – Apr 2026</a:t>
            </a:r>
            <a:endParaRPr lang="en-US" sz="900" dirty="0"/>
          </a:p>
        </p:txBody>
      </p:sp>
      <p:pic>
        <p:nvPicPr>
          <p:cNvPr id="17" name="Picture 16">
            <a:extLst>
              <a:ext uri="{FF2B5EF4-FFF2-40B4-BE49-F238E27FC236}">
                <a16:creationId xmlns:a16="http://schemas.microsoft.com/office/drawing/2014/main" id="{894C4950-3233-6E8F-1C56-E4F7658761A5}"/>
              </a:ext>
            </a:extLst>
          </p:cNvPr>
          <p:cNvPicPr>
            <a:picLocks noChangeAspect="1"/>
          </p:cNvPicPr>
          <p:nvPr/>
        </p:nvPicPr>
        <p:blipFill>
          <a:blip r:embed="rId3"/>
          <a:stretch>
            <a:fillRect/>
          </a:stretch>
        </p:blipFill>
        <p:spPr>
          <a:xfrm>
            <a:off x="5873243" y="1487424"/>
            <a:ext cx="3014725" cy="219627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01F5F"/>
          </a:solidFill>
          <a:ln w="12700">
            <a:solidFill>
              <a:srgbClr val="FFFFFF"/>
            </a:solidFill>
            <a:prstDash val="solid"/>
          </a:ln>
        </p:spPr>
      </p:sp>
      <p:sp>
        <p:nvSpPr>
          <p:cNvPr id="3" name="Shape 1"/>
          <p:cNvSpPr/>
          <p:nvPr/>
        </p:nvSpPr>
        <p:spPr>
          <a:xfrm>
            <a:off x="0" y="621792"/>
            <a:ext cx="9144000" cy="50292"/>
          </a:xfrm>
          <a:prstGeom prst="rect">
            <a:avLst/>
          </a:prstGeom>
          <a:solidFill>
            <a:srgbClr val="1E8449"/>
          </a:solidFill>
          <a:ln w="12700">
            <a:solidFill>
              <a:srgbClr val="1E8449"/>
            </a:solidFill>
            <a:prstDash val="solid"/>
          </a:ln>
        </p:spPr>
      </p:sp>
      <p:sp>
        <p:nvSpPr>
          <p:cNvPr id="4" name="Text 2"/>
          <p:cNvSpPr/>
          <p:nvPr/>
        </p:nvSpPr>
        <p:spPr>
          <a:xfrm>
            <a:off x="292608" y="45720"/>
            <a:ext cx="7498080" cy="54864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Outline</a:t>
            </a:r>
            <a:endParaRPr lang="en-US" sz="1900" dirty="0"/>
          </a:p>
        </p:txBody>
      </p:sp>
      <p:sp>
        <p:nvSpPr>
          <p:cNvPr id="5" name="Shape 3"/>
          <p:cNvSpPr/>
          <p:nvPr/>
        </p:nvSpPr>
        <p:spPr>
          <a:xfrm>
            <a:off x="7818120" y="82296"/>
            <a:ext cx="1234440" cy="457200"/>
          </a:xfrm>
          <a:prstGeom prst="rect">
            <a:avLst/>
          </a:prstGeom>
          <a:solidFill>
            <a:srgbClr val="E8EFF8"/>
          </a:solidFill>
          <a:ln w="12700">
            <a:solidFill>
              <a:srgbClr val="1D4ED8"/>
            </a:solidFill>
            <a:prstDash val="solid"/>
          </a:ln>
        </p:spPr>
      </p:sp>
      <p:sp>
        <p:nvSpPr>
          <p:cNvPr id="6" name="Text 4"/>
          <p:cNvSpPr/>
          <p:nvPr/>
        </p:nvSpPr>
        <p:spPr>
          <a:xfrm>
            <a:off x="7818120" y="82296"/>
            <a:ext cx="1234440" cy="457200"/>
          </a:xfrm>
          <a:prstGeom prst="rect">
            <a:avLst/>
          </a:prstGeom>
          <a:noFill/>
          <a:ln/>
        </p:spPr>
        <p:txBody>
          <a:bodyPr wrap="square" rtlCol="0" anchor="ctr"/>
          <a:lstStyle/>
          <a:p>
            <a:pPr marL="0" indent="0" algn="ctr">
              <a:buNone/>
            </a:pPr>
            <a:r>
              <a:rPr lang="en-US" sz="700" b="1" dirty="0">
                <a:solidFill>
                  <a:srgbClr val="1D4ED8"/>
                </a:solidFill>
                <a:latin typeface="Calibri" pitchFamily="34" charset="0"/>
                <a:ea typeface="Calibri" pitchFamily="34" charset="-122"/>
                <a:cs typeface="Calibri" pitchFamily="34" charset="-120"/>
              </a:rPr>
              <a:t>Microsoft</a:t>
            </a:r>
            <a:endParaRPr lang="en-US" sz="700" dirty="0"/>
          </a:p>
          <a:p>
            <a:pPr marL="0" indent="0" algn="ctr">
              <a:buNone/>
            </a:pPr>
            <a:r>
              <a:rPr lang="en-US" sz="700" b="1" dirty="0">
                <a:solidFill>
                  <a:srgbClr val="1D4ED8"/>
                </a:solidFill>
                <a:latin typeface="Calibri" pitchFamily="34" charset="0"/>
                <a:ea typeface="Calibri" pitchFamily="34" charset="-122"/>
                <a:cs typeface="Calibri" pitchFamily="34" charset="-120"/>
              </a:rPr>
              <a:t>Elevate GTU</a:t>
            </a:r>
            <a:endParaRPr lang="en-US" sz="700" dirty="0"/>
          </a:p>
        </p:txBody>
      </p:sp>
      <p:sp>
        <p:nvSpPr>
          <p:cNvPr id="7" name="Shape 5"/>
          <p:cNvSpPr/>
          <p:nvPr/>
        </p:nvSpPr>
        <p:spPr>
          <a:xfrm>
            <a:off x="0" y="4873752"/>
            <a:ext cx="9144000" cy="50292"/>
          </a:xfrm>
          <a:prstGeom prst="rect">
            <a:avLst/>
          </a:prstGeom>
          <a:solidFill>
            <a:srgbClr val="1E8449"/>
          </a:solidFill>
          <a:ln w="12700">
            <a:solidFill>
              <a:srgbClr val="1E8449"/>
            </a:solidFill>
            <a:prstDash val="solid"/>
          </a:ln>
        </p:spPr>
      </p:sp>
      <p:sp>
        <p:nvSpPr>
          <p:cNvPr id="8" name="Shape 6"/>
          <p:cNvSpPr/>
          <p:nvPr/>
        </p:nvSpPr>
        <p:spPr>
          <a:xfrm>
            <a:off x="0" y="4924044"/>
            <a:ext cx="9144000" cy="219456"/>
          </a:xfrm>
          <a:prstGeom prst="rect">
            <a:avLst/>
          </a:prstGeom>
          <a:solidFill>
            <a:srgbClr val="FFFFFF"/>
          </a:solidFill>
          <a:ln w="12700">
            <a:solidFill>
              <a:srgbClr val="FFFFFF"/>
            </a:solidFill>
            <a:prstDash val="solid"/>
          </a:ln>
        </p:spPr>
      </p:sp>
      <p:sp>
        <p:nvSpPr>
          <p:cNvPr id="9" name="Text 7"/>
          <p:cNvSpPr/>
          <p:nvPr/>
        </p:nvSpPr>
        <p:spPr>
          <a:xfrm>
            <a:off x="228600" y="4924044"/>
            <a:ext cx="8046720" cy="219456"/>
          </a:xfrm>
          <a:prstGeom prst="rect">
            <a:avLst/>
          </a:prstGeom>
          <a:noFill/>
          <a:ln/>
        </p:spPr>
        <p:txBody>
          <a:bodyPr wrap="square" lIns="0" tIns="0" rIns="0" bIns="0" rtlCol="0" anchor="ctr"/>
          <a:lstStyle/>
          <a:p>
            <a:pPr marL="0" indent="0">
              <a:buNone/>
            </a:pPr>
            <a:r>
              <a:rPr lang="en-US" sz="650" dirty="0">
                <a:solidFill>
                  <a:srgbClr val="7B9ABF"/>
                </a:solidFill>
                <a:latin typeface="Calibri" pitchFamily="34" charset="0"/>
                <a:ea typeface="Calibri" pitchFamily="34" charset="-122"/>
                <a:cs typeface="Calibri" pitchFamily="34" charset="-120"/>
              </a:rPr>
              <a:t>Microsoft Elevate Internship Project  |  Healthcare &amp; Medication Management System  |  GTU Jan–Apr 2026</a:t>
            </a:r>
            <a:endParaRPr lang="en-US" sz="650" dirty="0"/>
          </a:p>
        </p:txBody>
      </p:sp>
      <p:sp>
        <p:nvSpPr>
          <p:cNvPr id="10" name="Text 8"/>
          <p:cNvSpPr/>
          <p:nvPr/>
        </p:nvSpPr>
        <p:spPr>
          <a:xfrm>
            <a:off x="8275320" y="4924044"/>
            <a:ext cx="731520" cy="219456"/>
          </a:xfrm>
          <a:prstGeom prst="rect">
            <a:avLst/>
          </a:prstGeom>
          <a:noFill/>
          <a:ln/>
        </p:spPr>
        <p:txBody>
          <a:bodyPr wrap="square" lIns="0" tIns="0" rIns="0" bIns="0" rtlCol="0" anchor="ctr"/>
          <a:lstStyle/>
          <a:p>
            <a:pPr marL="0" indent="0" algn="r">
              <a:buNone/>
            </a:pPr>
            <a:r>
              <a:rPr lang="en-US" sz="700" b="1" dirty="0">
                <a:solidFill>
                  <a:srgbClr val="1A1A2E"/>
                </a:solidFill>
                <a:latin typeface="Calibri" pitchFamily="34" charset="0"/>
                <a:ea typeface="Calibri" pitchFamily="34" charset="-122"/>
                <a:cs typeface="Calibri" pitchFamily="34" charset="-120"/>
              </a:rPr>
              <a:t>2 / 20</a:t>
            </a:r>
            <a:endParaRPr lang="en-US" sz="700" dirty="0"/>
          </a:p>
        </p:txBody>
      </p:sp>
      <p:sp>
        <p:nvSpPr>
          <p:cNvPr id="11" name="Text 9"/>
          <p:cNvSpPr/>
          <p:nvPr/>
        </p:nvSpPr>
        <p:spPr>
          <a:xfrm>
            <a:off x="320040" y="777240"/>
            <a:ext cx="8503920" cy="237744"/>
          </a:xfrm>
          <a:prstGeom prst="rect">
            <a:avLst/>
          </a:prstGeom>
          <a:noFill/>
          <a:ln/>
        </p:spPr>
        <p:txBody>
          <a:bodyPr wrap="square" rtlCol="0" anchor="ctr"/>
          <a:lstStyle/>
          <a:p>
            <a:pPr marL="0" indent="0">
              <a:buNone/>
            </a:pPr>
            <a:r>
              <a:rPr lang="en-US" sz="950" i="1" dirty="0">
                <a:solidFill>
                  <a:srgbClr val="1A1A2E"/>
                </a:solidFill>
                <a:latin typeface="Calibri" pitchFamily="34" charset="0"/>
                <a:ea typeface="Calibri" pitchFamily="34" charset="-122"/>
                <a:cs typeface="Calibri" pitchFamily="34" charset="-120"/>
              </a:rPr>
              <a:t>This presentation follows the GTU Capstone Project format covering all required sections:</a:t>
            </a:r>
            <a:endParaRPr lang="en-US" sz="950" dirty="0"/>
          </a:p>
        </p:txBody>
      </p:sp>
      <p:sp>
        <p:nvSpPr>
          <p:cNvPr id="12" name="Shape 10"/>
          <p:cNvSpPr/>
          <p:nvPr/>
        </p:nvSpPr>
        <p:spPr>
          <a:xfrm>
            <a:off x="320040" y="1088136"/>
            <a:ext cx="365760" cy="256032"/>
          </a:xfrm>
          <a:prstGeom prst="rect">
            <a:avLst/>
          </a:prstGeom>
          <a:solidFill>
            <a:srgbClr val="1D4ED8"/>
          </a:solidFill>
          <a:ln w="12700">
            <a:solidFill>
              <a:srgbClr val="1D4ED8"/>
            </a:solidFill>
            <a:prstDash val="solid"/>
          </a:ln>
        </p:spPr>
      </p:sp>
      <p:sp>
        <p:nvSpPr>
          <p:cNvPr id="13" name="Text 11"/>
          <p:cNvSpPr/>
          <p:nvPr/>
        </p:nvSpPr>
        <p:spPr>
          <a:xfrm>
            <a:off x="320040" y="1088136"/>
            <a:ext cx="365760" cy="256032"/>
          </a:xfrm>
          <a:prstGeom prst="rect">
            <a:avLst/>
          </a:prstGeom>
          <a:noFill/>
          <a:ln/>
        </p:spPr>
        <p:txBody>
          <a:bodyPr wrap="square" lIns="0" tIns="0" rIns="0" bIns="0" rtlCol="0" anchor="ctr"/>
          <a:lstStyle/>
          <a:p>
            <a:pPr marL="0" indent="0" algn="ctr">
              <a:buNone/>
            </a:pPr>
            <a:r>
              <a:rPr lang="en-US" sz="850" b="1" dirty="0">
                <a:solidFill>
                  <a:srgbClr val="1A1A2E"/>
                </a:solidFill>
                <a:latin typeface="Calibri" pitchFamily="34" charset="0"/>
                <a:ea typeface="Calibri" pitchFamily="34" charset="-122"/>
                <a:cs typeface="Calibri" pitchFamily="34" charset="-120"/>
              </a:rPr>
              <a:t>01</a:t>
            </a:r>
            <a:endParaRPr lang="en-US" sz="850" dirty="0"/>
          </a:p>
        </p:txBody>
      </p:sp>
      <p:sp>
        <p:nvSpPr>
          <p:cNvPr id="14" name="Text 12"/>
          <p:cNvSpPr/>
          <p:nvPr/>
        </p:nvSpPr>
        <p:spPr>
          <a:xfrm>
            <a:off x="740664" y="1097280"/>
            <a:ext cx="3931920" cy="256032"/>
          </a:xfrm>
          <a:prstGeom prst="rect">
            <a:avLst/>
          </a:prstGeom>
          <a:noFill/>
          <a:ln/>
        </p:spPr>
        <p:txBody>
          <a:bodyPr wrap="square" rtlCol="0" anchor="ctr"/>
          <a:lstStyle/>
          <a:p>
            <a:pPr marL="0" indent="0">
              <a:buNone/>
            </a:pPr>
            <a:r>
              <a:rPr lang="en-US" sz="950" dirty="0">
                <a:solidFill>
                  <a:srgbClr val="1A1A2E"/>
                </a:solidFill>
                <a:latin typeface="Calibri" pitchFamily="34" charset="0"/>
                <a:ea typeface="Calibri" pitchFamily="34" charset="-122"/>
                <a:cs typeface="Calibri" pitchFamily="34" charset="-120"/>
              </a:rPr>
              <a:t>Abstract</a:t>
            </a:r>
            <a:endParaRPr lang="en-US" sz="950" dirty="0"/>
          </a:p>
        </p:txBody>
      </p:sp>
      <p:sp>
        <p:nvSpPr>
          <p:cNvPr id="15" name="Shape 13"/>
          <p:cNvSpPr/>
          <p:nvPr/>
        </p:nvSpPr>
        <p:spPr>
          <a:xfrm>
            <a:off x="320040" y="1463040"/>
            <a:ext cx="365760" cy="256032"/>
          </a:xfrm>
          <a:prstGeom prst="rect">
            <a:avLst/>
          </a:prstGeom>
          <a:solidFill>
            <a:srgbClr val="0D9488"/>
          </a:solidFill>
          <a:ln w="12700">
            <a:solidFill>
              <a:srgbClr val="0D9488"/>
            </a:solidFill>
            <a:prstDash val="solid"/>
          </a:ln>
        </p:spPr>
      </p:sp>
      <p:sp>
        <p:nvSpPr>
          <p:cNvPr id="16" name="Text 14"/>
          <p:cNvSpPr/>
          <p:nvPr/>
        </p:nvSpPr>
        <p:spPr>
          <a:xfrm>
            <a:off x="320040" y="1463040"/>
            <a:ext cx="365760" cy="256032"/>
          </a:xfrm>
          <a:prstGeom prst="rect">
            <a:avLst/>
          </a:prstGeom>
          <a:noFill/>
          <a:ln/>
        </p:spPr>
        <p:txBody>
          <a:bodyPr wrap="square" lIns="0" tIns="0" rIns="0" bIns="0" rtlCol="0" anchor="ctr"/>
          <a:lstStyle/>
          <a:p>
            <a:pPr marL="0" indent="0" algn="ctr">
              <a:buNone/>
            </a:pPr>
            <a:r>
              <a:rPr lang="en-US" sz="850" b="1" dirty="0">
                <a:solidFill>
                  <a:srgbClr val="1A1A2E"/>
                </a:solidFill>
                <a:latin typeface="Calibri" pitchFamily="34" charset="0"/>
                <a:ea typeface="Calibri" pitchFamily="34" charset="-122"/>
                <a:cs typeface="Calibri" pitchFamily="34" charset="-120"/>
              </a:rPr>
              <a:t>02</a:t>
            </a:r>
            <a:endParaRPr lang="en-US" sz="850" dirty="0"/>
          </a:p>
        </p:txBody>
      </p:sp>
      <p:sp>
        <p:nvSpPr>
          <p:cNvPr id="17" name="Text 15"/>
          <p:cNvSpPr/>
          <p:nvPr/>
        </p:nvSpPr>
        <p:spPr>
          <a:xfrm>
            <a:off x="740664" y="1472184"/>
            <a:ext cx="3931920" cy="256032"/>
          </a:xfrm>
          <a:prstGeom prst="rect">
            <a:avLst/>
          </a:prstGeom>
          <a:noFill/>
          <a:ln/>
        </p:spPr>
        <p:txBody>
          <a:bodyPr wrap="square" rtlCol="0" anchor="ctr"/>
          <a:lstStyle/>
          <a:p>
            <a:pPr marL="0" indent="0">
              <a:buNone/>
            </a:pPr>
            <a:r>
              <a:rPr lang="en-US" sz="950" dirty="0">
                <a:solidFill>
                  <a:srgbClr val="1A1A2E"/>
                </a:solidFill>
                <a:latin typeface="Calibri" pitchFamily="34" charset="0"/>
                <a:ea typeface="Calibri" pitchFamily="34" charset="-122"/>
                <a:cs typeface="Calibri" pitchFamily="34" charset="-120"/>
              </a:rPr>
              <a:t>Project Overview &amp; Objectives</a:t>
            </a:r>
            <a:endParaRPr lang="en-US" sz="950" dirty="0"/>
          </a:p>
        </p:txBody>
      </p:sp>
      <p:sp>
        <p:nvSpPr>
          <p:cNvPr id="18" name="Shape 16"/>
          <p:cNvSpPr/>
          <p:nvPr/>
        </p:nvSpPr>
        <p:spPr>
          <a:xfrm>
            <a:off x="320040" y="1837944"/>
            <a:ext cx="365760" cy="256032"/>
          </a:xfrm>
          <a:prstGeom prst="rect">
            <a:avLst/>
          </a:prstGeom>
          <a:solidFill>
            <a:srgbClr val="1E8449"/>
          </a:solidFill>
          <a:ln w="12700">
            <a:solidFill>
              <a:srgbClr val="1E8449"/>
            </a:solidFill>
            <a:prstDash val="solid"/>
          </a:ln>
        </p:spPr>
      </p:sp>
      <p:sp>
        <p:nvSpPr>
          <p:cNvPr id="19" name="Text 17"/>
          <p:cNvSpPr/>
          <p:nvPr/>
        </p:nvSpPr>
        <p:spPr>
          <a:xfrm>
            <a:off x="320040" y="1837944"/>
            <a:ext cx="365760" cy="256032"/>
          </a:xfrm>
          <a:prstGeom prst="rect">
            <a:avLst/>
          </a:prstGeom>
          <a:noFill/>
          <a:ln/>
        </p:spPr>
        <p:txBody>
          <a:bodyPr wrap="square" lIns="0" tIns="0" rIns="0" bIns="0" rtlCol="0" anchor="ctr"/>
          <a:lstStyle/>
          <a:p>
            <a:pPr marL="0" indent="0" algn="ctr">
              <a:buNone/>
            </a:pPr>
            <a:r>
              <a:rPr lang="en-US" sz="850" b="1" dirty="0">
                <a:solidFill>
                  <a:srgbClr val="1A1A2E"/>
                </a:solidFill>
                <a:latin typeface="Calibri" pitchFamily="34" charset="0"/>
                <a:ea typeface="Calibri" pitchFamily="34" charset="-122"/>
                <a:cs typeface="Calibri" pitchFamily="34" charset="-120"/>
              </a:rPr>
              <a:t>03</a:t>
            </a:r>
            <a:endParaRPr lang="en-US" sz="850" dirty="0"/>
          </a:p>
        </p:txBody>
      </p:sp>
      <p:sp>
        <p:nvSpPr>
          <p:cNvPr id="20" name="Text 18"/>
          <p:cNvSpPr/>
          <p:nvPr/>
        </p:nvSpPr>
        <p:spPr>
          <a:xfrm>
            <a:off x="740664" y="1847088"/>
            <a:ext cx="3931920" cy="256032"/>
          </a:xfrm>
          <a:prstGeom prst="rect">
            <a:avLst/>
          </a:prstGeom>
          <a:noFill/>
          <a:ln/>
        </p:spPr>
        <p:txBody>
          <a:bodyPr wrap="square" rtlCol="0" anchor="ctr"/>
          <a:lstStyle/>
          <a:p>
            <a:pPr marL="0" indent="0">
              <a:buNone/>
            </a:pPr>
            <a:r>
              <a:rPr lang="en-US" sz="950" dirty="0">
                <a:solidFill>
                  <a:srgbClr val="1A1A2E"/>
                </a:solidFill>
                <a:latin typeface="Calibri" pitchFamily="34" charset="0"/>
                <a:ea typeface="Calibri" pitchFamily="34" charset="-122"/>
                <a:cs typeface="Calibri" pitchFamily="34" charset="-120"/>
              </a:rPr>
              <a:t>Software Requirements Specification</a:t>
            </a:r>
            <a:endParaRPr lang="en-US" sz="950" dirty="0"/>
          </a:p>
        </p:txBody>
      </p:sp>
      <p:sp>
        <p:nvSpPr>
          <p:cNvPr id="21" name="Shape 19"/>
          <p:cNvSpPr/>
          <p:nvPr/>
        </p:nvSpPr>
        <p:spPr>
          <a:xfrm>
            <a:off x="320040" y="2212848"/>
            <a:ext cx="365760" cy="256032"/>
          </a:xfrm>
          <a:prstGeom prst="rect">
            <a:avLst/>
          </a:prstGeom>
          <a:solidFill>
            <a:srgbClr val="7C3AED"/>
          </a:solidFill>
          <a:ln w="12700">
            <a:solidFill>
              <a:srgbClr val="7C3AED"/>
            </a:solidFill>
            <a:prstDash val="solid"/>
          </a:ln>
        </p:spPr>
      </p:sp>
      <p:sp>
        <p:nvSpPr>
          <p:cNvPr id="22" name="Text 20"/>
          <p:cNvSpPr/>
          <p:nvPr/>
        </p:nvSpPr>
        <p:spPr>
          <a:xfrm>
            <a:off x="320040" y="2212848"/>
            <a:ext cx="365760" cy="256032"/>
          </a:xfrm>
          <a:prstGeom prst="rect">
            <a:avLst/>
          </a:prstGeom>
          <a:noFill/>
          <a:ln/>
        </p:spPr>
        <p:txBody>
          <a:bodyPr wrap="square" lIns="0" tIns="0" rIns="0" bIns="0" rtlCol="0" anchor="ctr"/>
          <a:lstStyle/>
          <a:p>
            <a:pPr marL="0" indent="0" algn="ctr">
              <a:buNone/>
            </a:pPr>
            <a:r>
              <a:rPr lang="en-US" sz="850" b="1" dirty="0">
                <a:solidFill>
                  <a:srgbClr val="1A1A2E"/>
                </a:solidFill>
                <a:latin typeface="Calibri" pitchFamily="34" charset="0"/>
                <a:ea typeface="Calibri" pitchFamily="34" charset="-122"/>
                <a:cs typeface="Calibri" pitchFamily="34" charset="-120"/>
              </a:rPr>
              <a:t>04</a:t>
            </a:r>
            <a:endParaRPr lang="en-US" sz="850" dirty="0"/>
          </a:p>
        </p:txBody>
      </p:sp>
      <p:sp>
        <p:nvSpPr>
          <p:cNvPr id="23" name="Text 21"/>
          <p:cNvSpPr/>
          <p:nvPr/>
        </p:nvSpPr>
        <p:spPr>
          <a:xfrm>
            <a:off x="740664" y="2221992"/>
            <a:ext cx="3931920" cy="256032"/>
          </a:xfrm>
          <a:prstGeom prst="rect">
            <a:avLst/>
          </a:prstGeom>
          <a:noFill/>
          <a:ln/>
        </p:spPr>
        <p:txBody>
          <a:bodyPr wrap="square" rtlCol="0" anchor="ctr"/>
          <a:lstStyle/>
          <a:p>
            <a:pPr marL="0" indent="0">
              <a:buNone/>
            </a:pPr>
            <a:r>
              <a:rPr lang="en-US" sz="950" dirty="0">
                <a:solidFill>
                  <a:srgbClr val="1A1A2E"/>
                </a:solidFill>
                <a:latin typeface="Calibri" pitchFamily="34" charset="0"/>
                <a:ea typeface="Calibri" pitchFamily="34" charset="-122"/>
                <a:cs typeface="Calibri" pitchFamily="34" charset="-120"/>
              </a:rPr>
              <a:t>About Microsoft Elevate Program</a:t>
            </a:r>
            <a:endParaRPr lang="en-US" sz="950" dirty="0"/>
          </a:p>
        </p:txBody>
      </p:sp>
      <p:sp>
        <p:nvSpPr>
          <p:cNvPr id="24" name="Shape 22"/>
          <p:cNvSpPr/>
          <p:nvPr/>
        </p:nvSpPr>
        <p:spPr>
          <a:xfrm>
            <a:off x="320040" y="2587752"/>
            <a:ext cx="365760" cy="256032"/>
          </a:xfrm>
          <a:prstGeom prst="rect">
            <a:avLst/>
          </a:prstGeom>
          <a:solidFill>
            <a:srgbClr val="D97706"/>
          </a:solidFill>
          <a:ln w="12700">
            <a:solidFill>
              <a:srgbClr val="D97706"/>
            </a:solidFill>
            <a:prstDash val="solid"/>
          </a:ln>
        </p:spPr>
      </p:sp>
      <p:sp>
        <p:nvSpPr>
          <p:cNvPr id="25" name="Text 23"/>
          <p:cNvSpPr/>
          <p:nvPr/>
        </p:nvSpPr>
        <p:spPr>
          <a:xfrm>
            <a:off x="320040" y="2587752"/>
            <a:ext cx="365760" cy="256032"/>
          </a:xfrm>
          <a:prstGeom prst="rect">
            <a:avLst/>
          </a:prstGeom>
          <a:noFill/>
          <a:ln/>
        </p:spPr>
        <p:txBody>
          <a:bodyPr wrap="square" lIns="0" tIns="0" rIns="0" bIns="0" rtlCol="0" anchor="ctr"/>
          <a:lstStyle/>
          <a:p>
            <a:pPr marL="0" indent="0" algn="ctr">
              <a:buNone/>
            </a:pPr>
            <a:r>
              <a:rPr lang="en-US" sz="850" b="1" dirty="0">
                <a:solidFill>
                  <a:srgbClr val="1A1A2E"/>
                </a:solidFill>
                <a:latin typeface="Calibri" pitchFamily="34" charset="0"/>
                <a:ea typeface="Calibri" pitchFamily="34" charset="-122"/>
                <a:cs typeface="Calibri" pitchFamily="34" charset="-120"/>
              </a:rPr>
              <a:t>05</a:t>
            </a:r>
            <a:endParaRPr lang="en-US" sz="850" dirty="0"/>
          </a:p>
        </p:txBody>
      </p:sp>
      <p:sp>
        <p:nvSpPr>
          <p:cNvPr id="26" name="Text 24"/>
          <p:cNvSpPr/>
          <p:nvPr/>
        </p:nvSpPr>
        <p:spPr>
          <a:xfrm>
            <a:off x="740664" y="2596896"/>
            <a:ext cx="3931920" cy="256032"/>
          </a:xfrm>
          <a:prstGeom prst="rect">
            <a:avLst/>
          </a:prstGeom>
          <a:noFill/>
          <a:ln/>
        </p:spPr>
        <p:txBody>
          <a:bodyPr wrap="square" rtlCol="0" anchor="ctr"/>
          <a:lstStyle/>
          <a:p>
            <a:pPr marL="0" indent="0">
              <a:buNone/>
            </a:pPr>
            <a:r>
              <a:rPr lang="en-US" sz="950" dirty="0">
                <a:solidFill>
                  <a:srgbClr val="1A1A2E"/>
                </a:solidFill>
                <a:latin typeface="Calibri" pitchFamily="34" charset="0"/>
                <a:ea typeface="Calibri" pitchFamily="34" charset="-122"/>
                <a:cs typeface="Calibri" pitchFamily="34" charset="-120"/>
              </a:rPr>
              <a:t>Microsoft Elevate – Learning Modules</a:t>
            </a:r>
            <a:endParaRPr lang="en-US" sz="950" dirty="0"/>
          </a:p>
        </p:txBody>
      </p:sp>
      <p:sp>
        <p:nvSpPr>
          <p:cNvPr id="27" name="Shape 25"/>
          <p:cNvSpPr/>
          <p:nvPr/>
        </p:nvSpPr>
        <p:spPr>
          <a:xfrm>
            <a:off x="320040" y="2962656"/>
            <a:ext cx="365760" cy="256032"/>
          </a:xfrm>
          <a:prstGeom prst="rect">
            <a:avLst/>
          </a:prstGeom>
          <a:solidFill>
            <a:srgbClr val="DC2626"/>
          </a:solidFill>
          <a:ln w="12700">
            <a:solidFill>
              <a:srgbClr val="DC2626"/>
            </a:solidFill>
            <a:prstDash val="solid"/>
          </a:ln>
        </p:spPr>
      </p:sp>
      <p:sp>
        <p:nvSpPr>
          <p:cNvPr id="28" name="Text 26"/>
          <p:cNvSpPr/>
          <p:nvPr/>
        </p:nvSpPr>
        <p:spPr>
          <a:xfrm>
            <a:off x="320040" y="2962656"/>
            <a:ext cx="365760" cy="256032"/>
          </a:xfrm>
          <a:prstGeom prst="rect">
            <a:avLst/>
          </a:prstGeom>
          <a:noFill/>
          <a:ln/>
        </p:spPr>
        <p:txBody>
          <a:bodyPr wrap="square" lIns="0" tIns="0" rIns="0" bIns="0" rtlCol="0" anchor="ctr"/>
          <a:lstStyle/>
          <a:p>
            <a:pPr marL="0" indent="0" algn="ctr">
              <a:buNone/>
            </a:pPr>
            <a:r>
              <a:rPr lang="en-US" sz="850" b="1" dirty="0">
                <a:solidFill>
                  <a:srgbClr val="1A1A2E"/>
                </a:solidFill>
                <a:latin typeface="Calibri" pitchFamily="34" charset="0"/>
                <a:ea typeface="Calibri" pitchFamily="34" charset="-122"/>
                <a:cs typeface="Calibri" pitchFamily="34" charset="-120"/>
              </a:rPr>
              <a:t>06</a:t>
            </a:r>
            <a:endParaRPr lang="en-US" sz="850" dirty="0"/>
          </a:p>
        </p:txBody>
      </p:sp>
      <p:sp>
        <p:nvSpPr>
          <p:cNvPr id="29" name="Text 27"/>
          <p:cNvSpPr/>
          <p:nvPr/>
        </p:nvSpPr>
        <p:spPr>
          <a:xfrm>
            <a:off x="740664" y="2971800"/>
            <a:ext cx="3931920" cy="256032"/>
          </a:xfrm>
          <a:prstGeom prst="rect">
            <a:avLst/>
          </a:prstGeom>
          <a:noFill/>
          <a:ln/>
        </p:spPr>
        <p:txBody>
          <a:bodyPr wrap="square" rtlCol="0" anchor="ctr"/>
          <a:lstStyle/>
          <a:p>
            <a:pPr marL="0" indent="0">
              <a:buNone/>
            </a:pPr>
            <a:r>
              <a:rPr lang="en-US" sz="950" dirty="0">
                <a:solidFill>
                  <a:srgbClr val="1A1A2E"/>
                </a:solidFill>
                <a:latin typeface="Calibri" pitchFamily="34" charset="0"/>
                <a:ea typeface="Calibri" pitchFamily="34" charset="-122"/>
                <a:cs typeface="Calibri" pitchFamily="34" charset="-120"/>
              </a:rPr>
              <a:t>My Role During Internship</a:t>
            </a:r>
            <a:endParaRPr lang="en-US" sz="950" dirty="0"/>
          </a:p>
        </p:txBody>
      </p:sp>
      <p:sp>
        <p:nvSpPr>
          <p:cNvPr id="30" name="Shape 28"/>
          <p:cNvSpPr/>
          <p:nvPr/>
        </p:nvSpPr>
        <p:spPr>
          <a:xfrm>
            <a:off x="320040" y="3337560"/>
            <a:ext cx="365760" cy="256032"/>
          </a:xfrm>
          <a:prstGeom prst="rect">
            <a:avLst/>
          </a:prstGeom>
          <a:solidFill>
            <a:srgbClr val="1D4ED8"/>
          </a:solidFill>
          <a:ln w="12700">
            <a:solidFill>
              <a:srgbClr val="1D4ED8"/>
            </a:solidFill>
            <a:prstDash val="solid"/>
          </a:ln>
        </p:spPr>
      </p:sp>
      <p:sp>
        <p:nvSpPr>
          <p:cNvPr id="31" name="Text 29"/>
          <p:cNvSpPr/>
          <p:nvPr/>
        </p:nvSpPr>
        <p:spPr>
          <a:xfrm>
            <a:off x="320040" y="3337560"/>
            <a:ext cx="365760" cy="256032"/>
          </a:xfrm>
          <a:prstGeom prst="rect">
            <a:avLst/>
          </a:prstGeom>
          <a:noFill/>
          <a:ln/>
        </p:spPr>
        <p:txBody>
          <a:bodyPr wrap="square" lIns="0" tIns="0" rIns="0" bIns="0" rtlCol="0" anchor="ctr"/>
          <a:lstStyle/>
          <a:p>
            <a:pPr marL="0" indent="0" algn="ctr">
              <a:buNone/>
            </a:pPr>
            <a:r>
              <a:rPr lang="en-US" sz="850" b="1" dirty="0">
                <a:solidFill>
                  <a:srgbClr val="1A1A2E"/>
                </a:solidFill>
                <a:latin typeface="Calibri" pitchFamily="34" charset="0"/>
                <a:ea typeface="Calibri" pitchFamily="34" charset="-122"/>
                <a:cs typeface="Calibri" pitchFamily="34" charset="-120"/>
              </a:rPr>
              <a:t>07</a:t>
            </a:r>
            <a:endParaRPr lang="en-US" sz="850" dirty="0"/>
          </a:p>
        </p:txBody>
      </p:sp>
      <p:sp>
        <p:nvSpPr>
          <p:cNvPr id="32" name="Text 30"/>
          <p:cNvSpPr/>
          <p:nvPr/>
        </p:nvSpPr>
        <p:spPr>
          <a:xfrm>
            <a:off x="740664" y="3346704"/>
            <a:ext cx="3931920" cy="256032"/>
          </a:xfrm>
          <a:prstGeom prst="rect">
            <a:avLst/>
          </a:prstGeom>
          <a:noFill/>
          <a:ln/>
        </p:spPr>
        <p:txBody>
          <a:bodyPr wrap="square" rtlCol="0" anchor="ctr"/>
          <a:lstStyle/>
          <a:p>
            <a:pPr marL="0" indent="0">
              <a:buNone/>
            </a:pPr>
            <a:r>
              <a:rPr lang="en-US" sz="950" dirty="0">
                <a:solidFill>
                  <a:srgbClr val="1A1A2E"/>
                </a:solidFill>
                <a:latin typeface="Calibri" pitchFamily="34" charset="0"/>
                <a:ea typeface="Calibri" pitchFamily="34" charset="-122"/>
                <a:cs typeface="Calibri" pitchFamily="34" charset="-120"/>
              </a:rPr>
              <a:t>Proposed Project Title &amp; Applicability</a:t>
            </a:r>
            <a:endParaRPr lang="en-US" sz="950" dirty="0"/>
          </a:p>
        </p:txBody>
      </p:sp>
      <p:sp>
        <p:nvSpPr>
          <p:cNvPr id="33" name="Shape 31"/>
          <p:cNvSpPr/>
          <p:nvPr/>
        </p:nvSpPr>
        <p:spPr>
          <a:xfrm>
            <a:off x="320040" y="3712464"/>
            <a:ext cx="365760" cy="256032"/>
          </a:xfrm>
          <a:prstGeom prst="rect">
            <a:avLst/>
          </a:prstGeom>
          <a:solidFill>
            <a:srgbClr val="0D9488"/>
          </a:solidFill>
          <a:ln w="12700">
            <a:solidFill>
              <a:srgbClr val="0D9488"/>
            </a:solidFill>
            <a:prstDash val="solid"/>
          </a:ln>
        </p:spPr>
      </p:sp>
      <p:sp>
        <p:nvSpPr>
          <p:cNvPr id="34" name="Text 32"/>
          <p:cNvSpPr/>
          <p:nvPr/>
        </p:nvSpPr>
        <p:spPr>
          <a:xfrm>
            <a:off x="320040" y="3712464"/>
            <a:ext cx="365760" cy="256032"/>
          </a:xfrm>
          <a:prstGeom prst="rect">
            <a:avLst/>
          </a:prstGeom>
          <a:noFill/>
          <a:ln/>
        </p:spPr>
        <p:txBody>
          <a:bodyPr wrap="square" lIns="0" tIns="0" rIns="0" bIns="0" rtlCol="0" anchor="ctr"/>
          <a:lstStyle/>
          <a:p>
            <a:pPr marL="0" indent="0" algn="ctr">
              <a:buNone/>
            </a:pPr>
            <a:r>
              <a:rPr lang="en-US" sz="850" b="1" dirty="0">
                <a:solidFill>
                  <a:srgbClr val="1A1A2E"/>
                </a:solidFill>
                <a:latin typeface="Calibri" pitchFamily="34" charset="0"/>
                <a:ea typeface="Calibri" pitchFamily="34" charset="-122"/>
                <a:cs typeface="Calibri" pitchFamily="34" charset="-120"/>
              </a:rPr>
              <a:t>08</a:t>
            </a:r>
            <a:endParaRPr lang="en-US" sz="850" dirty="0"/>
          </a:p>
        </p:txBody>
      </p:sp>
      <p:sp>
        <p:nvSpPr>
          <p:cNvPr id="35" name="Text 33"/>
          <p:cNvSpPr/>
          <p:nvPr/>
        </p:nvSpPr>
        <p:spPr>
          <a:xfrm>
            <a:off x="740664" y="3721608"/>
            <a:ext cx="3931920" cy="256032"/>
          </a:xfrm>
          <a:prstGeom prst="rect">
            <a:avLst/>
          </a:prstGeom>
          <a:noFill/>
          <a:ln/>
        </p:spPr>
        <p:txBody>
          <a:bodyPr wrap="square" rtlCol="0" anchor="ctr"/>
          <a:lstStyle/>
          <a:p>
            <a:pPr marL="0" indent="0">
              <a:buNone/>
            </a:pPr>
            <a:r>
              <a:rPr lang="en-US" sz="950" dirty="0">
                <a:solidFill>
                  <a:srgbClr val="1A1A2E"/>
                </a:solidFill>
                <a:latin typeface="Calibri" pitchFamily="34" charset="0"/>
                <a:ea typeface="Calibri" pitchFamily="34" charset="-122"/>
                <a:cs typeface="Calibri" pitchFamily="34" charset="-120"/>
              </a:rPr>
              <a:t>Healthcare Challenges &amp; Solutions</a:t>
            </a:r>
            <a:endParaRPr lang="en-US" sz="950" dirty="0"/>
          </a:p>
        </p:txBody>
      </p:sp>
      <p:sp>
        <p:nvSpPr>
          <p:cNvPr id="36" name="Shape 34"/>
          <p:cNvSpPr/>
          <p:nvPr/>
        </p:nvSpPr>
        <p:spPr>
          <a:xfrm>
            <a:off x="320040" y="4087368"/>
            <a:ext cx="365760" cy="256032"/>
          </a:xfrm>
          <a:prstGeom prst="rect">
            <a:avLst/>
          </a:prstGeom>
          <a:solidFill>
            <a:srgbClr val="1E8449"/>
          </a:solidFill>
          <a:ln w="12700">
            <a:solidFill>
              <a:srgbClr val="1E8449"/>
            </a:solidFill>
            <a:prstDash val="solid"/>
          </a:ln>
        </p:spPr>
      </p:sp>
      <p:sp>
        <p:nvSpPr>
          <p:cNvPr id="37" name="Text 35"/>
          <p:cNvSpPr/>
          <p:nvPr/>
        </p:nvSpPr>
        <p:spPr>
          <a:xfrm>
            <a:off x="320040" y="4087368"/>
            <a:ext cx="365760" cy="256032"/>
          </a:xfrm>
          <a:prstGeom prst="rect">
            <a:avLst/>
          </a:prstGeom>
          <a:noFill/>
          <a:ln/>
        </p:spPr>
        <p:txBody>
          <a:bodyPr wrap="square" lIns="0" tIns="0" rIns="0" bIns="0" rtlCol="0" anchor="ctr"/>
          <a:lstStyle/>
          <a:p>
            <a:pPr marL="0" indent="0" algn="ctr">
              <a:buNone/>
            </a:pPr>
            <a:r>
              <a:rPr lang="en-US" sz="850" b="1" dirty="0">
                <a:solidFill>
                  <a:srgbClr val="1A1A2E"/>
                </a:solidFill>
                <a:latin typeface="Calibri" pitchFamily="34" charset="0"/>
                <a:ea typeface="Calibri" pitchFamily="34" charset="-122"/>
                <a:cs typeface="Calibri" pitchFamily="34" charset="-120"/>
              </a:rPr>
              <a:t>09</a:t>
            </a:r>
            <a:endParaRPr lang="en-US" sz="850" dirty="0"/>
          </a:p>
        </p:txBody>
      </p:sp>
      <p:sp>
        <p:nvSpPr>
          <p:cNvPr id="38" name="Text 36"/>
          <p:cNvSpPr/>
          <p:nvPr/>
        </p:nvSpPr>
        <p:spPr>
          <a:xfrm>
            <a:off x="740664" y="4096512"/>
            <a:ext cx="3931920" cy="256032"/>
          </a:xfrm>
          <a:prstGeom prst="rect">
            <a:avLst/>
          </a:prstGeom>
          <a:noFill/>
          <a:ln/>
        </p:spPr>
        <p:txBody>
          <a:bodyPr wrap="square" rtlCol="0" anchor="ctr"/>
          <a:lstStyle/>
          <a:p>
            <a:pPr marL="0" indent="0">
              <a:buNone/>
            </a:pPr>
            <a:r>
              <a:rPr lang="en-US" sz="950" dirty="0">
                <a:solidFill>
                  <a:srgbClr val="1A1A2E"/>
                </a:solidFill>
                <a:latin typeface="Calibri" pitchFamily="34" charset="0"/>
                <a:ea typeface="Calibri" pitchFamily="34" charset="-122"/>
                <a:cs typeface="Calibri" pitchFamily="34" charset="-120"/>
              </a:rPr>
              <a:t>What is This Project About?</a:t>
            </a:r>
            <a:endParaRPr lang="en-US" sz="950" dirty="0"/>
          </a:p>
        </p:txBody>
      </p:sp>
      <p:sp>
        <p:nvSpPr>
          <p:cNvPr id="39" name="Shape 37"/>
          <p:cNvSpPr/>
          <p:nvPr/>
        </p:nvSpPr>
        <p:spPr>
          <a:xfrm>
            <a:off x="320040" y="4462272"/>
            <a:ext cx="365760" cy="256032"/>
          </a:xfrm>
          <a:prstGeom prst="rect">
            <a:avLst/>
          </a:prstGeom>
          <a:solidFill>
            <a:srgbClr val="7C3AED"/>
          </a:solidFill>
          <a:ln w="12700">
            <a:solidFill>
              <a:srgbClr val="7C3AED"/>
            </a:solidFill>
            <a:prstDash val="solid"/>
          </a:ln>
        </p:spPr>
      </p:sp>
      <p:sp>
        <p:nvSpPr>
          <p:cNvPr id="40" name="Text 38"/>
          <p:cNvSpPr/>
          <p:nvPr/>
        </p:nvSpPr>
        <p:spPr>
          <a:xfrm>
            <a:off x="320040" y="4462272"/>
            <a:ext cx="365760" cy="256032"/>
          </a:xfrm>
          <a:prstGeom prst="rect">
            <a:avLst/>
          </a:prstGeom>
          <a:noFill/>
          <a:ln/>
        </p:spPr>
        <p:txBody>
          <a:bodyPr wrap="square" lIns="0" tIns="0" rIns="0" bIns="0" rtlCol="0" anchor="ctr"/>
          <a:lstStyle/>
          <a:p>
            <a:pPr marL="0" indent="0" algn="ctr">
              <a:buNone/>
            </a:pPr>
            <a:r>
              <a:rPr lang="en-US" sz="850" b="1" dirty="0">
                <a:solidFill>
                  <a:srgbClr val="1A1A2E"/>
                </a:solidFill>
                <a:latin typeface="Calibri" pitchFamily="34" charset="0"/>
                <a:ea typeface="Calibri" pitchFamily="34" charset="-122"/>
                <a:cs typeface="Calibri" pitchFamily="34" charset="-120"/>
              </a:rPr>
              <a:t>10</a:t>
            </a:r>
            <a:endParaRPr lang="en-US" sz="850" dirty="0"/>
          </a:p>
        </p:txBody>
      </p:sp>
      <p:sp>
        <p:nvSpPr>
          <p:cNvPr id="41" name="Text 39"/>
          <p:cNvSpPr/>
          <p:nvPr/>
        </p:nvSpPr>
        <p:spPr>
          <a:xfrm>
            <a:off x="740664" y="4471416"/>
            <a:ext cx="3931920" cy="256032"/>
          </a:xfrm>
          <a:prstGeom prst="rect">
            <a:avLst/>
          </a:prstGeom>
          <a:noFill/>
          <a:ln/>
        </p:spPr>
        <p:txBody>
          <a:bodyPr wrap="square" rtlCol="0" anchor="ctr"/>
          <a:lstStyle/>
          <a:p>
            <a:pPr marL="0" indent="0">
              <a:buNone/>
            </a:pPr>
            <a:r>
              <a:rPr lang="en-US" sz="950" dirty="0">
                <a:solidFill>
                  <a:srgbClr val="1A1A2E"/>
                </a:solidFill>
                <a:latin typeface="Calibri" pitchFamily="34" charset="0"/>
                <a:ea typeface="Calibri" pitchFamily="34" charset="-122"/>
                <a:cs typeface="Calibri" pitchFamily="34" charset="-120"/>
              </a:rPr>
              <a:t>Project Goals</a:t>
            </a:r>
            <a:endParaRPr lang="en-US" sz="950" dirty="0"/>
          </a:p>
        </p:txBody>
      </p:sp>
      <p:sp>
        <p:nvSpPr>
          <p:cNvPr id="42" name="Shape 40"/>
          <p:cNvSpPr/>
          <p:nvPr/>
        </p:nvSpPr>
        <p:spPr>
          <a:xfrm>
            <a:off x="4892040" y="1088136"/>
            <a:ext cx="365760" cy="256032"/>
          </a:xfrm>
          <a:prstGeom prst="rect">
            <a:avLst/>
          </a:prstGeom>
          <a:solidFill>
            <a:srgbClr val="D97706"/>
          </a:solidFill>
          <a:ln w="12700">
            <a:solidFill>
              <a:srgbClr val="D97706"/>
            </a:solidFill>
            <a:prstDash val="solid"/>
          </a:ln>
        </p:spPr>
      </p:sp>
      <p:sp>
        <p:nvSpPr>
          <p:cNvPr id="43" name="Text 41"/>
          <p:cNvSpPr/>
          <p:nvPr/>
        </p:nvSpPr>
        <p:spPr>
          <a:xfrm>
            <a:off x="4892040" y="1088136"/>
            <a:ext cx="365760" cy="256032"/>
          </a:xfrm>
          <a:prstGeom prst="rect">
            <a:avLst/>
          </a:prstGeom>
          <a:noFill/>
          <a:ln/>
        </p:spPr>
        <p:txBody>
          <a:bodyPr wrap="square" lIns="0" tIns="0" rIns="0" bIns="0" rtlCol="0" anchor="ctr"/>
          <a:lstStyle/>
          <a:p>
            <a:pPr marL="0" indent="0" algn="ctr">
              <a:buNone/>
            </a:pPr>
            <a:r>
              <a:rPr lang="en-US" sz="850" b="1" dirty="0">
                <a:solidFill>
                  <a:srgbClr val="1A1A2E"/>
                </a:solidFill>
                <a:latin typeface="Calibri" pitchFamily="34" charset="0"/>
                <a:ea typeface="Calibri" pitchFamily="34" charset="-122"/>
                <a:cs typeface="Calibri" pitchFamily="34" charset="-120"/>
              </a:rPr>
              <a:t>11</a:t>
            </a:r>
            <a:endParaRPr lang="en-US" sz="850" dirty="0"/>
          </a:p>
        </p:txBody>
      </p:sp>
      <p:sp>
        <p:nvSpPr>
          <p:cNvPr id="44" name="Text 42"/>
          <p:cNvSpPr/>
          <p:nvPr/>
        </p:nvSpPr>
        <p:spPr>
          <a:xfrm>
            <a:off x="5312664" y="1097280"/>
            <a:ext cx="3566160" cy="256032"/>
          </a:xfrm>
          <a:prstGeom prst="rect">
            <a:avLst/>
          </a:prstGeom>
          <a:noFill/>
          <a:ln/>
        </p:spPr>
        <p:txBody>
          <a:bodyPr wrap="square" rtlCol="0" anchor="ctr"/>
          <a:lstStyle/>
          <a:p>
            <a:pPr marL="0" indent="0">
              <a:buNone/>
            </a:pPr>
            <a:r>
              <a:rPr lang="en-US" sz="950" dirty="0">
                <a:solidFill>
                  <a:srgbClr val="1A1A2E"/>
                </a:solidFill>
                <a:latin typeface="Calibri" pitchFamily="34" charset="0"/>
                <a:ea typeface="Calibri" pitchFamily="34" charset="-122"/>
                <a:cs typeface="Calibri" pitchFamily="34" charset="-120"/>
              </a:rPr>
              <a:t>Technical Objectives</a:t>
            </a:r>
            <a:endParaRPr lang="en-US" sz="950" dirty="0"/>
          </a:p>
        </p:txBody>
      </p:sp>
      <p:sp>
        <p:nvSpPr>
          <p:cNvPr id="45" name="Shape 43"/>
          <p:cNvSpPr/>
          <p:nvPr/>
        </p:nvSpPr>
        <p:spPr>
          <a:xfrm>
            <a:off x="4892040" y="1463040"/>
            <a:ext cx="365760" cy="256032"/>
          </a:xfrm>
          <a:prstGeom prst="rect">
            <a:avLst/>
          </a:prstGeom>
          <a:solidFill>
            <a:srgbClr val="DC2626"/>
          </a:solidFill>
          <a:ln w="12700">
            <a:solidFill>
              <a:srgbClr val="DC2626"/>
            </a:solidFill>
            <a:prstDash val="solid"/>
          </a:ln>
        </p:spPr>
      </p:sp>
      <p:sp>
        <p:nvSpPr>
          <p:cNvPr id="46" name="Text 44"/>
          <p:cNvSpPr/>
          <p:nvPr/>
        </p:nvSpPr>
        <p:spPr>
          <a:xfrm>
            <a:off x="4892040" y="1463040"/>
            <a:ext cx="365760" cy="256032"/>
          </a:xfrm>
          <a:prstGeom prst="rect">
            <a:avLst/>
          </a:prstGeom>
          <a:noFill/>
          <a:ln/>
        </p:spPr>
        <p:txBody>
          <a:bodyPr wrap="square" lIns="0" tIns="0" rIns="0" bIns="0" rtlCol="0" anchor="ctr"/>
          <a:lstStyle/>
          <a:p>
            <a:pPr marL="0" indent="0" algn="ctr">
              <a:buNone/>
            </a:pPr>
            <a:r>
              <a:rPr lang="en-US" sz="850" b="1" dirty="0">
                <a:solidFill>
                  <a:srgbClr val="1A1A2E"/>
                </a:solidFill>
                <a:latin typeface="Calibri" pitchFamily="34" charset="0"/>
                <a:ea typeface="Calibri" pitchFamily="34" charset="-122"/>
                <a:cs typeface="Calibri" pitchFamily="34" charset="-120"/>
              </a:rPr>
              <a:t>12</a:t>
            </a:r>
            <a:endParaRPr lang="en-US" sz="850" dirty="0"/>
          </a:p>
        </p:txBody>
      </p:sp>
      <p:sp>
        <p:nvSpPr>
          <p:cNvPr id="47" name="Text 45"/>
          <p:cNvSpPr/>
          <p:nvPr/>
        </p:nvSpPr>
        <p:spPr>
          <a:xfrm>
            <a:off x="5312664" y="1472184"/>
            <a:ext cx="3566160" cy="256032"/>
          </a:xfrm>
          <a:prstGeom prst="rect">
            <a:avLst/>
          </a:prstGeom>
          <a:noFill/>
          <a:ln/>
        </p:spPr>
        <p:txBody>
          <a:bodyPr wrap="square" rtlCol="0" anchor="ctr"/>
          <a:lstStyle/>
          <a:p>
            <a:pPr marL="0" indent="0">
              <a:buNone/>
            </a:pPr>
            <a:r>
              <a:rPr lang="en-US" sz="950" dirty="0">
                <a:solidFill>
                  <a:srgbClr val="1A1A2E"/>
                </a:solidFill>
                <a:latin typeface="Calibri" pitchFamily="34" charset="0"/>
                <a:ea typeface="Calibri" pitchFamily="34" charset="-122"/>
                <a:cs typeface="Calibri" pitchFamily="34" charset="-120"/>
              </a:rPr>
              <a:t>System Architecture Flow</a:t>
            </a:r>
            <a:endParaRPr lang="en-US" sz="950" dirty="0"/>
          </a:p>
        </p:txBody>
      </p:sp>
      <p:sp>
        <p:nvSpPr>
          <p:cNvPr id="48" name="Shape 46"/>
          <p:cNvSpPr/>
          <p:nvPr/>
        </p:nvSpPr>
        <p:spPr>
          <a:xfrm>
            <a:off x="4892040" y="1837944"/>
            <a:ext cx="365760" cy="256032"/>
          </a:xfrm>
          <a:prstGeom prst="rect">
            <a:avLst/>
          </a:prstGeom>
          <a:solidFill>
            <a:srgbClr val="1D4ED8"/>
          </a:solidFill>
          <a:ln w="12700">
            <a:solidFill>
              <a:srgbClr val="1D4ED8"/>
            </a:solidFill>
            <a:prstDash val="solid"/>
          </a:ln>
        </p:spPr>
      </p:sp>
      <p:sp>
        <p:nvSpPr>
          <p:cNvPr id="49" name="Text 47"/>
          <p:cNvSpPr/>
          <p:nvPr/>
        </p:nvSpPr>
        <p:spPr>
          <a:xfrm>
            <a:off x="4892040" y="1837944"/>
            <a:ext cx="365760" cy="256032"/>
          </a:xfrm>
          <a:prstGeom prst="rect">
            <a:avLst/>
          </a:prstGeom>
          <a:noFill/>
          <a:ln/>
        </p:spPr>
        <p:txBody>
          <a:bodyPr wrap="square" lIns="0" tIns="0" rIns="0" bIns="0" rtlCol="0" anchor="ctr"/>
          <a:lstStyle/>
          <a:p>
            <a:pPr marL="0" indent="0" algn="ctr">
              <a:buNone/>
            </a:pPr>
            <a:r>
              <a:rPr lang="en-US" sz="850" b="1" dirty="0">
                <a:solidFill>
                  <a:srgbClr val="1A1A2E"/>
                </a:solidFill>
                <a:latin typeface="Calibri" pitchFamily="34" charset="0"/>
                <a:ea typeface="Calibri" pitchFamily="34" charset="-122"/>
                <a:cs typeface="Calibri" pitchFamily="34" charset="-120"/>
              </a:rPr>
              <a:t>13</a:t>
            </a:r>
            <a:endParaRPr lang="en-US" sz="850" dirty="0"/>
          </a:p>
        </p:txBody>
      </p:sp>
      <p:sp>
        <p:nvSpPr>
          <p:cNvPr id="50" name="Text 48"/>
          <p:cNvSpPr/>
          <p:nvPr/>
        </p:nvSpPr>
        <p:spPr>
          <a:xfrm>
            <a:off x="5312664" y="1847088"/>
            <a:ext cx="3566160" cy="256032"/>
          </a:xfrm>
          <a:prstGeom prst="rect">
            <a:avLst/>
          </a:prstGeom>
          <a:noFill/>
          <a:ln/>
        </p:spPr>
        <p:txBody>
          <a:bodyPr wrap="square" rtlCol="0" anchor="ctr"/>
          <a:lstStyle/>
          <a:p>
            <a:pPr marL="0" indent="0">
              <a:buNone/>
            </a:pPr>
            <a:r>
              <a:rPr lang="en-US" sz="950" dirty="0">
                <a:solidFill>
                  <a:srgbClr val="1A1A2E"/>
                </a:solidFill>
                <a:latin typeface="Calibri" pitchFamily="34" charset="0"/>
                <a:ea typeface="Calibri" pitchFamily="34" charset="-122"/>
                <a:cs typeface="Calibri" pitchFamily="34" charset="-120"/>
              </a:rPr>
              <a:t>Progress Overview (Week 1–8)</a:t>
            </a:r>
            <a:endParaRPr lang="en-US" sz="950" dirty="0"/>
          </a:p>
        </p:txBody>
      </p:sp>
      <p:sp>
        <p:nvSpPr>
          <p:cNvPr id="51" name="Shape 49"/>
          <p:cNvSpPr/>
          <p:nvPr/>
        </p:nvSpPr>
        <p:spPr>
          <a:xfrm>
            <a:off x="4892040" y="2212848"/>
            <a:ext cx="365760" cy="256032"/>
          </a:xfrm>
          <a:prstGeom prst="rect">
            <a:avLst/>
          </a:prstGeom>
          <a:solidFill>
            <a:srgbClr val="0D9488"/>
          </a:solidFill>
          <a:ln w="12700">
            <a:solidFill>
              <a:srgbClr val="0D9488"/>
            </a:solidFill>
            <a:prstDash val="solid"/>
          </a:ln>
        </p:spPr>
      </p:sp>
      <p:sp>
        <p:nvSpPr>
          <p:cNvPr id="52" name="Text 50"/>
          <p:cNvSpPr/>
          <p:nvPr/>
        </p:nvSpPr>
        <p:spPr>
          <a:xfrm>
            <a:off x="4892040" y="2212848"/>
            <a:ext cx="365760" cy="256032"/>
          </a:xfrm>
          <a:prstGeom prst="rect">
            <a:avLst/>
          </a:prstGeom>
          <a:noFill/>
          <a:ln/>
        </p:spPr>
        <p:txBody>
          <a:bodyPr wrap="square" lIns="0" tIns="0" rIns="0" bIns="0" rtlCol="0" anchor="ctr"/>
          <a:lstStyle/>
          <a:p>
            <a:pPr marL="0" indent="0" algn="ctr">
              <a:buNone/>
            </a:pPr>
            <a:r>
              <a:rPr lang="en-US" sz="850" b="1" dirty="0">
                <a:solidFill>
                  <a:srgbClr val="1A1A2E"/>
                </a:solidFill>
                <a:latin typeface="Calibri" pitchFamily="34" charset="0"/>
                <a:ea typeface="Calibri" pitchFamily="34" charset="-122"/>
                <a:cs typeface="Calibri" pitchFamily="34" charset="-120"/>
              </a:rPr>
              <a:t>14</a:t>
            </a:r>
            <a:endParaRPr lang="en-US" sz="850" dirty="0"/>
          </a:p>
        </p:txBody>
      </p:sp>
      <p:sp>
        <p:nvSpPr>
          <p:cNvPr id="53" name="Text 51"/>
          <p:cNvSpPr/>
          <p:nvPr/>
        </p:nvSpPr>
        <p:spPr>
          <a:xfrm>
            <a:off x="5312664" y="2221992"/>
            <a:ext cx="3566160" cy="256032"/>
          </a:xfrm>
          <a:prstGeom prst="rect">
            <a:avLst/>
          </a:prstGeom>
          <a:noFill/>
          <a:ln/>
        </p:spPr>
        <p:txBody>
          <a:bodyPr wrap="square" rtlCol="0" anchor="ctr"/>
          <a:lstStyle/>
          <a:p>
            <a:pPr marL="0" indent="0">
              <a:buNone/>
            </a:pPr>
            <a:r>
              <a:rPr lang="en-US" sz="950" dirty="0">
                <a:solidFill>
                  <a:srgbClr val="1A1A2E"/>
                </a:solidFill>
                <a:latin typeface="Calibri" pitchFamily="34" charset="0"/>
                <a:ea typeface="Calibri" pitchFamily="34" charset="-122"/>
                <a:cs typeface="Calibri" pitchFamily="34" charset="-120"/>
              </a:rPr>
              <a:t>Progress Overview (Week 9–12)</a:t>
            </a:r>
            <a:endParaRPr lang="en-US" sz="950" dirty="0"/>
          </a:p>
        </p:txBody>
      </p:sp>
      <p:sp>
        <p:nvSpPr>
          <p:cNvPr id="54" name="Shape 52"/>
          <p:cNvSpPr/>
          <p:nvPr/>
        </p:nvSpPr>
        <p:spPr>
          <a:xfrm>
            <a:off x="4892040" y="2587752"/>
            <a:ext cx="365760" cy="256032"/>
          </a:xfrm>
          <a:prstGeom prst="rect">
            <a:avLst/>
          </a:prstGeom>
          <a:solidFill>
            <a:srgbClr val="1E8449"/>
          </a:solidFill>
          <a:ln w="12700">
            <a:solidFill>
              <a:srgbClr val="1E8449"/>
            </a:solidFill>
            <a:prstDash val="solid"/>
          </a:ln>
        </p:spPr>
      </p:sp>
      <p:sp>
        <p:nvSpPr>
          <p:cNvPr id="55" name="Text 53"/>
          <p:cNvSpPr/>
          <p:nvPr/>
        </p:nvSpPr>
        <p:spPr>
          <a:xfrm>
            <a:off x="4892040" y="2587752"/>
            <a:ext cx="365760" cy="256032"/>
          </a:xfrm>
          <a:prstGeom prst="rect">
            <a:avLst/>
          </a:prstGeom>
          <a:noFill/>
          <a:ln/>
        </p:spPr>
        <p:txBody>
          <a:bodyPr wrap="square" lIns="0" tIns="0" rIns="0" bIns="0" rtlCol="0" anchor="ctr"/>
          <a:lstStyle/>
          <a:p>
            <a:pPr marL="0" indent="0" algn="ctr">
              <a:buNone/>
            </a:pPr>
            <a:r>
              <a:rPr lang="en-US" sz="850" b="1" dirty="0">
                <a:solidFill>
                  <a:srgbClr val="1A1A2E"/>
                </a:solidFill>
                <a:latin typeface="Calibri" pitchFamily="34" charset="0"/>
                <a:ea typeface="Calibri" pitchFamily="34" charset="-122"/>
                <a:cs typeface="Calibri" pitchFamily="34" charset="-120"/>
              </a:rPr>
              <a:t>15</a:t>
            </a:r>
            <a:endParaRPr lang="en-US" sz="850" dirty="0"/>
          </a:p>
        </p:txBody>
      </p:sp>
      <p:sp>
        <p:nvSpPr>
          <p:cNvPr id="56" name="Text 54"/>
          <p:cNvSpPr/>
          <p:nvPr/>
        </p:nvSpPr>
        <p:spPr>
          <a:xfrm>
            <a:off x="5312664" y="2596896"/>
            <a:ext cx="3566160" cy="256032"/>
          </a:xfrm>
          <a:prstGeom prst="rect">
            <a:avLst/>
          </a:prstGeom>
          <a:noFill/>
          <a:ln/>
        </p:spPr>
        <p:txBody>
          <a:bodyPr wrap="square" rtlCol="0" anchor="ctr"/>
          <a:lstStyle/>
          <a:p>
            <a:pPr marL="0" indent="0">
              <a:buNone/>
            </a:pPr>
            <a:r>
              <a:rPr lang="en-US" sz="950" dirty="0">
                <a:solidFill>
                  <a:srgbClr val="1A1A2E"/>
                </a:solidFill>
                <a:latin typeface="Calibri" pitchFamily="34" charset="0"/>
                <a:ea typeface="Calibri" pitchFamily="34" charset="-122"/>
                <a:cs typeface="Calibri" pitchFamily="34" charset="-120"/>
              </a:rPr>
              <a:t>Tools &amp; Technologies Used</a:t>
            </a:r>
            <a:endParaRPr lang="en-US" sz="950" dirty="0"/>
          </a:p>
        </p:txBody>
      </p:sp>
      <p:sp>
        <p:nvSpPr>
          <p:cNvPr id="57" name="Shape 55"/>
          <p:cNvSpPr/>
          <p:nvPr/>
        </p:nvSpPr>
        <p:spPr>
          <a:xfrm>
            <a:off x="4892040" y="2962656"/>
            <a:ext cx="365760" cy="256032"/>
          </a:xfrm>
          <a:prstGeom prst="rect">
            <a:avLst/>
          </a:prstGeom>
          <a:solidFill>
            <a:srgbClr val="7C3AED"/>
          </a:solidFill>
          <a:ln w="12700">
            <a:solidFill>
              <a:srgbClr val="7C3AED"/>
            </a:solidFill>
            <a:prstDash val="solid"/>
          </a:ln>
        </p:spPr>
      </p:sp>
      <p:sp>
        <p:nvSpPr>
          <p:cNvPr id="58" name="Text 56"/>
          <p:cNvSpPr/>
          <p:nvPr/>
        </p:nvSpPr>
        <p:spPr>
          <a:xfrm>
            <a:off x="4892040" y="2962656"/>
            <a:ext cx="365760" cy="256032"/>
          </a:xfrm>
          <a:prstGeom prst="rect">
            <a:avLst/>
          </a:prstGeom>
          <a:noFill/>
          <a:ln/>
        </p:spPr>
        <p:txBody>
          <a:bodyPr wrap="square" lIns="0" tIns="0" rIns="0" bIns="0" rtlCol="0" anchor="ctr"/>
          <a:lstStyle/>
          <a:p>
            <a:pPr marL="0" indent="0" algn="ctr">
              <a:buNone/>
            </a:pPr>
            <a:r>
              <a:rPr lang="en-US" sz="850" b="1" dirty="0">
                <a:solidFill>
                  <a:srgbClr val="1A1A2E"/>
                </a:solidFill>
                <a:latin typeface="Calibri" pitchFamily="34" charset="0"/>
                <a:ea typeface="Calibri" pitchFamily="34" charset="-122"/>
                <a:cs typeface="Calibri" pitchFamily="34" charset="-120"/>
              </a:rPr>
              <a:t>16</a:t>
            </a:r>
            <a:endParaRPr lang="en-US" sz="850" dirty="0"/>
          </a:p>
        </p:txBody>
      </p:sp>
      <p:sp>
        <p:nvSpPr>
          <p:cNvPr id="59" name="Text 57"/>
          <p:cNvSpPr/>
          <p:nvPr/>
        </p:nvSpPr>
        <p:spPr>
          <a:xfrm>
            <a:off x="5312664" y="2971800"/>
            <a:ext cx="3566160" cy="256032"/>
          </a:xfrm>
          <a:prstGeom prst="rect">
            <a:avLst/>
          </a:prstGeom>
          <a:noFill/>
          <a:ln/>
        </p:spPr>
        <p:txBody>
          <a:bodyPr wrap="square" rtlCol="0" anchor="ctr"/>
          <a:lstStyle/>
          <a:p>
            <a:pPr marL="0" indent="0">
              <a:buNone/>
            </a:pPr>
            <a:r>
              <a:rPr lang="en-US" sz="950" dirty="0">
                <a:solidFill>
                  <a:srgbClr val="1A1A2E"/>
                </a:solidFill>
                <a:latin typeface="Calibri" pitchFamily="34" charset="0"/>
                <a:ea typeface="Calibri" pitchFamily="34" charset="-122"/>
                <a:cs typeface="Calibri" pitchFamily="34" charset="-120"/>
              </a:rPr>
              <a:t>Key Features &amp; Functionalities</a:t>
            </a:r>
            <a:endParaRPr lang="en-US" sz="950" dirty="0"/>
          </a:p>
        </p:txBody>
      </p:sp>
      <p:sp>
        <p:nvSpPr>
          <p:cNvPr id="60" name="Shape 58"/>
          <p:cNvSpPr/>
          <p:nvPr/>
        </p:nvSpPr>
        <p:spPr>
          <a:xfrm>
            <a:off x="4892040" y="3337560"/>
            <a:ext cx="365760" cy="256032"/>
          </a:xfrm>
          <a:prstGeom prst="rect">
            <a:avLst/>
          </a:prstGeom>
          <a:solidFill>
            <a:srgbClr val="D97706"/>
          </a:solidFill>
          <a:ln w="12700">
            <a:solidFill>
              <a:srgbClr val="D97706"/>
            </a:solidFill>
            <a:prstDash val="solid"/>
          </a:ln>
        </p:spPr>
      </p:sp>
      <p:sp>
        <p:nvSpPr>
          <p:cNvPr id="61" name="Text 59"/>
          <p:cNvSpPr/>
          <p:nvPr/>
        </p:nvSpPr>
        <p:spPr>
          <a:xfrm>
            <a:off x="4892040" y="3337560"/>
            <a:ext cx="365760" cy="256032"/>
          </a:xfrm>
          <a:prstGeom prst="rect">
            <a:avLst/>
          </a:prstGeom>
          <a:noFill/>
          <a:ln/>
        </p:spPr>
        <p:txBody>
          <a:bodyPr wrap="square" lIns="0" tIns="0" rIns="0" bIns="0" rtlCol="0" anchor="ctr"/>
          <a:lstStyle/>
          <a:p>
            <a:pPr marL="0" indent="0" algn="ctr">
              <a:buNone/>
            </a:pPr>
            <a:r>
              <a:rPr lang="en-US" sz="850" b="1" dirty="0">
                <a:solidFill>
                  <a:srgbClr val="1A1A2E"/>
                </a:solidFill>
                <a:latin typeface="Calibri" pitchFamily="34" charset="0"/>
                <a:ea typeface="Calibri" pitchFamily="34" charset="-122"/>
                <a:cs typeface="Calibri" pitchFamily="34" charset="-120"/>
              </a:rPr>
              <a:t>17</a:t>
            </a:r>
            <a:endParaRPr lang="en-US" sz="850" dirty="0"/>
          </a:p>
        </p:txBody>
      </p:sp>
      <p:sp>
        <p:nvSpPr>
          <p:cNvPr id="62" name="Text 60"/>
          <p:cNvSpPr/>
          <p:nvPr/>
        </p:nvSpPr>
        <p:spPr>
          <a:xfrm>
            <a:off x="5312664" y="3346704"/>
            <a:ext cx="3566160" cy="256032"/>
          </a:xfrm>
          <a:prstGeom prst="rect">
            <a:avLst/>
          </a:prstGeom>
          <a:noFill/>
          <a:ln/>
        </p:spPr>
        <p:txBody>
          <a:bodyPr wrap="square" rtlCol="0" anchor="ctr"/>
          <a:lstStyle/>
          <a:p>
            <a:pPr marL="0" indent="0">
              <a:buNone/>
            </a:pPr>
            <a:r>
              <a:rPr lang="en-US" sz="950" dirty="0">
                <a:solidFill>
                  <a:srgbClr val="1A1A2E"/>
                </a:solidFill>
                <a:latin typeface="Calibri" pitchFamily="34" charset="0"/>
                <a:ea typeface="Calibri" pitchFamily="34" charset="-122"/>
                <a:cs typeface="Calibri" pitchFamily="34" charset="-120"/>
              </a:rPr>
              <a:t>Results &amp; Outcomes</a:t>
            </a:r>
            <a:endParaRPr lang="en-US" sz="950" dirty="0"/>
          </a:p>
        </p:txBody>
      </p:sp>
      <p:sp>
        <p:nvSpPr>
          <p:cNvPr id="63" name="Shape 61"/>
          <p:cNvSpPr/>
          <p:nvPr/>
        </p:nvSpPr>
        <p:spPr>
          <a:xfrm>
            <a:off x="4892040" y="3712464"/>
            <a:ext cx="365760" cy="256032"/>
          </a:xfrm>
          <a:prstGeom prst="rect">
            <a:avLst/>
          </a:prstGeom>
          <a:solidFill>
            <a:srgbClr val="DC2626"/>
          </a:solidFill>
          <a:ln w="12700">
            <a:solidFill>
              <a:srgbClr val="DC2626"/>
            </a:solidFill>
            <a:prstDash val="solid"/>
          </a:ln>
        </p:spPr>
      </p:sp>
      <p:sp>
        <p:nvSpPr>
          <p:cNvPr id="64" name="Text 62"/>
          <p:cNvSpPr/>
          <p:nvPr/>
        </p:nvSpPr>
        <p:spPr>
          <a:xfrm>
            <a:off x="4892040" y="3712464"/>
            <a:ext cx="365760" cy="256032"/>
          </a:xfrm>
          <a:prstGeom prst="rect">
            <a:avLst/>
          </a:prstGeom>
          <a:noFill/>
          <a:ln/>
        </p:spPr>
        <p:txBody>
          <a:bodyPr wrap="square" lIns="0" tIns="0" rIns="0" bIns="0" rtlCol="0" anchor="ctr"/>
          <a:lstStyle/>
          <a:p>
            <a:pPr marL="0" indent="0" algn="ctr">
              <a:buNone/>
            </a:pPr>
            <a:r>
              <a:rPr lang="en-US" sz="850" b="1" dirty="0">
                <a:solidFill>
                  <a:srgbClr val="1A1A2E"/>
                </a:solidFill>
                <a:latin typeface="Calibri" pitchFamily="34" charset="0"/>
                <a:ea typeface="Calibri" pitchFamily="34" charset="-122"/>
                <a:cs typeface="Calibri" pitchFamily="34" charset="-120"/>
              </a:rPr>
              <a:t>18</a:t>
            </a:r>
            <a:endParaRPr lang="en-US" sz="850" dirty="0"/>
          </a:p>
        </p:txBody>
      </p:sp>
      <p:sp>
        <p:nvSpPr>
          <p:cNvPr id="65" name="Text 63"/>
          <p:cNvSpPr/>
          <p:nvPr/>
        </p:nvSpPr>
        <p:spPr>
          <a:xfrm>
            <a:off x="5312664" y="3721608"/>
            <a:ext cx="3566160" cy="256032"/>
          </a:xfrm>
          <a:prstGeom prst="rect">
            <a:avLst/>
          </a:prstGeom>
          <a:noFill/>
          <a:ln/>
        </p:spPr>
        <p:txBody>
          <a:bodyPr wrap="square" rtlCol="0" anchor="ctr"/>
          <a:lstStyle/>
          <a:p>
            <a:pPr marL="0" indent="0">
              <a:buNone/>
            </a:pPr>
            <a:r>
              <a:rPr lang="en-US" sz="950" dirty="0">
                <a:solidFill>
                  <a:srgbClr val="1A1A2E"/>
                </a:solidFill>
                <a:latin typeface="Calibri" pitchFamily="34" charset="0"/>
                <a:ea typeface="Calibri" pitchFamily="34" charset="-122"/>
                <a:cs typeface="Calibri" pitchFamily="34" charset="-120"/>
              </a:rPr>
              <a:t>Algorithm &amp; Deployment</a:t>
            </a:r>
            <a:endParaRPr lang="en-US" sz="950" dirty="0"/>
          </a:p>
        </p:txBody>
      </p:sp>
      <p:sp>
        <p:nvSpPr>
          <p:cNvPr id="66" name="Shape 64"/>
          <p:cNvSpPr/>
          <p:nvPr/>
        </p:nvSpPr>
        <p:spPr>
          <a:xfrm>
            <a:off x="4892040" y="4087368"/>
            <a:ext cx="365760" cy="256032"/>
          </a:xfrm>
          <a:prstGeom prst="rect">
            <a:avLst/>
          </a:prstGeom>
          <a:solidFill>
            <a:srgbClr val="1D4ED8"/>
          </a:solidFill>
          <a:ln w="12700">
            <a:solidFill>
              <a:srgbClr val="1D4ED8"/>
            </a:solidFill>
            <a:prstDash val="solid"/>
          </a:ln>
        </p:spPr>
      </p:sp>
      <p:sp>
        <p:nvSpPr>
          <p:cNvPr id="67" name="Text 65"/>
          <p:cNvSpPr/>
          <p:nvPr/>
        </p:nvSpPr>
        <p:spPr>
          <a:xfrm>
            <a:off x="4892040" y="4087368"/>
            <a:ext cx="365760" cy="256032"/>
          </a:xfrm>
          <a:prstGeom prst="rect">
            <a:avLst/>
          </a:prstGeom>
          <a:noFill/>
          <a:ln/>
        </p:spPr>
        <p:txBody>
          <a:bodyPr wrap="square" lIns="0" tIns="0" rIns="0" bIns="0" rtlCol="0" anchor="ctr"/>
          <a:lstStyle/>
          <a:p>
            <a:pPr marL="0" indent="0" algn="ctr">
              <a:buNone/>
            </a:pPr>
            <a:r>
              <a:rPr lang="en-US" sz="850" b="1" dirty="0">
                <a:solidFill>
                  <a:srgbClr val="1A1A2E"/>
                </a:solidFill>
                <a:latin typeface="Calibri" pitchFamily="34" charset="0"/>
                <a:ea typeface="Calibri" pitchFamily="34" charset="-122"/>
                <a:cs typeface="Calibri" pitchFamily="34" charset="-120"/>
              </a:rPr>
              <a:t>19</a:t>
            </a:r>
            <a:endParaRPr lang="en-US" sz="850" dirty="0"/>
          </a:p>
        </p:txBody>
      </p:sp>
      <p:sp>
        <p:nvSpPr>
          <p:cNvPr id="68" name="Text 66"/>
          <p:cNvSpPr/>
          <p:nvPr/>
        </p:nvSpPr>
        <p:spPr>
          <a:xfrm>
            <a:off x="5312664" y="4096512"/>
            <a:ext cx="3566160" cy="256032"/>
          </a:xfrm>
          <a:prstGeom prst="rect">
            <a:avLst/>
          </a:prstGeom>
          <a:noFill/>
          <a:ln/>
        </p:spPr>
        <p:txBody>
          <a:bodyPr wrap="square" rtlCol="0" anchor="ctr"/>
          <a:lstStyle/>
          <a:p>
            <a:pPr marL="0" indent="0">
              <a:buNone/>
            </a:pPr>
            <a:r>
              <a:rPr lang="en-US" sz="950" dirty="0">
                <a:solidFill>
                  <a:srgbClr val="1A1A2E"/>
                </a:solidFill>
                <a:latin typeface="Calibri" pitchFamily="34" charset="0"/>
                <a:ea typeface="Calibri" pitchFamily="34" charset="-122"/>
                <a:cs typeface="Calibri" pitchFamily="34" charset="-120"/>
              </a:rPr>
              <a:t>Conclusion &amp; Future Scope</a:t>
            </a:r>
            <a:endParaRPr lang="en-US" sz="950" dirty="0"/>
          </a:p>
        </p:txBody>
      </p:sp>
      <p:sp>
        <p:nvSpPr>
          <p:cNvPr id="69" name="Shape 67"/>
          <p:cNvSpPr/>
          <p:nvPr/>
        </p:nvSpPr>
        <p:spPr>
          <a:xfrm>
            <a:off x="4892040" y="4462272"/>
            <a:ext cx="365760" cy="256032"/>
          </a:xfrm>
          <a:prstGeom prst="rect">
            <a:avLst/>
          </a:prstGeom>
          <a:solidFill>
            <a:srgbClr val="FFFFFF"/>
          </a:solidFill>
          <a:ln w="12700">
            <a:solidFill>
              <a:srgbClr val="FFFFFF"/>
            </a:solidFill>
            <a:prstDash val="solid"/>
          </a:ln>
        </p:spPr>
      </p:sp>
      <p:sp>
        <p:nvSpPr>
          <p:cNvPr id="70" name="Text 68"/>
          <p:cNvSpPr/>
          <p:nvPr/>
        </p:nvSpPr>
        <p:spPr>
          <a:xfrm>
            <a:off x="4892040" y="4462272"/>
            <a:ext cx="365760" cy="256032"/>
          </a:xfrm>
          <a:prstGeom prst="rect">
            <a:avLst/>
          </a:prstGeom>
          <a:noFill/>
          <a:ln/>
        </p:spPr>
        <p:txBody>
          <a:bodyPr wrap="square" lIns="0" tIns="0" rIns="0" bIns="0" rtlCol="0" anchor="ctr"/>
          <a:lstStyle/>
          <a:p>
            <a:pPr marL="0" indent="0" algn="ctr">
              <a:buNone/>
            </a:pPr>
            <a:r>
              <a:rPr lang="en-US" sz="850" b="1" dirty="0">
                <a:solidFill>
                  <a:srgbClr val="1A1A2E"/>
                </a:solidFill>
                <a:latin typeface="Calibri" pitchFamily="34" charset="0"/>
                <a:ea typeface="Calibri" pitchFamily="34" charset="-122"/>
                <a:cs typeface="Calibri" pitchFamily="34" charset="-120"/>
              </a:rPr>
              <a:t>20</a:t>
            </a:r>
            <a:endParaRPr lang="en-US" sz="850" dirty="0"/>
          </a:p>
        </p:txBody>
      </p:sp>
      <p:sp>
        <p:nvSpPr>
          <p:cNvPr id="71" name="Text 69"/>
          <p:cNvSpPr/>
          <p:nvPr/>
        </p:nvSpPr>
        <p:spPr>
          <a:xfrm>
            <a:off x="5312664" y="4471416"/>
            <a:ext cx="3566160" cy="256032"/>
          </a:xfrm>
          <a:prstGeom prst="rect">
            <a:avLst/>
          </a:prstGeom>
          <a:noFill/>
          <a:ln/>
        </p:spPr>
        <p:txBody>
          <a:bodyPr wrap="square" rtlCol="0" anchor="ctr"/>
          <a:lstStyle/>
          <a:p>
            <a:pPr marL="0" indent="0">
              <a:buNone/>
            </a:pPr>
            <a:r>
              <a:rPr lang="en-US" sz="950" dirty="0">
                <a:solidFill>
                  <a:srgbClr val="1A1A2E"/>
                </a:solidFill>
                <a:latin typeface="Calibri" pitchFamily="34" charset="0"/>
                <a:ea typeface="Calibri" pitchFamily="34" charset="-122"/>
                <a:cs typeface="Calibri" pitchFamily="34" charset="-120"/>
              </a:rPr>
              <a:t>References / Thank You</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01F5F"/>
          </a:solidFill>
          <a:ln w="12700">
            <a:solidFill>
              <a:srgbClr val="FFFFFF"/>
            </a:solidFill>
            <a:prstDash val="solid"/>
          </a:ln>
        </p:spPr>
      </p:sp>
      <p:sp>
        <p:nvSpPr>
          <p:cNvPr id="3" name="Shape 1"/>
          <p:cNvSpPr/>
          <p:nvPr/>
        </p:nvSpPr>
        <p:spPr>
          <a:xfrm>
            <a:off x="0" y="621792"/>
            <a:ext cx="9144000" cy="50292"/>
          </a:xfrm>
          <a:prstGeom prst="rect">
            <a:avLst/>
          </a:prstGeom>
          <a:solidFill>
            <a:srgbClr val="1E8449"/>
          </a:solidFill>
          <a:ln w="12700">
            <a:solidFill>
              <a:srgbClr val="1E8449"/>
            </a:solidFill>
            <a:prstDash val="solid"/>
          </a:ln>
        </p:spPr>
      </p:sp>
      <p:sp>
        <p:nvSpPr>
          <p:cNvPr id="4" name="Text 2"/>
          <p:cNvSpPr/>
          <p:nvPr/>
        </p:nvSpPr>
        <p:spPr>
          <a:xfrm>
            <a:off x="292608" y="45720"/>
            <a:ext cx="7498080" cy="54864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Abstract</a:t>
            </a:r>
            <a:endParaRPr lang="en-US" sz="1900" dirty="0"/>
          </a:p>
        </p:txBody>
      </p:sp>
      <p:sp>
        <p:nvSpPr>
          <p:cNvPr id="5" name="Shape 3"/>
          <p:cNvSpPr/>
          <p:nvPr/>
        </p:nvSpPr>
        <p:spPr>
          <a:xfrm>
            <a:off x="7818120" y="82296"/>
            <a:ext cx="1234440" cy="457200"/>
          </a:xfrm>
          <a:prstGeom prst="rect">
            <a:avLst/>
          </a:prstGeom>
          <a:solidFill>
            <a:srgbClr val="E8EFF8"/>
          </a:solidFill>
          <a:ln w="12700">
            <a:solidFill>
              <a:srgbClr val="1D4ED8"/>
            </a:solidFill>
            <a:prstDash val="solid"/>
          </a:ln>
        </p:spPr>
      </p:sp>
      <p:sp>
        <p:nvSpPr>
          <p:cNvPr id="6" name="Text 4"/>
          <p:cNvSpPr/>
          <p:nvPr/>
        </p:nvSpPr>
        <p:spPr>
          <a:xfrm>
            <a:off x="7818120" y="82296"/>
            <a:ext cx="1234440" cy="457200"/>
          </a:xfrm>
          <a:prstGeom prst="rect">
            <a:avLst/>
          </a:prstGeom>
          <a:noFill/>
          <a:ln/>
        </p:spPr>
        <p:txBody>
          <a:bodyPr wrap="square" rtlCol="0" anchor="ctr"/>
          <a:lstStyle/>
          <a:p>
            <a:pPr marL="0" indent="0" algn="ctr">
              <a:buNone/>
            </a:pPr>
            <a:r>
              <a:rPr lang="en-US" sz="700" b="1" dirty="0">
                <a:solidFill>
                  <a:srgbClr val="1D4ED8"/>
                </a:solidFill>
                <a:latin typeface="Calibri" pitchFamily="34" charset="0"/>
                <a:ea typeface="Calibri" pitchFamily="34" charset="-122"/>
                <a:cs typeface="Calibri" pitchFamily="34" charset="-120"/>
              </a:rPr>
              <a:t>Microsoft</a:t>
            </a:r>
            <a:endParaRPr lang="en-US" sz="700" dirty="0"/>
          </a:p>
          <a:p>
            <a:pPr marL="0" indent="0" algn="ctr">
              <a:buNone/>
            </a:pPr>
            <a:r>
              <a:rPr lang="en-US" sz="700" b="1" dirty="0">
                <a:solidFill>
                  <a:srgbClr val="1D4ED8"/>
                </a:solidFill>
                <a:latin typeface="Calibri" pitchFamily="34" charset="0"/>
                <a:ea typeface="Calibri" pitchFamily="34" charset="-122"/>
                <a:cs typeface="Calibri" pitchFamily="34" charset="-120"/>
              </a:rPr>
              <a:t>Elevate GTU</a:t>
            </a:r>
            <a:endParaRPr lang="en-US" sz="700" dirty="0"/>
          </a:p>
        </p:txBody>
      </p:sp>
      <p:sp>
        <p:nvSpPr>
          <p:cNvPr id="7" name="Shape 5"/>
          <p:cNvSpPr/>
          <p:nvPr/>
        </p:nvSpPr>
        <p:spPr>
          <a:xfrm>
            <a:off x="0" y="4873752"/>
            <a:ext cx="9144000" cy="50292"/>
          </a:xfrm>
          <a:prstGeom prst="rect">
            <a:avLst/>
          </a:prstGeom>
          <a:solidFill>
            <a:srgbClr val="1E8449"/>
          </a:solidFill>
          <a:ln w="12700">
            <a:solidFill>
              <a:srgbClr val="1E8449"/>
            </a:solidFill>
            <a:prstDash val="solid"/>
          </a:ln>
        </p:spPr>
      </p:sp>
      <p:sp>
        <p:nvSpPr>
          <p:cNvPr id="8" name="Shape 6"/>
          <p:cNvSpPr/>
          <p:nvPr/>
        </p:nvSpPr>
        <p:spPr>
          <a:xfrm>
            <a:off x="0" y="4924044"/>
            <a:ext cx="9144000" cy="219456"/>
          </a:xfrm>
          <a:prstGeom prst="rect">
            <a:avLst/>
          </a:prstGeom>
          <a:solidFill>
            <a:srgbClr val="FFFFFF"/>
          </a:solidFill>
          <a:ln w="12700">
            <a:solidFill>
              <a:srgbClr val="FFFFFF"/>
            </a:solidFill>
            <a:prstDash val="solid"/>
          </a:ln>
        </p:spPr>
      </p:sp>
      <p:sp>
        <p:nvSpPr>
          <p:cNvPr id="9" name="Text 7"/>
          <p:cNvSpPr/>
          <p:nvPr/>
        </p:nvSpPr>
        <p:spPr>
          <a:xfrm>
            <a:off x="228600" y="4924044"/>
            <a:ext cx="8046720" cy="219456"/>
          </a:xfrm>
          <a:prstGeom prst="rect">
            <a:avLst/>
          </a:prstGeom>
          <a:noFill/>
          <a:ln/>
        </p:spPr>
        <p:txBody>
          <a:bodyPr wrap="square" lIns="0" tIns="0" rIns="0" bIns="0" rtlCol="0" anchor="ctr"/>
          <a:lstStyle/>
          <a:p>
            <a:pPr marL="0" indent="0">
              <a:buNone/>
            </a:pPr>
            <a:r>
              <a:rPr lang="en-US" sz="650" dirty="0">
                <a:solidFill>
                  <a:srgbClr val="7B9ABF"/>
                </a:solidFill>
                <a:latin typeface="Calibri" pitchFamily="34" charset="0"/>
                <a:ea typeface="Calibri" pitchFamily="34" charset="-122"/>
                <a:cs typeface="Calibri" pitchFamily="34" charset="-120"/>
              </a:rPr>
              <a:t>Microsoft Elevate Internship Project  |  Healthcare &amp; Medication Management System  |  GTU Jan–Apr 2026</a:t>
            </a:r>
            <a:endParaRPr lang="en-US" sz="650" dirty="0"/>
          </a:p>
        </p:txBody>
      </p:sp>
      <p:sp>
        <p:nvSpPr>
          <p:cNvPr id="10" name="Text 8"/>
          <p:cNvSpPr/>
          <p:nvPr/>
        </p:nvSpPr>
        <p:spPr>
          <a:xfrm>
            <a:off x="8275320" y="4924044"/>
            <a:ext cx="731520" cy="219456"/>
          </a:xfrm>
          <a:prstGeom prst="rect">
            <a:avLst/>
          </a:prstGeom>
          <a:noFill/>
          <a:ln/>
        </p:spPr>
        <p:txBody>
          <a:bodyPr wrap="square" lIns="0" tIns="0" rIns="0" bIns="0" rtlCol="0" anchor="ctr"/>
          <a:lstStyle/>
          <a:p>
            <a:pPr marL="0" indent="0" algn="r">
              <a:buNone/>
            </a:pPr>
            <a:r>
              <a:rPr lang="en-US" sz="700" b="1" dirty="0">
                <a:solidFill>
                  <a:srgbClr val="1A1A2E"/>
                </a:solidFill>
                <a:latin typeface="Calibri" pitchFamily="34" charset="0"/>
                <a:ea typeface="Calibri" pitchFamily="34" charset="-122"/>
                <a:cs typeface="Calibri" pitchFamily="34" charset="-120"/>
              </a:rPr>
              <a:t>3 / 20</a:t>
            </a:r>
            <a:endParaRPr lang="en-US" sz="700" dirty="0"/>
          </a:p>
        </p:txBody>
      </p:sp>
      <p:sp>
        <p:nvSpPr>
          <p:cNvPr id="11" name="Text 9"/>
          <p:cNvSpPr/>
          <p:nvPr/>
        </p:nvSpPr>
        <p:spPr>
          <a:xfrm>
            <a:off x="320040" y="777240"/>
            <a:ext cx="8503920" cy="274320"/>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Project Abstract</a:t>
            </a:r>
            <a:endParaRPr lang="en-US" sz="1300" dirty="0"/>
          </a:p>
        </p:txBody>
      </p:sp>
      <p:sp>
        <p:nvSpPr>
          <p:cNvPr id="12" name="Shape 10"/>
          <p:cNvSpPr/>
          <p:nvPr/>
        </p:nvSpPr>
        <p:spPr>
          <a:xfrm>
            <a:off x="320040" y="1078992"/>
            <a:ext cx="5303520" cy="3703320"/>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13" name="Text 11"/>
          <p:cNvSpPr/>
          <p:nvPr/>
        </p:nvSpPr>
        <p:spPr>
          <a:xfrm>
            <a:off x="429768" y="1170432"/>
            <a:ext cx="5102352" cy="3520440"/>
          </a:xfrm>
          <a:prstGeom prst="rect">
            <a:avLst/>
          </a:prstGeom>
          <a:noFill/>
          <a:ln/>
        </p:spPr>
        <p:txBody>
          <a:bodyPr wrap="square" rtlCol="0" anchor="t"/>
          <a:lstStyle/>
          <a:p>
            <a:pPr marL="0" indent="0">
              <a:buNone/>
            </a:pPr>
            <a:r>
              <a:rPr lang="en-US" sz="950" dirty="0">
                <a:solidFill>
                  <a:srgbClr val="1A1A2E"/>
                </a:solidFill>
                <a:latin typeface="Calibri" pitchFamily="34" charset="0"/>
                <a:ea typeface="Calibri" pitchFamily="34" charset="-122"/>
                <a:cs typeface="Calibri" pitchFamily="34" charset="-120"/>
              </a:rPr>
              <a:t>This project develops a Healthcare and Medication Management System using AI, ML, and Microsoft Azure Cloud under the Microsoft Elevate program. The system integrates EHR data, IoT patient monitoring devices, and pharmacy databases into a unified analytics platform.</a:t>
            </a:r>
            <a:endParaRPr lang="en-US" sz="950" dirty="0"/>
          </a:p>
          <a:p>
            <a:pPr marL="0" indent="0">
              <a:buNone/>
            </a:pPr>
            <a:endParaRPr lang="en-US" sz="950" dirty="0"/>
          </a:p>
          <a:p>
            <a:pPr marL="0" indent="0">
              <a:buNone/>
            </a:pPr>
            <a:r>
              <a:rPr lang="en-US" sz="950" dirty="0">
                <a:solidFill>
                  <a:srgbClr val="1A1A2E"/>
                </a:solidFill>
                <a:latin typeface="Calibri" pitchFamily="34" charset="0"/>
                <a:ea typeface="Calibri" pitchFamily="34" charset="-122"/>
                <a:cs typeface="Calibri" pitchFamily="34" charset="-120"/>
              </a:rPr>
              <a:t>Using Power BI, Python (scikit-learn, TensorFlow), and Azure ML, the platform delivers real-time dashboards visualizing patient vitals, medication adherence, drug interaction alerts, and predictive health risk scores.</a:t>
            </a:r>
            <a:endParaRPr lang="en-US" sz="950" dirty="0"/>
          </a:p>
          <a:p>
            <a:pPr marL="0" indent="0">
              <a:buNone/>
            </a:pPr>
            <a:endParaRPr lang="en-US" sz="950" dirty="0"/>
          </a:p>
          <a:p>
            <a:pPr marL="0" indent="0">
              <a:buNone/>
            </a:pPr>
            <a:r>
              <a:rPr lang="en-US" sz="950" dirty="0">
                <a:solidFill>
                  <a:srgbClr val="1A1A2E"/>
                </a:solidFill>
                <a:latin typeface="Calibri" pitchFamily="34" charset="0"/>
                <a:ea typeface="Calibri" pitchFamily="34" charset="-122"/>
                <a:cs typeface="Calibri" pitchFamily="34" charset="-120"/>
              </a:rPr>
              <a:t>The primary objective is to reduce medication errors by 35%, improve patient safety, and empower clinicians with evidence-based insights — converting raw healthcare data into intelligent, actionable information for better outcomes.</a:t>
            </a:r>
            <a:endParaRPr lang="en-US" sz="950" dirty="0"/>
          </a:p>
          <a:p>
            <a:pPr marL="0" indent="0">
              <a:buNone/>
            </a:pPr>
            <a:endParaRPr lang="en-US" sz="950" dirty="0"/>
          </a:p>
          <a:p>
            <a:pPr marL="0" indent="0">
              <a:buNone/>
            </a:pPr>
            <a:r>
              <a:rPr lang="en-US" sz="950" dirty="0">
                <a:solidFill>
                  <a:srgbClr val="1A1A2E"/>
                </a:solidFill>
                <a:latin typeface="Calibri" pitchFamily="34" charset="0"/>
                <a:ea typeface="Calibri" pitchFamily="34" charset="-122"/>
                <a:cs typeface="Calibri" pitchFamily="34" charset="-120"/>
              </a:rPr>
              <a:t>The system employs supervised learning (Random Forest) for 30-day hospital readmission prediction achieving 91% accuracy, K-Means clustering for patient risk stratification, and LSTM networks for medication adherence forecasting — all deployed on HIPAA-compliant Microsoft Azure infrastructure.</a:t>
            </a:r>
            <a:endParaRPr lang="en-US" sz="950" dirty="0"/>
          </a:p>
        </p:txBody>
      </p:sp>
      <p:sp>
        <p:nvSpPr>
          <p:cNvPr id="14" name="Shape 12"/>
          <p:cNvSpPr/>
          <p:nvPr/>
        </p:nvSpPr>
        <p:spPr>
          <a:xfrm>
            <a:off x="5852160" y="1078992"/>
            <a:ext cx="2953512" cy="832104"/>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15" name="Text 13"/>
          <p:cNvSpPr/>
          <p:nvPr/>
        </p:nvSpPr>
        <p:spPr>
          <a:xfrm>
            <a:off x="5852160" y="1115568"/>
            <a:ext cx="1005840" cy="758952"/>
          </a:xfrm>
          <a:prstGeom prst="rect">
            <a:avLst/>
          </a:prstGeom>
          <a:noFill/>
          <a:ln/>
        </p:spPr>
        <p:txBody>
          <a:bodyPr wrap="square" rtlCol="0" anchor="ctr"/>
          <a:lstStyle/>
          <a:p>
            <a:pPr marL="0" indent="0" algn="ctr">
              <a:buNone/>
            </a:pPr>
            <a:r>
              <a:rPr lang="en-US" sz="2400" b="1" dirty="0">
                <a:solidFill>
                  <a:srgbClr val="DC2626"/>
                </a:solidFill>
                <a:latin typeface="Calibri" pitchFamily="34" charset="0"/>
                <a:ea typeface="Calibri" pitchFamily="34" charset="-122"/>
                <a:cs typeface="Calibri" pitchFamily="34" charset="-120"/>
              </a:rPr>
              <a:t>35%</a:t>
            </a:r>
            <a:endParaRPr lang="en-US" sz="2400" dirty="0"/>
          </a:p>
        </p:txBody>
      </p:sp>
      <p:sp>
        <p:nvSpPr>
          <p:cNvPr id="16" name="Shape 14"/>
          <p:cNvSpPr/>
          <p:nvPr/>
        </p:nvSpPr>
        <p:spPr>
          <a:xfrm>
            <a:off x="6894576" y="1188720"/>
            <a:ext cx="0" cy="612648"/>
          </a:xfrm>
          <a:prstGeom prst="line">
            <a:avLst/>
          </a:prstGeom>
          <a:noFill/>
          <a:ln w="12700">
            <a:solidFill>
              <a:srgbClr val="F0F4FA"/>
            </a:solidFill>
            <a:prstDash val="solid"/>
          </a:ln>
        </p:spPr>
      </p:sp>
      <p:sp>
        <p:nvSpPr>
          <p:cNvPr id="17" name="Text 15"/>
          <p:cNvSpPr/>
          <p:nvPr/>
        </p:nvSpPr>
        <p:spPr>
          <a:xfrm>
            <a:off x="6967728" y="1225296"/>
            <a:ext cx="1764792" cy="539496"/>
          </a:xfrm>
          <a:prstGeom prst="rect">
            <a:avLst/>
          </a:prstGeom>
          <a:noFill/>
          <a:ln/>
        </p:spPr>
        <p:txBody>
          <a:bodyPr wrap="square" rtlCol="0" anchor="ctr"/>
          <a:lstStyle/>
          <a:p>
            <a:pPr marL="0" indent="0">
              <a:buNone/>
            </a:pPr>
            <a:r>
              <a:rPr lang="en-US" sz="950" dirty="0">
                <a:solidFill>
                  <a:srgbClr val="1A1A2E"/>
                </a:solidFill>
                <a:latin typeface="Calibri" pitchFamily="34" charset="0"/>
                <a:ea typeface="Calibri" pitchFamily="34" charset="-122"/>
                <a:cs typeface="Calibri" pitchFamily="34" charset="-120"/>
              </a:rPr>
              <a:t>Reduction in</a:t>
            </a:r>
            <a:endParaRPr lang="en-US" sz="950" dirty="0"/>
          </a:p>
          <a:p>
            <a:pPr marL="0" indent="0">
              <a:buNone/>
            </a:pPr>
            <a:r>
              <a:rPr lang="en-US" sz="950" dirty="0">
                <a:solidFill>
                  <a:srgbClr val="1A1A2E"/>
                </a:solidFill>
                <a:latin typeface="Calibri" pitchFamily="34" charset="0"/>
                <a:ea typeface="Calibri" pitchFamily="34" charset="-122"/>
                <a:cs typeface="Calibri" pitchFamily="34" charset="-120"/>
              </a:rPr>
              <a:t>Medication Errors</a:t>
            </a:r>
            <a:endParaRPr lang="en-US" sz="950" dirty="0"/>
          </a:p>
        </p:txBody>
      </p:sp>
      <p:sp>
        <p:nvSpPr>
          <p:cNvPr id="18" name="Shape 16"/>
          <p:cNvSpPr/>
          <p:nvPr/>
        </p:nvSpPr>
        <p:spPr>
          <a:xfrm>
            <a:off x="5852160" y="2002536"/>
            <a:ext cx="2953512" cy="832104"/>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19" name="Text 17"/>
          <p:cNvSpPr/>
          <p:nvPr/>
        </p:nvSpPr>
        <p:spPr>
          <a:xfrm>
            <a:off x="5852160" y="2039112"/>
            <a:ext cx="1005840" cy="758952"/>
          </a:xfrm>
          <a:prstGeom prst="rect">
            <a:avLst/>
          </a:prstGeom>
          <a:noFill/>
          <a:ln/>
        </p:spPr>
        <p:txBody>
          <a:bodyPr wrap="square" rtlCol="0" anchor="ctr"/>
          <a:lstStyle/>
          <a:p>
            <a:pPr marL="0" indent="0" algn="ctr">
              <a:buNone/>
            </a:pPr>
            <a:r>
              <a:rPr lang="en-US" sz="2400" b="1" dirty="0">
                <a:solidFill>
                  <a:srgbClr val="D97706"/>
                </a:solidFill>
                <a:latin typeface="Calibri" pitchFamily="34" charset="0"/>
                <a:ea typeface="Calibri" pitchFamily="34" charset="-122"/>
                <a:cs typeface="Calibri" pitchFamily="34" charset="-120"/>
              </a:rPr>
              <a:t>2.3B</a:t>
            </a:r>
            <a:endParaRPr lang="en-US" sz="2400" dirty="0"/>
          </a:p>
        </p:txBody>
      </p:sp>
      <p:sp>
        <p:nvSpPr>
          <p:cNvPr id="20" name="Shape 18"/>
          <p:cNvSpPr/>
          <p:nvPr/>
        </p:nvSpPr>
        <p:spPr>
          <a:xfrm>
            <a:off x="6894576" y="2112264"/>
            <a:ext cx="0" cy="612648"/>
          </a:xfrm>
          <a:prstGeom prst="line">
            <a:avLst/>
          </a:prstGeom>
          <a:noFill/>
          <a:ln w="12700">
            <a:solidFill>
              <a:srgbClr val="F0F4FA"/>
            </a:solidFill>
            <a:prstDash val="solid"/>
          </a:ln>
        </p:spPr>
      </p:sp>
      <p:sp>
        <p:nvSpPr>
          <p:cNvPr id="21" name="Text 19"/>
          <p:cNvSpPr/>
          <p:nvPr/>
        </p:nvSpPr>
        <p:spPr>
          <a:xfrm>
            <a:off x="6967728" y="2148840"/>
            <a:ext cx="1764792" cy="539496"/>
          </a:xfrm>
          <a:prstGeom prst="rect">
            <a:avLst/>
          </a:prstGeom>
          <a:noFill/>
          <a:ln/>
        </p:spPr>
        <p:txBody>
          <a:bodyPr wrap="square" rtlCol="0" anchor="ctr"/>
          <a:lstStyle/>
          <a:p>
            <a:pPr marL="0" indent="0">
              <a:buNone/>
            </a:pPr>
            <a:r>
              <a:rPr lang="en-US" sz="950" dirty="0">
                <a:solidFill>
                  <a:srgbClr val="1A1A2E"/>
                </a:solidFill>
                <a:latin typeface="Calibri" pitchFamily="34" charset="0"/>
                <a:ea typeface="Calibri" pitchFamily="34" charset="-122"/>
                <a:cs typeface="Calibri" pitchFamily="34" charset="-120"/>
              </a:rPr>
              <a:t>People with</a:t>
            </a:r>
            <a:endParaRPr lang="en-US" sz="950" dirty="0"/>
          </a:p>
          <a:p>
            <a:pPr marL="0" indent="0">
              <a:buNone/>
            </a:pPr>
            <a:r>
              <a:rPr lang="en-US" sz="950" dirty="0">
                <a:solidFill>
                  <a:srgbClr val="1A1A2E"/>
                </a:solidFill>
                <a:latin typeface="Calibri" pitchFamily="34" charset="0"/>
                <a:ea typeface="Calibri" pitchFamily="34" charset="-122"/>
                <a:cs typeface="Calibri" pitchFamily="34" charset="-120"/>
              </a:rPr>
              <a:t>Chronic Diseases</a:t>
            </a:r>
            <a:endParaRPr lang="en-US" sz="950" dirty="0"/>
          </a:p>
        </p:txBody>
      </p:sp>
      <p:sp>
        <p:nvSpPr>
          <p:cNvPr id="22" name="Shape 20"/>
          <p:cNvSpPr/>
          <p:nvPr/>
        </p:nvSpPr>
        <p:spPr>
          <a:xfrm>
            <a:off x="5852160" y="2926080"/>
            <a:ext cx="2953512" cy="832104"/>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23" name="Text 21"/>
          <p:cNvSpPr/>
          <p:nvPr/>
        </p:nvSpPr>
        <p:spPr>
          <a:xfrm>
            <a:off x="5852160" y="2962656"/>
            <a:ext cx="1005840" cy="758952"/>
          </a:xfrm>
          <a:prstGeom prst="rect">
            <a:avLst/>
          </a:prstGeom>
          <a:noFill/>
          <a:ln/>
        </p:spPr>
        <p:txBody>
          <a:bodyPr wrap="square" rtlCol="0" anchor="ctr"/>
          <a:lstStyle/>
          <a:p>
            <a:pPr marL="0" indent="0" algn="ctr">
              <a:buNone/>
            </a:pPr>
            <a:r>
              <a:rPr lang="en-US" sz="2400" b="1" dirty="0">
                <a:solidFill>
                  <a:srgbClr val="1E8449"/>
                </a:solidFill>
                <a:latin typeface="Calibri" pitchFamily="34" charset="0"/>
                <a:ea typeface="Calibri" pitchFamily="34" charset="-122"/>
                <a:cs typeface="Calibri" pitchFamily="34" charset="-120"/>
              </a:rPr>
              <a:t>91%</a:t>
            </a:r>
            <a:endParaRPr lang="en-US" sz="2400" dirty="0"/>
          </a:p>
        </p:txBody>
      </p:sp>
      <p:sp>
        <p:nvSpPr>
          <p:cNvPr id="24" name="Shape 22"/>
          <p:cNvSpPr/>
          <p:nvPr/>
        </p:nvSpPr>
        <p:spPr>
          <a:xfrm>
            <a:off x="6894576" y="3035808"/>
            <a:ext cx="0" cy="612648"/>
          </a:xfrm>
          <a:prstGeom prst="line">
            <a:avLst/>
          </a:prstGeom>
          <a:noFill/>
          <a:ln w="12700">
            <a:solidFill>
              <a:srgbClr val="F0F4FA"/>
            </a:solidFill>
            <a:prstDash val="solid"/>
          </a:ln>
        </p:spPr>
      </p:sp>
      <p:sp>
        <p:nvSpPr>
          <p:cNvPr id="25" name="Text 23"/>
          <p:cNvSpPr/>
          <p:nvPr/>
        </p:nvSpPr>
        <p:spPr>
          <a:xfrm>
            <a:off x="6967728" y="3072384"/>
            <a:ext cx="1764792" cy="539496"/>
          </a:xfrm>
          <a:prstGeom prst="rect">
            <a:avLst/>
          </a:prstGeom>
          <a:noFill/>
          <a:ln/>
        </p:spPr>
        <p:txBody>
          <a:bodyPr wrap="square" rtlCol="0" anchor="ctr"/>
          <a:lstStyle/>
          <a:p>
            <a:pPr marL="0" indent="0">
              <a:buNone/>
            </a:pPr>
            <a:r>
              <a:rPr lang="en-US" sz="950" dirty="0">
                <a:solidFill>
                  <a:srgbClr val="1A1A2E"/>
                </a:solidFill>
                <a:latin typeface="Calibri" pitchFamily="34" charset="0"/>
                <a:ea typeface="Calibri" pitchFamily="34" charset="-122"/>
                <a:cs typeface="Calibri" pitchFamily="34" charset="-120"/>
              </a:rPr>
              <a:t>ML Predictive</a:t>
            </a:r>
            <a:endParaRPr lang="en-US" sz="950" dirty="0"/>
          </a:p>
          <a:p>
            <a:pPr marL="0" indent="0">
              <a:buNone/>
            </a:pPr>
            <a:r>
              <a:rPr lang="en-US" sz="950" dirty="0">
                <a:solidFill>
                  <a:srgbClr val="1A1A2E"/>
                </a:solidFill>
                <a:latin typeface="Calibri" pitchFamily="34" charset="0"/>
                <a:ea typeface="Calibri" pitchFamily="34" charset="-122"/>
                <a:cs typeface="Calibri" pitchFamily="34" charset="-120"/>
              </a:rPr>
              <a:t>Model Accuracy</a:t>
            </a:r>
            <a:endParaRPr lang="en-US" sz="950" dirty="0"/>
          </a:p>
        </p:txBody>
      </p:sp>
      <p:sp>
        <p:nvSpPr>
          <p:cNvPr id="26" name="Shape 24"/>
          <p:cNvSpPr/>
          <p:nvPr/>
        </p:nvSpPr>
        <p:spPr>
          <a:xfrm>
            <a:off x="5852160" y="3849624"/>
            <a:ext cx="2953512" cy="832104"/>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27" name="Text 25"/>
          <p:cNvSpPr/>
          <p:nvPr/>
        </p:nvSpPr>
        <p:spPr>
          <a:xfrm>
            <a:off x="5852160" y="3886200"/>
            <a:ext cx="1005840" cy="758952"/>
          </a:xfrm>
          <a:prstGeom prst="rect">
            <a:avLst/>
          </a:prstGeom>
          <a:noFill/>
          <a:ln/>
        </p:spPr>
        <p:txBody>
          <a:bodyPr wrap="square" rtlCol="0" anchor="ctr"/>
          <a:lstStyle/>
          <a:p>
            <a:pPr marL="0" indent="0" algn="ctr">
              <a:buNone/>
            </a:pPr>
            <a:r>
              <a:rPr lang="en-US" sz="2400" b="1" dirty="0">
                <a:solidFill>
                  <a:srgbClr val="1D4ED8"/>
                </a:solidFill>
                <a:latin typeface="Calibri" pitchFamily="34" charset="0"/>
                <a:ea typeface="Calibri" pitchFamily="34" charset="-122"/>
                <a:cs typeface="Calibri" pitchFamily="34" charset="-120"/>
              </a:rPr>
              <a:t>HIPAA</a:t>
            </a:r>
            <a:endParaRPr lang="en-US" sz="2400" dirty="0"/>
          </a:p>
        </p:txBody>
      </p:sp>
      <p:sp>
        <p:nvSpPr>
          <p:cNvPr id="28" name="Shape 26"/>
          <p:cNvSpPr/>
          <p:nvPr/>
        </p:nvSpPr>
        <p:spPr>
          <a:xfrm>
            <a:off x="6894576" y="3959352"/>
            <a:ext cx="0" cy="612648"/>
          </a:xfrm>
          <a:prstGeom prst="line">
            <a:avLst/>
          </a:prstGeom>
          <a:noFill/>
          <a:ln w="12700">
            <a:solidFill>
              <a:srgbClr val="F0F4FA"/>
            </a:solidFill>
            <a:prstDash val="solid"/>
          </a:ln>
        </p:spPr>
      </p:sp>
      <p:sp>
        <p:nvSpPr>
          <p:cNvPr id="29" name="Text 27"/>
          <p:cNvSpPr/>
          <p:nvPr/>
        </p:nvSpPr>
        <p:spPr>
          <a:xfrm>
            <a:off x="6967728" y="3995928"/>
            <a:ext cx="1764792" cy="539496"/>
          </a:xfrm>
          <a:prstGeom prst="rect">
            <a:avLst/>
          </a:prstGeom>
          <a:noFill/>
          <a:ln/>
        </p:spPr>
        <p:txBody>
          <a:bodyPr wrap="square" rtlCol="0" anchor="ctr"/>
          <a:lstStyle/>
          <a:p>
            <a:pPr marL="0" indent="0">
              <a:buNone/>
            </a:pPr>
            <a:r>
              <a:rPr lang="en-US" sz="950" dirty="0">
                <a:solidFill>
                  <a:srgbClr val="1A1A2E"/>
                </a:solidFill>
                <a:latin typeface="Calibri" pitchFamily="34" charset="0"/>
                <a:ea typeface="Calibri" pitchFamily="34" charset="-122"/>
                <a:cs typeface="Calibri" pitchFamily="34" charset="-120"/>
              </a:rPr>
              <a:t>Full Compliance</a:t>
            </a:r>
            <a:endParaRPr lang="en-US" sz="950" dirty="0"/>
          </a:p>
          <a:p>
            <a:pPr marL="0" indent="0">
              <a:buNone/>
            </a:pPr>
            <a:r>
              <a:rPr lang="en-US" sz="950" dirty="0">
                <a:solidFill>
                  <a:srgbClr val="1A1A2E"/>
                </a:solidFill>
                <a:latin typeface="Calibri" pitchFamily="34" charset="0"/>
                <a:ea typeface="Calibri" pitchFamily="34" charset="-122"/>
                <a:cs typeface="Calibri" pitchFamily="34" charset="-120"/>
              </a:rPr>
              <a:t>Achieved</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01F5F"/>
          </a:solidFill>
          <a:ln w="12700">
            <a:solidFill>
              <a:srgbClr val="FFFFFF"/>
            </a:solidFill>
            <a:prstDash val="solid"/>
          </a:ln>
        </p:spPr>
      </p:sp>
      <p:sp>
        <p:nvSpPr>
          <p:cNvPr id="3" name="Shape 1"/>
          <p:cNvSpPr/>
          <p:nvPr/>
        </p:nvSpPr>
        <p:spPr>
          <a:xfrm>
            <a:off x="0" y="621792"/>
            <a:ext cx="9144000" cy="50292"/>
          </a:xfrm>
          <a:prstGeom prst="rect">
            <a:avLst/>
          </a:prstGeom>
          <a:solidFill>
            <a:srgbClr val="1E8449"/>
          </a:solidFill>
          <a:ln w="12700">
            <a:solidFill>
              <a:srgbClr val="1E8449"/>
            </a:solidFill>
            <a:prstDash val="solid"/>
          </a:ln>
        </p:spPr>
      </p:sp>
      <p:sp>
        <p:nvSpPr>
          <p:cNvPr id="4" name="Text 2"/>
          <p:cNvSpPr/>
          <p:nvPr/>
        </p:nvSpPr>
        <p:spPr>
          <a:xfrm>
            <a:off x="292608" y="45720"/>
            <a:ext cx="7498080" cy="54864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Project Overview &amp; Objectives</a:t>
            </a:r>
            <a:endParaRPr lang="en-US" sz="1900" dirty="0"/>
          </a:p>
        </p:txBody>
      </p:sp>
      <p:sp>
        <p:nvSpPr>
          <p:cNvPr id="5" name="Shape 3"/>
          <p:cNvSpPr/>
          <p:nvPr/>
        </p:nvSpPr>
        <p:spPr>
          <a:xfrm>
            <a:off x="7818120" y="82296"/>
            <a:ext cx="1234440" cy="457200"/>
          </a:xfrm>
          <a:prstGeom prst="rect">
            <a:avLst/>
          </a:prstGeom>
          <a:solidFill>
            <a:srgbClr val="E8EFF8"/>
          </a:solidFill>
          <a:ln w="12700">
            <a:solidFill>
              <a:srgbClr val="1D4ED8"/>
            </a:solidFill>
            <a:prstDash val="solid"/>
          </a:ln>
        </p:spPr>
      </p:sp>
      <p:sp>
        <p:nvSpPr>
          <p:cNvPr id="6" name="Text 4"/>
          <p:cNvSpPr/>
          <p:nvPr/>
        </p:nvSpPr>
        <p:spPr>
          <a:xfrm>
            <a:off x="7818120" y="82296"/>
            <a:ext cx="1234440" cy="457200"/>
          </a:xfrm>
          <a:prstGeom prst="rect">
            <a:avLst/>
          </a:prstGeom>
          <a:noFill/>
          <a:ln/>
        </p:spPr>
        <p:txBody>
          <a:bodyPr wrap="square" rtlCol="0" anchor="ctr"/>
          <a:lstStyle/>
          <a:p>
            <a:pPr marL="0" indent="0" algn="ctr">
              <a:buNone/>
            </a:pPr>
            <a:r>
              <a:rPr lang="en-US" sz="700" b="1" dirty="0">
                <a:solidFill>
                  <a:srgbClr val="1D4ED8"/>
                </a:solidFill>
                <a:latin typeface="Calibri" pitchFamily="34" charset="0"/>
                <a:ea typeface="Calibri" pitchFamily="34" charset="-122"/>
                <a:cs typeface="Calibri" pitchFamily="34" charset="-120"/>
              </a:rPr>
              <a:t>Microsoft</a:t>
            </a:r>
            <a:endParaRPr lang="en-US" sz="700" dirty="0"/>
          </a:p>
          <a:p>
            <a:pPr marL="0" indent="0" algn="ctr">
              <a:buNone/>
            </a:pPr>
            <a:r>
              <a:rPr lang="en-US" sz="700" b="1" dirty="0">
                <a:solidFill>
                  <a:srgbClr val="1D4ED8"/>
                </a:solidFill>
                <a:latin typeface="Calibri" pitchFamily="34" charset="0"/>
                <a:ea typeface="Calibri" pitchFamily="34" charset="-122"/>
                <a:cs typeface="Calibri" pitchFamily="34" charset="-120"/>
              </a:rPr>
              <a:t>Elevate GTU</a:t>
            </a:r>
            <a:endParaRPr lang="en-US" sz="700" dirty="0"/>
          </a:p>
        </p:txBody>
      </p:sp>
      <p:sp>
        <p:nvSpPr>
          <p:cNvPr id="7" name="Shape 5"/>
          <p:cNvSpPr/>
          <p:nvPr/>
        </p:nvSpPr>
        <p:spPr>
          <a:xfrm>
            <a:off x="0" y="4873752"/>
            <a:ext cx="9144000" cy="50292"/>
          </a:xfrm>
          <a:prstGeom prst="rect">
            <a:avLst/>
          </a:prstGeom>
          <a:solidFill>
            <a:srgbClr val="1E8449"/>
          </a:solidFill>
          <a:ln w="12700">
            <a:solidFill>
              <a:srgbClr val="1E8449"/>
            </a:solidFill>
            <a:prstDash val="solid"/>
          </a:ln>
        </p:spPr>
      </p:sp>
      <p:sp>
        <p:nvSpPr>
          <p:cNvPr id="8" name="Shape 6"/>
          <p:cNvSpPr/>
          <p:nvPr/>
        </p:nvSpPr>
        <p:spPr>
          <a:xfrm>
            <a:off x="0" y="4924044"/>
            <a:ext cx="9144000" cy="219456"/>
          </a:xfrm>
          <a:prstGeom prst="rect">
            <a:avLst/>
          </a:prstGeom>
          <a:solidFill>
            <a:srgbClr val="FFFFFF"/>
          </a:solidFill>
          <a:ln w="12700">
            <a:solidFill>
              <a:srgbClr val="FFFFFF"/>
            </a:solidFill>
            <a:prstDash val="solid"/>
          </a:ln>
        </p:spPr>
      </p:sp>
      <p:sp>
        <p:nvSpPr>
          <p:cNvPr id="9" name="Text 7"/>
          <p:cNvSpPr/>
          <p:nvPr/>
        </p:nvSpPr>
        <p:spPr>
          <a:xfrm>
            <a:off x="228600" y="4924044"/>
            <a:ext cx="8046720" cy="219456"/>
          </a:xfrm>
          <a:prstGeom prst="rect">
            <a:avLst/>
          </a:prstGeom>
          <a:noFill/>
          <a:ln/>
        </p:spPr>
        <p:txBody>
          <a:bodyPr wrap="square" lIns="0" tIns="0" rIns="0" bIns="0" rtlCol="0" anchor="ctr"/>
          <a:lstStyle/>
          <a:p>
            <a:pPr marL="0" indent="0">
              <a:buNone/>
            </a:pPr>
            <a:r>
              <a:rPr lang="en-US" sz="650" dirty="0">
                <a:solidFill>
                  <a:srgbClr val="7B9ABF"/>
                </a:solidFill>
                <a:latin typeface="Calibri" pitchFamily="34" charset="0"/>
                <a:ea typeface="Calibri" pitchFamily="34" charset="-122"/>
                <a:cs typeface="Calibri" pitchFamily="34" charset="-120"/>
              </a:rPr>
              <a:t>Microsoft Elevate Internship Project  |  Healthcare &amp; Medication Management System  |  GTU Jan–Apr 2026</a:t>
            </a:r>
            <a:endParaRPr lang="en-US" sz="650" dirty="0"/>
          </a:p>
        </p:txBody>
      </p:sp>
      <p:sp>
        <p:nvSpPr>
          <p:cNvPr id="10" name="Text 8"/>
          <p:cNvSpPr/>
          <p:nvPr/>
        </p:nvSpPr>
        <p:spPr>
          <a:xfrm>
            <a:off x="8275320" y="4924044"/>
            <a:ext cx="731520" cy="219456"/>
          </a:xfrm>
          <a:prstGeom prst="rect">
            <a:avLst/>
          </a:prstGeom>
          <a:noFill/>
          <a:ln/>
        </p:spPr>
        <p:txBody>
          <a:bodyPr wrap="square" lIns="0" tIns="0" rIns="0" bIns="0" rtlCol="0" anchor="ctr"/>
          <a:lstStyle/>
          <a:p>
            <a:pPr marL="0" indent="0" algn="r">
              <a:buNone/>
            </a:pPr>
            <a:r>
              <a:rPr lang="en-US" sz="700" b="1" dirty="0">
                <a:solidFill>
                  <a:srgbClr val="1A1A2E"/>
                </a:solidFill>
                <a:latin typeface="Calibri" pitchFamily="34" charset="0"/>
                <a:ea typeface="Calibri" pitchFamily="34" charset="-122"/>
                <a:cs typeface="Calibri" pitchFamily="34" charset="-120"/>
              </a:rPr>
              <a:t>4 / 20</a:t>
            </a:r>
            <a:endParaRPr lang="en-US" sz="700" dirty="0"/>
          </a:p>
        </p:txBody>
      </p:sp>
      <p:sp>
        <p:nvSpPr>
          <p:cNvPr id="11" name="Text 9"/>
          <p:cNvSpPr/>
          <p:nvPr/>
        </p:nvSpPr>
        <p:spPr>
          <a:xfrm>
            <a:off x="320040" y="777240"/>
            <a:ext cx="8503920" cy="274320"/>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What is This Project About?</a:t>
            </a:r>
            <a:endParaRPr lang="en-US" sz="1300" dirty="0"/>
          </a:p>
        </p:txBody>
      </p:sp>
      <p:sp>
        <p:nvSpPr>
          <p:cNvPr id="12" name="Text 10"/>
          <p:cNvSpPr/>
          <p:nvPr/>
        </p:nvSpPr>
        <p:spPr>
          <a:xfrm>
            <a:off x="320040" y="1069848"/>
            <a:ext cx="8503920" cy="256032"/>
          </a:xfrm>
          <a:prstGeom prst="rect">
            <a:avLst/>
          </a:prstGeom>
          <a:noFill/>
          <a:ln/>
        </p:spPr>
        <p:txBody>
          <a:bodyPr wrap="square" rtlCol="0" anchor="ctr"/>
          <a:lstStyle/>
          <a:p>
            <a:pPr marL="0" indent="0">
              <a:buNone/>
            </a:pPr>
            <a:r>
              <a:rPr lang="en-US" sz="950" i="1" dirty="0">
                <a:solidFill>
                  <a:srgbClr val="1A1A2E"/>
                </a:solidFill>
                <a:latin typeface="Calibri" pitchFamily="34" charset="0"/>
                <a:ea typeface="Calibri" pitchFamily="34" charset="-122"/>
                <a:cs typeface="Calibri" pitchFamily="34" charset="-120"/>
              </a:rPr>
              <a:t>A comprehensive AI-powered platform transforming how healthcare providers manage patient care and medication workflows.</a:t>
            </a:r>
            <a:endParaRPr lang="en-US" sz="950" dirty="0"/>
          </a:p>
        </p:txBody>
      </p:sp>
      <p:sp>
        <p:nvSpPr>
          <p:cNvPr id="13" name="Shape 11"/>
          <p:cNvSpPr/>
          <p:nvPr/>
        </p:nvSpPr>
        <p:spPr>
          <a:xfrm>
            <a:off x="320040" y="1371600"/>
            <a:ext cx="8503920" cy="1097280"/>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14" name="Shape 12"/>
          <p:cNvSpPr/>
          <p:nvPr/>
        </p:nvSpPr>
        <p:spPr>
          <a:xfrm>
            <a:off x="320040" y="1371600"/>
            <a:ext cx="8503920" cy="292608"/>
          </a:xfrm>
          <a:prstGeom prst="rect">
            <a:avLst/>
          </a:prstGeom>
          <a:solidFill>
            <a:srgbClr val="FFFFFF"/>
          </a:solidFill>
          <a:ln w="12700">
            <a:solidFill>
              <a:srgbClr val="FFFFFF"/>
            </a:solidFill>
            <a:prstDash val="solid"/>
          </a:ln>
        </p:spPr>
      </p:sp>
      <p:sp>
        <p:nvSpPr>
          <p:cNvPr id="15" name="Text 13"/>
          <p:cNvSpPr/>
          <p:nvPr/>
        </p:nvSpPr>
        <p:spPr>
          <a:xfrm>
            <a:off x="320040" y="1371600"/>
            <a:ext cx="8503920" cy="292608"/>
          </a:xfrm>
          <a:prstGeom prst="rect">
            <a:avLst/>
          </a:prstGeom>
          <a:noFill/>
          <a:ln/>
        </p:spPr>
        <p:txBody>
          <a:bodyPr wrap="square" lIns="0" tIns="0" rIns="0" bIns="0" rtlCol="0" anchor="ctr"/>
          <a:lstStyle/>
          <a:p>
            <a:pPr marL="0" indent="0" algn="ctr">
              <a:buNone/>
            </a:pPr>
            <a:r>
              <a:rPr lang="en-US" sz="1000" b="1" dirty="0">
                <a:solidFill>
                  <a:srgbClr val="1A1A2E"/>
                </a:solidFill>
                <a:latin typeface="Calibri" pitchFamily="34" charset="0"/>
                <a:ea typeface="Calibri" pitchFamily="34" charset="-122"/>
                <a:cs typeface="Calibri" pitchFamily="34" charset="-120"/>
              </a:rPr>
              <a:t>Project Description</a:t>
            </a:r>
            <a:endParaRPr lang="en-US" sz="1000" dirty="0"/>
          </a:p>
        </p:txBody>
      </p:sp>
      <p:sp>
        <p:nvSpPr>
          <p:cNvPr id="16" name="Text 14"/>
          <p:cNvSpPr/>
          <p:nvPr/>
        </p:nvSpPr>
        <p:spPr>
          <a:xfrm>
            <a:off x="429768" y="1682496"/>
            <a:ext cx="8284464" cy="749808"/>
          </a:xfrm>
          <a:prstGeom prst="rect">
            <a:avLst/>
          </a:prstGeom>
          <a:noFill/>
          <a:ln/>
        </p:spPr>
        <p:txBody>
          <a:bodyPr wrap="square" rtlCol="0" anchor="t"/>
          <a:lstStyle/>
          <a:p>
            <a:pPr marL="0" indent="0">
              <a:buNone/>
            </a:pPr>
            <a:r>
              <a:rPr lang="en-US" sz="900" dirty="0">
                <a:solidFill>
                  <a:srgbClr val="1A1A2E"/>
                </a:solidFill>
                <a:latin typeface="Calibri" pitchFamily="34" charset="0"/>
                <a:ea typeface="Calibri" pitchFamily="34" charset="-122"/>
                <a:cs typeface="Calibri" pitchFamily="34" charset="-120"/>
              </a:rPr>
              <a:t>This project uses Power BI and Azure ML — skills acquired through the Microsoft Elevate program (Weeks 1–8) — to process data from Electronic Health Records (EHR), IoT health monitoring devices, and pharmacy databases to deliver real-time dashboards. The platform tracks patient vitals, medication schedules, drug interactions, and chronic disease progression using DAX-powered analytics and Python-based ML models. Key algorithms include supervised learning for readmission prediction (Random Forest, 91% accuracy), CNN-based medical image analysis, and K-Means clustering for patient risk stratification. Deployed on Microsoft Azure with HIPAA-compliant security and role-based access control.</a:t>
            </a:r>
            <a:endParaRPr lang="en-US" sz="900" dirty="0"/>
          </a:p>
        </p:txBody>
      </p:sp>
      <p:sp>
        <p:nvSpPr>
          <p:cNvPr id="17" name="Shape 15"/>
          <p:cNvSpPr/>
          <p:nvPr/>
        </p:nvSpPr>
        <p:spPr>
          <a:xfrm>
            <a:off x="320040" y="2542032"/>
            <a:ext cx="4224528" cy="694944"/>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18" name="Shape 16"/>
          <p:cNvSpPr/>
          <p:nvPr/>
        </p:nvSpPr>
        <p:spPr>
          <a:xfrm>
            <a:off x="320040" y="2542032"/>
            <a:ext cx="59436" cy="694944"/>
          </a:xfrm>
          <a:prstGeom prst="rect">
            <a:avLst/>
          </a:prstGeom>
          <a:solidFill>
            <a:srgbClr val="1D4ED8"/>
          </a:solidFill>
          <a:ln w="12700">
            <a:solidFill>
              <a:srgbClr val="1D4ED8"/>
            </a:solidFill>
            <a:prstDash val="solid"/>
          </a:ln>
        </p:spPr>
      </p:sp>
      <p:sp>
        <p:nvSpPr>
          <p:cNvPr id="19" name="Text 17"/>
          <p:cNvSpPr/>
          <p:nvPr/>
        </p:nvSpPr>
        <p:spPr>
          <a:xfrm>
            <a:off x="429768" y="2596896"/>
            <a:ext cx="4069080" cy="228600"/>
          </a:xfrm>
          <a:prstGeom prst="rect">
            <a:avLst/>
          </a:prstGeom>
          <a:noFill/>
          <a:ln/>
        </p:spPr>
        <p:txBody>
          <a:bodyPr wrap="square" lIns="0" tIns="0" rIns="0" bIns="0" rtlCol="0" anchor="ctr"/>
          <a:lstStyle/>
          <a:p>
            <a:pPr marL="0" indent="0">
              <a:buNone/>
            </a:pPr>
            <a:r>
              <a:rPr lang="en-US" sz="900" b="1" dirty="0">
                <a:solidFill>
                  <a:srgbClr val="1A1A2E"/>
                </a:solidFill>
                <a:latin typeface="Calibri" pitchFamily="34" charset="0"/>
                <a:ea typeface="Calibri" pitchFamily="34" charset="-122"/>
                <a:cs typeface="Calibri" pitchFamily="34" charset="-120"/>
              </a:rPr>
              <a:t>Develop Unified Analytics Platform</a:t>
            </a:r>
            <a:endParaRPr lang="en-US" sz="900" dirty="0"/>
          </a:p>
        </p:txBody>
      </p:sp>
      <p:sp>
        <p:nvSpPr>
          <p:cNvPr id="20" name="Text 18"/>
          <p:cNvSpPr/>
          <p:nvPr/>
        </p:nvSpPr>
        <p:spPr>
          <a:xfrm>
            <a:off x="429768" y="2843784"/>
            <a:ext cx="4069080" cy="338328"/>
          </a:xfrm>
          <a:prstGeom prst="rect">
            <a:avLst/>
          </a:prstGeom>
          <a:noFill/>
          <a:ln/>
        </p:spPr>
        <p:txBody>
          <a:bodyPr wrap="square" rtlCol="0" anchor="t"/>
          <a:lstStyle/>
          <a:p>
            <a:pPr marL="0" indent="0">
              <a:buNone/>
            </a:pPr>
            <a:r>
              <a:rPr lang="en-US" sz="800" dirty="0">
                <a:solidFill>
                  <a:srgbClr val="1A1A2E"/>
                </a:solidFill>
                <a:latin typeface="Calibri" pitchFamily="34" charset="0"/>
                <a:ea typeface="Calibri" pitchFamily="34" charset="-122"/>
                <a:cs typeface="Calibri" pitchFamily="34" charset="-120"/>
              </a:rPr>
              <a:t>Build a centralized Power BI dashboard integrating EHR, IoT vitals, and pharmacy data into a single view for all care providers and administrators.</a:t>
            </a:r>
            <a:endParaRPr lang="en-US" sz="800" dirty="0"/>
          </a:p>
        </p:txBody>
      </p:sp>
      <p:sp>
        <p:nvSpPr>
          <p:cNvPr id="21" name="Shape 19"/>
          <p:cNvSpPr/>
          <p:nvPr/>
        </p:nvSpPr>
        <p:spPr>
          <a:xfrm>
            <a:off x="4754880" y="2542032"/>
            <a:ext cx="4224528" cy="694944"/>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22" name="Shape 20"/>
          <p:cNvSpPr/>
          <p:nvPr/>
        </p:nvSpPr>
        <p:spPr>
          <a:xfrm>
            <a:off x="4754880" y="2542032"/>
            <a:ext cx="59436" cy="694944"/>
          </a:xfrm>
          <a:prstGeom prst="rect">
            <a:avLst/>
          </a:prstGeom>
          <a:solidFill>
            <a:srgbClr val="0D9488"/>
          </a:solidFill>
          <a:ln w="12700">
            <a:solidFill>
              <a:srgbClr val="0D9488"/>
            </a:solidFill>
            <a:prstDash val="solid"/>
          </a:ln>
        </p:spPr>
      </p:sp>
      <p:sp>
        <p:nvSpPr>
          <p:cNvPr id="23" name="Text 21"/>
          <p:cNvSpPr/>
          <p:nvPr/>
        </p:nvSpPr>
        <p:spPr>
          <a:xfrm>
            <a:off x="4864608" y="2596896"/>
            <a:ext cx="4069080" cy="228600"/>
          </a:xfrm>
          <a:prstGeom prst="rect">
            <a:avLst/>
          </a:prstGeom>
          <a:noFill/>
          <a:ln/>
        </p:spPr>
        <p:txBody>
          <a:bodyPr wrap="square" lIns="0" tIns="0" rIns="0" bIns="0" rtlCol="0" anchor="ctr"/>
          <a:lstStyle/>
          <a:p>
            <a:pPr marL="0" indent="0">
              <a:buNone/>
            </a:pPr>
            <a:r>
              <a:rPr lang="en-US" sz="900" b="1" dirty="0">
                <a:solidFill>
                  <a:srgbClr val="1A1A2E"/>
                </a:solidFill>
                <a:latin typeface="Calibri" pitchFamily="34" charset="0"/>
                <a:ea typeface="Calibri" pitchFamily="34" charset="-122"/>
                <a:cs typeface="Calibri" pitchFamily="34" charset="-120"/>
              </a:rPr>
              <a:t>Intelligent Medication Management</a:t>
            </a:r>
            <a:endParaRPr lang="en-US" sz="900" dirty="0"/>
          </a:p>
        </p:txBody>
      </p:sp>
      <p:sp>
        <p:nvSpPr>
          <p:cNvPr id="24" name="Text 22"/>
          <p:cNvSpPr/>
          <p:nvPr/>
        </p:nvSpPr>
        <p:spPr>
          <a:xfrm>
            <a:off x="4864608" y="2843784"/>
            <a:ext cx="4069080" cy="338328"/>
          </a:xfrm>
          <a:prstGeom prst="rect">
            <a:avLst/>
          </a:prstGeom>
          <a:noFill/>
          <a:ln/>
        </p:spPr>
        <p:txBody>
          <a:bodyPr wrap="square" rtlCol="0" anchor="t"/>
          <a:lstStyle/>
          <a:p>
            <a:pPr marL="0" indent="0">
              <a:buNone/>
            </a:pPr>
            <a:r>
              <a:rPr lang="en-US" sz="800" dirty="0">
                <a:solidFill>
                  <a:srgbClr val="1A1A2E"/>
                </a:solidFill>
                <a:latin typeface="Calibri" pitchFamily="34" charset="0"/>
                <a:ea typeface="Calibri" pitchFamily="34" charset="-122"/>
                <a:cs typeface="Calibri" pitchFamily="34" charset="-120"/>
              </a:rPr>
              <a:t>Create an AI-powered medication error detection engine with real-time drug interaction alerts, dosage verification, and smart adherence tracking.</a:t>
            </a:r>
            <a:endParaRPr lang="en-US" sz="800" dirty="0"/>
          </a:p>
        </p:txBody>
      </p:sp>
      <p:sp>
        <p:nvSpPr>
          <p:cNvPr id="25" name="Shape 23"/>
          <p:cNvSpPr/>
          <p:nvPr/>
        </p:nvSpPr>
        <p:spPr>
          <a:xfrm>
            <a:off x="320040" y="3310128"/>
            <a:ext cx="4224528" cy="694944"/>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26" name="Shape 24"/>
          <p:cNvSpPr/>
          <p:nvPr/>
        </p:nvSpPr>
        <p:spPr>
          <a:xfrm>
            <a:off x="320040" y="3310128"/>
            <a:ext cx="59436" cy="694944"/>
          </a:xfrm>
          <a:prstGeom prst="rect">
            <a:avLst/>
          </a:prstGeom>
          <a:solidFill>
            <a:srgbClr val="1E8449"/>
          </a:solidFill>
          <a:ln w="12700">
            <a:solidFill>
              <a:srgbClr val="1E8449"/>
            </a:solidFill>
            <a:prstDash val="solid"/>
          </a:ln>
        </p:spPr>
      </p:sp>
      <p:sp>
        <p:nvSpPr>
          <p:cNvPr id="27" name="Text 25"/>
          <p:cNvSpPr/>
          <p:nvPr/>
        </p:nvSpPr>
        <p:spPr>
          <a:xfrm>
            <a:off x="429768" y="3364992"/>
            <a:ext cx="4069080" cy="228600"/>
          </a:xfrm>
          <a:prstGeom prst="rect">
            <a:avLst/>
          </a:prstGeom>
          <a:noFill/>
          <a:ln/>
        </p:spPr>
        <p:txBody>
          <a:bodyPr wrap="square" lIns="0" tIns="0" rIns="0" bIns="0" rtlCol="0" anchor="ctr"/>
          <a:lstStyle/>
          <a:p>
            <a:pPr marL="0" indent="0">
              <a:buNone/>
            </a:pPr>
            <a:r>
              <a:rPr lang="en-US" sz="900" b="1" dirty="0">
                <a:solidFill>
                  <a:srgbClr val="1A1A2E"/>
                </a:solidFill>
                <a:latin typeface="Calibri" pitchFamily="34" charset="0"/>
                <a:ea typeface="Calibri" pitchFamily="34" charset="-122"/>
                <a:cs typeface="Calibri" pitchFamily="34" charset="-120"/>
              </a:rPr>
              <a:t>Real-Time Patient Monitoring</a:t>
            </a:r>
            <a:endParaRPr lang="en-US" sz="900" dirty="0"/>
          </a:p>
        </p:txBody>
      </p:sp>
      <p:sp>
        <p:nvSpPr>
          <p:cNvPr id="28" name="Text 26"/>
          <p:cNvSpPr/>
          <p:nvPr/>
        </p:nvSpPr>
        <p:spPr>
          <a:xfrm>
            <a:off x="429768" y="3611880"/>
            <a:ext cx="4069080" cy="338328"/>
          </a:xfrm>
          <a:prstGeom prst="rect">
            <a:avLst/>
          </a:prstGeom>
          <a:noFill/>
          <a:ln/>
        </p:spPr>
        <p:txBody>
          <a:bodyPr wrap="square" rtlCol="0" anchor="t"/>
          <a:lstStyle/>
          <a:p>
            <a:pPr marL="0" indent="0">
              <a:buNone/>
            </a:pPr>
            <a:r>
              <a:rPr lang="en-US" sz="800" dirty="0">
                <a:solidFill>
                  <a:srgbClr val="1A1A2E"/>
                </a:solidFill>
                <a:latin typeface="Calibri" pitchFamily="34" charset="0"/>
                <a:ea typeface="Calibri" pitchFamily="34" charset="-122"/>
                <a:cs typeface="Calibri" pitchFamily="34" charset="-120"/>
              </a:rPr>
              <a:t>Deploy IoT-connected vitals dashboards tracking heart rate, blood pressure, SpO2, and temperature with instant clinical alerts for ICU and critical care patients.</a:t>
            </a:r>
            <a:endParaRPr lang="en-US" sz="800" dirty="0"/>
          </a:p>
        </p:txBody>
      </p:sp>
      <p:sp>
        <p:nvSpPr>
          <p:cNvPr id="29" name="Shape 27"/>
          <p:cNvSpPr/>
          <p:nvPr/>
        </p:nvSpPr>
        <p:spPr>
          <a:xfrm>
            <a:off x="4754880" y="3310128"/>
            <a:ext cx="4224528" cy="694944"/>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30" name="Shape 28"/>
          <p:cNvSpPr/>
          <p:nvPr/>
        </p:nvSpPr>
        <p:spPr>
          <a:xfrm>
            <a:off x="4754880" y="3310128"/>
            <a:ext cx="59436" cy="694944"/>
          </a:xfrm>
          <a:prstGeom prst="rect">
            <a:avLst/>
          </a:prstGeom>
          <a:solidFill>
            <a:srgbClr val="7C3AED"/>
          </a:solidFill>
          <a:ln w="12700">
            <a:solidFill>
              <a:srgbClr val="7C3AED"/>
            </a:solidFill>
            <a:prstDash val="solid"/>
          </a:ln>
        </p:spPr>
      </p:sp>
      <p:sp>
        <p:nvSpPr>
          <p:cNvPr id="31" name="Text 29"/>
          <p:cNvSpPr/>
          <p:nvPr/>
        </p:nvSpPr>
        <p:spPr>
          <a:xfrm>
            <a:off x="4864608" y="3364992"/>
            <a:ext cx="4069080" cy="228600"/>
          </a:xfrm>
          <a:prstGeom prst="rect">
            <a:avLst/>
          </a:prstGeom>
          <a:noFill/>
          <a:ln/>
        </p:spPr>
        <p:txBody>
          <a:bodyPr wrap="square" lIns="0" tIns="0" rIns="0" bIns="0" rtlCol="0" anchor="ctr"/>
          <a:lstStyle/>
          <a:p>
            <a:pPr marL="0" indent="0">
              <a:buNone/>
            </a:pPr>
            <a:r>
              <a:rPr lang="en-US" sz="900" b="1" dirty="0">
                <a:solidFill>
                  <a:srgbClr val="1A1A2E"/>
                </a:solidFill>
                <a:latin typeface="Calibri" pitchFamily="34" charset="0"/>
                <a:ea typeface="Calibri" pitchFamily="34" charset="-122"/>
                <a:cs typeface="Calibri" pitchFamily="34" charset="-120"/>
              </a:rPr>
              <a:t>Predictive ML Models</a:t>
            </a:r>
            <a:endParaRPr lang="en-US" sz="900" dirty="0"/>
          </a:p>
        </p:txBody>
      </p:sp>
      <p:sp>
        <p:nvSpPr>
          <p:cNvPr id="32" name="Text 30"/>
          <p:cNvSpPr/>
          <p:nvPr/>
        </p:nvSpPr>
        <p:spPr>
          <a:xfrm>
            <a:off x="4864608" y="3611880"/>
            <a:ext cx="4069080" cy="338328"/>
          </a:xfrm>
          <a:prstGeom prst="rect">
            <a:avLst/>
          </a:prstGeom>
          <a:noFill/>
          <a:ln/>
        </p:spPr>
        <p:txBody>
          <a:bodyPr wrap="square" rtlCol="0" anchor="t"/>
          <a:lstStyle/>
          <a:p>
            <a:pPr marL="0" indent="0">
              <a:buNone/>
            </a:pPr>
            <a:r>
              <a:rPr lang="en-US" sz="800" dirty="0">
                <a:solidFill>
                  <a:srgbClr val="1A1A2E"/>
                </a:solidFill>
                <a:latin typeface="Calibri" pitchFamily="34" charset="0"/>
                <a:ea typeface="Calibri" pitchFamily="34" charset="-122"/>
                <a:cs typeface="Calibri" pitchFamily="34" charset="-120"/>
              </a:rPr>
              <a:t>Design and train Random Forest (readmission), K-Means (risk stratification), and LSTM (adherence forecasting) models for proactive patient care.</a:t>
            </a:r>
            <a:endParaRPr lang="en-US" sz="800" dirty="0"/>
          </a:p>
        </p:txBody>
      </p:sp>
      <p:sp>
        <p:nvSpPr>
          <p:cNvPr id="33" name="Shape 31"/>
          <p:cNvSpPr/>
          <p:nvPr/>
        </p:nvSpPr>
        <p:spPr>
          <a:xfrm>
            <a:off x="320040" y="4078224"/>
            <a:ext cx="4224528" cy="694944"/>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34" name="Shape 32"/>
          <p:cNvSpPr/>
          <p:nvPr/>
        </p:nvSpPr>
        <p:spPr>
          <a:xfrm>
            <a:off x="320040" y="4078224"/>
            <a:ext cx="59436" cy="694944"/>
          </a:xfrm>
          <a:prstGeom prst="rect">
            <a:avLst/>
          </a:prstGeom>
          <a:solidFill>
            <a:srgbClr val="D97706"/>
          </a:solidFill>
          <a:ln w="12700">
            <a:solidFill>
              <a:srgbClr val="D97706"/>
            </a:solidFill>
            <a:prstDash val="solid"/>
          </a:ln>
        </p:spPr>
      </p:sp>
      <p:sp>
        <p:nvSpPr>
          <p:cNvPr id="35" name="Text 33"/>
          <p:cNvSpPr/>
          <p:nvPr/>
        </p:nvSpPr>
        <p:spPr>
          <a:xfrm>
            <a:off x="429768" y="4133088"/>
            <a:ext cx="4069080" cy="228600"/>
          </a:xfrm>
          <a:prstGeom prst="rect">
            <a:avLst/>
          </a:prstGeom>
          <a:noFill/>
          <a:ln/>
        </p:spPr>
        <p:txBody>
          <a:bodyPr wrap="square" lIns="0" tIns="0" rIns="0" bIns="0" rtlCol="0" anchor="ctr"/>
          <a:lstStyle/>
          <a:p>
            <a:pPr marL="0" indent="0">
              <a:buNone/>
            </a:pPr>
            <a:r>
              <a:rPr lang="en-US" sz="900" b="1" dirty="0">
                <a:solidFill>
                  <a:srgbClr val="1A1A2E"/>
                </a:solidFill>
                <a:latin typeface="Calibri" pitchFamily="34" charset="0"/>
                <a:ea typeface="Calibri" pitchFamily="34" charset="-122"/>
                <a:cs typeface="Calibri" pitchFamily="34" charset="-120"/>
              </a:rPr>
              <a:t>Azure Cloud Deployment</a:t>
            </a:r>
            <a:endParaRPr lang="en-US" sz="900" dirty="0"/>
          </a:p>
        </p:txBody>
      </p:sp>
      <p:sp>
        <p:nvSpPr>
          <p:cNvPr id="36" name="Text 34"/>
          <p:cNvSpPr/>
          <p:nvPr/>
        </p:nvSpPr>
        <p:spPr>
          <a:xfrm>
            <a:off x="429768" y="4379976"/>
            <a:ext cx="4069080" cy="338328"/>
          </a:xfrm>
          <a:prstGeom prst="rect">
            <a:avLst/>
          </a:prstGeom>
          <a:noFill/>
          <a:ln/>
        </p:spPr>
        <p:txBody>
          <a:bodyPr wrap="square" rtlCol="0" anchor="t"/>
          <a:lstStyle/>
          <a:p>
            <a:pPr marL="0" indent="0">
              <a:buNone/>
            </a:pPr>
            <a:r>
              <a:rPr lang="en-US" sz="800" dirty="0">
                <a:solidFill>
                  <a:srgbClr val="1A1A2E"/>
                </a:solidFill>
                <a:latin typeface="Calibri" pitchFamily="34" charset="0"/>
                <a:ea typeface="Calibri" pitchFamily="34" charset="-122"/>
                <a:cs typeface="Calibri" pitchFamily="34" charset="-120"/>
              </a:rPr>
              <a:t>Deploy the entire system on Microsoft Azure with HIPAA-compliant security, role-based access control, AES-256 encryption, and 99.9% uptime SLA.</a:t>
            </a:r>
            <a:endParaRPr lang="en-US" sz="800" dirty="0"/>
          </a:p>
        </p:txBody>
      </p:sp>
      <p:sp>
        <p:nvSpPr>
          <p:cNvPr id="37" name="Shape 35"/>
          <p:cNvSpPr/>
          <p:nvPr/>
        </p:nvSpPr>
        <p:spPr>
          <a:xfrm>
            <a:off x="4754880" y="4078224"/>
            <a:ext cx="4224528" cy="694944"/>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38" name="Shape 36"/>
          <p:cNvSpPr/>
          <p:nvPr/>
        </p:nvSpPr>
        <p:spPr>
          <a:xfrm>
            <a:off x="4754880" y="4078224"/>
            <a:ext cx="59436" cy="694944"/>
          </a:xfrm>
          <a:prstGeom prst="rect">
            <a:avLst/>
          </a:prstGeom>
          <a:solidFill>
            <a:srgbClr val="DC2626"/>
          </a:solidFill>
          <a:ln w="12700">
            <a:solidFill>
              <a:srgbClr val="DC2626"/>
            </a:solidFill>
            <a:prstDash val="solid"/>
          </a:ln>
        </p:spPr>
      </p:sp>
      <p:sp>
        <p:nvSpPr>
          <p:cNvPr id="39" name="Text 37"/>
          <p:cNvSpPr/>
          <p:nvPr/>
        </p:nvSpPr>
        <p:spPr>
          <a:xfrm>
            <a:off x="4864608" y="4133088"/>
            <a:ext cx="4069080" cy="228600"/>
          </a:xfrm>
          <a:prstGeom prst="rect">
            <a:avLst/>
          </a:prstGeom>
          <a:noFill/>
          <a:ln/>
        </p:spPr>
        <p:txBody>
          <a:bodyPr wrap="square" lIns="0" tIns="0" rIns="0" bIns="0" rtlCol="0" anchor="ctr"/>
          <a:lstStyle/>
          <a:p>
            <a:pPr marL="0" indent="0">
              <a:buNone/>
            </a:pPr>
            <a:r>
              <a:rPr lang="en-US" sz="900" b="1" dirty="0">
                <a:solidFill>
                  <a:srgbClr val="1A1A2E"/>
                </a:solidFill>
                <a:latin typeface="Calibri" pitchFamily="34" charset="0"/>
                <a:ea typeface="Calibri" pitchFamily="34" charset="-122"/>
                <a:cs typeface="Calibri" pitchFamily="34" charset="-120"/>
              </a:rPr>
              <a:t>Evidence-Based Clinical Insights</a:t>
            </a:r>
            <a:endParaRPr lang="en-US" sz="900" dirty="0"/>
          </a:p>
        </p:txBody>
      </p:sp>
      <p:sp>
        <p:nvSpPr>
          <p:cNvPr id="40" name="Text 38"/>
          <p:cNvSpPr/>
          <p:nvPr/>
        </p:nvSpPr>
        <p:spPr>
          <a:xfrm>
            <a:off x="4864608" y="4379976"/>
            <a:ext cx="4069080" cy="338328"/>
          </a:xfrm>
          <a:prstGeom prst="rect">
            <a:avLst/>
          </a:prstGeom>
          <a:noFill/>
          <a:ln/>
        </p:spPr>
        <p:txBody>
          <a:bodyPr wrap="square" rtlCol="0" anchor="t"/>
          <a:lstStyle/>
          <a:p>
            <a:pPr marL="0" indent="0">
              <a:buNone/>
            </a:pPr>
            <a:r>
              <a:rPr lang="en-US" sz="800" dirty="0">
                <a:solidFill>
                  <a:srgbClr val="1A1A2E"/>
                </a:solidFill>
                <a:latin typeface="Calibri" pitchFamily="34" charset="0"/>
                <a:ea typeface="Calibri" pitchFamily="34" charset="-122"/>
                <a:cs typeface="Calibri" pitchFamily="34" charset="-120"/>
              </a:rPr>
              <a:t>Empower clinicians with AI-generated health risk scores, chronic disease progression forecasts, and drug interaction knowledge graphs to improve patient outcomes.</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01F5F"/>
          </a:solidFill>
          <a:ln w="12700">
            <a:solidFill>
              <a:srgbClr val="FFFFFF"/>
            </a:solidFill>
            <a:prstDash val="solid"/>
          </a:ln>
        </p:spPr>
      </p:sp>
      <p:sp>
        <p:nvSpPr>
          <p:cNvPr id="3" name="Shape 1"/>
          <p:cNvSpPr/>
          <p:nvPr/>
        </p:nvSpPr>
        <p:spPr>
          <a:xfrm>
            <a:off x="0" y="621792"/>
            <a:ext cx="9144000" cy="50292"/>
          </a:xfrm>
          <a:prstGeom prst="rect">
            <a:avLst/>
          </a:prstGeom>
          <a:solidFill>
            <a:srgbClr val="1E8449"/>
          </a:solidFill>
          <a:ln w="12700">
            <a:solidFill>
              <a:srgbClr val="1E8449"/>
            </a:solidFill>
            <a:prstDash val="solid"/>
          </a:ln>
        </p:spPr>
      </p:sp>
      <p:sp>
        <p:nvSpPr>
          <p:cNvPr id="4" name="Text 2"/>
          <p:cNvSpPr/>
          <p:nvPr/>
        </p:nvSpPr>
        <p:spPr>
          <a:xfrm>
            <a:off x="292608" y="45720"/>
            <a:ext cx="7498080" cy="54864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Software Requirements Specification</a:t>
            </a:r>
            <a:endParaRPr lang="en-US" sz="1900" dirty="0"/>
          </a:p>
        </p:txBody>
      </p:sp>
      <p:sp>
        <p:nvSpPr>
          <p:cNvPr id="5" name="Shape 3"/>
          <p:cNvSpPr/>
          <p:nvPr/>
        </p:nvSpPr>
        <p:spPr>
          <a:xfrm>
            <a:off x="7818120" y="82296"/>
            <a:ext cx="1234440" cy="457200"/>
          </a:xfrm>
          <a:prstGeom prst="rect">
            <a:avLst/>
          </a:prstGeom>
          <a:solidFill>
            <a:srgbClr val="E8EFF8"/>
          </a:solidFill>
          <a:ln w="12700">
            <a:solidFill>
              <a:srgbClr val="1D4ED8"/>
            </a:solidFill>
            <a:prstDash val="solid"/>
          </a:ln>
        </p:spPr>
      </p:sp>
      <p:sp>
        <p:nvSpPr>
          <p:cNvPr id="6" name="Text 4"/>
          <p:cNvSpPr/>
          <p:nvPr/>
        </p:nvSpPr>
        <p:spPr>
          <a:xfrm>
            <a:off x="7818120" y="82296"/>
            <a:ext cx="1234440" cy="457200"/>
          </a:xfrm>
          <a:prstGeom prst="rect">
            <a:avLst/>
          </a:prstGeom>
          <a:noFill/>
          <a:ln/>
        </p:spPr>
        <p:txBody>
          <a:bodyPr wrap="square" rtlCol="0" anchor="ctr"/>
          <a:lstStyle/>
          <a:p>
            <a:pPr marL="0" indent="0" algn="ctr">
              <a:buNone/>
            </a:pPr>
            <a:r>
              <a:rPr lang="en-US" sz="700" b="1" dirty="0">
                <a:solidFill>
                  <a:srgbClr val="1D4ED8"/>
                </a:solidFill>
                <a:latin typeface="Calibri" pitchFamily="34" charset="0"/>
                <a:ea typeface="Calibri" pitchFamily="34" charset="-122"/>
                <a:cs typeface="Calibri" pitchFamily="34" charset="-120"/>
              </a:rPr>
              <a:t>Microsoft</a:t>
            </a:r>
            <a:endParaRPr lang="en-US" sz="700" dirty="0"/>
          </a:p>
          <a:p>
            <a:pPr marL="0" indent="0" algn="ctr">
              <a:buNone/>
            </a:pPr>
            <a:r>
              <a:rPr lang="en-US" sz="700" b="1" dirty="0">
                <a:solidFill>
                  <a:srgbClr val="1D4ED8"/>
                </a:solidFill>
                <a:latin typeface="Calibri" pitchFamily="34" charset="0"/>
                <a:ea typeface="Calibri" pitchFamily="34" charset="-122"/>
                <a:cs typeface="Calibri" pitchFamily="34" charset="-120"/>
              </a:rPr>
              <a:t>Elevate GTU</a:t>
            </a:r>
            <a:endParaRPr lang="en-US" sz="700" dirty="0"/>
          </a:p>
        </p:txBody>
      </p:sp>
      <p:sp>
        <p:nvSpPr>
          <p:cNvPr id="7" name="Shape 5"/>
          <p:cNvSpPr/>
          <p:nvPr/>
        </p:nvSpPr>
        <p:spPr>
          <a:xfrm>
            <a:off x="0" y="4873752"/>
            <a:ext cx="9144000" cy="50292"/>
          </a:xfrm>
          <a:prstGeom prst="rect">
            <a:avLst/>
          </a:prstGeom>
          <a:solidFill>
            <a:srgbClr val="1E8449"/>
          </a:solidFill>
          <a:ln w="12700">
            <a:solidFill>
              <a:srgbClr val="1E8449"/>
            </a:solidFill>
            <a:prstDash val="solid"/>
          </a:ln>
        </p:spPr>
      </p:sp>
      <p:sp>
        <p:nvSpPr>
          <p:cNvPr id="8" name="Shape 6"/>
          <p:cNvSpPr/>
          <p:nvPr/>
        </p:nvSpPr>
        <p:spPr>
          <a:xfrm>
            <a:off x="0" y="4924044"/>
            <a:ext cx="9144000" cy="219456"/>
          </a:xfrm>
          <a:prstGeom prst="rect">
            <a:avLst/>
          </a:prstGeom>
          <a:solidFill>
            <a:srgbClr val="FFFFFF"/>
          </a:solidFill>
          <a:ln w="12700">
            <a:solidFill>
              <a:srgbClr val="FFFFFF"/>
            </a:solidFill>
            <a:prstDash val="solid"/>
          </a:ln>
        </p:spPr>
      </p:sp>
      <p:sp>
        <p:nvSpPr>
          <p:cNvPr id="9" name="Text 7"/>
          <p:cNvSpPr/>
          <p:nvPr/>
        </p:nvSpPr>
        <p:spPr>
          <a:xfrm>
            <a:off x="228600" y="4924044"/>
            <a:ext cx="8046720" cy="219456"/>
          </a:xfrm>
          <a:prstGeom prst="rect">
            <a:avLst/>
          </a:prstGeom>
          <a:noFill/>
          <a:ln/>
        </p:spPr>
        <p:txBody>
          <a:bodyPr wrap="square" lIns="0" tIns="0" rIns="0" bIns="0" rtlCol="0" anchor="ctr"/>
          <a:lstStyle/>
          <a:p>
            <a:pPr marL="0" indent="0">
              <a:buNone/>
            </a:pPr>
            <a:r>
              <a:rPr lang="en-US" sz="650" dirty="0">
                <a:solidFill>
                  <a:srgbClr val="7B9ABF"/>
                </a:solidFill>
                <a:latin typeface="Calibri" pitchFamily="34" charset="0"/>
                <a:ea typeface="Calibri" pitchFamily="34" charset="-122"/>
                <a:cs typeface="Calibri" pitchFamily="34" charset="-120"/>
              </a:rPr>
              <a:t>Microsoft Elevate Internship Project  |  Healthcare &amp; Medication Management System  |  GTU Jan–Apr 2026</a:t>
            </a:r>
            <a:endParaRPr lang="en-US" sz="650" dirty="0"/>
          </a:p>
        </p:txBody>
      </p:sp>
      <p:sp>
        <p:nvSpPr>
          <p:cNvPr id="10" name="Text 8"/>
          <p:cNvSpPr/>
          <p:nvPr/>
        </p:nvSpPr>
        <p:spPr>
          <a:xfrm>
            <a:off x="8275320" y="4924044"/>
            <a:ext cx="731520" cy="219456"/>
          </a:xfrm>
          <a:prstGeom prst="rect">
            <a:avLst/>
          </a:prstGeom>
          <a:noFill/>
          <a:ln/>
        </p:spPr>
        <p:txBody>
          <a:bodyPr wrap="square" lIns="0" tIns="0" rIns="0" bIns="0" rtlCol="0" anchor="ctr"/>
          <a:lstStyle/>
          <a:p>
            <a:pPr marL="0" indent="0" algn="r">
              <a:buNone/>
            </a:pPr>
            <a:r>
              <a:rPr lang="en-US" sz="700" b="1" dirty="0">
                <a:solidFill>
                  <a:srgbClr val="1A1A2E"/>
                </a:solidFill>
                <a:latin typeface="Calibri" pitchFamily="34" charset="0"/>
                <a:ea typeface="Calibri" pitchFamily="34" charset="-122"/>
                <a:cs typeface="Calibri" pitchFamily="34" charset="-120"/>
              </a:rPr>
              <a:t>5 / 20</a:t>
            </a:r>
            <a:endParaRPr lang="en-US" sz="700" dirty="0"/>
          </a:p>
        </p:txBody>
      </p:sp>
      <p:sp>
        <p:nvSpPr>
          <p:cNvPr id="11" name="Text 9"/>
          <p:cNvSpPr/>
          <p:nvPr/>
        </p:nvSpPr>
        <p:spPr>
          <a:xfrm>
            <a:off x="320040" y="777240"/>
            <a:ext cx="8503920" cy="274320"/>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System Requirements &amp; Library Stack</a:t>
            </a:r>
            <a:endParaRPr lang="en-US" sz="1300" dirty="0"/>
          </a:p>
        </p:txBody>
      </p:sp>
      <p:sp>
        <p:nvSpPr>
          <p:cNvPr id="12" name="Shape 10"/>
          <p:cNvSpPr/>
          <p:nvPr/>
        </p:nvSpPr>
        <p:spPr>
          <a:xfrm>
            <a:off x="320040" y="1078992"/>
            <a:ext cx="4224528" cy="1417320"/>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13" name="Shape 11"/>
          <p:cNvSpPr/>
          <p:nvPr/>
        </p:nvSpPr>
        <p:spPr>
          <a:xfrm>
            <a:off x="320040" y="1078992"/>
            <a:ext cx="4224528" cy="292608"/>
          </a:xfrm>
          <a:prstGeom prst="rect">
            <a:avLst/>
          </a:prstGeom>
          <a:solidFill>
            <a:srgbClr val="FFFFFF"/>
          </a:solidFill>
          <a:ln w="12700">
            <a:solidFill>
              <a:srgbClr val="FFFFFF"/>
            </a:solidFill>
            <a:prstDash val="solid"/>
          </a:ln>
        </p:spPr>
      </p:sp>
      <p:sp>
        <p:nvSpPr>
          <p:cNvPr id="14" name="Text 12"/>
          <p:cNvSpPr/>
          <p:nvPr/>
        </p:nvSpPr>
        <p:spPr>
          <a:xfrm>
            <a:off x="320040" y="1078992"/>
            <a:ext cx="4224528" cy="292608"/>
          </a:xfrm>
          <a:prstGeom prst="rect">
            <a:avLst/>
          </a:prstGeom>
          <a:noFill/>
          <a:ln/>
        </p:spPr>
        <p:txBody>
          <a:bodyPr wrap="square" lIns="0" tIns="0" rIns="0" bIns="0" rtlCol="0" anchor="ctr"/>
          <a:lstStyle/>
          <a:p>
            <a:pPr marL="0" indent="0" algn="ctr">
              <a:buNone/>
            </a:pPr>
            <a:r>
              <a:rPr lang="en-US" sz="1000" b="1" dirty="0">
                <a:solidFill>
                  <a:srgbClr val="1A1A2E"/>
                </a:solidFill>
                <a:latin typeface="Calibri" pitchFamily="34" charset="0"/>
                <a:ea typeface="Calibri" pitchFamily="34" charset="-122"/>
                <a:cs typeface="Calibri" pitchFamily="34" charset="-120"/>
              </a:rPr>
              <a:t>System Requirements</a:t>
            </a:r>
            <a:endParaRPr lang="en-US" sz="1000" dirty="0"/>
          </a:p>
        </p:txBody>
      </p:sp>
      <p:sp>
        <p:nvSpPr>
          <p:cNvPr id="15" name="Text 13"/>
          <p:cNvSpPr/>
          <p:nvPr/>
        </p:nvSpPr>
        <p:spPr>
          <a:xfrm>
            <a:off x="429768" y="1389888"/>
            <a:ext cx="4041648" cy="1069848"/>
          </a:xfrm>
          <a:prstGeom prst="rect">
            <a:avLst/>
          </a:prstGeom>
          <a:noFill/>
          <a:ln/>
        </p:spPr>
        <p:txBody>
          <a:bodyPr wrap="square" rtlCol="0" anchor="ctr"/>
          <a:lstStyle/>
          <a:p>
            <a:pPr marL="0" indent="0">
              <a:buNone/>
            </a:pPr>
            <a:r>
              <a:rPr lang="en-US" sz="850" b="1" dirty="0">
                <a:solidFill>
                  <a:srgbClr val="1A1A2E"/>
                </a:solidFill>
                <a:latin typeface="Calibri" pitchFamily="34" charset="0"/>
                <a:ea typeface="Calibri" pitchFamily="34" charset="-122"/>
                <a:cs typeface="Calibri" pitchFamily="34" charset="-120"/>
              </a:rPr>
              <a:t>OS: </a:t>
            </a:r>
            <a:r>
              <a:rPr lang="en-US" sz="850" dirty="0">
                <a:solidFill>
                  <a:srgbClr val="1A1A2E"/>
                </a:solidFill>
                <a:latin typeface="Calibri" pitchFamily="34" charset="0"/>
                <a:ea typeface="Calibri" pitchFamily="34" charset="-122"/>
                <a:cs typeface="Calibri" pitchFamily="34" charset="-120"/>
              </a:rPr>
              <a:t>Windows 10/11 or Ubuntu 20.04+
</a:t>
            </a:r>
            <a:r>
              <a:rPr lang="en-US" sz="850" b="1" dirty="0">
                <a:solidFill>
                  <a:srgbClr val="1A1A2E"/>
                </a:solidFill>
                <a:latin typeface="Calibri" pitchFamily="34" charset="0"/>
                <a:ea typeface="Calibri" pitchFamily="34" charset="-122"/>
                <a:cs typeface="Calibri" pitchFamily="34" charset="-120"/>
              </a:rPr>
              <a:t>RAM: </a:t>
            </a:r>
            <a:r>
              <a:rPr lang="en-US" sz="850" dirty="0">
                <a:solidFill>
                  <a:srgbClr val="1A1A2E"/>
                </a:solidFill>
                <a:latin typeface="Calibri" pitchFamily="34" charset="0"/>
                <a:ea typeface="Calibri" pitchFamily="34" charset="-122"/>
                <a:cs typeface="Calibri" pitchFamily="34" charset="-120"/>
              </a:rPr>
              <a:t>Minimum 8 GB (16 GB recommended for deep learning)
</a:t>
            </a:r>
            <a:r>
              <a:rPr lang="en-US" sz="850" b="1" dirty="0">
                <a:solidFill>
                  <a:srgbClr val="1A1A2E"/>
                </a:solidFill>
                <a:latin typeface="Calibri" pitchFamily="34" charset="0"/>
                <a:ea typeface="Calibri" pitchFamily="34" charset="-122"/>
                <a:cs typeface="Calibri" pitchFamily="34" charset="-120"/>
              </a:rPr>
              <a:t>Python: </a:t>
            </a:r>
            <a:r>
              <a:rPr lang="en-US" sz="850" dirty="0">
                <a:solidFill>
                  <a:srgbClr val="1A1A2E"/>
                </a:solidFill>
                <a:latin typeface="Calibri" pitchFamily="34" charset="0"/>
                <a:ea typeface="Calibri" pitchFamily="34" charset="-122"/>
                <a:cs typeface="Calibri" pitchFamily="34" charset="-120"/>
              </a:rPr>
              <a:t>Version 3.9+ with Anaconda distribution
</a:t>
            </a:r>
            <a:r>
              <a:rPr lang="en-US" sz="850" b="1" dirty="0">
                <a:solidFill>
                  <a:srgbClr val="1A1A2E"/>
                </a:solidFill>
                <a:latin typeface="Calibri" pitchFamily="34" charset="0"/>
                <a:ea typeface="Calibri" pitchFamily="34" charset="-122"/>
                <a:cs typeface="Calibri" pitchFamily="34" charset="-120"/>
              </a:rPr>
              <a:t>GPU: </a:t>
            </a:r>
            <a:r>
              <a:rPr lang="en-US" sz="850" dirty="0">
                <a:solidFill>
                  <a:srgbClr val="1A1A2E"/>
                </a:solidFill>
                <a:latin typeface="Calibri" pitchFamily="34" charset="0"/>
                <a:ea typeface="Calibri" pitchFamily="34" charset="-122"/>
                <a:cs typeface="Calibri" pitchFamily="34" charset="-120"/>
              </a:rPr>
              <a:t>NVIDIA CUDA-compatible GPU (for CNN/TensorFlow training)
</a:t>
            </a:r>
            <a:r>
              <a:rPr lang="en-US" sz="850" b="1" dirty="0">
                <a:solidFill>
                  <a:srgbClr val="1A1A2E"/>
                </a:solidFill>
                <a:latin typeface="Calibri" pitchFamily="34" charset="0"/>
                <a:ea typeface="Calibri" pitchFamily="34" charset="-122"/>
                <a:cs typeface="Calibri" pitchFamily="34" charset="-120"/>
              </a:rPr>
              <a:t>Cloud: </a:t>
            </a:r>
            <a:r>
              <a:rPr lang="en-US" sz="850" dirty="0">
                <a:solidFill>
                  <a:srgbClr val="1A1A2E"/>
                </a:solidFill>
                <a:latin typeface="Calibri" pitchFamily="34" charset="0"/>
                <a:ea typeface="Calibri" pitchFamily="34" charset="-122"/>
                <a:cs typeface="Calibri" pitchFamily="34" charset="-120"/>
              </a:rPr>
              <a:t>Microsoft Azure subscription (Free Tier supported)
</a:t>
            </a:r>
            <a:r>
              <a:rPr lang="en-US" sz="850" b="1" dirty="0">
                <a:solidFill>
                  <a:srgbClr val="1A1A2E"/>
                </a:solidFill>
                <a:latin typeface="Calibri" pitchFamily="34" charset="0"/>
                <a:ea typeface="Calibri" pitchFamily="34" charset="-122"/>
                <a:cs typeface="Calibri" pitchFamily="34" charset="-120"/>
              </a:rPr>
              <a:t>IDE: </a:t>
            </a:r>
            <a:r>
              <a:rPr lang="en-US" sz="850" dirty="0">
                <a:solidFill>
                  <a:srgbClr val="1A1A2E"/>
                </a:solidFill>
                <a:latin typeface="Calibri" pitchFamily="34" charset="0"/>
                <a:ea typeface="Calibri" pitchFamily="34" charset="-122"/>
                <a:cs typeface="Calibri" pitchFamily="34" charset="-120"/>
              </a:rPr>
              <a:t>VS Code + Jupyter Notebook</a:t>
            </a:r>
            <a:endParaRPr lang="en-US" sz="850" dirty="0"/>
          </a:p>
        </p:txBody>
      </p:sp>
      <p:sp>
        <p:nvSpPr>
          <p:cNvPr id="16" name="Shape 14"/>
          <p:cNvSpPr/>
          <p:nvPr/>
        </p:nvSpPr>
        <p:spPr>
          <a:xfrm>
            <a:off x="4690872" y="1078992"/>
            <a:ext cx="4133088" cy="1417320"/>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17" name="Shape 15"/>
          <p:cNvSpPr/>
          <p:nvPr/>
        </p:nvSpPr>
        <p:spPr>
          <a:xfrm>
            <a:off x="4690872" y="1078992"/>
            <a:ext cx="4133088" cy="292608"/>
          </a:xfrm>
          <a:prstGeom prst="rect">
            <a:avLst/>
          </a:prstGeom>
          <a:solidFill>
            <a:srgbClr val="FFFFFF"/>
          </a:solidFill>
          <a:ln w="12700">
            <a:solidFill>
              <a:srgbClr val="FFFFFF"/>
            </a:solidFill>
            <a:prstDash val="solid"/>
          </a:ln>
        </p:spPr>
      </p:sp>
      <p:sp>
        <p:nvSpPr>
          <p:cNvPr id="18" name="Text 16"/>
          <p:cNvSpPr/>
          <p:nvPr/>
        </p:nvSpPr>
        <p:spPr>
          <a:xfrm>
            <a:off x="4690872" y="1078992"/>
            <a:ext cx="4133088" cy="292608"/>
          </a:xfrm>
          <a:prstGeom prst="rect">
            <a:avLst/>
          </a:prstGeom>
          <a:noFill/>
          <a:ln/>
        </p:spPr>
        <p:txBody>
          <a:bodyPr wrap="square" lIns="0" tIns="0" rIns="0" bIns="0" rtlCol="0" anchor="ctr"/>
          <a:lstStyle/>
          <a:p>
            <a:pPr marL="0" indent="0" algn="ctr">
              <a:buNone/>
            </a:pPr>
            <a:r>
              <a:rPr lang="en-US" sz="1000" b="1" dirty="0">
                <a:solidFill>
                  <a:srgbClr val="1A1A2E"/>
                </a:solidFill>
                <a:latin typeface="Calibri" pitchFamily="34" charset="0"/>
                <a:ea typeface="Calibri" pitchFamily="34" charset="-122"/>
                <a:cs typeface="Calibri" pitchFamily="34" charset="-120"/>
              </a:rPr>
              <a:t>Libraries Required to Build the Model</a:t>
            </a:r>
            <a:endParaRPr lang="en-US" sz="1000" dirty="0"/>
          </a:p>
        </p:txBody>
      </p:sp>
      <p:sp>
        <p:nvSpPr>
          <p:cNvPr id="19" name="Text 17"/>
          <p:cNvSpPr/>
          <p:nvPr/>
        </p:nvSpPr>
        <p:spPr>
          <a:xfrm>
            <a:off x="4800600" y="1389888"/>
            <a:ext cx="3950208" cy="1069848"/>
          </a:xfrm>
          <a:prstGeom prst="rect">
            <a:avLst/>
          </a:prstGeom>
          <a:noFill/>
          <a:ln/>
        </p:spPr>
        <p:txBody>
          <a:bodyPr wrap="square" rtlCol="0" anchor="ctr"/>
          <a:lstStyle/>
          <a:p>
            <a:pPr marL="0" indent="0">
              <a:buNone/>
            </a:pPr>
            <a:r>
              <a:rPr lang="en-US" sz="850" b="1" dirty="0">
                <a:solidFill>
                  <a:srgbClr val="1A1A2E"/>
                </a:solidFill>
                <a:latin typeface="Calibri" pitchFamily="34" charset="0"/>
                <a:ea typeface="Calibri" pitchFamily="34" charset="-122"/>
                <a:cs typeface="Calibri" pitchFamily="34" charset="-120"/>
              </a:rPr>
              <a:t>Data: </a:t>
            </a:r>
            <a:r>
              <a:rPr lang="en-US" sz="850" dirty="0">
                <a:solidFill>
                  <a:srgbClr val="1A1A2E"/>
                </a:solidFill>
                <a:latin typeface="Calibri" pitchFamily="34" charset="0"/>
                <a:ea typeface="Calibri" pitchFamily="34" charset="-122"/>
                <a:cs typeface="Calibri" pitchFamily="34" charset="-120"/>
              </a:rPr>
              <a:t>Pandas, NumPy, Matplotlib, Seaborn
</a:t>
            </a:r>
            <a:r>
              <a:rPr lang="en-US" sz="850" b="1" dirty="0">
                <a:solidFill>
                  <a:srgbClr val="1A1A2E"/>
                </a:solidFill>
                <a:latin typeface="Calibri" pitchFamily="34" charset="0"/>
                <a:ea typeface="Calibri" pitchFamily="34" charset="-122"/>
                <a:cs typeface="Calibri" pitchFamily="34" charset="-120"/>
              </a:rPr>
              <a:t>ML: </a:t>
            </a:r>
            <a:r>
              <a:rPr lang="en-US" sz="850" dirty="0">
                <a:solidFill>
                  <a:srgbClr val="1A1A2E"/>
                </a:solidFill>
                <a:latin typeface="Calibri" pitchFamily="34" charset="0"/>
                <a:ea typeface="Calibri" pitchFamily="34" charset="-122"/>
                <a:cs typeface="Calibri" pitchFamily="34" charset="-120"/>
              </a:rPr>
              <a:t>Scikit-learn, Imbalanced-learn (SMOTE), SHAP
</a:t>
            </a:r>
            <a:r>
              <a:rPr lang="en-US" sz="850" b="1" dirty="0">
                <a:solidFill>
                  <a:srgbClr val="1A1A2E"/>
                </a:solidFill>
                <a:latin typeface="Calibri" pitchFamily="34" charset="0"/>
                <a:ea typeface="Calibri" pitchFamily="34" charset="-122"/>
                <a:cs typeface="Calibri" pitchFamily="34" charset="-120"/>
              </a:rPr>
              <a:t>Deep Learning: </a:t>
            </a:r>
            <a:r>
              <a:rPr lang="en-US" sz="850" dirty="0">
                <a:solidFill>
                  <a:srgbClr val="1A1A2E"/>
                </a:solidFill>
                <a:latin typeface="Calibri" pitchFamily="34" charset="0"/>
                <a:ea typeface="Calibri" pitchFamily="34" charset="-122"/>
                <a:cs typeface="Calibri" pitchFamily="34" charset="-120"/>
              </a:rPr>
              <a:t>TensorFlow 2.x, Keras, OpenCV
</a:t>
            </a:r>
            <a:r>
              <a:rPr lang="en-US" sz="850" b="1" dirty="0">
                <a:solidFill>
                  <a:srgbClr val="1A1A2E"/>
                </a:solidFill>
                <a:latin typeface="Calibri" pitchFamily="34" charset="0"/>
                <a:ea typeface="Calibri" pitchFamily="34" charset="-122"/>
                <a:cs typeface="Calibri" pitchFamily="34" charset="-120"/>
              </a:rPr>
              <a:t>BI: </a:t>
            </a:r>
            <a:r>
              <a:rPr lang="en-US" sz="850" dirty="0">
                <a:solidFill>
                  <a:srgbClr val="1A1A2E"/>
                </a:solidFill>
                <a:latin typeface="Calibri" pitchFamily="34" charset="0"/>
                <a:ea typeface="Calibri" pitchFamily="34" charset="-122"/>
                <a:cs typeface="Calibri" pitchFamily="34" charset="-120"/>
              </a:rPr>
              <a:t>Microsoft Power BI Desktop, Power Query (M), DAX
</a:t>
            </a:r>
            <a:r>
              <a:rPr lang="en-US" sz="850" b="1" dirty="0">
                <a:solidFill>
                  <a:srgbClr val="1A1A2E"/>
                </a:solidFill>
                <a:latin typeface="Calibri" pitchFamily="34" charset="0"/>
                <a:ea typeface="Calibri" pitchFamily="34" charset="-122"/>
                <a:cs typeface="Calibri" pitchFamily="34" charset="-120"/>
              </a:rPr>
              <a:t>Cloud: </a:t>
            </a:r>
            <a:r>
              <a:rPr lang="en-US" sz="850" dirty="0">
                <a:solidFill>
                  <a:srgbClr val="1A1A2E"/>
                </a:solidFill>
                <a:latin typeface="Calibri" pitchFamily="34" charset="0"/>
                <a:ea typeface="Calibri" pitchFamily="34" charset="-122"/>
                <a:cs typeface="Calibri" pitchFamily="34" charset="-120"/>
              </a:rPr>
              <a:t>Azure ML SDK, Azure IoT SDK, azure-storage-blob
</a:t>
            </a:r>
            <a:r>
              <a:rPr lang="en-US" sz="850" b="1" dirty="0">
                <a:solidFill>
                  <a:srgbClr val="1A1A2E"/>
                </a:solidFill>
                <a:latin typeface="Calibri" pitchFamily="34" charset="0"/>
                <a:ea typeface="Calibri" pitchFamily="34" charset="-122"/>
                <a:cs typeface="Calibri" pitchFamily="34" charset="-120"/>
              </a:rPr>
              <a:t>Deployment: </a:t>
            </a:r>
            <a:r>
              <a:rPr lang="en-US" sz="850" dirty="0">
                <a:solidFill>
                  <a:srgbClr val="1A1A2E"/>
                </a:solidFill>
                <a:latin typeface="Calibri" pitchFamily="34" charset="0"/>
                <a:ea typeface="Calibri" pitchFamily="34" charset="-122"/>
                <a:cs typeface="Calibri" pitchFamily="34" charset="-120"/>
              </a:rPr>
              <a:t>Streamlit, Flask, GitHub Actions (CI/CD)</a:t>
            </a:r>
            <a:endParaRPr lang="en-US" sz="850" dirty="0"/>
          </a:p>
        </p:txBody>
      </p:sp>
      <p:sp>
        <p:nvSpPr>
          <p:cNvPr id="20" name="Shape 18"/>
          <p:cNvSpPr/>
          <p:nvPr/>
        </p:nvSpPr>
        <p:spPr>
          <a:xfrm>
            <a:off x="320040" y="2578608"/>
            <a:ext cx="2816352" cy="1005840"/>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21" name="Shape 19"/>
          <p:cNvSpPr/>
          <p:nvPr/>
        </p:nvSpPr>
        <p:spPr>
          <a:xfrm>
            <a:off x="320040" y="2578608"/>
            <a:ext cx="2816352" cy="274320"/>
          </a:xfrm>
          <a:prstGeom prst="rect">
            <a:avLst/>
          </a:prstGeom>
          <a:solidFill>
            <a:srgbClr val="1D4ED8"/>
          </a:solidFill>
          <a:ln w="12700">
            <a:solidFill>
              <a:srgbClr val="1D4ED8"/>
            </a:solidFill>
            <a:prstDash val="solid"/>
          </a:ln>
        </p:spPr>
      </p:sp>
      <p:sp>
        <p:nvSpPr>
          <p:cNvPr id="22" name="Text 20"/>
          <p:cNvSpPr/>
          <p:nvPr/>
        </p:nvSpPr>
        <p:spPr>
          <a:xfrm>
            <a:off x="393192" y="2615184"/>
            <a:ext cx="2670048" cy="219456"/>
          </a:xfrm>
          <a:prstGeom prst="rect">
            <a:avLst/>
          </a:prstGeom>
          <a:noFill/>
          <a:ln/>
        </p:spPr>
        <p:txBody>
          <a:bodyPr wrap="square" lIns="0" tIns="0" rIns="0" bIns="0" rtlCol="0" anchor="ctr"/>
          <a:lstStyle/>
          <a:p>
            <a:pPr marL="0" indent="0">
              <a:buNone/>
            </a:pPr>
            <a:r>
              <a:rPr lang="en-US" sz="900" b="1" dirty="0">
                <a:solidFill>
                  <a:srgbClr val="1A1A2E"/>
                </a:solidFill>
                <a:latin typeface="Calibri" pitchFamily="34" charset="0"/>
                <a:ea typeface="Calibri" pitchFamily="34" charset="-122"/>
                <a:cs typeface="Calibri" pitchFamily="34" charset="-120"/>
              </a:rPr>
              <a:t>Programming Language</a:t>
            </a:r>
            <a:endParaRPr lang="en-US" sz="900" dirty="0"/>
          </a:p>
        </p:txBody>
      </p:sp>
      <p:sp>
        <p:nvSpPr>
          <p:cNvPr id="23" name="Text 21"/>
          <p:cNvSpPr/>
          <p:nvPr/>
        </p:nvSpPr>
        <p:spPr>
          <a:xfrm>
            <a:off x="393192" y="2889504"/>
            <a:ext cx="2670048" cy="658368"/>
          </a:xfrm>
          <a:prstGeom prst="rect">
            <a:avLst/>
          </a:prstGeom>
          <a:noFill/>
          <a:ln/>
        </p:spPr>
        <p:txBody>
          <a:bodyPr wrap="square" rtlCol="0" anchor="t"/>
          <a:lstStyle/>
          <a:p>
            <a:pPr marL="0" indent="0">
              <a:buNone/>
            </a:pPr>
            <a:r>
              <a:rPr lang="en-US" sz="800" dirty="0">
                <a:solidFill>
                  <a:srgbClr val="1A1A2E"/>
                </a:solidFill>
                <a:latin typeface="Calibri" pitchFamily="34" charset="0"/>
                <a:ea typeface="Calibri" pitchFamily="34" charset="-122"/>
                <a:cs typeface="Calibri" pitchFamily="34" charset="-120"/>
              </a:rPr>
              <a:t>Python 3.9+ as the primary language for all data processing, ML model training, and API development. Chosen for its rich healthcare ML ecosystem and Azure SDK compatibility.</a:t>
            </a:r>
            <a:endParaRPr lang="en-US" sz="800" dirty="0"/>
          </a:p>
        </p:txBody>
      </p:sp>
      <p:sp>
        <p:nvSpPr>
          <p:cNvPr id="24" name="Shape 22"/>
          <p:cNvSpPr/>
          <p:nvPr/>
        </p:nvSpPr>
        <p:spPr>
          <a:xfrm>
            <a:off x="3264408" y="2578608"/>
            <a:ext cx="2816352" cy="1005840"/>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25" name="Shape 23"/>
          <p:cNvSpPr/>
          <p:nvPr/>
        </p:nvSpPr>
        <p:spPr>
          <a:xfrm>
            <a:off x="3264408" y="2578608"/>
            <a:ext cx="2816352" cy="274320"/>
          </a:xfrm>
          <a:prstGeom prst="rect">
            <a:avLst/>
          </a:prstGeom>
          <a:solidFill>
            <a:srgbClr val="0D9488"/>
          </a:solidFill>
          <a:ln w="12700">
            <a:solidFill>
              <a:srgbClr val="0D9488"/>
            </a:solidFill>
            <a:prstDash val="solid"/>
          </a:ln>
        </p:spPr>
      </p:sp>
      <p:sp>
        <p:nvSpPr>
          <p:cNvPr id="26" name="Text 24"/>
          <p:cNvSpPr/>
          <p:nvPr/>
        </p:nvSpPr>
        <p:spPr>
          <a:xfrm>
            <a:off x="3337560" y="2615184"/>
            <a:ext cx="2670048" cy="219456"/>
          </a:xfrm>
          <a:prstGeom prst="rect">
            <a:avLst/>
          </a:prstGeom>
          <a:noFill/>
          <a:ln/>
        </p:spPr>
        <p:txBody>
          <a:bodyPr wrap="square" lIns="0" tIns="0" rIns="0" bIns="0" rtlCol="0" anchor="ctr"/>
          <a:lstStyle/>
          <a:p>
            <a:pPr marL="0" indent="0">
              <a:buNone/>
            </a:pPr>
            <a:r>
              <a:rPr lang="en-US" sz="900" b="1" dirty="0">
                <a:solidFill>
                  <a:srgbClr val="1A1A2E"/>
                </a:solidFill>
                <a:latin typeface="Calibri" pitchFamily="34" charset="0"/>
                <a:ea typeface="Calibri" pitchFamily="34" charset="-122"/>
                <a:cs typeface="Calibri" pitchFamily="34" charset="-120"/>
              </a:rPr>
              <a:t>Machine Learning Framework</a:t>
            </a:r>
            <a:endParaRPr lang="en-US" sz="900" dirty="0"/>
          </a:p>
        </p:txBody>
      </p:sp>
      <p:sp>
        <p:nvSpPr>
          <p:cNvPr id="27" name="Text 25"/>
          <p:cNvSpPr/>
          <p:nvPr/>
        </p:nvSpPr>
        <p:spPr>
          <a:xfrm>
            <a:off x="3337560" y="2889504"/>
            <a:ext cx="2670048" cy="658368"/>
          </a:xfrm>
          <a:prstGeom prst="rect">
            <a:avLst/>
          </a:prstGeom>
          <a:noFill/>
          <a:ln/>
        </p:spPr>
        <p:txBody>
          <a:bodyPr wrap="square" rtlCol="0" anchor="t"/>
          <a:lstStyle/>
          <a:p>
            <a:pPr marL="0" indent="0">
              <a:buNone/>
            </a:pPr>
            <a:r>
              <a:rPr lang="en-US" sz="800" dirty="0">
                <a:solidFill>
                  <a:srgbClr val="1A1A2E"/>
                </a:solidFill>
                <a:latin typeface="Calibri" pitchFamily="34" charset="0"/>
                <a:ea typeface="Calibri" pitchFamily="34" charset="-122"/>
                <a:cs typeface="Calibri" pitchFamily="34" charset="-120"/>
              </a:rPr>
              <a:t>Scikit-learn for traditional ML (Random Forest, Logistic Regression, KNN). TensorFlow/Keras for deep learning CNN models used in medical image classification.</a:t>
            </a:r>
            <a:endParaRPr lang="en-US" sz="800" dirty="0"/>
          </a:p>
        </p:txBody>
      </p:sp>
      <p:sp>
        <p:nvSpPr>
          <p:cNvPr id="28" name="Shape 26"/>
          <p:cNvSpPr/>
          <p:nvPr/>
        </p:nvSpPr>
        <p:spPr>
          <a:xfrm>
            <a:off x="6208776" y="2578608"/>
            <a:ext cx="2816352" cy="1005840"/>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29" name="Shape 27"/>
          <p:cNvSpPr/>
          <p:nvPr/>
        </p:nvSpPr>
        <p:spPr>
          <a:xfrm>
            <a:off x="6208776" y="2578608"/>
            <a:ext cx="2816352" cy="274320"/>
          </a:xfrm>
          <a:prstGeom prst="rect">
            <a:avLst/>
          </a:prstGeom>
          <a:solidFill>
            <a:srgbClr val="1E8449"/>
          </a:solidFill>
          <a:ln w="12700">
            <a:solidFill>
              <a:srgbClr val="1E8449"/>
            </a:solidFill>
            <a:prstDash val="solid"/>
          </a:ln>
        </p:spPr>
      </p:sp>
      <p:sp>
        <p:nvSpPr>
          <p:cNvPr id="30" name="Text 28"/>
          <p:cNvSpPr/>
          <p:nvPr/>
        </p:nvSpPr>
        <p:spPr>
          <a:xfrm>
            <a:off x="6281928" y="2615184"/>
            <a:ext cx="2670048" cy="219456"/>
          </a:xfrm>
          <a:prstGeom prst="rect">
            <a:avLst/>
          </a:prstGeom>
          <a:noFill/>
          <a:ln/>
        </p:spPr>
        <p:txBody>
          <a:bodyPr wrap="square" lIns="0" tIns="0" rIns="0" bIns="0" rtlCol="0" anchor="ctr"/>
          <a:lstStyle/>
          <a:p>
            <a:pPr marL="0" indent="0">
              <a:buNone/>
            </a:pPr>
            <a:r>
              <a:rPr lang="en-US" sz="900" b="1" dirty="0">
                <a:solidFill>
                  <a:srgbClr val="1A1A2E"/>
                </a:solidFill>
                <a:latin typeface="Calibri" pitchFamily="34" charset="0"/>
                <a:ea typeface="Calibri" pitchFamily="34" charset="-122"/>
                <a:cs typeface="Calibri" pitchFamily="34" charset="-120"/>
              </a:rPr>
              <a:t>Cloud Platform</a:t>
            </a:r>
            <a:endParaRPr lang="en-US" sz="900" dirty="0"/>
          </a:p>
        </p:txBody>
      </p:sp>
      <p:sp>
        <p:nvSpPr>
          <p:cNvPr id="31" name="Text 29"/>
          <p:cNvSpPr/>
          <p:nvPr/>
        </p:nvSpPr>
        <p:spPr>
          <a:xfrm>
            <a:off x="6281928" y="2889504"/>
            <a:ext cx="2670048" cy="658368"/>
          </a:xfrm>
          <a:prstGeom prst="rect">
            <a:avLst/>
          </a:prstGeom>
          <a:noFill/>
          <a:ln/>
        </p:spPr>
        <p:txBody>
          <a:bodyPr wrap="square" rtlCol="0" anchor="t"/>
          <a:lstStyle/>
          <a:p>
            <a:pPr marL="0" indent="0">
              <a:buNone/>
            </a:pPr>
            <a:r>
              <a:rPr lang="en-US" sz="800" dirty="0">
                <a:solidFill>
                  <a:srgbClr val="1A1A2E"/>
                </a:solidFill>
                <a:latin typeface="Calibri" pitchFamily="34" charset="0"/>
                <a:ea typeface="Calibri" pitchFamily="34" charset="-122"/>
                <a:cs typeface="Calibri" pitchFamily="34" charset="-120"/>
              </a:rPr>
              <a:t>Microsoft Azure: Azure ML Studio for model hosting, Azure IoT Hub for real-time vitals ingestion, Azure Blob Storage for dataset versioning, and Azure RBAC for security.</a:t>
            </a:r>
            <a:endParaRPr lang="en-US" sz="800" dirty="0"/>
          </a:p>
        </p:txBody>
      </p:sp>
      <p:sp>
        <p:nvSpPr>
          <p:cNvPr id="32" name="Shape 30"/>
          <p:cNvSpPr/>
          <p:nvPr/>
        </p:nvSpPr>
        <p:spPr>
          <a:xfrm>
            <a:off x="320040" y="3675888"/>
            <a:ext cx="2816352" cy="1005840"/>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33" name="Shape 31"/>
          <p:cNvSpPr/>
          <p:nvPr/>
        </p:nvSpPr>
        <p:spPr>
          <a:xfrm>
            <a:off x="320040" y="3675888"/>
            <a:ext cx="2816352" cy="274320"/>
          </a:xfrm>
          <a:prstGeom prst="rect">
            <a:avLst/>
          </a:prstGeom>
          <a:solidFill>
            <a:srgbClr val="7C3AED"/>
          </a:solidFill>
          <a:ln w="12700">
            <a:solidFill>
              <a:srgbClr val="7C3AED"/>
            </a:solidFill>
            <a:prstDash val="solid"/>
          </a:ln>
        </p:spPr>
      </p:sp>
      <p:sp>
        <p:nvSpPr>
          <p:cNvPr id="34" name="Text 32"/>
          <p:cNvSpPr/>
          <p:nvPr/>
        </p:nvSpPr>
        <p:spPr>
          <a:xfrm>
            <a:off x="393192" y="3712464"/>
            <a:ext cx="2670048" cy="219456"/>
          </a:xfrm>
          <a:prstGeom prst="rect">
            <a:avLst/>
          </a:prstGeom>
          <a:noFill/>
          <a:ln/>
        </p:spPr>
        <p:txBody>
          <a:bodyPr wrap="square" lIns="0" tIns="0" rIns="0" bIns="0" rtlCol="0" anchor="ctr"/>
          <a:lstStyle/>
          <a:p>
            <a:pPr marL="0" indent="0">
              <a:buNone/>
            </a:pPr>
            <a:r>
              <a:rPr lang="en-US" sz="900" b="1" dirty="0">
                <a:solidFill>
                  <a:srgbClr val="1A1A2E"/>
                </a:solidFill>
                <a:latin typeface="Calibri" pitchFamily="34" charset="0"/>
                <a:ea typeface="Calibri" pitchFamily="34" charset="-122"/>
                <a:cs typeface="Calibri" pitchFamily="34" charset="-120"/>
              </a:rPr>
              <a:t>Business Intelligence</a:t>
            </a:r>
            <a:endParaRPr lang="en-US" sz="900" dirty="0"/>
          </a:p>
        </p:txBody>
      </p:sp>
      <p:sp>
        <p:nvSpPr>
          <p:cNvPr id="35" name="Text 33"/>
          <p:cNvSpPr/>
          <p:nvPr/>
        </p:nvSpPr>
        <p:spPr>
          <a:xfrm>
            <a:off x="393192" y="3986784"/>
            <a:ext cx="2670048" cy="658368"/>
          </a:xfrm>
          <a:prstGeom prst="rect">
            <a:avLst/>
          </a:prstGeom>
          <a:noFill/>
          <a:ln/>
        </p:spPr>
        <p:txBody>
          <a:bodyPr wrap="square" rtlCol="0" anchor="t"/>
          <a:lstStyle/>
          <a:p>
            <a:pPr marL="0" indent="0">
              <a:buNone/>
            </a:pPr>
            <a:r>
              <a:rPr lang="en-US" sz="800" dirty="0">
                <a:solidFill>
                  <a:srgbClr val="1A1A2E"/>
                </a:solidFill>
                <a:latin typeface="Calibri" pitchFamily="34" charset="0"/>
                <a:ea typeface="Calibri" pitchFamily="34" charset="-122"/>
                <a:cs typeface="Calibri" pitchFamily="34" charset="-120"/>
              </a:rPr>
              <a:t>Microsoft Power BI for interactive dashboards and clinical KPI reporting. DAX measures calculate adherence rates, readmission scores, and recovery time trends.</a:t>
            </a:r>
            <a:endParaRPr lang="en-US" sz="800" dirty="0"/>
          </a:p>
        </p:txBody>
      </p:sp>
      <p:sp>
        <p:nvSpPr>
          <p:cNvPr id="36" name="Shape 34"/>
          <p:cNvSpPr/>
          <p:nvPr/>
        </p:nvSpPr>
        <p:spPr>
          <a:xfrm>
            <a:off x="3264408" y="3675888"/>
            <a:ext cx="2816352" cy="1005840"/>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37" name="Shape 35"/>
          <p:cNvSpPr/>
          <p:nvPr/>
        </p:nvSpPr>
        <p:spPr>
          <a:xfrm>
            <a:off x="3264408" y="3675888"/>
            <a:ext cx="2816352" cy="274320"/>
          </a:xfrm>
          <a:prstGeom prst="rect">
            <a:avLst/>
          </a:prstGeom>
          <a:solidFill>
            <a:srgbClr val="D97706"/>
          </a:solidFill>
          <a:ln w="12700">
            <a:solidFill>
              <a:srgbClr val="D97706"/>
            </a:solidFill>
            <a:prstDash val="solid"/>
          </a:ln>
        </p:spPr>
      </p:sp>
      <p:sp>
        <p:nvSpPr>
          <p:cNvPr id="38" name="Text 36"/>
          <p:cNvSpPr/>
          <p:nvPr/>
        </p:nvSpPr>
        <p:spPr>
          <a:xfrm>
            <a:off x="3337560" y="3712464"/>
            <a:ext cx="2670048" cy="219456"/>
          </a:xfrm>
          <a:prstGeom prst="rect">
            <a:avLst/>
          </a:prstGeom>
          <a:noFill/>
          <a:ln/>
        </p:spPr>
        <p:txBody>
          <a:bodyPr wrap="square" lIns="0" tIns="0" rIns="0" bIns="0" rtlCol="0" anchor="ctr"/>
          <a:lstStyle/>
          <a:p>
            <a:pPr marL="0" indent="0">
              <a:buNone/>
            </a:pPr>
            <a:r>
              <a:rPr lang="en-US" sz="900" b="1" dirty="0">
                <a:solidFill>
                  <a:srgbClr val="1A1A2E"/>
                </a:solidFill>
                <a:latin typeface="Calibri" pitchFamily="34" charset="0"/>
                <a:ea typeface="Calibri" pitchFamily="34" charset="-122"/>
                <a:cs typeface="Calibri" pitchFamily="34" charset="-120"/>
              </a:rPr>
              <a:t>Data Exchange Standards</a:t>
            </a:r>
            <a:endParaRPr lang="en-US" sz="900" dirty="0"/>
          </a:p>
        </p:txBody>
      </p:sp>
      <p:sp>
        <p:nvSpPr>
          <p:cNvPr id="39" name="Text 37"/>
          <p:cNvSpPr/>
          <p:nvPr/>
        </p:nvSpPr>
        <p:spPr>
          <a:xfrm>
            <a:off x="3337560" y="3986784"/>
            <a:ext cx="2670048" cy="658368"/>
          </a:xfrm>
          <a:prstGeom prst="rect">
            <a:avLst/>
          </a:prstGeom>
          <a:noFill/>
          <a:ln/>
        </p:spPr>
        <p:txBody>
          <a:bodyPr wrap="square" rtlCol="0" anchor="t"/>
          <a:lstStyle/>
          <a:p>
            <a:pPr marL="0" indent="0">
              <a:buNone/>
            </a:pPr>
            <a:r>
              <a:rPr lang="en-US" sz="800" dirty="0">
                <a:solidFill>
                  <a:srgbClr val="1A1A2E"/>
                </a:solidFill>
                <a:latin typeface="Calibri" pitchFamily="34" charset="0"/>
                <a:ea typeface="Calibri" pitchFamily="34" charset="-122"/>
                <a:cs typeface="Calibri" pitchFamily="34" charset="-120"/>
              </a:rPr>
              <a:t>HL7 FHIR API for standardized EHR interoperability across hospital systems. Enables secure, unified access to patient records from multiple healthcare providers.</a:t>
            </a:r>
            <a:endParaRPr lang="en-US" sz="800" dirty="0"/>
          </a:p>
        </p:txBody>
      </p:sp>
      <p:sp>
        <p:nvSpPr>
          <p:cNvPr id="40" name="Shape 38"/>
          <p:cNvSpPr/>
          <p:nvPr/>
        </p:nvSpPr>
        <p:spPr>
          <a:xfrm>
            <a:off x="6208776" y="3675888"/>
            <a:ext cx="2816352" cy="1005840"/>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41" name="Shape 39"/>
          <p:cNvSpPr/>
          <p:nvPr/>
        </p:nvSpPr>
        <p:spPr>
          <a:xfrm>
            <a:off x="6208776" y="3675888"/>
            <a:ext cx="2816352" cy="274320"/>
          </a:xfrm>
          <a:prstGeom prst="rect">
            <a:avLst/>
          </a:prstGeom>
          <a:solidFill>
            <a:srgbClr val="DC2626"/>
          </a:solidFill>
          <a:ln w="12700">
            <a:solidFill>
              <a:srgbClr val="DC2626"/>
            </a:solidFill>
            <a:prstDash val="solid"/>
          </a:ln>
        </p:spPr>
      </p:sp>
      <p:sp>
        <p:nvSpPr>
          <p:cNvPr id="42" name="Text 40"/>
          <p:cNvSpPr/>
          <p:nvPr/>
        </p:nvSpPr>
        <p:spPr>
          <a:xfrm>
            <a:off x="6281928" y="3712464"/>
            <a:ext cx="2670048" cy="219456"/>
          </a:xfrm>
          <a:prstGeom prst="rect">
            <a:avLst/>
          </a:prstGeom>
          <a:noFill/>
          <a:ln/>
        </p:spPr>
        <p:txBody>
          <a:bodyPr wrap="square" lIns="0" tIns="0" rIns="0" bIns="0" rtlCol="0" anchor="ctr"/>
          <a:lstStyle/>
          <a:p>
            <a:pPr marL="0" indent="0">
              <a:buNone/>
            </a:pPr>
            <a:r>
              <a:rPr lang="en-US" sz="900" b="1" dirty="0">
                <a:solidFill>
                  <a:srgbClr val="1A1A2E"/>
                </a:solidFill>
                <a:latin typeface="Calibri" pitchFamily="34" charset="0"/>
                <a:ea typeface="Calibri" pitchFamily="34" charset="-122"/>
                <a:cs typeface="Calibri" pitchFamily="34" charset="-120"/>
              </a:rPr>
              <a:t>Development Environment</a:t>
            </a:r>
            <a:endParaRPr lang="en-US" sz="900" dirty="0"/>
          </a:p>
        </p:txBody>
      </p:sp>
      <p:sp>
        <p:nvSpPr>
          <p:cNvPr id="43" name="Text 41"/>
          <p:cNvSpPr/>
          <p:nvPr/>
        </p:nvSpPr>
        <p:spPr>
          <a:xfrm>
            <a:off x="6281928" y="3986784"/>
            <a:ext cx="2670048" cy="658368"/>
          </a:xfrm>
          <a:prstGeom prst="rect">
            <a:avLst/>
          </a:prstGeom>
          <a:noFill/>
          <a:ln/>
        </p:spPr>
        <p:txBody>
          <a:bodyPr wrap="square" rtlCol="0" anchor="t"/>
          <a:lstStyle/>
          <a:p>
            <a:pPr marL="0" indent="0">
              <a:buNone/>
            </a:pPr>
            <a:r>
              <a:rPr lang="en-US" sz="800" dirty="0">
                <a:solidFill>
                  <a:srgbClr val="1A1A2E"/>
                </a:solidFill>
                <a:latin typeface="Calibri" pitchFamily="34" charset="0"/>
                <a:ea typeface="Calibri" pitchFamily="34" charset="-122"/>
                <a:cs typeface="Calibri" pitchFamily="34" charset="-120"/>
              </a:rPr>
              <a:t>VS Code + Anaconda for environment management, Jupyter Notebooks for EDA, GitHub for version control, and GitHub Copilot for AI-assisted code generation.</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01F5F"/>
          </a:solidFill>
          <a:ln w="12700">
            <a:solidFill>
              <a:srgbClr val="FFFFFF"/>
            </a:solidFill>
            <a:prstDash val="solid"/>
          </a:ln>
        </p:spPr>
      </p:sp>
      <p:sp>
        <p:nvSpPr>
          <p:cNvPr id="3" name="Shape 1"/>
          <p:cNvSpPr/>
          <p:nvPr/>
        </p:nvSpPr>
        <p:spPr>
          <a:xfrm>
            <a:off x="0" y="621792"/>
            <a:ext cx="9144000" cy="50292"/>
          </a:xfrm>
          <a:prstGeom prst="rect">
            <a:avLst/>
          </a:prstGeom>
          <a:solidFill>
            <a:srgbClr val="1E8449"/>
          </a:solidFill>
          <a:ln w="12700">
            <a:solidFill>
              <a:srgbClr val="1E8449"/>
            </a:solidFill>
            <a:prstDash val="solid"/>
          </a:ln>
        </p:spPr>
      </p:sp>
      <p:sp>
        <p:nvSpPr>
          <p:cNvPr id="4" name="Text 2"/>
          <p:cNvSpPr/>
          <p:nvPr/>
        </p:nvSpPr>
        <p:spPr>
          <a:xfrm>
            <a:off x="292608" y="45720"/>
            <a:ext cx="7498080" cy="54864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About Microsoft Elevate Program</a:t>
            </a:r>
            <a:endParaRPr lang="en-US" sz="1900" dirty="0"/>
          </a:p>
        </p:txBody>
      </p:sp>
      <p:sp>
        <p:nvSpPr>
          <p:cNvPr id="5" name="Shape 3"/>
          <p:cNvSpPr/>
          <p:nvPr/>
        </p:nvSpPr>
        <p:spPr>
          <a:xfrm>
            <a:off x="7818120" y="82296"/>
            <a:ext cx="1234440" cy="457200"/>
          </a:xfrm>
          <a:prstGeom prst="rect">
            <a:avLst/>
          </a:prstGeom>
          <a:solidFill>
            <a:srgbClr val="E8EFF8"/>
          </a:solidFill>
          <a:ln w="12700">
            <a:solidFill>
              <a:srgbClr val="1D4ED8"/>
            </a:solidFill>
            <a:prstDash val="solid"/>
          </a:ln>
        </p:spPr>
      </p:sp>
      <p:sp>
        <p:nvSpPr>
          <p:cNvPr id="6" name="Text 4"/>
          <p:cNvSpPr/>
          <p:nvPr/>
        </p:nvSpPr>
        <p:spPr>
          <a:xfrm>
            <a:off x="7818120" y="82296"/>
            <a:ext cx="1234440" cy="457200"/>
          </a:xfrm>
          <a:prstGeom prst="rect">
            <a:avLst/>
          </a:prstGeom>
          <a:noFill/>
          <a:ln/>
        </p:spPr>
        <p:txBody>
          <a:bodyPr wrap="square" rtlCol="0" anchor="ctr"/>
          <a:lstStyle/>
          <a:p>
            <a:pPr marL="0" indent="0" algn="ctr">
              <a:buNone/>
            </a:pPr>
            <a:r>
              <a:rPr lang="en-US" sz="700" b="1" dirty="0">
                <a:solidFill>
                  <a:srgbClr val="1D4ED8"/>
                </a:solidFill>
                <a:latin typeface="Calibri" pitchFamily="34" charset="0"/>
                <a:ea typeface="Calibri" pitchFamily="34" charset="-122"/>
                <a:cs typeface="Calibri" pitchFamily="34" charset="-120"/>
              </a:rPr>
              <a:t>Microsoft</a:t>
            </a:r>
            <a:endParaRPr lang="en-US" sz="700" dirty="0"/>
          </a:p>
          <a:p>
            <a:pPr marL="0" indent="0" algn="ctr">
              <a:buNone/>
            </a:pPr>
            <a:r>
              <a:rPr lang="en-US" sz="700" b="1" dirty="0">
                <a:solidFill>
                  <a:srgbClr val="1D4ED8"/>
                </a:solidFill>
                <a:latin typeface="Calibri" pitchFamily="34" charset="0"/>
                <a:ea typeface="Calibri" pitchFamily="34" charset="-122"/>
                <a:cs typeface="Calibri" pitchFamily="34" charset="-120"/>
              </a:rPr>
              <a:t>Elevate GTU</a:t>
            </a:r>
            <a:endParaRPr lang="en-US" sz="700" dirty="0"/>
          </a:p>
        </p:txBody>
      </p:sp>
      <p:sp>
        <p:nvSpPr>
          <p:cNvPr id="7" name="Shape 5"/>
          <p:cNvSpPr/>
          <p:nvPr/>
        </p:nvSpPr>
        <p:spPr>
          <a:xfrm>
            <a:off x="0" y="4873752"/>
            <a:ext cx="9144000" cy="50292"/>
          </a:xfrm>
          <a:prstGeom prst="rect">
            <a:avLst/>
          </a:prstGeom>
          <a:solidFill>
            <a:srgbClr val="1E8449"/>
          </a:solidFill>
          <a:ln w="12700">
            <a:solidFill>
              <a:srgbClr val="1E8449"/>
            </a:solidFill>
            <a:prstDash val="solid"/>
          </a:ln>
        </p:spPr>
      </p:sp>
      <p:sp>
        <p:nvSpPr>
          <p:cNvPr id="8" name="Shape 6"/>
          <p:cNvSpPr/>
          <p:nvPr/>
        </p:nvSpPr>
        <p:spPr>
          <a:xfrm>
            <a:off x="0" y="4924044"/>
            <a:ext cx="9144000" cy="219456"/>
          </a:xfrm>
          <a:prstGeom prst="rect">
            <a:avLst/>
          </a:prstGeom>
          <a:solidFill>
            <a:srgbClr val="FFFFFF"/>
          </a:solidFill>
          <a:ln w="12700">
            <a:solidFill>
              <a:srgbClr val="FFFFFF"/>
            </a:solidFill>
            <a:prstDash val="solid"/>
          </a:ln>
        </p:spPr>
      </p:sp>
      <p:sp>
        <p:nvSpPr>
          <p:cNvPr id="9" name="Text 7"/>
          <p:cNvSpPr/>
          <p:nvPr/>
        </p:nvSpPr>
        <p:spPr>
          <a:xfrm>
            <a:off x="228600" y="4924044"/>
            <a:ext cx="8046720" cy="219456"/>
          </a:xfrm>
          <a:prstGeom prst="rect">
            <a:avLst/>
          </a:prstGeom>
          <a:noFill/>
          <a:ln/>
        </p:spPr>
        <p:txBody>
          <a:bodyPr wrap="square" lIns="0" tIns="0" rIns="0" bIns="0" rtlCol="0" anchor="ctr"/>
          <a:lstStyle/>
          <a:p>
            <a:pPr marL="0" indent="0">
              <a:buNone/>
            </a:pPr>
            <a:r>
              <a:rPr lang="en-US" sz="650" dirty="0">
                <a:solidFill>
                  <a:srgbClr val="7B9ABF"/>
                </a:solidFill>
                <a:latin typeface="Calibri" pitchFamily="34" charset="0"/>
                <a:ea typeface="Calibri" pitchFamily="34" charset="-122"/>
                <a:cs typeface="Calibri" pitchFamily="34" charset="-120"/>
              </a:rPr>
              <a:t>Microsoft Elevate Internship Project  |  Healthcare &amp; Medication Management System  |  GTU Jan–Apr 2026</a:t>
            </a:r>
            <a:endParaRPr lang="en-US" sz="650" dirty="0"/>
          </a:p>
        </p:txBody>
      </p:sp>
      <p:sp>
        <p:nvSpPr>
          <p:cNvPr id="10" name="Text 8"/>
          <p:cNvSpPr/>
          <p:nvPr/>
        </p:nvSpPr>
        <p:spPr>
          <a:xfrm>
            <a:off x="8275320" y="4924044"/>
            <a:ext cx="731520" cy="219456"/>
          </a:xfrm>
          <a:prstGeom prst="rect">
            <a:avLst/>
          </a:prstGeom>
          <a:noFill/>
          <a:ln/>
        </p:spPr>
        <p:txBody>
          <a:bodyPr wrap="square" lIns="0" tIns="0" rIns="0" bIns="0" rtlCol="0" anchor="ctr"/>
          <a:lstStyle/>
          <a:p>
            <a:pPr marL="0" indent="0" algn="r">
              <a:buNone/>
            </a:pPr>
            <a:r>
              <a:rPr lang="en-US" sz="700" b="1" dirty="0">
                <a:solidFill>
                  <a:srgbClr val="1A1A2E"/>
                </a:solidFill>
                <a:latin typeface="Calibri" pitchFamily="34" charset="0"/>
                <a:ea typeface="Calibri" pitchFamily="34" charset="-122"/>
                <a:cs typeface="Calibri" pitchFamily="34" charset="-120"/>
              </a:rPr>
              <a:t>6 / 20</a:t>
            </a:r>
            <a:endParaRPr lang="en-US" sz="700" dirty="0"/>
          </a:p>
        </p:txBody>
      </p:sp>
      <p:sp>
        <p:nvSpPr>
          <p:cNvPr id="11" name="Text 9"/>
          <p:cNvSpPr/>
          <p:nvPr/>
        </p:nvSpPr>
        <p:spPr>
          <a:xfrm>
            <a:off x="320040" y="777240"/>
            <a:ext cx="8503920" cy="274320"/>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12-Week Intensive Virtual Internship Program</a:t>
            </a:r>
            <a:endParaRPr lang="en-US" sz="1300" dirty="0"/>
          </a:p>
        </p:txBody>
      </p:sp>
      <p:sp>
        <p:nvSpPr>
          <p:cNvPr id="12" name="Shape 10"/>
          <p:cNvSpPr/>
          <p:nvPr/>
        </p:nvSpPr>
        <p:spPr>
          <a:xfrm>
            <a:off x="320040" y="1078992"/>
            <a:ext cx="8503920" cy="804672"/>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13" name="Shape 11"/>
          <p:cNvSpPr/>
          <p:nvPr/>
        </p:nvSpPr>
        <p:spPr>
          <a:xfrm>
            <a:off x="320040" y="1078992"/>
            <a:ext cx="59436" cy="804672"/>
          </a:xfrm>
          <a:prstGeom prst="rect">
            <a:avLst/>
          </a:prstGeom>
          <a:solidFill>
            <a:srgbClr val="1D4ED8"/>
          </a:solidFill>
          <a:ln w="12700">
            <a:solidFill>
              <a:srgbClr val="1D4ED8"/>
            </a:solidFill>
            <a:prstDash val="solid"/>
          </a:ln>
        </p:spPr>
      </p:sp>
      <p:sp>
        <p:nvSpPr>
          <p:cNvPr id="14" name="Text 12"/>
          <p:cNvSpPr/>
          <p:nvPr/>
        </p:nvSpPr>
        <p:spPr>
          <a:xfrm>
            <a:off x="438912" y="1152144"/>
            <a:ext cx="8321040" cy="658368"/>
          </a:xfrm>
          <a:prstGeom prst="rect">
            <a:avLst/>
          </a:prstGeom>
          <a:noFill/>
          <a:ln/>
        </p:spPr>
        <p:txBody>
          <a:bodyPr wrap="square" rtlCol="0" anchor="ctr"/>
          <a:lstStyle/>
          <a:p>
            <a:pPr marL="0" indent="0">
              <a:buNone/>
            </a:pPr>
            <a:r>
              <a:rPr lang="en-US" sz="950" dirty="0">
                <a:solidFill>
                  <a:srgbClr val="1A1A2E"/>
                </a:solidFill>
                <a:latin typeface="Calibri" pitchFamily="34" charset="0"/>
                <a:ea typeface="Calibri" pitchFamily="34" charset="-122"/>
                <a:cs typeface="Calibri" pitchFamily="34" charset="-120"/>
              </a:rPr>
              <a:t>Microsoft Elevate is a structured virtual internship program powered by Edunet Foundation &amp; FICE Education, in partnership with Gujarat Technological University (GTU) for 8th-semester students. The program bridges academic learning and industry-ready skills through a 12-week curriculum focused on Data Analytics, Machine Learning, Deep Learning, Power BI, and Microsoft Azure Cloud. Students receive mentorship from Microsoft-certified trainers, complete hands-on labs using real-world healthcare datasets, and deliver a GTU Capstone Project demonstrating end-to-end AI/ML implementation.</a:t>
            </a:r>
            <a:endParaRPr lang="en-US" sz="950" dirty="0"/>
          </a:p>
        </p:txBody>
      </p:sp>
      <p:sp>
        <p:nvSpPr>
          <p:cNvPr id="15" name="Shape 13"/>
          <p:cNvSpPr/>
          <p:nvPr/>
        </p:nvSpPr>
        <p:spPr>
          <a:xfrm>
            <a:off x="320040" y="1965960"/>
            <a:ext cx="4224528" cy="914400"/>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16" name="Shape 14"/>
          <p:cNvSpPr/>
          <p:nvPr/>
        </p:nvSpPr>
        <p:spPr>
          <a:xfrm>
            <a:off x="320040" y="1965960"/>
            <a:ext cx="59436" cy="914400"/>
          </a:xfrm>
          <a:prstGeom prst="rect">
            <a:avLst/>
          </a:prstGeom>
          <a:solidFill>
            <a:srgbClr val="1D4ED8"/>
          </a:solidFill>
          <a:ln w="12700">
            <a:solidFill>
              <a:srgbClr val="1D4ED8"/>
            </a:solidFill>
            <a:prstDash val="solid"/>
          </a:ln>
        </p:spPr>
      </p:sp>
      <p:sp>
        <p:nvSpPr>
          <p:cNvPr id="17" name="Text 15"/>
          <p:cNvSpPr/>
          <p:nvPr/>
        </p:nvSpPr>
        <p:spPr>
          <a:xfrm>
            <a:off x="429768" y="2020824"/>
            <a:ext cx="4069080" cy="228600"/>
          </a:xfrm>
          <a:prstGeom prst="rect">
            <a:avLst/>
          </a:prstGeom>
          <a:noFill/>
          <a:ln/>
        </p:spPr>
        <p:txBody>
          <a:bodyPr wrap="square" lIns="0" tIns="0" rIns="0" bIns="0" rtlCol="0" anchor="ctr"/>
          <a:lstStyle/>
          <a:p>
            <a:pPr marL="0" indent="0">
              <a:buNone/>
            </a:pPr>
            <a:r>
              <a:rPr lang="en-US" sz="950" b="1" dirty="0">
                <a:solidFill>
                  <a:srgbClr val="1A1A2E"/>
                </a:solidFill>
                <a:latin typeface="Calibri" pitchFamily="34" charset="0"/>
                <a:ea typeface="Calibri" pitchFamily="34" charset="-122"/>
                <a:cs typeface="Calibri" pitchFamily="34" charset="-120"/>
              </a:rPr>
              <a:t>12-Week Intensive Program</a:t>
            </a:r>
            <a:endParaRPr lang="en-US" sz="950" dirty="0"/>
          </a:p>
        </p:txBody>
      </p:sp>
      <p:sp>
        <p:nvSpPr>
          <p:cNvPr id="18" name="Text 16"/>
          <p:cNvSpPr/>
          <p:nvPr/>
        </p:nvSpPr>
        <p:spPr>
          <a:xfrm>
            <a:off x="429768" y="2267712"/>
            <a:ext cx="4069080" cy="557784"/>
          </a:xfrm>
          <a:prstGeom prst="rect">
            <a:avLst/>
          </a:prstGeom>
          <a:noFill/>
          <a:ln/>
        </p:spPr>
        <p:txBody>
          <a:bodyPr wrap="square" rtlCol="0" anchor="t"/>
          <a:lstStyle/>
          <a:p>
            <a:pPr marL="0" indent="0">
              <a:buNone/>
            </a:pPr>
            <a:r>
              <a:rPr lang="en-US" sz="850" dirty="0">
                <a:solidFill>
                  <a:srgbClr val="1A1A2E"/>
                </a:solidFill>
                <a:latin typeface="Calibri" pitchFamily="34" charset="0"/>
                <a:ea typeface="Calibri" pitchFamily="34" charset="-122"/>
                <a:cs typeface="Calibri" pitchFamily="34" charset="-120"/>
              </a:rPr>
              <a:t>Structured weekly modules covering data analytics, ML, deep learning, Power BI, generative AI, and Azure cloud. Each week builds on prior learning for progressive skill development.</a:t>
            </a:r>
            <a:endParaRPr lang="en-US" sz="850" dirty="0"/>
          </a:p>
        </p:txBody>
      </p:sp>
      <p:sp>
        <p:nvSpPr>
          <p:cNvPr id="19" name="Shape 17"/>
          <p:cNvSpPr/>
          <p:nvPr/>
        </p:nvSpPr>
        <p:spPr>
          <a:xfrm>
            <a:off x="4754880" y="1965960"/>
            <a:ext cx="4224528" cy="914400"/>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20" name="Shape 18"/>
          <p:cNvSpPr/>
          <p:nvPr/>
        </p:nvSpPr>
        <p:spPr>
          <a:xfrm>
            <a:off x="4754880" y="1965960"/>
            <a:ext cx="59436" cy="914400"/>
          </a:xfrm>
          <a:prstGeom prst="rect">
            <a:avLst/>
          </a:prstGeom>
          <a:solidFill>
            <a:srgbClr val="0D9488"/>
          </a:solidFill>
          <a:ln w="12700">
            <a:solidFill>
              <a:srgbClr val="0D9488"/>
            </a:solidFill>
            <a:prstDash val="solid"/>
          </a:ln>
        </p:spPr>
      </p:sp>
      <p:sp>
        <p:nvSpPr>
          <p:cNvPr id="21" name="Text 19"/>
          <p:cNvSpPr/>
          <p:nvPr/>
        </p:nvSpPr>
        <p:spPr>
          <a:xfrm>
            <a:off x="4864608" y="2020824"/>
            <a:ext cx="4069080" cy="228600"/>
          </a:xfrm>
          <a:prstGeom prst="rect">
            <a:avLst/>
          </a:prstGeom>
          <a:noFill/>
          <a:ln/>
        </p:spPr>
        <p:txBody>
          <a:bodyPr wrap="square" lIns="0" tIns="0" rIns="0" bIns="0" rtlCol="0" anchor="ctr"/>
          <a:lstStyle/>
          <a:p>
            <a:pPr marL="0" indent="0">
              <a:buNone/>
            </a:pPr>
            <a:r>
              <a:rPr lang="en-US" sz="950" b="1" dirty="0">
                <a:solidFill>
                  <a:srgbClr val="1A1A2E"/>
                </a:solidFill>
                <a:latin typeface="Calibri" pitchFamily="34" charset="0"/>
                <a:ea typeface="Calibri" pitchFamily="34" charset="-122"/>
                <a:cs typeface="Calibri" pitchFamily="34" charset="-120"/>
              </a:rPr>
              <a:t>GTU Partnership</a:t>
            </a:r>
            <a:endParaRPr lang="en-US" sz="950" dirty="0"/>
          </a:p>
        </p:txBody>
      </p:sp>
      <p:sp>
        <p:nvSpPr>
          <p:cNvPr id="22" name="Text 20"/>
          <p:cNvSpPr/>
          <p:nvPr/>
        </p:nvSpPr>
        <p:spPr>
          <a:xfrm>
            <a:off x="4864608" y="2267712"/>
            <a:ext cx="4069080" cy="557784"/>
          </a:xfrm>
          <a:prstGeom prst="rect">
            <a:avLst/>
          </a:prstGeom>
          <a:noFill/>
          <a:ln/>
        </p:spPr>
        <p:txBody>
          <a:bodyPr wrap="square" rtlCol="0" anchor="t"/>
          <a:lstStyle/>
          <a:p>
            <a:pPr marL="0" indent="0">
              <a:buNone/>
            </a:pPr>
            <a:r>
              <a:rPr lang="en-US" sz="850" dirty="0">
                <a:solidFill>
                  <a:srgbClr val="1A1A2E"/>
                </a:solidFill>
                <a:latin typeface="Calibri" pitchFamily="34" charset="0"/>
                <a:ea typeface="Calibri" pitchFamily="34" charset="-122"/>
                <a:cs typeface="Calibri" pitchFamily="34" charset="-120"/>
              </a:rPr>
              <a:t>Official partnership with Gujarat Technological University for 8th-semester B.Tech students. Completion earns credit toward GTU internship requirements and academic certification.</a:t>
            </a:r>
            <a:endParaRPr lang="en-US" sz="850" dirty="0"/>
          </a:p>
        </p:txBody>
      </p:sp>
      <p:sp>
        <p:nvSpPr>
          <p:cNvPr id="23" name="Shape 21"/>
          <p:cNvSpPr/>
          <p:nvPr/>
        </p:nvSpPr>
        <p:spPr>
          <a:xfrm>
            <a:off x="320040" y="2971800"/>
            <a:ext cx="4224528" cy="914400"/>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24" name="Shape 22"/>
          <p:cNvSpPr/>
          <p:nvPr/>
        </p:nvSpPr>
        <p:spPr>
          <a:xfrm>
            <a:off x="320040" y="2971800"/>
            <a:ext cx="59436" cy="914400"/>
          </a:xfrm>
          <a:prstGeom prst="rect">
            <a:avLst/>
          </a:prstGeom>
          <a:solidFill>
            <a:srgbClr val="1E8449"/>
          </a:solidFill>
          <a:ln w="12700">
            <a:solidFill>
              <a:srgbClr val="1E8449"/>
            </a:solidFill>
            <a:prstDash val="solid"/>
          </a:ln>
        </p:spPr>
      </p:sp>
      <p:sp>
        <p:nvSpPr>
          <p:cNvPr id="25" name="Text 23"/>
          <p:cNvSpPr/>
          <p:nvPr/>
        </p:nvSpPr>
        <p:spPr>
          <a:xfrm>
            <a:off x="429768" y="3026664"/>
            <a:ext cx="4069080" cy="228600"/>
          </a:xfrm>
          <a:prstGeom prst="rect">
            <a:avLst/>
          </a:prstGeom>
          <a:noFill/>
          <a:ln/>
        </p:spPr>
        <p:txBody>
          <a:bodyPr wrap="square" lIns="0" tIns="0" rIns="0" bIns="0" rtlCol="0" anchor="ctr"/>
          <a:lstStyle/>
          <a:p>
            <a:pPr marL="0" indent="0">
              <a:buNone/>
            </a:pPr>
            <a:r>
              <a:rPr lang="en-US" sz="950" b="1" dirty="0">
                <a:solidFill>
                  <a:srgbClr val="1A1A2E"/>
                </a:solidFill>
                <a:latin typeface="Calibri" pitchFamily="34" charset="0"/>
                <a:ea typeface="Calibri" pitchFamily="34" charset="-122"/>
                <a:cs typeface="Calibri" pitchFamily="34" charset="-120"/>
              </a:rPr>
              <a:t>Powered by Edunet Foundation</a:t>
            </a:r>
            <a:endParaRPr lang="en-US" sz="950" dirty="0"/>
          </a:p>
        </p:txBody>
      </p:sp>
      <p:sp>
        <p:nvSpPr>
          <p:cNvPr id="26" name="Text 24"/>
          <p:cNvSpPr/>
          <p:nvPr/>
        </p:nvSpPr>
        <p:spPr>
          <a:xfrm>
            <a:off x="429768" y="3273552"/>
            <a:ext cx="4069080" cy="557784"/>
          </a:xfrm>
          <a:prstGeom prst="rect">
            <a:avLst/>
          </a:prstGeom>
          <a:noFill/>
          <a:ln/>
        </p:spPr>
        <p:txBody>
          <a:bodyPr wrap="square" rtlCol="0" anchor="t"/>
          <a:lstStyle/>
          <a:p>
            <a:pPr marL="0" indent="0">
              <a:buNone/>
            </a:pPr>
            <a:r>
              <a:rPr lang="en-US" sz="850" dirty="0">
                <a:solidFill>
                  <a:srgbClr val="1A1A2E"/>
                </a:solidFill>
                <a:latin typeface="Calibri" pitchFamily="34" charset="0"/>
                <a:ea typeface="Calibri" pitchFamily="34" charset="-122"/>
                <a:cs typeface="Calibri" pitchFamily="34" charset="-120"/>
              </a:rPr>
              <a:t>Delivered by Edunet Foundation &amp; FICE Education — trusted providers of technology upskilling programs reaching 100,000+ students across India annually.</a:t>
            </a:r>
            <a:endParaRPr lang="en-US" sz="850" dirty="0"/>
          </a:p>
        </p:txBody>
      </p:sp>
      <p:sp>
        <p:nvSpPr>
          <p:cNvPr id="27" name="Shape 25"/>
          <p:cNvSpPr/>
          <p:nvPr/>
        </p:nvSpPr>
        <p:spPr>
          <a:xfrm>
            <a:off x="4754880" y="2971800"/>
            <a:ext cx="4224528" cy="914400"/>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28" name="Shape 26"/>
          <p:cNvSpPr/>
          <p:nvPr/>
        </p:nvSpPr>
        <p:spPr>
          <a:xfrm>
            <a:off x="4754880" y="2971800"/>
            <a:ext cx="59436" cy="914400"/>
          </a:xfrm>
          <a:prstGeom prst="rect">
            <a:avLst/>
          </a:prstGeom>
          <a:solidFill>
            <a:srgbClr val="7C3AED"/>
          </a:solidFill>
          <a:ln w="12700">
            <a:solidFill>
              <a:srgbClr val="7C3AED"/>
            </a:solidFill>
            <a:prstDash val="solid"/>
          </a:ln>
        </p:spPr>
      </p:sp>
      <p:sp>
        <p:nvSpPr>
          <p:cNvPr id="29" name="Text 27"/>
          <p:cNvSpPr/>
          <p:nvPr/>
        </p:nvSpPr>
        <p:spPr>
          <a:xfrm>
            <a:off x="4864608" y="3026664"/>
            <a:ext cx="4069080" cy="228600"/>
          </a:xfrm>
          <a:prstGeom prst="rect">
            <a:avLst/>
          </a:prstGeom>
          <a:noFill/>
          <a:ln/>
        </p:spPr>
        <p:txBody>
          <a:bodyPr wrap="square" lIns="0" tIns="0" rIns="0" bIns="0" rtlCol="0" anchor="ctr"/>
          <a:lstStyle/>
          <a:p>
            <a:pPr marL="0" indent="0">
              <a:buNone/>
            </a:pPr>
            <a:r>
              <a:rPr lang="en-US" sz="950" b="1" dirty="0">
                <a:solidFill>
                  <a:srgbClr val="1A1A2E"/>
                </a:solidFill>
                <a:latin typeface="Calibri" pitchFamily="34" charset="0"/>
                <a:ea typeface="Calibri" pitchFamily="34" charset="-122"/>
                <a:cs typeface="Calibri" pitchFamily="34" charset="-120"/>
              </a:rPr>
              <a:t>Microsoft-Certified Trainers</a:t>
            </a:r>
            <a:endParaRPr lang="en-US" sz="950" dirty="0"/>
          </a:p>
        </p:txBody>
      </p:sp>
      <p:sp>
        <p:nvSpPr>
          <p:cNvPr id="30" name="Text 28"/>
          <p:cNvSpPr/>
          <p:nvPr/>
        </p:nvSpPr>
        <p:spPr>
          <a:xfrm>
            <a:off x="4864608" y="3273552"/>
            <a:ext cx="4069080" cy="557784"/>
          </a:xfrm>
          <a:prstGeom prst="rect">
            <a:avLst/>
          </a:prstGeom>
          <a:noFill/>
          <a:ln/>
        </p:spPr>
        <p:txBody>
          <a:bodyPr wrap="square" rtlCol="0" anchor="t"/>
          <a:lstStyle/>
          <a:p>
            <a:pPr marL="0" indent="0">
              <a:buNone/>
            </a:pPr>
            <a:r>
              <a:rPr lang="en-US" sz="850" dirty="0">
                <a:solidFill>
                  <a:srgbClr val="1A1A2E"/>
                </a:solidFill>
                <a:latin typeface="Calibri" pitchFamily="34" charset="0"/>
                <a:ea typeface="Calibri" pitchFamily="34" charset="-122"/>
                <a:cs typeface="Calibri" pitchFamily="34" charset="-120"/>
              </a:rPr>
              <a:t>Industry mentorship from practicing Microsoft-certified data scientists, ML engineers, and Azure architects providing real-world healthcare industry context and guidance.</a:t>
            </a:r>
            <a:endParaRPr lang="en-US" sz="850" dirty="0"/>
          </a:p>
        </p:txBody>
      </p:sp>
      <p:sp>
        <p:nvSpPr>
          <p:cNvPr id="31" name="Shape 29"/>
          <p:cNvSpPr/>
          <p:nvPr/>
        </p:nvSpPr>
        <p:spPr>
          <a:xfrm>
            <a:off x="320040" y="3977640"/>
            <a:ext cx="4224528" cy="914400"/>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32" name="Shape 30"/>
          <p:cNvSpPr/>
          <p:nvPr/>
        </p:nvSpPr>
        <p:spPr>
          <a:xfrm>
            <a:off x="320040" y="3977640"/>
            <a:ext cx="59436" cy="914400"/>
          </a:xfrm>
          <a:prstGeom prst="rect">
            <a:avLst/>
          </a:prstGeom>
          <a:solidFill>
            <a:srgbClr val="D97706"/>
          </a:solidFill>
          <a:ln w="12700">
            <a:solidFill>
              <a:srgbClr val="D97706"/>
            </a:solidFill>
            <a:prstDash val="solid"/>
          </a:ln>
        </p:spPr>
      </p:sp>
      <p:sp>
        <p:nvSpPr>
          <p:cNvPr id="33" name="Text 31"/>
          <p:cNvSpPr/>
          <p:nvPr/>
        </p:nvSpPr>
        <p:spPr>
          <a:xfrm>
            <a:off x="429768" y="4032504"/>
            <a:ext cx="4069080" cy="228600"/>
          </a:xfrm>
          <a:prstGeom prst="rect">
            <a:avLst/>
          </a:prstGeom>
          <a:noFill/>
          <a:ln/>
        </p:spPr>
        <p:txBody>
          <a:bodyPr wrap="square" lIns="0" tIns="0" rIns="0" bIns="0" rtlCol="0" anchor="ctr"/>
          <a:lstStyle/>
          <a:p>
            <a:pPr marL="0" indent="0">
              <a:buNone/>
            </a:pPr>
            <a:r>
              <a:rPr lang="en-US" sz="950" b="1" dirty="0">
                <a:solidFill>
                  <a:srgbClr val="1A1A2E"/>
                </a:solidFill>
                <a:latin typeface="Calibri" pitchFamily="34" charset="0"/>
                <a:ea typeface="Calibri" pitchFamily="34" charset="-122"/>
                <a:cs typeface="Calibri" pitchFamily="34" charset="-120"/>
              </a:rPr>
              <a:t>Real-World Healthcare Labs</a:t>
            </a:r>
            <a:endParaRPr lang="en-US" sz="950" dirty="0"/>
          </a:p>
        </p:txBody>
      </p:sp>
      <p:sp>
        <p:nvSpPr>
          <p:cNvPr id="34" name="Text 32"/>
          <p:cNvSpPr/>
          <p:nvPr/>
        </p:nvSpPr>
        <p:spPr>
          <a:xfrm>
            <a:off x="429768" y="4279392"/>
            <a:ext cx="4069080" cy="557784"/>
          </a:xfrm>
          <a:prstGeom prst="rect">
            <a:avLst/>
          </a:prstGeom>
          <a:noFill/>
          <a:ln/>
        </p:spPr>
        <p:txBody>
          <a:bodyPr wrap="square" rtlCol="0" anchor="t"/>
          <a:lstStyle/>
          <a:p>
            <a:pPr marL="0" indent="0">
              <a:buNone/>
            </a:pPr>
            <a:r>
              <a:rPr lang="en-US" sz="850" dirty="0">
                <a:solidFill>
                  <a:srgbClr val="1A1A2E"/>
                </a:solidFill>
                <a:latin typeface="Calibri" pitchFamily="34" charset="0"/>
                <a:ea typeface="Calibri" pitchFamily="34" charset="-122"/>
                <a:cs typeface="Calibri" pitchFamily="34" charset="-120"/>
              </a:rPr>
              <a:t>Hands-on labs using actual EHR datasets, IoT patient monitoring simulations, medical imaging datasets, and Power BI healthcare analytics scenarios for applied learning.</a:t>
            </a:r>
            <a:endParaRPr lang="en-US" sz="850" dirty="0"/>
          </a:p>
        </p:txBody>
      </p:sp>
      <p:sp>
        <p:nvSpPr>
          <p:cNvPr id="35" name="Shape 33"/>
          <p:cNvSpPr/>
          <p:nvPr/>
        </p:nvSpPr>
        <p:spPr>
          <a:xfrm>
            <a:off x="4754880" y="3977640"/>
            <a:ext cx="4224528" cy="914400"/>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36" name="Shape 34"/>
          <p:cNvSpPr/>
          <p:nvPr/>
        </p:nvSpPr>
        <p:spPr>
          <a:xfrm>
            <a:off x="4754880" y="3977640"/>
            <a:ext cx="59436" cy="914400"/>
          </a:xfrm>
          <a:prstGeom prst="rect">
            <a:avLst/>
          </a:prstGeom>
          <a:solidFill>
            <a:srgbClr val="DC2626"/>
          </a:solidFill>
          <a:ln w="12700">
            <a:solidFill>
              <a:srgbClr val="DC2626"/>
            </a:solidFill>
            <a:prstDash val="solid"/>
          </a:ln>
        </p:spPr>
      </p:sp>
      <p:sp>
        <p:nvSpPr>
          <p:cNvPr id="37" name="Text 35"/>
          <p:cNvSpPr/>
          <p:nvPr/>
        </p:nvSpPr>
        <p:spPr>
          <a:xfrm>
            <a:off x="4864608" y="4032504"/>
            <a:ext cx="4069080" cy="228600"/>
          </a:xfrm>
          <a:prstGeom prst="rect">
            <a:avLst/>
          </a:prstGeom>
          <a:noFill/>
          <a:ln/>
        </p:spPr>
        <p:txBody>
          <a:bodyPr wrap="square" lIns="0" tIns="0" rIns="0" bIns="0" rtlCol="0" anchor="ctr"/>
          <a:lstStyle/>
          <a:p>
            <a:pPr marL="0" indent="0">
              <a:buNone/>
            </a:pPr>
            <a:r>
              <a:rPr lang="en-US" sz="950" b="1" dirty="0">
                <a:solidFill>
                  <a:srgbClr val="1A1A2E"/>
                </a:solidFill>
                <a:latin typeface="Calibri" pitchFamily="34" charset="0"/>
                <a:ea typeface="Calibri" pitchFamily="34" charset="-122"/>
                <a:cs typeface="Calibri" pitchFamily="34" charset="-120"/>
              </a:rPr>
              <a:t>Focus: AI + ML + Azure + Power BI</a:t>
            </a:r>
            <a:endParaRPr lang="en-US" sz="950" dirty="0"/>
          </a:p>
        </p:txBody>
      </p:sp>
      <p:sp>
        <p:nvSpPr>
          <p:cNvPr id="38" name="Text 36"/>
          <p:cNvSpPr/>
          <p:nvPr/>
        </p:nvSpPr>
        <p:spPr>
          <a:xfrm>
            <a:off x="4864608" y="4279392"/>
            <a:ext cx="4069080" cy="557784"/>
          </a:xfrm>
          <a:prstGeom prst="rect">
            <a:avLst/>
          </a:prstGeom>
          <a:noFill/>
          <a:ln/>
        </p:spPr>
        <p:txBody>
          <a:bodyPr wrap="square" rtlCol="0" anchor="t"/>
          <a:lstStyle/>
          <a:p>
            <a:pPr marL="0" indent="0">
              <a:buNone/>
            </a:pPr>
            <a:r>
              <a:rPr lang="en-US" sz="850" dirty="0">
                <a:solidFill>
                  <a:srgbClr val="1A1A2E"/>
                </a:solidFill>
                <a:latin typeface="Calibri" pitchFamily="34" charset="0"/>
                <a:ea typeface="Calibri" pitchFamily="34" charset="-122"/>
                <a:cs typeface="Calibri" pitchFamily="34" charset="-120"/>
              </a:rPr>
              <a:t>Core curriculum: Data Analytics, EDA, Power BI/DAX, Supervised &amp; Unsupervised ML, Deep Learning (CNN), Generative AI, Prompt Engineering, and Microsoft Azure Cloud deployment.</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01F5F"/>
          </a:solidFill>
          <a:ln w="12700">
            <a:solidFill>
              <a:srgbClr val="FFFFFF"/>
            </a:solidFill>
            <a:prstDash val="solid"/>
          </a:ln>
        </p:spPr>
      </p:sp>
      <p:sp>
        <p:nvSpPr>
          <p:cNvPr id="3" name="Shape 1"/>
          <p:cNvSpPr/>
          <p:nvPr/>
        </p:nvSpPr>
        <p:spPr>
          <a:xfrm>
            <a:off x="0" y="621792"/>
            <a:ext cx="9144000" cy="50292"/>
          </a:xfrm>
          <a:prstGeom prst="rect">
            <a:avLst/>
          </a:prstGeom>
          <a:solidFill>
            <a:srgbClr val="1E8449"/>
          </a:solidFill>
          <a:ln w="12700">
            <a:solidFill>
              <a:srgbClr val="1E8449"/>
            </a:solidFill>
            <a:prstDash val="solid"/>
          </a:ln>
        </p:spPr>
      </p:sp>
      <p:sp>
        <p:nvSpPr>
          <p:cNvPr id="4" name="Text 2"/>
          <p:cNvSpPr/>
          <p:nvPr/>
        </p:nvSpPr>
        <p:spPr>
          <a:xfrm>
            <a:off x="292608" y="45720"/>
            <a:ext cx="7498080" cy="54864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Microsoft Elevate – Learning Modules</a:t>
            </a:r>
            <a:endParaRPr lang="en-US" sz="1900" dirty="0"/>
          </a:p>
        </p:txBody>
      </p:sp>
      <p:sp>
        <p:nvSpPr>
          <p:cNvPr id="5" name="Shape 3"/>
          <p:cNvSpPr/>
          <p:nvPr/>
        </p:nvSpPr>
        <p:spPr>
          <a:xfrm>
            <a:off x="7818120" y="82296"/>
            <a:ext cx="1234440" cy="457200"/>
          </a:xfrm>
          <a:prstGeom prst="rect">
            <a:avLst/>
          </a:prstGeom>
          <a:solidFill>
            <a:srgbClr val="E8EFF8"/>
          </a:solidFill>
          <a:ln w="12700">
            <a:solidFill>
              <a:srgbClr val="1D4ED8"/>
            </a:solidFill>
            <a:prstDash val="solid"/>
          </a:ln>
        </p:spPr>
      </p:sp>
      <p:sp>
        <p:nvSpPr>
          <p:cNvPr id="6" name="Text 4"/>
          <p:cNvSpPr/>
          <p:nvPr/>
        </p:nvSpPr>
        <p:spPr>
          <a:xfrm>
            <a:off x="7818120" y="82296"/>
            <a:ext cx="1234440" cy="457200"/>
          </a:xfrm>
          <a:prstGeom prst="rect">
            <a:avLst/>
          </a:prstGeom>
          <a:noFill/>
          <a:ln/>
        </p:spPr>
        <p:txBody>
          <a:bodyPr wrap="square" rtlCol="0" anchor="ctr"/>
          <a:lstStyle/>
          <a:p>
            <a:pPr marL="0" indent="0" algn="ctr">
              <a:buNone/>
            </a:pPr>
            <a:r>
              <a:rPr lang="en-US" sz="700" b="1" dirty="0">
                <a:solidFill>
                  <a:srgbClr val="1D4ED8"/>
                </a:solidFill>
                <a:latin typeface="Calibri" pitchFamily="34" charset="0"/>
                <a:ea typeface="Calibri" pitchFamily="34" charset="-122"/>
                <a:cs typeface="Calibri" pitchFamily="34" charset="-120"/>
              </a:rPr>
              <a:t>Microsoft</a:t>
            </a:r>
            <a:endParaRPr lang="en-US" sz="700" dirty="0"/>
          </a:p>
          <a:p>
            <a:pPr marL="0" indent="0" algn="ctr">
              <a:buNone/>
            </a:pPr>
            <a:r>
              <a:rPr lang="en-US" sz="700" b="1" dirty="0">
                <a:solidFill>
                  <a:srgbClr val="1D4ED8"/>
                </a:solidFill>
                <a:latin typeface="Calibri" pitchFamily="34" charset="0"/>
                <a:ea typeface="Calibri" pitchFamily="34" charset="-122"/>
                <a:cs typeface="Calibri" pitchFamily="34" charset="-120"/>
              </a:rPr>
              <a:t>Elevate GTU</a:t>
            </a:r>
            <a:endParaRPr lang="en-US" sz="700" dirty="0"/>
          </a:p>
        </p:txBody>
      </p:sp>
      <p:sp>
        <p:nvSpPr>
          <p:cNvPr id="7" name="Shape 5"/>
          <p:cNvSpPr/>
          <p:nvPr/>
        </p:nvSpPr>
        <p:spPr>
          <a:xfrm>
            <a:off x="0" y="4873752"/>
            <a:ext cx="9144000" cy="50292"/>
          </a:xfrm>
          <a:prstGeom prst="rect">
            <a:avLst/>
          </a:prstGeom>
          <a:solidFill>
            <a:srgbClr val="1E8449"/>
          </a:solidFill>
          <a:ln w="12700">
            <a:solidFill>
              <a:srgbClr val="1E8449"/>
            </a:solidFill>
            <a:prstDash val="solid"/>
          </a:ln>
        </p:spPr>
      </p:sp>
      <p:sp>
        <p:nvSpPr>
          <p:cNvPr id="8" name="Shape 6"/>
          <p:cNvSpPr/>
          <p:nvPr/>
        </p:nvSpPr>
        <p:spPr>
          <a:xfrm>
            <a:off x="0" y="4924044"/>
            <a:ext cx="9144000" cy="219456"/>
          </a:xfrm>
          <a:prstGeom prst="rect">
            <a:avLst/>
          </a:prstGeom>
          <a:solidFill>
            <a:srgbClr val="FFFFFF"/>
          </a:solidFill>
          <a:ln w="12700">
            <a:solidFill>
              <a:srgbClr val="FFFFFF"/>
            </a:solidFill>
            <a:prstDash val="solid"/>
          </a:ln>
        </p:spPr>
      </p:sp>
      <p:sp>
        <p:nvSpPr>
          <p:cNvPr id="9" name="Text 7"/>
          <p:cNvSpPr/>
          <p:nvPr/>
        </p:nvSpPr>
        <p:spPr>
          <a:xfrm>
            <a:off x="228600" y="4924044"/>
            <a:ext cx="8046720" cy="219456"/>
          </a:xfrm>
          <a:prstGeom prst="rect">
            <a:avLst/>
          </a:prstGeom>
          <a:noFill/>
          <a:ln/>
        </p:spPr>
        <p:txBody>
          <a:bodyPr wrap="square" lIns="0" tIns="0" rIns="0" bIns="0" rtlCol="0" anchor="ctr"/>
          <a:lstStyle/>
          <a:p>
            <a:pPr marL="0" indent="0">
              <a:buNone/>
            </a:pPr>
            <a:r>
              <a:rPr lang="en-US" sz="650" dirty="0">
                <a:solidFill>
                  <a:srgbClr val="7B9ABF"/>
                </a:solidFill>
                <a:latin typeface="Calibri" pitchFamily="34" charset="0"/>
                <a:ea typeface="Calibri" pitchFamily="34" charset="-122"/>
                <a:cs typeface="Calibri" pitchFamily="34" charset="-120"/>
              </a:rPr>
              <a:t>Microsoft Elevate Internship Project  |  Healthcare &amp; Medication Management System  |  GTU Jan–Apr 2026</a:t>
            </a:r>
            <a:endParaRPr lang="en-US" sz="650" dirty="0"/>
          </a:p>
        </p:txBody>
      </p:sp>
      <p:sp>
        <p:nvSpPr>
          <p:cNvPr id="10" name="Text 8"/>
          <p:cNvSpPr/>
          <p:nvPr/>
        </p:nvSpPr>
        <p:spPr>
          <a:xfrm>
            <a:off x="8275320" y="4924044"/>
            <a:ext cx="731520" cy="219456"/>
          </a:xfrm>
          <a:prstGeom prst="rect">
            <a:avLst/>
          </a:prstGeom>
          <a:noFill/>
          <a:ln/>
        </p:spPr>
        <p:txBody>
          <a:bodyPr wrap="square" lIns="0" tIns="0" rIns="0" bIns="0" rtlCol="0" anchor="ctr"/>
          <a:lstStyle/>
          <a:p>
            <a:pPr marL="0" indent="0" algn="r">
              <a:buNone/>
            </a:pPr>
            <a:r>
              <a:rPr lang="en-US" sz="700" b="1" dirty="0">
                <a:solidFill>
                  <a:srgbClr val="1A1A2E"/>
                </a:solidFill>
                <a:latin typeface="Calibri" pitchFamily="34" charset="0"/>
                <a:ea typeface="Calibri" pitchFamily="34" charset="-122"/>
                <a:cs typeface="Calibri" pitchFamily="34" charset="-120"/>
              </a:rPr>
              <a:t>7 / 20</a:t>
            </a:r>
            <a:endParaRPr lang="en-US" sz="700" dirty="0"/>
          </a:p>
        </p:txBody>
      </p:sp>
      <p:sp>
        <p:nvSpPr>
          <p:cNvPr id="11" name="Text 9"/>
          <p:cNvSpPr/>
          <p:nvPr/>
        </p:nvSpPr>
        <p:spPr>
          <a:xfrm>
            <a:off x="320040" y="777240"/>
            <a:ext cx="8503920" cy="274320"/>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12-Week Curriculum Breakdown</a:t>
            </a:r>
            <a:endParaRPr lang="en-US" sz="1300" dirty="0"/>
          </a:p>
        </p:txBody>
      </p:sp>
      <p:sp>
        <p:nvSpPr>
          <p:cNvPr id="12" name="Text 10"/>
          <p:cNvSpPr/>
          <p:nvPr/>
        </p:nvSpPr>
        <p:spPr>
          <a:xfrm>
            <a:off x="320040" y="1069848"/>
            <a:ext cx="8503920" cy="237744"/>
          </a:xfrm>
          <a:prstGeom prst="rect">
            <a:avLst/>
          </a:prstGeom>
          <a:noFill/>
          <a:ln/>
        </p:spPr>
        <p:txBody>
          <a:bodyPr wrap="square" rtlCol="0" anchor="ctr"/>
          <a:lstStyle/>
          <a:p>
            <a:pPr marL="0" indent="0">
              <a:buNone/>
            </a:pPr>
            <a:r>
              <a:rPr lang="en-US" sz="950" i="1" dirty="0">
                <a:solidFill>
                  <a:srgbClr val="1A1A2E"/>
                </a:solidFill>
                <a:latin typeface="Calibri" pitchFamily="34" charset="0"/>
                <a:ea typeface="Calibri" pitchFamily="34" charset="-122"/>
                <a:cs typeface="Calibri" pitchFamily="34" charset="-120"/>
              </a:rPr>
              <a:t>Progressive skill-building from data fundamentals through to Azure cloud deployment — all applied on real healthcare datasets.</a:t>
            </a:r>
            <a:endParaRPr lang="en-US" sz="950" dirty="0"/>
          </a:p>
        </p:txBody>
      </p:sp>
      <p:sp>
        <p:nvSpPr>
          <p:cNvPr id="13" name="Shape 11"/>
          <p:cNvSpPr/>
          <p:nvPr/>
        </p:nvSpPr>
        <p:spPr>
          <a:xfrm>
            <a:off x="320040" y="1353312"/>
            <a:ext cx="4224528" cy="1097280"/>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14" name="Shape 12"/>
          <p:cNvSpPr/>
          <p:nvPr/>
        </p:nvSpPr>
        <p:spPr>
          <a:xfrm>
            <a:off x="320040" y="1353312"/>
            <a:ext cx="4224528" cy="292608"/>
          </a:xfrm>
          <a:prstGeom prst="rect">
            <a:avLst/>
          </a:prstGeom>
          <a:solidFill>
            <a:srgbClr val="1D4ED8"/>
          </a:solidFill>
          <a:ln w="12700">
            <a:solidFill>
              <a:srgbClr val="1D4ED8"/>
            </a:solidFill>
            <a:prstDash val="solid"/>
          </a:ln>
        </p:spPr>
      </p:sp>
      <p:sp>
        <p:nvSpPr>
          <p:cNvPr id="15" name="Text 13"/>
          <p:cNvSpPr/>
          <p:nvPr/>
        </p:nvSpPr>
        <p:spPr>
          <a:xfrm>
            <a:off x="393192" y="1389888"/>
            <a:ext cx="777240" cy="237744"/>
          </a:xfrm>
          <a:prstGeom prst="rect">
            <a:avLst/>
          </a:prstGeom>
          <a:noFill/>
          <a:ln/>
        </p:spPr>
        <p:txBody>
          <a:bodyPr wrap="square" lIns="0" tIns="0" rIns="0" bIns="0" rtlCol="0" anchor="ctr"/>
          <a:lstStyle/>
          <a:p>
            <a:pPr marL="0" indent="0">
              <a:buNone/>
            </a:pPr>
            <a:r>
              <a:rPr lang="en-US" sz="850" b="1" dirty="0">
                <a:solidFill>
                  <a:srgbClr val="1A1A2E"/>
                </a:solidFill>
                <a:latin typeface="Calibri" pitchFamily="34" charset="0"/>
                <a:ea typeface="Calibri" pitchFamily="34" charset="-122"/>
                <a:cs typeface="Calibri" pitchFamily="34" charset="-120"/>
              </a:rPr>
              <a:t>Week 1–2</a:t>
            </a:r>
            <a:endParaRPr lang="en-US" sz="850" dirty="0"/>
          </a:p>
        </p:txBody>
      </p:sp>
      <p:sp>
        <p:nvSpPr>
          <p:cNvPr id="16" name="Text 14"/>
          <p:cNvSpPr/>
          <p:nvPr/>
        </p:nvSpPr>
        <p:spPr>
          <a:xfrm>
            <a:off x="1197864" y="1389888"/>
            <a:ext cx="3273552" cy="237744"/>
          </a:xfrm>
          <a:prstGeom prst="rect">
            <a:avLst/>
          </a:prstGeom>
          <a:noFill/>
          <a:ln/>
        </p:spPr>
        <p:txBody>
          <a:bodyPr wrap="square" lIns="0" tIns="0" rIns="0" bIns="0" rtlCol="0" anchor="ctr"/>
          <a:lstStyle/>
          <a:p>
            <a:pPr marL="0" indent="0">
              <a:buNone/>
            </a:pPr>
            <a:r>
              <a:rPr lang="en-US" sz="950" b="1" dirty="0">
                <a:solidFill>
                  <a:srgbClr val="1A1A2E"/>
                </a:solidFill>
                <a:latin typeface="Calibri" pitchFamily="34" charset="0"/>
                <a:ea typeface="Calibri" pitchFamily="34" charset="-122"/>
                <a:cs typeface="Calibri" pitchFamily="34" charset="-120"/>
              </a:rPr>
              <a:t>Data Analytics &amp; EDA</a:t>
            </a:r>
            <a:endParaRPr lang="en-US" sz="950" dirty="0"/>
          </a:p>
        </p:txBody>
      </p:sp>
      <p:sp>
        <p:nvSpPr>
          <p:cNvPr id="17" name="Text 15"/>
          <p:cNvSpPr/>
          <p:nvPr/>
        </p:nvSpPr>
        <p:spPr>
          <a:xfrm>
            <a:off x="411480" y="1682496"/>
            <a:ext cx="4059936" cy="731520"/>
          </a:xfrm>
          <a:prstGeom prst="rect">
            <a:avLst/>
          </a:prstGeom>
          <a:noFill/>
          <a:ln/>
        </p:spPr>
        <p:txBody>
          <a:bodyPr wrap="square" rtlCol="0" anchor="t"/>
          <a:lstStyle/>
          <a:p>
            <a:pPr marL="0" indent="0">
              <a:buNone/>
            </a:pPr>
            <a:r>
              <a:rPr lang="en-US" sz="850" dirty="0">
                <a:solidFill>
                  <a:srgbClr val="1A1A2E"/>
                </a:solidFill>
                <a:latin typeface="Calibri" pitchFamily="34" charset="0"/>
                <a:ea typeface="Calibri" pitchFamily="34" charset="-122"/>
                <a:cs typeface="Calibri" pitchFamily="34" charset="-120"/>
              </a:rPr>
              <a:t>Exploratory Data Analysis on healthcare datasets using Python. Statistical summaries, distributions, correlation heatmaps, outlier detection, and data cleaning with Pandas and Seaborn. Understanding EHR data structure.</a:t>
            </a:r>
            <a:endParaRPr lang="en-US" sz="850" dirty="0"/>
          </a:p>
        </p:txBody>
      </p:sp>
      <p:sp>
        <p:nvSpPr>
          <p:cNvPr id="18" name="Shape 16"/>
          <p:cNvSpPr/>
          <p:nvPr/>
        </p:nvSpPr>
        <p:spPr>
          <a:xfrm>
            <a:off x="4754880" y="1353312"/>
            <a:ext cx="4224528" cy="1097280"/>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19" name="Shape 17"/>
          <p:cNvSpPr/>
          <p:nvPr/>
        </p:nvSpPr>
        <p:spPr>
          <a:xfrm>
            <a:off x="4754880" y="1353312"/>
            <a:ext cx="4224528" cy="292608"/>
          </a:xfrm>
          <a:prstGeom prst="rect">
            <a:avLst/>
          </a:prstGeom>
          <a:solidFill>
            <a:srgbClr val="0D9488"/>
          </a:solidFill>
          <a:ln w="12700">
            <a:solidFill>
              <a:srgbClr val="0D9488"/>
            </a:solidFill>
            <a:prstDash val="solid"/>
          </a:ln>
        </p:spPr>
      </p:sp>
      <p:sp>
        <p:nvSpPr>
          <p:cNvPr id="20" name="Text 18"/>
          <p:cNvSpPr/>
          <p:nvPr/>
        </p:nvSpPr>
        <p:spPr>
          <a:xfrm>
            <a:off x="4828032" y="1389888"/>
            <a:ext cx="777240" cy="237744"/>
          </a:xfrm>
          <a:prstGeom prst="rect">
            <a:avLst/>
          </a:prstGeom>
          <a:noFill/>
          <a:ln/>
        </p:spPr>
        <p:txBody>
          <a:bodyPr wrap="square" lIns="0" tIns="0" rIns="0" bIns="0" rtlCol="0" anchor="ctr"/>
          <a:lstStyle/>
          <a:p>
            <a:pPr marL="0" indent="0">
              <a:buNone/>
            </a:pPr>
            <a:r>
              <a:rPr lang="en-US" sz="850" b="1" dirty="0">
                <a:solidFill>
                  <a:srgbClr val="1A1A2E"/>
                </a:solidFill>
                <a:latin typeface="Calibri" pitchFamily="34" charset="0"/>
                <a:ea typeface="Calibri" pitchFamily="34" charset="-122"/>
                <a:cs typeface="Calibri" pitchFamily="34" charset="-120"/>
              </a:rPr>
              <a:t>Week 3–5</a:t>
            </a:r>
            <a:endParaRPr lang="en-US" sz="850" dirty="0"/>
          </a:p>
        </p:txBody>
      </p:sp>
      <p:sp>
        <p:nvSpPr>
          <p:cNvPr id="21" name="Text 19"/>
          <p:cNvSpPr/>
          <p:nvPr/>
        </p:nvSpPr>
        <p:spPr>
          <a:xfrm>
            <a:off x="5632704" y="1389888"/>
            <a:ext cx="3273552" cy="237744"/>
          </a:xfrm>
          <a:prstGeom prst="rect">
            <a:avLst/>
          </a:prstGeom>
          <a:noFill/>
          <a:ln/>
        </p:spPr>
        <p:txBody>
          <a:bodyPr wrap="square" lIns="0" tIns="0" rIns="0" bIns="0" rtlCol="0" anchor="ctr"/>
          <a:lstStyle/>
          <a:p>
            <a:pPr marL="0" indent="0">
              <a:buNone/>
            </a:pPr>
            <a:r>
              <a:rPr lang="en-US" sz="950" b="1" dirty="0">
                <a:solidFill>
                  <a:srgbClr val="1A1A2E"/>
                </a:solidFill>
                <a:latin typeface="Calibri" pitchFamily="34" charset="0"/>
                <a:ea typeface="Calibri" pitchFamily="34" charset="-122"/>
                <a:cs typeface="Calibri" pitchFamily="34" charset="-120"/>
              </a:rPr>
              <a:t>Power BI &amp; Machine Learning</a:t>
            </a:r>
            <a:endParaRPr lang="en-US" sz="950" dirty="0"/>
          </a:p>
        </p:txBody>
      </p:sp>
      <p:sp>
        <p:nvSpPr>
          <p:cNvPr id="22" name="Text 20"/>
          <p:cNvSpPr/>
          <p:nvPr/>
        </p:nvSpPr>
        <p:spPr>
          <a:xfrm>
            <a:off x="4846320" y="1682496"/>
            <a:ext cx="4059936" cy="731520"/>
          </a:xfrm>
          <a:prstGeom prst="rect">
            <a:avLst/>
          </a:prstGeom>
          <a:noFill/>
          <a:ln/>
        </p:spPr>
        <p:txBody>
          <a:bodyPr wrap="square" rtlCol="0" anchor="t"/>
          <a:lstStyle/>
          <a:p>
            <a:pPr marL="0" indent="0">
              <a:buNone/>
            </a:pPr>
            <a:r>
              <a:rPr lang="en-US" sz="850" dirty="0">
                <a:solidFill>
                  <a:srgbClr val="1A1A2E"/>
                </a:solidFill>
                <a:latin typeface="Calibri" pitchFamily="34" charset="0"/>
                <a:ea typeface="Calibri" pitchFamily="34" charset="-122"/>
                <a:cs typeface="Calibri" pitchFamily="34" charset="-120"/>
              </a:rPr>
              <a:t>Power BI dashboard creation with DAX measures (medication adherence, readmission rate, recovery KPIs). Supervised ML (Random Forest, Logistic Regression) and Unsupervised ML (K-Means clustering) for patient risk stratification.</a:t>
            </a:r>
            <a:endParaRPr lang="en-US" sz="850" dirty="0"/>
          </a:p>
        </p:txBody>
      </p:sp>
      <p:sp>
        <p:nvSpPr>
          <p:cNvPr id="23" name="Shape 21"/>
          <p:cNvSpPr/>
          <p:nvPr/>
        </p:nvSpPr>
        <p:spPr>
          <a:xfrm>
            <a:off x="320040" y="2542032"/>
            <a:ext cx="4224528" cy="1097280"/>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24" name="Shape 22"/>
          <p:cNvSpPr/>
          <p:nvPr/>
        </p:nvSpPr>
        <p:spPr>
          <a:xfrm>
            <a:off x="320040" y="2542032"/>
            <a:ext cx="4224528" cy="292608"/>
          </a:xfrm>
          <a:prstGeom prst="rect">
            <a:avLst/>
          </a:prstGeom>
          <a:solidFill>
            <a:srgbClr val="1E8449"/>
          </a:solidFill>
          <a:ln w="12700">
            <a:solidFill>
              <a:srgbClr val="1E8449"/>
            </a:solidFill>
            <a:prstDash val="solid"/>
          </a:ln>
        </p:spPr>
      </p:sp>
      <p:sp>
        <p:nvSpPr>
          <p:cNvPr id="25" name="Text 23"/>
          <p:cNvSpPr/>
          <p:nvPr/>
        </p:nvSpPr>
        <p:spPr>
          <a:xfrm>
            <a:off x="393192" y="2578608"/>
            <a:ext cx="777240" cy="237744"/>
          </a:xfrm>
          <a:prstGeom prst="rect">
            <a:avLst/>
          </a:prstGeom>
          <a:noFill/>
          <a:ln/>
        </p:spPr>
        <p:txBody>
          <a:bodyPr wrap="square" lIns="0" tIns="0" rIns="0" bIns="0" rtlCol="0" anchor="ctr"/>
          <a:lstStyle/>
          <a:p>
            <a:pPr marL="0" indent="0">
              <a:buNone/>
            </a:pPr>
            <a:r>
              <a:rPr lang="en-US" sz="850" b="1" dirty="0">
                <a:solidFill>
                  <a:srgbClr val="1A1A2E"/>
                </a:solidFill>
                <a:latin typeface="Calibri" pitchFamily="34" charset="0"/>
                <a:ea typeface="Calibri" pitchFamily="34" charset="-122"/>
                <a:cs typeface="Calibri" pitchFamily="34" charset="-120"/>
              </a:rPr>
              <a:t>Week 6–7</a:t>
            </a:r>
            <a:endParaRPr lang="en-US" sz="850" dirty="0"/>
          </a:p>
        </p:txBody>
      </p:sp>
      <p:sp>
        <p:nvSpPr>
          <p:cNvPr id="26" name="Text 24"/>
          <p:cNvSpPr/>
          <p:nvPr/>
        </p:nvSpPr>
        <p:spPr>
          <a:xfrm>
            <a:off x="1197864" y="2578608"/>
            <a:ext cx="3273552" cy="237744"/>
          </a:xfrm>
          <a:prstGeom prst="rect">
            <a:avLst/>
          </a:prstGeom>
          <a:noFill/>
          <a:ln/>
        </p:spPr>
        <p:txBody>
          <a:bodyPr wrap="square" lIns="0" tIns="0" rIns="0" bIns="0" rtlCol="0" anchor="ctr"/>
          <a:lstStyle/>
          <a:p>
            <a:pPr marL="0" indent="0">
              <a:buNone/>
            </a:pPr>
            <a:r>
              <a:rPr lang="en-US" sz="950" b="1" dirty="0">
                <a:solidFill>
                  <a:srgbClr val="1A1A2E"/>
                </a:solidFill>
                <a:latin typeface="Calibri" pitchFamily="34" charset="0"/>
                <a:ea typeface="Calibri" pitchFamily="34" charset="-122"/>
                <a:cs typeface="Calibri" pitchFamily="34" charset="-120"/>
              </a:rPr>
              <a:t>Deep Learning &amp; Computer Vision</a:t>
            </a:r>
            <a:endParaRPr lang="en-US" sz="950" dirty="0"/>
          </a:p>
        </p:txBody>
      </p:sp>
      <p:sp>
        <p:nvSpPr>
          <p:cNvPr id="27" name="Text 25"/>
          <p:cNvSpPr/>
          <p:nvPr/>
        </p:nvSpPr>
        <p:spPr>
          <a:xfrm>
            <a:off x="411480" y="2871216"/>
            <a:ext cx="4059936" cy="731520"/>
          </a:xfrm>
          <a:prstGeom prst="rect">
            <a:avLst/>
          </a:prstGeom>
          <a:noFill/>
          <a:ln/>
        </p:spPr>
        <p:txBody>
          <a:bodyPr wrap="square" rtlCol="0" anchor="t"/>
          <a:lstStyle/>
          <a:p>
            <a:pPr marL="0" indent="0">
              <a:buNone/>
            </a:pPr>
            <a:r>
              <a:rPr lang="en-US" sz="850" dirty="0">
                <a:solidFill>
                  <a:srgbClr val="1A1A2E"/>
                </a:solidFill>
                <a:latin typeface="Calibri" pitchFamily="34" charset="0"/>
                <a:ea typeface="Calibri" pitchFamily="34" charset="-122"/>
                <a:cs typeface="Calibri" pitchFamily="34" charset="-120"/>
              </a:rPr>
              <a:t>Neural network fundamentals, CNN architecture for medical image classification (X-ray, MRI, CT scans). Transfer learning using VGG16 pre-trained weights. TensorFlow/Keras implementation with data augmentation.</a:t>
            </a:r>
            <a:endParaRPr lang="en-US" sz="850" dirty="0"/>
          </a:p>
        </p:txBody>
      </p:sp>
      <p:sp>
        <p:nvSpPr>
          <p:cNvPr id="28" name="Shape 26"/>
          <p:cNvSpPr/>
          <p:nvPr/>
        </p:nvSpPr>
        <p:spPr>
          <a:xfrm>
            <a:off x="4754880" y="2542032"/>
            <a:ext cx="4224528" cy="1097280"/>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29" name="Shape 27"/>
          <p:cNvSpPr/>
          <p:nvPr/>
        </p:nvSpPr>
        <p:spPr>
          <a:xfrm>
            <a:off x="4754880" y="2542032"/>
            <a:ext cx="4224528" cy="292608"/>
          </a:xfrm>
          <a:prstGeom prst="rect">
            <a:avLst/>
          </a:prstGeom>
          <a:solidFill>
            <a:srgbClr val="7C3AED"/>
          </a:solidFill>
          <a:ln w="12700">
            <a:solidFill>
              <a:srgbClr val="7C3AED"/>
            </a:solidFill>
            <a:prstDash val="solid"/>
          </a:ln>
        </p:spPr>
      </p:sp>
      <p:sp>
        <p:nvSpPr>
          <p:cNvPr id="30" name="Text 28"/>
          <p:cNvSpPr/>
          <p:nvPr/>
        </p:nvSpPr>
        <p:spPr>
          <a:xfrm>
            <a:off x="4828032" y="2578608"/>
            <a:ext cx="777240" cy="237744"/>
          </a:xfrm>
          <a:prstGeom prst="rect">
            <a:avLst/>
          </a:prstGeom>
          <a:noFill/>
          <a:ln/>
        </p:spPr>
        <p:txBody>
          <a:bodyPr wrap="square" lIns="0" tIns="0" rIns="0" bIns="0" rtlCol="0" anchor="ctr"/>
          <a:lstStyle/>
          <a:p>
            <a:pPr marL="0" indent="0">
              <a:buNone/>
            </a:pPr>
            <a:r>
              <a:rPr lang="en-US" sz="850" b="1" dirty="0">
                <a:solidFill>
                  <a:srgbClr val="1A1A2E"/>
                </a:solidFill>
                <a:latin typeface="Calibri" pitchFamily="34" charset="0"/>
                <a:ea typeface="Calibri" pitchFamily="34" charset="-122"/>
                <a:cs typeface="Calibri" pitchFamily="34" charset="-120"/>
              </a:rPr>
              <a:t>Week 8–9</a:t>
            </a:r>
            <a:endParaRPr lang="en-US" sz="850" dirty="0"/>
          </a:p>
        </p:txBody>
      </p:sp>
      <p:sp>
        <p:nvSpPr>
          <p:cNvPr id="31" name="Text 29"/>
          <p:cNvSpPr/>
          <p:nvPr/>
        </p:nvSpPr>
        <p:spPr>
          <a:xfrm>
            <a:off x="5632704" y="2578608"/>
            <a:ext cx="3273552" cy="237744"/>
          </a:xfrm>
          <a:prstGeom prst="rect">
            <a:avLst/>
          </a:prstGeom>
          <a:noFill/>
          <a:ln/>
        </p:spPr>
        <p:txBody>
          <a:bodyPr wrap="square" lIns="0" tIns="0" rIns="0" bIns="0" rtlCol="0" anchor="ctr"/>
          <a:lstStyle/>
          <a:p>
            <a:pPr marL="0" indent="0">
              <a:buNone/>
            </a:pPr>
            <a:r>
              <a:rPr lang="en-US" sz="950" b="1" dirty="0">
                <a:solidFill>
                  <a:srgbClr val="1A1A2E"/>
                </a:solidFill>
                <a:latin typeface="Calibri" pitchFamily="34" charset="0"/>
                <a:ea typeface="Calibri" pitchFamily="34" charset="-122"/>
                <a:cs typeface="Calibri" pitchFamily="34" charset="-120"/>
              </a:rPr>
              <a:t>Generative AI &amp; Prompt Engineering</a:t>
            </a:r>
            <a:endParaRPr lang="en-US" sz="950" dirty="0"/>
          </a:p>
        </p:txBody>
      </p:sp>
      <p:sp>
        <p:nvSpPr>
          <p:cNvPr id="32" name="Text 30"/>
          <p:cNvSpPr/>
          <p:nvPr/>
        </p:nvSpPr>
        <p:spPr>
          <a:xfrm>
            <a:off x="4846320" y="2871216"/>
            <a:ext cx="4059936" cy="731520"/>
          </a:xfrm>
          <a:prstGeom prst="rect">
            <a:avLst/>
          </a:prstGeom>
          <a:noFill/>
          <a:ln/>
        </p:spPr>
        <p:txBody>
          <a:bodyPr wrap="square" rtlCol="0" anchor="t"/>
          <a:lstStyle/>
          <a:p>
            <a:pPr marL="0" indent="0">
              <a:buNone/>
            </a:pPr>
            <a:r>
              <a:rPr lang="en-US" sz="850" dirty="0">
                <a:solidFill>
                  <a:srgbClr val="1A1A2E"/>
                </a:solidFill>
                <a:latin typeface="Calibri" pitchFamily="34" charset="0"/>
                <a:ea typeface="Calibri" pitchFamily="34" charset="-122"/>
                <a:cs typeface="Calibri" pitchFamily="34" charset="-120"/>
              </a:rPr>
              <a:t>Introduction to Large Language Models (LLMs), prompt engineering best practices for healthcare applications. GitHub Copilot AI-assisted coding. Responsible AI principles and bias mitigation in clinical ML systems.</a:t>
            </a:r>
            <a:endParaRPr lang="en-US" sz="850" dirty="0"/>
          </a:p>
        </p:txBody>
      </p:sp>
      <p:sp>
        <p:nvSpPr>
          <p:cNvPr id="33" name="Shape 31"/>
          <p:cNvSpPr/>
          <p:nvPr/>
        </p:nvSpPr>
        <p:spPr>
          <a:xfrm>
            <a:off x="320040" y="3730752"/>
            <a:ext cx="4224528" cy="1097280"/>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34" name="Shape 32"/>
          <p:cNvSpPr/>
          <p:nvPr/>
        </p:nvSpPr>
        <p:spPr>
          <a:xfrm>
            <a:off x="320040" y="3730752"/>
            <a:ext cx="4224528" cy="292608"/>
          </a:xfrm>
          <a:prstGeom prst="rect">
            <a:avLst/>
          </a:prstGeom>
          <a:solidFill>
            <a:srgbClr val="D97706"/>
          </a:solidFill>
          <a:ln w="12700">
            <a:solidFill>
              <a:srgbClr val="D97706"/>
            </a:solidFill>
            <a:prstDash val="solid"/>
          </a:ln>
        </p:spPr>
      </p:sp>
      <p:sp>
        <p:nvSpPr>
          <p:cNvPr id="35" name="Text 33"/>
          <p:cNvSpPr/>
          <p:nvPr/>
        </p:nvSpPr>
        <p:spPr>
          <a:xfrm>
            <a:off x="393192" y="3767328"/>
            <a:ext cx="777240" cy="237744"/>
          </a:xfrm>
          <a:prstGeom prst="rect">
            <a:avLst/>
          </a:prstGeom>
          <a:noFill/>
          <a:ln/>
        </p:spPr>
        <p:txBody>
          <a:bodyPr wrap="square" lIns="0" tIns="0" rIns="0" bIns="0" rtlCol="0" anchor="ctr"/>
          <a:lstStyle/>
          <a:p>
            <a:pPr marL="0" indent="0">
              <a:buNone/>
            </a:pPr>
            <a:r>
              <a:rPr lang="en-US" sz="850" b="1" dirty="0">
                <a:solidFill>
                  <a:srgbClr val="1A1A2E"/>
                </a:solidFill>
                <a:latin typeface="Calibri" pitchFamily="34" charset="0"/>
                <a:ea typeface="Calibri" pitchFamily="34" charset="-122"/>
                <a:cs typeface="Calibri" pitchFamily="34" charset="-120"/>
              </a:rPr>
              <a:t>Week 10</a:t>
            </a:r>
            <a:endParaRPr lang="en-US" sz="850" dirty="0"/>
          </a:p>
        </p:txBody>
      </p:sp>
      <p:sp>
        <p:nvSpPr>
          <p:cNvPr id="36" name="Text 34"/>
          <p:cNvSpPr/>
          <p:nvPr/>
        </p:nvSpPr>
        <p:spPr>
          <a:xfrm>
            <a:off x="1197864" y="3767328"/>
            <a:ext cx="3273552" cy="237744"/>
          </a:xfrm>
          <a:prstGeom prst="rect">
            <a:avLst/>
          </a:prstGeom>
          <a:noFill/>
          <a:ln/>
        </p:spPr>
        <p:txBody>
          <a:bodyPr wrap="square" lIns="0" tIns="0" rIns="0" bIns="0" rtlCol="0" anchor="ctr"/>
          <a:lstStyle/>
          <a:p>
            <a:pPr marL="0" indent="0">
              <a:buNone/>
            </a:pPr>
            <a:r>
              <a:rPr lang="en-US" sz="950" b="1" dirty="0">
                <a:solidFill>
                  <a:srgbClr val="1A1A2E"/>
                </a:solidFill>
                <a:latin typeface="Calibri" pitchFamily="34" charset="0"/>
                <a:ea typeface="Calibri" pitchFamily="34" charset="-122"/>
                <a:cs typeface="Calibri" pitchFamily="34" charset="-120"/>
              </a:rPr>
              <a:t>Microsoft Azure Cloud</a:t>
            </a:r>
            <a:endParaRPr lang="en-US" sz="950" dirty="0"/>
          </a:p>
        </p:txBody>
      </p:sp>
      <p:sp>
        <p:nvSpPr>
          <p:cNvPr id="37" name="Text 35"/>
          <p:cNvSpPr/>
          <p:nvPr/>
        </p:nvSpPr>
        <p:spPr>
          <a:xfrm>
            <a:off x="411480" y="4059936"/>
            <a:ext cx="4059936" cy="731520"/>
          </a:xfrm>
          <a:prstGeom prst="rect">
            <a:avLst/>
          </a:prstGeom>
          <a:noFill/>
          <a:ln/>
        </p:spPr>
        <p:txBody>
          <a:bodyPr wrap="square" rtlCol="0" anchor="t"/>
          <a:lstStyle/>
          <a:p>
            <a:pPr marL="0" indent="0">
              <a:buNone/>
            </a:pPr>
            <a:r>
              <a:rPr lang="en-US" sz="850" dirty="0">
                <a:solidFill>
                  <a:srgbClr val="1A1A2E"/>
                </a:solidFill>
                <a:latin typeface="Calibri" pitchFamily="34" charset="0"/>
                <a:ea typeface="Calibri" pitchFamily="34" charset="-122"/>
                <a:cs typeface="Calibri" pitchFamily="34" charset="-120"/>
              </a:rPr>
              <a:t>Azure ML Studio experiment tracking, model deployment as REST endpoints. Azure IoT Hub for vitals streaming. Azure Blob Storage, Data Factory, Stream Analytics. RBAC security and HIPAA compliance configuration.</a:t>
            </a:r>
            <a:endParaRPr lang="en-US" sz="850" dirty="0"/>
          </a:p>
        </p:txBody>
      </p:sp>
      <p:sp>
        <p:nvSpPr>
          <p:cNvPr id="38" name="Shape 36"/>
          <p:cNvSpPr/>
          <p:nvPr/>
        </p:nvSpPr>
        <p:spPr>
          <a:xfrm>
            <a:off x="4754880" y="3730752"/>
            <a:ext cx="4224528" cy="1097280"/>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39" name="Shape 37"/>
          <p:cNvSpPr/>
          <p:nvPr/>
        </p:nvSpPr>
        <p:spPr>
          <a:xfrm>
            <a:off x="4754880" y="3730752"/>
            <a:ext cx="4224528" cy="292608"/>
          </a:xfrm>
          <a:prstGeom prst="rect">
            <a:avLst/>
          </a:prstGeom>
          <a:solidFill>
            <a:srgbClr val="DC2626"/>
          </a:solidFill>
          <a:ln w="12700">
            <a:solidFill>
              <a:srgbClr val="DC2626"/>
            </a:solidFill>
            <a:prstDash val="solid"/>
          </a:ln>
        </p:spPr>
      </p:sp>
      <p:sp>
        <p:nvSpPr>
          <p:cNvPr id="40" name="Text 38"/>
          <p:cNvSpPr/>
          <p:nvPr/>
        </p:nvSpPr>
        <p:spPr>
          <a:xfrm>
            <a:off x="4828032" y="3767328"/>
            <a:ext cx="777240" cy="237744"/>
          </a:xfrm>
          <a:prstGeom prst="rect">
            <a:avLst/>
          </a:prstGeom>
          <a:noFill/>
          <a:ln/>
        </p:spPr>
        <p:txBody>
          <a:bodyPr wrap="square" lIns="0" tIns="0" rIns="0" bIns="0" rtlCol="0" anchor="ctr"/>
          <a:lstStyle/>
          <a:p>
            <a:pPr marL="0" indent="0">
              <a:buNone/>
            </a:pPr>
            <a:r>
              <a:rPr lang="en-US" sz="850" b="1" dirty="0">
                <a:solidFill>
                  <a:srgbClr val="1A1A2E"/>
                </a:solidFill>
                <a:latin typeface="Calibri" pitchFamily="34" charset="0"/>
                <a:ea typeface="Calibri" pitchFamily="34" charset="-122"/>
                <a:cs typeface="Calibri" pitchFamily="34" charset="-120"/>
              </a:rPr>
              <a:t>Week 11–12</a:t>
            </a:r>
            <a:endParaRPr lang="en-US" sz="850" dirty="0"/>
          </a:p>
        </p:txBody>
      </p:sp>
      <p:sp>
        <p:nvSpPr>
          <p:cNvPr id="41" name="Text 39"/>
          <p:cNvSpPr/>
          <p:nvPr/>
        </p:nvSpPr>
        <p:spPr>
          <a:xfrm>
            <a:off x="5632704" y="3767328"/>
            <a:ext cx="3273552" cy="237744"/>
          </a:xfrm>
          <a:prstGeom prst="rect">
            <a:avLst/>
          </a:prstGeom>
          <a:noFill/>
          <a:ln/>
        </p:spPr>
        <p:txBody>
          <a:bodyPr wrap="square" lIns="0" tIns="0" rIns="0" bIns="0" rtlCol="0" anchor="ctr"/>
          <a:lstStyle/>
          <a:p>
            <a:pPr marL="0" indent="0">
              <a:buNone/>
            </a:pPr>
            <a:r>
              <a:rPr lang="en-US" sz="950" b="1" dirty="0">
                <a:solidFill>
                  <a:srgbClr val="1A1A2E"/>
                </a:solidFill>
                <a:latin typeface="Calibri" pitchFamily="34" charset="0"/>
                <a:ea typeface="Calibri" pitchFamily="34" charset="-122"/>
                <a:cs typeface="Calibri" pitchFamily="34" charset="-120"/>
              </a:rPr>
              <a:t>Capstone Project &amp; Deployment</a:t>
            </a:r>
            <a:endParaRPr lang="en-US" sz="950" dirty="0"/>
          </a:p>
        </p:txBody>
      </p:sp>
      <p:sp>
        <p:nvSpPr>
          <p:cNvPr id="42" name="Text 40"/>
          <p:cNvSpPr/>
          <p:nvPr/>
        </p:nvSpPr>
        <p:spPr>
          <a:xfrm>
            <a:off x="4846320" y="4059936"/>
            <a:ext cx="4059936" cy="731520"/>
          </a:xfrm>
          <a:prstGeom prst="rect">
            <a:avLst/>
          </a:prstGeom>
          <a:noFill/>
          <a:ln/>
        </p:spPr>
        <p:txBody>
          <a:bodyPr wrap="square" rtlCol="0" anchor="t"/>
          <a:lstStyle/>
          <a:p>
            <a:pPr marL="0" indent="0">
              <a:buNone/>
            </a:pPr>
            <a:r>
              <a:rPr lang="en-US" sz="850" dirty="0">
                <a:solidFill>
                  <a:srgbClr val="1A1A2E"/>
                </a:solidFill>
                <a:latin typeface="Calibri" pitchFamily="34" charset="0"/>
                <a:ea typeface="Calibri" pitchFamily="34" charset="-122"/>
                <a:cs typeface="Calibri" pitchFamily="34" charset="-120"/>
              </a:rPr>
              <a:t>End-to-end capstone development: complete data pipeline, dual ML models, Power BI production dashboard, Azure deployment, Streamlit clinical web app. GTU project documentation and final presentation preparation.</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01F5F"/>
          </a:solidFill>
          <a:ln w="12700">
            <a:solidFill>
              <a:srgbClr val="FFFFFF"/>
            </a:solidFill>
            <a:prstDash val="solid"/>
          </a:ln>
        </p:spPr>
      </p:sp>
      <p:sp>
        <p:nvSpPr>
          <p:cNvPr id="3" name="Shape 1"/>
          <p:cNvSpPr/>
          <p:nvPr/>
        </p:nvSpPr>
        <p:spPr>
          <a:xfrm>
            <a:off x="0" y="621792"/>
            <a:ext cx="9144000" cy="50292"/>
          </a:xfrm>
          <a:prstGeom prst="rect">
            <a:avLst/>
          </a:prstGeom>
          <a:solidFill>
            <a:srgbClr val="1E8449"/>
          </a:solidFill>
          <a:ln w="12700">
            <a:solidFill>
              <a:srgbClr val="1E8449"/>
            </a:solidFill>
            <a:prstDash val="solid"/>
          </a:ln>
        </p:spPr>
      </p:sp>
      <p:sp>
        <p:nvSpPr>
          <p:cNvPr id="4" name="Text 2"/>
          <p:cNvSpPr/>
          <p:nvPr/>
        </p:nvSpPr>
        <p:spPr>
          <a:xfrm>
            <a:off x="292608" y="45720"/>
            <a:ext cx="7498080" cy="54864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My Role During Internship</a:t>
            </a:r>
            <a:endParaRPr lang="en-US" sz="1900" dirty="0"/>
          </a:p>
        </p:txBody>
      </p:sp>
      <p:sp>
        <p:nvSpPr>
          <p:cNvPr id="5" name="Shape 3"/>
          <p:cNvSpPr/>
          <p:nvPr/>
        </p:nvSpPr>
        <p:spPr>
          <a:xfrm>
            <a:off x="7818120" y="82296"/>
            <a:ext cx="1234440" cy="457200"/>
          </a:xfrm>
          <a:prstGeom prst="rect">
            <a:avLst/>
          </a:prstGeom>
          <a:solidFill>
            <a:srgbClr val="E8EFF8"/>
          </a:solidFill>
          <a:ln w="12700">
            <a:solidFill>
              <a:srgbClr val="1D4ED8"/>
            </a:solidFill>
            <a:prstDash val="solid"/>
          </a:ln>
        </p:spPr>
      </p:sp>
      <p:sp>
        <p:nvSpPr>
          <p:cNvPr id="6" name="Text 4"/>
          <p:cNvSpPr/>
          <p:nvPr/>
        </p:nvSpPr>
        <p:spPr>
          <a:xfrm>
            <a:off x="7818120" y="82296"/>
            <a:ext cx="1234440" cy="457200"/>
          </a:xfrm>
          <a:prstGeom prst="rect">
            <a:avLst/>
          </a:prstGeom>
          <a:noFill/>
          <a:ln/>
        </p:spPr>
        <p:txBody>
          <a:bodyPr wrap="square" rtlCol="0" anchor="ctr"/>
          <a:lstStyle/>
          <a:p>
            <a:pPr marL="0" indent="0" algn="ctr">
              <a:buNone/>
            </a:pPr>
            <a:r>
              <a:rPr lang="en-US" sz="700" b="1" dirty="0">
                <a:solidFill>
                  <a:srgbClr val="1D4ED8"/>
                </a:solidFill>
                <a:latin typeface="Calibri" pitchFamily="34" charset="0"/>
                <a:ea typeface="Calibri" pitchFamily="34" charset="-122"/>
                <a:cs typeface="Calibri" pitchFamily="34" charset="-120"/>
              </a:rPr>
              <a:t>Microsoft</a:t>
            </a:r>
            <a:endParaRPr lang="en-US" sz="700" dirty="0"/>
          </a:p>
          <a:p>
            <a:pPr marL="0" indent="0" algn="ctr">
              <a:buNone/>
            </a:pPr>
            <a:r>
              <a:rPr lang="en-US" sz="700" b="1" dirty="0">
                <a:solidFill>
                  <a:srgbClr val="1D4ED8"/>
                </a:solidFill>
                <a:latin typeface="Calibri" pitchFamily="34" charset="0"/>
                <a:ea typeface="Calibri" pitchFamily="34" charset="-122"/>
                <a:cs typeface="Calibri" pitchFamily="34" charset="-120"/>
              </a:rPr>
              <a:t>Elevate GTU</a:t>
            </a:r>
            <a:endParaRPr lang="en-US" sz="700" dirty="0"/>
          </a:p>
        </p:txBody>
      </p:sp>
      <p:sp>
        <p:nvSpPr>
          <p:cNvPr id="7" name="Shape 5"/>
          <p:cNvSpPr/>
          <p:nvPr/>
        </p:nvSpPr>
        <p:spPr>
          <a:xfrm>
            <a:off x="0" y="4873752"/>
            <a:ext cx="9144000" cy="50292"/>
          </a:xfrm>
          <a:prstGeom prst="rect">
            <a:avLst/>
          </a:prstGeom>
          <a:solidFill>
            <a:srgbClr val="1E8449"/>
          </a:solidFill>
          <a:ln w="12700">
            <a:solidFill>
              <a:srgbClr val="1E8449"/>
            </a:solidFill>
            <a:prstDash val="solid"/>
          </a:ln>
        </p:spPr>
      </p:sp>
      <p:sp>
        <p:nvSpPr>
          <p:cNvPr id="8" name="Shape 6"/>
          <p:cNvSpPr/>
          <p:nvPr/>
        </p:nvSpPr>
        <p:spPr>
          <a:xfrm>
            <a:off x="0" y="4924044"/>
            <a:ext cx="9144000" cy="219456"/>
          </a:xfrm>
          <a:prstGeom prst="rect">
            <a:avLst/>
          </a:prstGeom>
          <a:solidFill>
            <a:srgbClr val="FFFFFF"/>
          </a:solidFill>
          <a:ln w="12700">
            <a:solidFill>
              <a:srgbClr val="FFFFFF"/>
            </a:solidFill>
            <a:prstDash val="solid"/>
          </a:ln>
        </p:spPr>
      </p:sp>
      <p:sp>
        <p:nvSpPr>
          <p:cNvPr id="9" name="Text 7"/>
          <p:cNvSpPr/>
          <p:nvPr/>
        </p:nvSpPr>
        <p:spPr>
          <a:xfrm>
            <a:off x="228600" y="4924044"/>
            <a:ext cx="8046720" cy="219456"/>
          </a:xfrm>
          <a:prstGeom prst="rect">
            <a:avLst/>
          </a:prstGeom>
          <a:noFill/>
          <a:ln/>
        </p:spPr>
        <p:txBody>
          <a:bodyPr wrap="square" lIns="0" tIns="0" rIns="0" bIns="0" rtlCol="0" anchor="ctr"/>
          <a:lstStyle/>
          <a:p>
            <a:pPr marL="0" indent="0">
              <a:buNone/>
            </a:pPr>
            <a:r>
              <a:rPr lang="en-US" sz="650" dirty="0">
                <a:solidFill>
                  <a:srgbClr val="7B9ABF"/>
                </a:solidFill>
                <a:latin typeface="Calibri" pitchFamily="34" charset="0"/>
                <a:ea typeface="Calibri" pitchFamily="34" charset="-122"/>
                <a:cs typeface="Calibri" pitchFamily="34" charset="-120"/>
              </a:rPr>
              <a:t>Microsoft Elevate Internship Project  |  Healthcare &amp; Medication Management System  |  GTU Jan–Apr 2026</a:t>
            </a:r>
            <a:endParaRPr lang="en-US" sz="650" dirty="0"/>
          </a:p>
        </p:txBody>
      </p:sp>
      <p:sp>
        <p:nvSpPr>
          <p:cNvPr id="10" name="Text 8"/>
          <p:cNvSpPr/>
          <p:nvPr/>
        </p:nvSpPr>
        <p:spPr>
          <a:xfrm>
            <a:off x="8275320" y="4924044"/>
            <a:ext cx="731520" cy="219456"/>
          </a:xfrm>
          <a:prstGeom prst="rect">
            <a:avLst/>
          </a:prstGeom>
          <a:noFill/>
          <a:ln/>
        </p:spPr>
        <p:txBody>
          <a:bodyPr wrap="square" lIns="0" tIns="0" rIns="0" bIns="0" rtlCol="0" anchor="ctr"/>
          <a:lstStyle/>
          <a:p>
            <a:pPr marL="0" indent="0" algn="r">
              <a:buNone/>
            </a:pPr>
            <a:r>
              <a:rPr lang="en-US" sz="700" b="1" dirty="0">
                <a:solidFill>
                  <a:srgbClr val="1A1A2E"/>
                </a:solidFill>
                <a:latin typeface="Calibri" pitchFamily="34" charset="0"/>
                <a:ea typeface="Calibri" pitchFamily="34" charset="-122"/>
                <a:cs typeface="Calibri" pitchFamily="34" charset="-120"/>
              </a:rPr>
              <a:t>8 / 20</a:t>
            </a:r>
            <a:endParaRPr lang="en-US" sz="700" dirty="0"/>
          </a:p>
        </p:txBody>
      </p:sp>
      <p:sp>
        <p:nvSpPr>
          <p:cNvPr id="11" name="Text 9"/>
          <p:cNvSpPr/>
          <p:nvPr/>
        </p:nvSpPr>
        <p:spPr>
          <a:xfrm>
            <a:off x="320040" y="777240"/>
            <a:ext cx="8503920" cy="274320"/>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Internship Responsibilities &amp; Contributions</a:t>
            </a:r>
            <a:endParaRPr lang="en-US" sz="1300" dirty="0"/>
          </a:p>
        </p:txBody>
      </p:sp>
      <p:sp>
        <p:nvSpPr>
          <p:cNvPr id="12" name="Shape 10"/>
          <p:cNvSpPr/>
          <p:nvPr/>
        </p:nvSpPr>
        <p:spPr>
          <a:xfrm>
            <a:off x="320040" y="1078992"/>
            <a:ext cx="2377440" cy="3712464"/>
          </a:xfrm>
          <a:prstGeom prst="rect">
            <a:avLst/>
          </a:prstGeom>
          <a:solidFill>
            <a:srgbClr val="FFFFFF"/>
          </a:solidFill>
          <a:ln w="12700">
            <a:solidFill>
              <a:srgbClr val="FFFFFF"/>
            </a:solidFill>
            <a:prstDash val="solid"/>
          </a:ln>
          <a:effectLst>
            <a:outerShdw blurRad="63500" dist="25400" dir="8100000" algn="bl" rotWithShape="0">
              <a:srgbClr val="000000">
                <a:alpha val="10000"/>
              </a:srgbClr>
            </a:outerShdw>
          </a:effectLst>
        </p:spPr>
      </p:sp>
      <p:sp>
        <p:nvSpPr>
          <p:cNvPr id="13" name="Shape 11"/>
          <p:cNvSpPr/>
          <p:nvPr/>
        </p:nvSpPr>
        <p:spPr>
          <a:xfrm>
            <a:off x="777240" y="1234440"/>
            <a:ext cx="1463040" cy="1463040"/>
          </a:xfrm>
          <a:prstGeom prst="ellipse">
            <a:avLst/>
          </a:prstGeom>
          <a:solidFill>
            <a:srgbClr val="2A3F6B"/>
          </a:solidFill>
          <a:ln w="12700">
            <a:solidFill>
              <a:srgbClr val="1E8449"/>
            </a:solidFill>
            <a:prstDash val="solid"/>
          </a:ln>
        </p:spPr>
      </p:sp>
      <p:sp>
        <p:nvSpPr>
          <p:cNvPr id="14" name="Text 12"/>
          <p:cNvSpPr/>
          <p:nvPr/>
        </p:nvSpPr>
        <p:spPr>
          <a:xfrm>
            <a:off x="777240" y="1234440"/>
            <a:ext cx="1463040" cy="1463040"/>
          </a:xfrm>
          <a:prstGeom prst="rect">
            <a:avLst/>
          </a:prstGeom>
          <a:noFill/>
          <a:ln/>
        </p:spPr>
        <p:txBody>
          <a:bodyPr wrap="square" rtlCol="0" anchor="ctr"/>
          <a:lstStyle/>
          <a:p>
            <a:pPr marL="0" indent="0" algn="ctr">
              <a:buNone/>
            </a:pPr>
            <a:r>
              <a:rPr lang="en-US" sz="3600" b="1" dirty="0">
                <a:solidFill>
                  <a:srgbClr val="1A1A2E"/>
                </a:solidFill>
                <a:latin typeface="Calibri" pitchFamily="34" charset="0"/>
                <a:ea typeface="Calibri" pitchFamily="34" charset="-122"/>
                <a:cs typeface="Calibri" pitchFamily="34" charset="-120"/>
              </a:rPr>
              <a:t>RG</a:t>
            </a:r>
            <a:endParaRPr lang="en-US" sz="3600" dirty="0"/>
          </a:p>
        </p:txBody>
      </p:sp>
      <p:sp>
        <p:nvSpPr>
          <p:cNvPr id="15" name="Text 13"/>
          <p:cNvSpPr/>
          <p:nvPr/>
        </p:nvSpPr>
        <p:spPr>
          <a:xfrm>
            <a:off x="320040" y="2788920"/>
            <a:ext cx="2377440" cy="310896"/>
          </a:xfrm>
          <a:prstGeom prst="rect">
            <a:avLst/>
          </a:prstGeom>
          <a:noFill/>
          <a:ln/>
        </p:spPr>
        <p:txBody>
          <a:bodyPr wrap="square" rtlCol="0" anchor="ctr"/>
          <a:lstStyle/>
          <a:p>
            <a:pPr marL="0" indent="0" algn="ctr">
              <a:buNone/>
            </a:pPr>
            <a:r>
              <a:rPr lang="en-US" sz="1000" b="1" dirty="0">
                <a:solidFill>
                  <a:srgbClr val="1A1A2E"/>
                </a:solidFill>
                <a:latin typeface="Calibri" pitchFamily="34" charset="0"/>
                <a:ea typeface="Calibri" pitchFamily="34" charset="-122"/>
                <a:cs typeface="Calibri" pitchFamily="34" charset="-120"/>
              </a:rPr>
              <a:t>RAJ GAMBHAVA</a:t>
            </a:r>
            <a:endParaRPr lang="en-US" sz="1000" dirty="0"/>
          </a:p>
        </p:txBody>
      </p:sp>
      <p:sp>
        <p:nvSpPr>
          <p:cNvPr id="16" name="Text 14"/>
          <p:cNvSpPr/>
          <p:nvPr/>
        </p:nvSpPr>
        <p:spPr>
          <a:xfrm>
            <a:off x="320040" y="3127248"/>
            <a:ext cx="2377440" cy="438912"/>
          </a:xfrm>
          <a:prstGeom prst="rect">
            <a:avLst/>
          </a:prstGeom>
          <a:noFill/>
          <a:ln/>
        </p:spPr>
        <p:txBody>
          <a:bodyPr wrap="square" rtlCol="0" anchor="ctr"/>
          <a:lstStyle/>
          <a:p>
            <a:pPr marL="0" indent="0" algn="ctr">
              <a:buNone/>
            </a:pPr>
            <a:r>
              <a:rPr lang="en-US" sz="850" dirty="0">
                <a:solidFill>
                  <a:srgbClr val="1E8449"/>
                </a:solidFill>
                <a:latin typeface="Calibri" pitchFamily="34" charset="0"/>
                <a:ea typeface="Calibri" pitchFamily="34" charset="-122"/>
                <a:cs typeface="Calibri" pitchFamily="34" charset="-120"/>
              </a:rPr>
              <a:t>IT Intern</a:t>
            </a:r>
            <a:endParaRPr lang="en-US" sz="850" dirty="0"/>
          </a:p>
          <a:p>
            <a:pPr marL="0" indent="0" algn="ctr">
              <a:buNone/>
            </a:pPr>
            <a:r>
              <a:rPr lang="en-US" sz="850" dirty="0">
                <a:solidFill>
                  <a:srgbClr val="1E8449"/>
                </a:solidFill>
                <a:latin typeface="Calibri" pitchFamily="34" charset="0"/>
                <a:ea typeface="Calibri" pitchFamily="34" charset="-122"/>
                <a:cs typeface="Calibri" pitchFamily="34" charset="-120"/>
              </a:rPr>
              <a:t>Microsoft Elevate 2026</a:t>
            </a:r>
            <a:endParaRPr lang="en-US" sz="850" dirty="0"/>
          </a:p>
        </p:txBody>
      </p:sp>
      <p:sp>
        <p:nvSpPr>
          <p:cNvPr id="17" name="Shape 15"/>
          <p:cNvSpPr/>
          <p:nvPr/>
        </p:nvSpPr>
        <p:spPr>
          <a:xfrm>
            <a:off x="502920" y="3621024"/>
            <a:ext cx="2011680" cy="18288"/>
          </a:xfrm>
          <a:prstGeom prst="rect">
            <a:avLst/>
          </a:prstGeom>
          <a:solidFill>
            <a:srgbClr val="3A5278"/>
          </a:solidFill>
          <a:ln w="12700">
            <a:solidFill>
              <a:srgbClr val="3A5278"/>
            </a:solidFill>
            <a:prstDash val="solid"/>
          </a:ln>
        </p:spPr>
      </p:sp>
      <p:sp>
        <p:nvSpPr>
          <p:cNvPr id="18" name="Text 16"/>
          <p:cNvSpPr/>
          <p:nvPr/>
        </p:nvSpPr>
        <p:spPr>
          <a:xfrm>
            <a:off x="320040" y="3675888"/>
            <a:ext cx="2377440" cy="658368"/>
          </a:xfrm>
          <a:prstGeom prst="rect">
            <a:avLst/>
          </a:prstGeom>
          <a:noFill/>
          <a:ln/>
        </p:spPr>
        <p:txBody>
          <a:bodyPr wrap="square" rtlCol="0" anchor="ctr"/>
          <a:lstStyle/>
          <a:p>
            <a:pPr marL="0" indent="0" algn="ctr">
              <a:buNone/>
            </a:pPr>
            <a:r>
              <a:rPr lang="en-US" sz="750" dirty="0">
                <a:solidFill>
                  <a:srgbClr val="7B9ABF"/>
                </a:solidFill>
                <a:latin typeface="Calibri" pitchFamily="34" charset="0"/>
                <a:ea typeface="Calibri" pitchFamily="34" charset="-122"/>
                <a:cs typeface="Calibri" pitchFamily="34" charset="-120"/>
              </a:rPr>
              <a:t>Enrollment: 220470116024</a:t>
            </a:r>
            <a:endParaRPr lang="en-US" sz="750" dirty="0"/>
          </a:p>
          <a:p>
            <a:pPr marL="0" indent="0" algn="ctr">
              <a:buNone/>
            </a:pPr>
            <a:r>
              <a:rPr lang="en-US" sz="750" dirty="0">
                <a:solidFill>
                  <a:srgbClr val="7B9ABF"/>
                </a:solidFill>
                <a:latin typeface="Calibri" pitchFamily="34" charset="0"/>
                <a:ea typeface="Calibri" pitchFamily="34" charset="-122"/>
                <a:cs typeface="Calibri" pitchFamily="34" charset="-120"/>
              </a:rPr>
              <a:t>V.V.P. Engineering College</a:t>
            </a:r>
            <a:endParaRPr lang="en-US" sz="750" dirty="0"/>
          </a:p>
          <a:p>
            <a:pPr marL="0" indent="0" algn="ctr">
              <a:buNone/>
            </a:pPr>
            <a:r>
              <a:rPr lang="en-US" sz="750" dirty="0">
                <a:solidFill>
                  <a:srgbClr val="7B9ABF"/>
                </a:solidFill>
                <a:latin typeface="Calibri" pitchFamily="34" charset="0"/>
                <a:ea typeface="Calibri" pitchFamily="34" charset="-122"/>
                <a:cs typeface="Calibri" pitchFamily="34" charset="-120"/>
              </a:rPr>
              <a:t>Dept. of Information Technology</a:t>
            </a:r>
            <a:endParaRPr lang="en-US" sz="750" dirty="0"/>
          </a:p>
        </p:txBody>
      </p:sp>
      <p:sp>
        <p:nvSpPr>
          <p:cNvPr id="19" name="Shape 17"/>
          <p:cNvSpPr/>
          <p:nvPr/>
        </p:nvSpPr>
        <p:spPr>
          <a:xfrm>
            <a:off x="2834640" y="1078992"/>
            <a:ext cx="5989320" cy="548640"/>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20" name="Shape 18"/>
          <p:cNvSpPr/>
          <p:nvPr/>
        </p:nvSpPr>
        <p:spPr>
          <a:xfrm>
            <a:off x="2834640" y="1078992"/>
            <a:ext cx="59436" cy="548640"/>
          </a:xfrm>
          <a:prstGeom prst="rect">
            <a:avLst/>
          </a:prstGeom>
          <a:solidFill>
            <a:srgbClr val="1D4ED8"/>
          </a:solidFill>
          <a:ln w="12700">
            <a:solidFill>
              <a:srgbClr val="1D4ED8"/>
            </a:solidFill>
            <a:prstDash val="solid"/>
          </a:ln>
        </p:spPr>
      </p:sp>
      <p:sp>
        <p:nvSpPr>
          <p:cNvPr id="21" name="Text 19"/>
          <p:cNvSpPr/>
          <p:nvPr/>
        </p:nvSpPr>
        <p:spPr>
          <a:xfrm>
            <a:off x="2944368" y="1133856"/>
            <a:ext cx="5833872" cy="228600"/>
          </a:xfrm>
          <a:prstGeom prst="rect">
            <a:avLst/>
          </a:prstGeom>
          <a:noFill/>
          <a:ln/>
        </p:spPr>
        <p:txBody>
          <a:bodyPr wrap="square" lIns="0" tIns="0" rIns="0" bIns="0" rtlCol="0" anchor="ctr"/>
          <a:lstStyle/>
          <a:p>
            <a:pPr marL="0" indent="0">
              <a:buNone/>
            </a:pPr>
            <a:r>
              <a:rPr lang="en-US" sz="900" b="1" dirty="0">
                <a:solidFill>
                  <a:srgbClr val="1A1A2E"/>
                </a:solidFill>
                <a:latin typeface="Calibri" pitchFamily="34" charset="0"/>
                <a:ea typeface="Calibri" pitchFamily="34" charset="-122"/>
                <a:cs typeface="Calibri" pitchFamily="34" charset="-120"/>
              </a:rPr>
              <a:t>Weekly Live Sessions &amp; Healthcare Labs</a:t>
            </a:r>
            <a:endParaRPr lang="en-US" sz="900" dirty="0"/>
          </a:p>
        </p:txBody>
      </p:sp>
      <p:sp>
        <p:nvSpPr>
          <p:cNvPr id="22" name="Text 20"/>
          <p:cNvSpPr/>
          <p:nvPr/>
        </p:nvSpPr>
        <p:spPr>
          <a:xfrm>
            <a:off x="2944368" y="1380744"/>
            <a:ext cx="5833872" cy="192024"/>
          </a:xfrm>
          <a:prstGeom prst="rect">
            <a:avLst/>
          </a:prstGeom>
          <a:noFill/>
          <a:ln/>
        </p:spPr>
        <p:txBody>
          <a:bodyPr wrap="square" rtlCol="0" anchor="t"/>
          <a:lstStyle/>
          <a:p>
            <a:pPr marL="0" indent="0">
              <a:buNone/>
            </a:pPr>
            <a:r>
              <a:rPr lang="en-US" sz="800" dirty="0">
                <a:solidFill>
                  <a:srgbClr val="1A1A2E"/>
                </a:solidFill>
                <a:latin typeface="Calibri" pitchFamily="34" charset="0"/>
                <a:ea typeface="Calibri" pitchFamily="34" charset="-122"/>
                <a:cs typeface="Calibri" pitchFamily="34" charset="-120"/>
              </a:rPr>
              <a:t>Attended all 12 weeks of live sessions and completed hands-on healthcare data labs. Analyzed real-world patient datasets for ICU vitals, medication adherence, and chronic disease progression.</a:t>
            </a:r>
            <a:endParaRPr lang="en-US" sz="800" dirty="0"/>
          </a:p>
        </p:txBody>
      </p:sp>
      <p:sp>
        <p:nvSpPr>
          <p:cNvPr id="23" name="Shape 21"/>
          <p:cNvSpPr/>
          <p:nvPr/>
        </p:nvSpPr>
        <p:spPr>
          <a:xfrm>
            <a:off x="2834640" y="1700784"/>
            <a:ext cx="5989320" cy="548640"/>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24" name="Shape 22"/>
          <p:cNvSpPr/>
          <p:nvPr/>
        </p:nvSpPr>
        <p:spPr>
          <a:xfrm>
            <a:off x="2834640" y="1700784"/>
            <a:ext cx="59436" cy="548640"/>
          </a:xfrm>
          <a:prstGeom prst="rect">
            <a:avLst/>
          </a:prstGeom>
          <a:solidFill>
            <a:srgbClr val="0D9488"/>
          </a:solidFill>
          <a:ln w="12700">
            <a:solidFill>
              <a:srgbClr val="0D9488"/>
            </a:solidFill>
            <a:prstDash val="solid"/>
          </a:ln>
        </p:spPr>
      </p:sp>
      <p:sp>
        <p:nvSpPr>
          <p:cNvPr id="25" name="Text 23"/>
          <p:cNvSpPr/>
          <p:nvPr/>
        </p:nvSpPr>
        <p:spPr>
          <a:xfrm>
            <a:off x="2944368" y="1755648"/>
            <a:ext cx="5833872" cy="228600"/>
          </a:xfrm>
          <a:prstGeom prst="rect">
            <a:avLst/>
          </a:prstGeom>
          <a:noFill/>
          <a:ln/>
        </p:spPr>
        <p:txBody>
          <a:bodyPr wrap="square" lIns="0" tIns="0" rIns="0" bIns="0" rtlCol="0" anchor="ctr"/>
          <a:lstStyle/>
          <a:p>
            <a:pPr marL="0" indent="0">
              <a:buNone/>
            </a:pPr>
            <a:r>
              <a:rPr lang="en-US" sz="900" b="1" dirty="0">
                <a:solidFill>
                  <a:srgbClr val="1A1A2E"/>
                </a:solidFill>
                <a:latin typeface="Calibri" pitchFamily="34" charset="0"/>
                <a:ea typeface="Calibri" pitchFamily="34" charset="-122"/>
                <a:cs typeface="Calibri" pitchFamily="34" charset="-120"/>
              </a:rPr>
              <a:t>Data Analytics &amp; ML on Patient Datasets</a:t>
            </a:r>
            <a:endParaRPr lang="en-US" sz="900" dirty="0"/>
          </a:p>
        </p:txBody>
      </p:sp>
      <p:sp>
        <p:nvSpPr>
          <p:cNvPr id="26" name="Text 24"/>
          <p:cNvSpPr/>
          <p:nvPr/>
        </p:nvSpPr>
        <p:spPr>
          <a:xfrm>
            <a:off x="2944368" y="2002536"/>
            <a:ext cx="5833872" cy="192024"/>
          </a:xfrm>
          <a:prstGeom prst="rect">
            <a:avLst/>
          </a:prstGeom>
          <a:noFill/>
          <a:ln/>
        </p:spPr>
        <p:txBody>
          <a:bodyPr wrap="square" rtlCol="0" anchor="t"/>
          <a:lstStyle/>
          <a:p>
            <a:pPr marL="0" indent="0">
              <a:buNone/>
            </a:pPr>
            <a:r>
              <a:rPr lang="en-US" sz="800" dirty="0">
                <a:solidFill>
                  <a:srgbClr val="1A1A2E"/>
                </a:solidFill>
                <a:latin typeface="Calibri" pitchFamily="34" charset="0"/>
                <a:ea typeface="Calibri" pitchFamily="34" charset="-122"/>
                <a:cs typeface="Calibri" pitchFamily="34" charset="-120"/>
              </a:rPr>
              <a:t>Performed comprehensive EDA on EHR datasets: distributions, correlations, outlier detection, and missing value imputation. Trained Random Forest and Logistic Regression models for readmission prediction.</a:t>
            </a:r>
            <a:endParaRPr lang="en-US" sz="800" dirty="0"/>
          </a:p>
        </p:txBody>
      </p:sp>
      <p:sp>
        <p:nvSpPr>
          <p:cNvPr id="27" name="Shape 25"/>
          <p:cNvSpPr/>
          <p:nvPr/>
        </p:nvSpPr>
        <p:spPr>
          <a:xfrm>
            <a:off x="2834640" y="2322576"/>
            <a:ext cx="5989320" cy="548640"/>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28" name="Shape 26"/>
          <p:cNvSpPr/>
          <p:nvPr/>
        </p:nvSpPr>
        <p:spPr>
          <a:xfrm>
            <a:off x="2834640" y="2322576"/>
            <a:ext cx="59436" cy="548640"/>
          </a:xfrm>
          <a:prstGeom prst="rect">
            <a:avLst/>
          </a:prstGeom>
          <a:solidFill>
            <a:srgbClr val="1E8449"/>
          </a:solidFill>
          <a:ln w="12700">
            <a:solidFill>
              <a:srgbClr val="1E8449"/>
            </a:solidFill>
            <a:prstDash val="solid"/>
          </a:ln>
        </p:spPr>
      </p:sp>
      <p:sp>
        <p:nvSpPr>
          <p:cNvPr id="29" name="Text 27"/>
          <p:cNvSpPr/>
          <p:nvPr/>
        </p:nvSpPr>
        <p:spPr>
          <a:xfrm>
            <a:off x="2944368" y="2377440"/>
            <a:ext cx="5833872" cy="228600"/>
          </a:xfrm>
          <a:prstGeom prst="rect">
            <a:avLst/>
          </a:prstGeom>
          <a:noFill/>
          <a:ln/>
        </p:spPr>
        <p:txBody>
          <a:bodyPr wrap="square" lIns="0" tIns="0" rIns="0" bIns="0" rtlCol="0" anchor="ctr"/>
          <a:lstStyle/>
          <a:p>
            <a:pPr marL="0" indent="0">
              <a:buNone/>
            </a:pPr>
            <a:r>
              <a:rPr lang="en-US" sz="900" b="1" dirty="0">
                <a:solidFill>
                  <a:srgbClr val="1A1A2E"/>
                </a:solidFill>
                <a:latin typeface="Calibri" pitchFamily="34" charset="0"/>
                <a:ea typeface="Calibri" pitchFamily="34" charset="-122"/>
                <a:cs typeface="Calibri" pitchFamily="34" charset="-120"/>
              </a:rPr>
              <a:t>End-to-End ML Pipeline Development</a:t>
            </a:r>
            <a:endParaRPr lang="en-US" sz="900" dirty="0"/>
          </a:p>
        </p:txBody>
      </p:sp>
      <p:sp>
        <p:nvSpPr>
          <p:cNvPr id="30" name="Text 28"/>
          <p:cNvSpPr/>
          <p:nvPr/>
        </p:nvSpPr>
        <p:spPr>
          <a:xfrm>
            <a:off x="2944368" y="2624328"/>
            <a:ext cx="5833872" cy="192024"/>
          </a:xfrm>
          <a:prstGeom prst="rect">
            <a:avLst/>
          </a:prstGeom>
          <a:noFill/>
          <a:ln/>
        </p:spPr>
        <p:txBody>
          <a:bodyPr wrap="square" rtlCol="0" anchor="t"/>
          <a:lstStyle/>
          <a:p>
            <a:pPr marL="0" indent="0">
              <a:buNone/>
            </a:pPr>
            <a:r>
              <a:rPr lang="en-US" sz="800" dirty="0">
                <a:solidFill>
                  <a:srgbClr val="1A1A2E"/>
                </a:solidFill>
                <a:latin typeface="Calibri" pitchFamily="34" charset="0"/>
                <a:ea typeface="Calibri" pitchFamily="34" charset="-122"/>
                <a:cs typeface="Calibri" pitchFamily="34" charset="-120"/>
              </a:rPr>
              <a:t>Built complete ML pipelines from raw EHR data ingestion through preprocessing, feature engineering, model training, hyperparameter tuning, evaluation, and REST API deployment on Azure ML Studio.</a:t>
            </a:r>
            <a:endParaRPr lang="en-US" sz="800" dirty="0"/>
          </a:p>
        </p:txBody>
      </p:sp>
      <p:sp>
        <p:nvSpPr>
          <p:cNvPr id="31" name="Shape 29"/>
          <p:cNvSpPr/>
          <p:nvPr/>
        </p:nvSpPr>
        <p:spPr>
          <a:xfrm>
            <a:off x="2834640" y="2944368"/>
            <a:ext cx="5989320" cy="548640"/>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32" name="Shape 30"/>
          <p:cNvSpPr/>
          <p:nvPr/>
        </p:nvSpPr>
        <p:spPr>
          <a:xfrm>
            <a:off x="2834640" y="2944368"/>
            <a:ext cx="59436" cy="548640"/>
          </a:xfrm>
          <a:prstGeom prst="rect">
            <a:avLst/>
          </a:prstGeom>
          <a:solidFill>
            <a:srgbClr val="7C3AED"/>
          </a:solidFill>
          <a:ln w="12700">
            <a:solidFill>
              <a:srgbClr val="7C3AED"/>
            </a:solidFill>
            <a:prstDash val="solid"/>
          </a:ln>
        </p:spPr>
      </p:sp>
      <p:sp>
        <p:nvSpPr>
          <p:cNvPr id="33" name="Text 31"/>
          <p:cNvSpPr/>
          <p:nvPr/>
        </p:nvSpPr>
        <p:spPr>
          <a:xfrm>
            <a:off x="2944368" y="2999232"/>
            <a:ext cx="5833872" cy="228600"/>
          </a:xfrm>
          <a:prstGeom prst="rect">
            <a:avLst/>
          </a:prstGeom>
          <a:noFill/>
          <a:ln/>
        </p:spPr>
        <p:txBody>
          <a:bodyPr wrap="square" lIns="0" tIns="0" rIns="0" bIns="0" rtlCol="0" anchor="ctr"/>
          <a:lstStyle/>
          <a:p>
            <a:pPr marL="0" indent="0">
              <a:buNone/>
            </a:pPr>
            <a:r>
              <a:rPr lang="en-US" sz="900" b="1" dirty="0">
                <a:solidFill>
                  <a:srgbClr val="1A1A2E"/>
                </a:solidFill>
                <a:latin typeface="Calibri" pitchFamily="34" charset="0"/>
                <a:ea typeface="Calibri" pitchFamily="34" charset="-122"/>
                <a:cs typeface="Calibri" pitchFamily="34" charset="-120"/>
              </a:rPr>
              <a:t>Power BI Dashboard Development</a:t>
            </a:r>
            <a:endParaRPr lang="en-US" sz="900" dirty="0"/>
          </a:p>
        </p:txBody>
      </p:sp>
      <p:sp>
        <p:nvSpPr>
          <p:cNvPr id="34" name="Text 32"/>
          <p:cNvSpPr/>
          <p:nvPr/>
        </p:nvSpPr>
        <p:spPr>
          <a:xfrm>
            <a:off x="2944368" y="3246120"/>
            <a:ext cx="5833872" cy="192024"/>
          </a:xfrm>
          <a:prstGeom prst="rect">
            <a:avLst/>
          </a:prstGeom>
          <a:noFill/>
          <a:ln/>
        </p:spPr>
        <p:txBody>
          <a:bodyPr wrap="square" rtlCol="0" anchor="t"/>
          <a:lstStyle/>
          <a:p>
            <a:pPr marL="0" indent="0">
              <a:buNone/>
            </a:pPr>
            <a:r>
              <a:rPr lang="en-US" sz="800" dirty="0">
                <a:solidFill>
                  <a:srgbClr val="1A1A2E"/>
                </a:solidFill>
                <a:latin typeface="Calibri" pitchFamily="34" charset="0"/>
                <a:ea typeface="Calibri" pitchFamily="34" charset="-122"/>
                <a:cs typeface="Calibri" pitchFamily="34" charset="-120"/>
              </a:rPr>
              <a:t>Developed interactive Power BI dashboards with DAX-powered KPI measures for medication adherence rate, hospital readmission rate, patient vitals trend analysis, and drug interaction incident tracking.</a:t>
            </a:r>
            <a:endParaRPr lang="en-US" sz="800" dirty="0"/>
          </a:p>
        </p:txBody>
      </p:sp>
      <p:sp>
        <p:nvSpPr>
          <p:cNvPr id="35" name="Shape 33"/>
          <p:cNvSpPr/>
          <p:nvPr/>
        </p:nvSpPr>
        <p:spPr>
          <a:xfrm>
            <a:off x="2834640" y="3566160"/>
            <a:ext cx="5989320" cy="548640"/>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36" name="Shape 34"/>
          <p:cNvSpPr/>
          <p:nvPr/>
        </p:nvSpPr>
        <p:spPr>
          <a:xfrm>
            <a:off x="2834640" y="3566160"/>
            <a:ext cx="59436" cy="548640"/>
          </a:xfrm>
          <a:prstGeom prst="rect">
            <a:avLst/>
          </a:prstGeom>
          <a:solidFill>
            <a:srgbClr val="D97706"/>
          </a:solidFill>
          <a:ln w="12700">
            <a:solidFill>
              <a:srgbClr val="D97706"/>
            </a:solidFill>
            <a:prstDash val="solid"/>
          </a:ln>
        </p:spPr>
      </p:sp>
      <p:sp>
        <p:nvSpPr>
          <p:cNvPr id="37" name="Text 35"/>
          <p:cNvSpPr/>
          <p:nvPr/>
        </p:nvSpPr>
        <p:spPr>
          <a:xfrm>
            <a:off x="2944368" y="3621024"/>
            <a:ext cx="5833872" cy="228600"/>
          </a:xfrm>
          <a:prstGeom prst="rect">
            <a:avLst/>
          </a:prstGeom>
          <a:noFill/>
          <a:ln/>
        </p:spPr>
        <p:txBody>
          <a:bodyPr wrap="square" lIns="0" tIns="0" rIns="0" bIns="0" rtlCol="0" anchor="ctr"/>
          <a:lstStyle/>
          <a:p>
            <a:pPr marL="0" indent="0">
              <a:buNone/>
            </a:pPr>
            <a:r>
              <a:rPr lang="en-US" sz="900" b="1" dirty="0">
                <a:solidFill>
                  <a:srgbClr val="1A1A2E"/>
                </a:solidFill>
                <a:latin typeface="Calibri" pitchFamily="34" charset="0"/>
                <a:ea typeface="Calibri" pitchFamily="34" charset="-122"/>
                <a:cs typeface="Calibri" pitchFamily="34" charset="-120"/>
              </a:rPr>
              <a:t>Microsoft Azure Cloud Deployment</a:t>
            </a:r>
            <a:endParaRPr lang="en-US" sz="900" dirty="0"/>
          </a:p>
        </p:txBody>
      </p:sp>
      <p:sp>
        <p:nvSpPr>
          <p:cNvPr id="38" name="Text 36"/>
          <p:cNvSpPr/>
          <p:nvPr/>
        </p:nvSpPr>
        <p:spPr>
          <a:xfrm>
            <a:off x="2944368" y="3867912"/>
            <a:ext cx="5833872" cy="192024"/>
          </a:xfrm>
          <a:prstGeom prst="rect">
            <a:avLst/>
          </a:prstGeom>
          <a:noFill/>
          <a:ln/>
        </p:spPr>
        <p:txBody>
          <a:bodyPr wrap="square" rtlCol="0" anchor="t"/>
          <a:lstStyle/>
          <a:p>
            <a:pPr marL="0" indent="0">
              <a:buNone/>
            </a:pPr>
            <a:r>
              <a:rPr lang="en-US" sz="800" dirty="0">
                <a:solidFill>
                  <a:srgbClr val="1A1A2E"/>
                </a:solidFill>
                <a:latin typeface="Calibri" pitchFamily="34" charset="0"/>
                <a:ea typeface="Calibri" pitchFamily="34" charset="-122"/>
                <a:cs typeface="Calibri" pitchFamily="34" charset="-120"/>
              </a:rPr>
              <a:t>Deployed AI health prediction models on Azure ML as REST endpoints. Configured Azure IoT Hub for real-time vital sign streaming. Set up RBAC security and HIPAA-compliant data governance policies.</a:t>
            </a:r>
            <a:endParaRPr lang="en-US" sz="800" dirty="0"/>
          </a:p>
        </p:txBody>
      </p:sp>
      <p:sp>
        <p:nvSpPr>
          <p:cNvPr id="39" name="Shape 37"/>
          <p:cNvSpPr/>
          <p:nvPr/>
        </p:nvSpPr>
        <p:spPr>
          <a:xfrm>
            <a:off x="2834640" y="4187952"/>
            <a:ext cx="5989320" cy="548640"/>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40" name="Shape 38"/>
          <p:cNvSpPr/>
          <p:nvPr/>
        </p:nvSpPr>
        <p:spPr>
          <a:xfrm>
            <a:off x="2834640" y="4187952"/>
            <a:ext cx="59436" cy="548640"/>
          </a:xfrm>
          <a:prstGeom prst="rect">
            <a:avLst/>
          </a:prstGeom>
          <a:solidFill>
            <a:srgbClr val="DC2626"/>
          </a:solidFill>
          <a:ln w="12700">
            <a:solidFill>
              <a:srgbClr val="DC2626"/>
            </a:solidFill>
            <a:prstDash val="solid"/>
          </a:ln>
        </p:spPr>
      </p:sp>
      <p:sp>
        <p:nvSpPr>
          <p:cNvPr id="41" name="Text 39"/>
          <p:cNvSpPr/>
          <p:nvPr/>
        </p:nvSpPr>
        <p:spPr>
          <a:xfrm>
            <a:off x="2944368" y="4242816"/>
            <a:ext cx="5833872" cy="228600"/>
          </a:xfrm>
          <a:prstGeom prst="rect">
            <a:avLst/>
          </a:prstGeom>
          <a:noFill/>
          <a:ln/>
        </p:spPr>
        <p:txBody>
          <a:bodyPr wrap="square" lIns="0" tIns="0" rIns="0" bIns="0" rtlCol="0" anchor="ctr"/>
          <a:lstStyle/>
          <a:p>
            <a:pPr marL="0" indent="0">
              <a:buNone/>
            </a:pPr>
            <a:r>
              <a:rPr lang="en-US" sz="900" b="1" dirty="0">
                <a:solidFill>
                  <a:srgbClr val="1A1A2E"/>
                </a:solidFill>
                <a:latin typeface="Calibri" pitchFamily="34" charset="0"/>
                <a:ea typeface="Calibri" pitchFamily="34" charset="-122"/>
                <a:cs typeface="Calibri" pitchFamily="34" charset="-120"/>
              </a:rPr>
              <a:t>GitHub Repository &amp; Documentation</a:t>
            </a:r>
            <a:endParaRPr lang="en-US" sz="900" dirty="0"/>
          </a:p>
        </p:txBody>
      </p:sp>
      <p:sp>
        <p:nvSpPr>
          <p:cNvPr id="42" name="Text 40"/>
          <p:cNvSpPr/>
          <p:nvPr/>
        </p:nvSpPr>
        <p:spPr>
          <a:xfrm>
            <a:off x="2944368" y="4489704"/>
            <a:ext cx="5833872" cy="192024"/>
          </a:xfrm>
          <a:prstGeom prst="rect">
            <a:avLst/>
          </a:prstGeom>
          <a:noFill/>
          <a:ln/>
        </p:spPr>
        <p:txBody>
          <a:bodyPr wrap="square" rtlCol="0" anchor="t"/>
          <a:lstStyle/>
          <a:p>
            <a:pPr marL="0" indent="0">
              <a:buNone/>
            </a:pPr>
            <a:r>
              <a:rPr lang="en-US" sz="800" dirty="0">
                <a:solidFill>
                  <a:srgbClr val="1A1A2E"/>
                </a:solidFill>
                <a:latin typeface="Calibri" pitchFamily="34" charset="0"/>
                <a:ea typeface="Calibri" pitchFamily="34" charset="-122"/>
                <a:cs typeface="Calibri" pitchFamily="34" charset="-120"/>
              </a:rPr>
              <a:t>Maintained a clean, well-documented GitHub repository with feature branching, meaningful commits, and comprehensive README. Used GitHub Copilot for AI-assisted code development and review.</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01F5F"/>
          </a:solidFill>
          <a:ln w="12700">
            <a:solidFill>
              <a:srgbClr val="FFFFFF"/>
            </a:solidFill>
            <a:prstDash val="solid"/>
          </a:ln>
        </p:spPr>
      </p:sp>
      <p:sp>
        <p:nvSpPr>
          <p:cNvPr id="3" name="Shape 1"/>
          <p:cNvSpPr/>
          <p:nvPr/>
        </p:nvSpPr>
        <p:spPr>
          <a:xfrm>
            <a:off x="0" y="621792"/>
            <a:ext cx="9144000" cy="50292"/>
          </a:xfrm>
          <a:prstGeom prst="rect">
            <a:avLst/>
          </a:prstGeom>
          <a:solidFill>
            <a:srgbClr val="1E8449"/>
          </a:solidFill>
          <a:ln w="12700">
            <a:solidFill>
              <a:srgbClr val="1E8449"/>
            </a:solidFill>
            <a:prstDash val="solid"/>
          </a:ln>
        </p:spPr>
      </p:sp>
      <p:sp>
        <p:nvSpPr>
          <p:cNvPr id="4" name="Text 2"/>
          <p:cNvSpPr/>
          <p:nvPr/>
        </p:nvSpPr>
        <p:spPr>
          <a:xfrm>
            <a:off x="292608" y="45720"/>
            <a:ext cx="7498080" cy="54864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Problem Statement</a:t>
            </a:r>
            <a:endParaRPr lang="en-US" sz="1900" dirty="0"/>
          </a:p>
        </p:txBody>
      </p:sp>
      <p:sp>
        <p:nvSpPr>
          <p:cNvPr id="5" name="Shape 3"/>
          <p:cNvSpPr/>
          <p:nvPr/>
        </p:nvSpPr>
        <p:spPr>
          <a:xfrm>
            <a:off x="7818120" y="82296"/>
            <a:ext cx="1234440" cy="457200"/>
          </a:xfrm>
          <a:prstGeom prst="rect">
            <a:avLst/>
          </a:prstGeom>
          <a:solidFill>
            <a:srgbClr val="E8EFF8"/>
          </a:solidFill>
          <a:ln w="12700">
            <a:solidFill>
              <a:srgbClr val="1D4ED8"/>
            </a:solidFill>
            <a:prstDash val="solid"/>
          </a:ln>
        </p:spPr>
      </p:sp>
      <p:sp>
        <p:nvSpPr>
          <p:cNvPr id="6" name="Text 4"/>
          <p:cNvSpPr/>
          <p:nvPr/>
        </p:nvSpPr>
        <p:spPr>
          <a:xfrm>
            <a:off x="7818120" y="82296"/>
            <a:ext cx="1234440" cy="457200"/>
          </a:xfrm>
          <a:prstGeom prst="rect">
            <a:avLst/>
          </a:prstGeom>
          <a:noFill/>
          <a:ln/>
        </p:spPr>
        <p:txBody>
          <a:bodyPr wrap="square" rtlCol="0" anchor="ctr"/>
          <a:lstStyle/>
          <a:p>
            <a:pPr marL="0" indent="0" algn="ctr">
              <a:buNone/>
            </a:pPr>
            <a:r>
              <a:rPr lang="en-US" sz="700" b="1" dirty="0">
                <a:solidFill>
                  <a:srgbClr val="1D4ED8"/>
                </a:solidFill>
                <a:latin typeface="Calibri" pitchFamily="34" charset="0"/>
                <a:ea typeface="Calibri" pitchFamily="34" charset="-122"/>
                <a:cs typeface="Calibri" pitchFamily="34" charset="-120"/>
              </a:rPr>
              <a:t>Microsoft</a:t>
            </a:r>
            <a:endParaRPr lang="en-US" sz="700" dirty="0"/>
          </a:p>
          <a:p>
            <a:pPr marL="0" indent="0" algn="ctr">
              <a:buNone/>
            </a:pPr>
            <a:r>
              <a:rPr lang="en-US" sz="700" b="1" dirty="0">
                <a:solidFill>
                  <a:srgbClr val="1D4ED8"/>
                </a:solidFill>
                <a:latin typeface="Calibri" pitchFamily="34" charset="0"/>
                <a:ea typeface="Calibri" pitchFamily="34" charset="-122"/>
                <a:cs typeface="Calibri" pitchFamily="34" charset="-120"/>
              </a:rPr>
              <a:t>Elevate GTU</a:t>
            </a:r>
            <a:endParaRPr lang="en-US" sz="700" dirty="0"/>
          </a:p>
        </p:txBody>
      </p:sp>
      <p:sp>
        <p:nvSpPr>
          <p:cNvPr id="7" name="Shape 5"/>
          <p:cNvSpPr/>
          <p:nvPr/>
        </p:nvSpPr>
        <p:spPr>
          <a:xfrm>
            <a:off x="0" y="4873752"/>
            <a:ext cx="9144000" cy="50292"/>
          </a:xfrm>
          <a:prstGeom prst="rect">
            <a:avLst/>
          </a:prstGeom>
          <a:solidFill>
            <a:srgbClr val="1E8449"/>
          </a:solidFill>
          <a:ln w="12700">
            <a:solidFill>
              <a:srgbClr val="1E8449"/>
            </a:solidFill>
            <a:prstDash val="solid"/>
          </a:ln>
        </p:spPr>
      </p:sp>
      <p:sp>
        <p:nvSpPr>
          <p:cNvPr id="8" name="Shape 6"/>
          <p:cNvSpPr/>
          <p:nvPr/>
        </p:nvSpPr>
        <p:spPr>
          <a:xfrm>
            <a:off x="0" y="4924044"/>
            <a:ext cx="9144000" cy="219456"/>
          </a:xfrm>
          <a:prstGeom prst="rect">
            <a:avLst/>
          </a:prstGeom>
          <a:solidFill>
            <a:srgbClr val="FFFFFF"/>
          </a:solidFill>
          <a:ln w="12700">
            <a:solidFill>
              <a:srgbClr val="FFFFFF"/>
            </a:solidFill>
            <a:prstDash val="solid"/>
          </a:ln>
        </p:spPr>
      </p:sp>
      <p:sp>
        <p:nvSpPr>
          <p:cNvPr id="9" name="Text 7"/>
          <p:cNvSpPr/>
          <p:nvPr/>
        </p:nvSpPr>
        <p:spPr>
          <a:xfrm>
            <a:off x="228600" y="4924044"/>
            <a:ext cx="8046720" cy="219456"/>
          </a:xfrm>
          <a:prstGeom prst="rect">
            <a:avLst/>
          </a:prstGeom>
          <a:noFill/>
          <a:ln/>
        </p:spPr>
        <p:txBody>
          <a:bodyPr wrap="square" lIns="0" tIns="0" rIns="0" bIns="0" rtlCol="0" anchor="ctr"/>
          <a:lstStyle/>
          <a:p>
            <a:pPr marL="0" indent="0">
              <a:buNone/>
            </a:pPr>
            <a:r>
              <a:rPr lang="en-US" sz="650" dirty="0">
                <a:solidFill>
                  <a:srgbClr val="7B9ABF"/>
                </a:solidFill>
                <a:latin typeface="Calibri" pitchFamily="34" charset="0"/>
                <a:ea typeface="Calibri" pitchFamily="34" charset="-122"/>
                <a:cs typeface="Calibri" pitchFamily="34" charset="-120"/>
              </a:rPr>
              <a:t>Microsoft Elevate Internship Project  |  Healthcare &amp; Medication Management System  |  GTU Jan–Apr 2026</a:t>
            </a:r>
            <a:endParaRPr lang="en-US" sz="650" dirty="0"/>
          </a:p>
        </p:txBody>
      </p:sp>
      <p:sp>
        <p:nvSpPr>
          <p:cNvPr id="10" name="Text 8"/>
          <p:cNvSpPr/>
          <p:nvPr/>
        </p:nvSpPr>
        <p:spPr>
          <a:xfrm>
            <a:off x="8275320" y="4924044"/>
            <a:ext cx="731520" cy="219456"/>
          </a:xfrm>
          <a:prstGeom prst="rect">
            <a:avLst/>
          </a:prstGeom>
          <a:noFill/>
          <a:ln/>
        </p:spPr>
        <p:txBody>
          <a:bodyPr wrap="square" lIns="0" tIns="0" rIns="0" bIns="0" rtlCol="0" anchor="ctr"/>
          <a:lstStyle/>
          <a:p>
            <a:pPr marL="0" indent="0" algn="r">
              <a:buNone/>
            </a:pPr>
            <a:r>
              <a:rPr lang="en-US" sz="700" b="1" dirty="0">
                <a:solidFill>
                  <a:srgbClr val="1A1A2E"/>
                </a:solidFill>
                <a:latin typeface="Calibri" pitchFamily="34" charset="0"/>
                <a:ea typeface="Calibri" pitchFamily="34" charset="-122"/>
                <a:cs typeface="Calibri" pitchFamily="34" charset="-120"/>
              </a:rPr>
              <a:t>9 / 20</a:t>
            </a:r>
            <a:endParaRPr lang="en-US" sz="700" dirty="0"/>
          </a:p>
        </p:txBody>
      </p:sp>
      <p:sp>
        <p:nvSpPr>
          <p:cNvPr id="11" name="Text 9"/>
          <p:cNvSpPr/>
          <p:nvPr/>
        </p:nvSpPr>
        <p:spPr>
          <a:xfrm>
            <a:off x="320040" y="777240"/>
            <a:ext cx="8503920" cy="274320"/>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Healthcare &amp; Medication Management Challenges</a:t>
            </a:r>
            <a:endParaRPr lang="en-US" sz="1300" dirty="0"/>
          </a:p>
        </p:txBody>
      </p:sp>
      <p:sp>
        <p:nvSpPr>
          <p:cNvPr id="12" name="Text 10"/>
          <p:cNvSpPr/>
          <p:nvPr/>
        </p:nvSpPr>
        <p:spPr>
          <a:xfrm>
            <a:off x="320040" y="1069848"/>
            <a:ext cx="8503920" cy="256032"/>
          </a:xfrm>
          <a:prstGeom prst="rect">
            <a:avLst/>
          </a:prstGeom>
          <a:noFill/>
          <a:ln/>
        </p:spPr>
        <p:txBody>
          <a:bodyPr wrap="square" rtlCol="0" anchor="ctr"/>
          <a:lstStyle/>
          <a:p>
            <a:pPr marL="0" indent="0">
              <a:buNone/>
            </a:pPr>
            <a:r>
              <a:rPr lang="en-US" sz="950" i="1" dirty="0">
                <a:solidFill>
                  <a:srgbClr val="1A1A2E"/>
                </a:solidFill>
                <a:latin typeface="Calibri" pitchFamily="34" charset="0"/>
                <a:ea typeface="Calibri" pitchFamily="34" charset="-122"/>
                <a:cs typeface="Calibri" pitchFamily="34" charset="-120"/>
              </a:rPr>
              <a:t>Healthcare systems worldwide face critical challenges in patient safety, data fragmentation, and real-time care delivery that this project directly addresses.</a:t>
            </a:r>
            <a:endParaRPr lang="en-US" sz="950" dirty="0"/>
          </a:p>
        </p:txBody>
      </p:sp>
      <p:sp>
        <p:nvSpPr>
          <p:cNvPr id="13" name="Shape 11"/>
          <p:cNvSpPr/>
          <p:nvPr/>
        </p:nvSpPr>
        <p:spPr>
          <a:xfrm>
            <a:off x="320040" y="1371600"/>
            <a:ext cx="4224528" cy="1069848"/>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14" name="Shape 12"/>
          <p:cNvSpPr/>
          <p:nvPr/>
        </p:nvSpPr>
        <p:spPr>
          <a:xfrm>
            <a:off x="320040" y="1371600"/>
            <a:ext cx="59436" cy="1069848"/>
          </a:xfrm>
          <a:prstGeom prst="rect">
            <a:avLst/>
          </a:prstGeom>
          <a:solidFill>
            <a:srgbClr val="DC2626"/>
          </a:solidFill>
          <a:ln w="12700">
            <a:solidFill>
              <a:srgbClr val="DC2626"/>
            </a:solidFill>
            <a:prstDash val="solid"/>
          </a:ln>
        </p:spPr>
      </p:sp>
      <p:sp>
        <p:nvSpPr>
          <p:cNvPr id="15" name="Text 13"/>
          <p:cNvSpPr/>
          <p:nvPr/>
        </p:nvSpPr>
        <p:spPr>
          <a:xfrm>
            <a:off x="429768" y="1426464"/>
            <a:ext cx="4069080" cy="228600"/>
          </a:xfrm>
          <a:prstGeom prst="rect">
            <a:avLst/>
          </a:prstGeom>
          <a:noFill/>
          <a:ln/>
        </p:spPr>
        <p:txBody>
          <a:bodyPr wrap="square" lIns="0" tIns="0" rIns="0" bIns="0" rtlCol="0" anchor="ctr"/>
          <a:lstStyle/>
          <a:p>
            <a:pPr marL="0" indent="0">
              <a:buNone/>
            </a:pPr>
            <a:r>
              <a:rPr lang="en-US" sz="1000" b="1" dirty="0">
                <a:solidFill>
                  <a:srgbClr val="1A1A2E"/>
                </a:solidFill>
                <a:latin typeface="Calibri" pitchFamily="34" charset="0"/>
                <a:ea typeface="Calibri" pitchFamily="34" charset="-122"/>
                <a:cs typeface="Calibri" pitchFamily="34" charset="-120"/>
              </a:rPr>
              <a:t>Fragmented Patient Records</a:t>
            </a:r>
            <a:endParaRPr lang="en-US" sz="1000" dirty="0"/>
          </a:p>
        </p:txBody>
      </p:sp>
      <p:sp>
        <p:nvSpPr>
          <p:cNvPr id="16" name="Text 14"/>
          <p:cNvSpPr/>
          <p:nvPr/>
        </p:nvSpPr>
        <p:spPr>
          <a:xfrm>
            <a:off x="429768" y="1673352"/>
            <a:ext cx="4069080" cy="713232"/>
          </a:xfrm>
          <a:prstGeom prst="rect">
            <a:avLst/>
          </a:prstGeom>
          <a:noFill/>
          <a:ln/>
        </p:spPr>
        <p:txBody>
          <a:bodyPr wrap="square" rtlCol="0" anchor="t"/>
          <a:lstStyle/>
          <a:p>
            <a:pPr marL="0" indent="0">
              <a:buNone/>
            </a:pPr>
            <a:r>
              <a:rPr lang="en-US" sz="850" dirty="0">
                <a:solidFill>
                  <a:srgbClr val="1A1A2E"/>
                </a:solidFill>
                <a:latin typeface="Calibri" pitchFamily="34" charset="0"/>
                <a:ea typeface="Calibri" pitchFamily="34" charset="-122"/>
                <a:cs typeface="Calibri" pitchFamily="34" charset="-120"/>
              </a:rPr>
              <a:t>Patient health records are siloed across multiple hospitals, clinics, and pharmacies. Clinicians lack a unified longitudinal view, leading to duplicate diagnostic tests, missed medical history, poor care coordination, and ultimately worse patient outcomes across the care continuum.</a:t>
            </a:r>
            <a:endParaRPr lang="en-US" sz="850" dirty="0"/>
          </a:p>
        </p:txBody>
      </p:sp>
      <p:sp>
        <p:nvSpPr>
          <p:cNvPr id="17" name="Shape 15"/>
          <p:cNvSpPr/>
          <p:nvPr/>
        </p:nvSpPr>
        <p:spPr>
          <a:xfrm>
            <a:off x="4754880" y="1371600"/>
            <a:ext cx="4224528" cy="1069848"/>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18" name="Shape 16"/>
          <p:cNvSpPr/>
          <p:nvPr/>
        </p:nvSpPr>
        <p:spPr>
          <a:xfrm>
            <a:off x="4754880" y="1371600"/>
            <a:ext cx="59436" cy="1069848"/>
          </a:xfrm>
          <a:prstGeom prst="rect">
            <a:avLst/>
          </a:prstGeom>
          <a:solidFill>
            <a:srgbClr val="D97706"/>
          </a:solidFill>
          <a:ln w="12700">
            <a:solidFill>
              <a:srgbClr val="D97706"/>
            </a:solidFill>
            <a:prstDash val="solid"/>
          </a:ln>
        </p:spPr>
      </p:sp>
      <p:sp>
        <p:nvSpPr>
          <p:cNvPr id="19" name="Text 17"/>
          <p:cNvSpPr/>
          <p:nvPr/>
        </p:nvSpPr>
        <p:spPr>
          <a:xfrm>
            <a:off x="4864608" y="1426464"/>
            <a:ext cx="4069080" cy="228600"/>
          </a:xfrm>
          <a:prstGeom prst="rect">
            <a:avLst/>
          </a:prstGeom>
          <a:noFill/>
          <a:ln/>
        </p:spPr>
        <p:txBody>
          <a:bodyPr wrap="square" lIns="0" tIns="0" rIns="0" bIns="0" rtlCol="0" anchor="ctr"/>
          <a:lstStyle/>
          <a:p>
            <a:pPr marL="0" indent="0">
              <a:buNone/>
            </a:pPr>
            <a:r>
              <a:rPr lang="en-US" sz="1000" b="1" dirty="0">
                <a:solidFill>
                  <a:srgbClr val="1A1A2E"/>
                </a:solidFill>
                <a:latin typeface="Calibri" pitchFamily="34" charset="0"/>
                <a:ea typeface="Calibri" pitchFamily="34" charset="-122"/>
                <a:cs typeface="Calibri" pitchFamily="34" charset="-120"/>
              </a:rPr>
              <a:t>High Medication Error Rates</a:t>
            </a:r>
            <a:endParaRPr lang="en-US" sz="1000" dirty="0"/>
          </a:p>
        </p:txBody>
      </p:sp>
      <p:sp>
        <p:nvSpPr>
          <p:cNvPr id="20" name="Text 18"/>
          <p:cNvSpPr/>
          <p:nvPr/>
        </p:nvSpPr>
        <p:spPr>
          <a:xfrm>
            <a:off x="4864608" y="1673352"/>
            <a:ext cx="4069080" cy="713232"/>
          </a:xfrm>
          <a:prstGeom prst="rect">
            <a:avLst/>
          </a:prstGeom>
          <a:noFill/>
          <a:ln/>
        </p:spPr>
        <p:txBody>
          <a:bodyPr wrap="square" rtlCol="0" anchor="t"/>
          <a:lstStyle/>
          <a:p>
            <a:pPr marL="0" indent="0">
              <a:buNone/>
            </a:pPr>
            <a:r>
              <a:rPr lang="en-US" sz="850" dirty="0">
                <a:solidFill>
                  <a:srgbClr val="1A1A2E"/>
                </a:solidFill>
                <a:latin typeface="Calibri" pitchFamily="34" charset="0"/>
                <a:ea typeface="Calibri" pitchFamily="34" charset="-122"/>
                <a:cs typeface="Calibri" pitchFamily="34" charset="-120"/>
              </a:rPr>
              <a:t>Manual medication dispensing, handwritten prescriptions, and verbal medication orders contribute to dangerous dosing errors. Studies show over 1.5 million Americans are harmed annually by medication errors. ICU patients face an average of 1.7 errors per day in manual pharmacy systems.</a:t>
            </a:r>
            <a:endParaRPr lang="en-US" sz="850" dirty="0"/>
          </a:p>
        </p:txBody>
      </p:sp>
      <p:sp>
        <p:nvSpPr>
          <p:cNvPr id="21" name="Shape 19"/>
          <p:cNvSpPr/>
          <p:nvPr/>
        </p:nvSpPr>
        <p:spPr>
          <a:xfrm>
            <a:off x="320040" y="2532888"/>
            <a:ext cx="4224528" cy="1069848"/>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22" name="Shape 20"/>
          <p:cNvSpPr/>
          <p:nvPr/>
        </p:nvSpPr>
        <p:spPr>
          <a:xfrm>
            <a:off x="320040" y="2532888"/>
            <a:ext cx="59436" cy="1069848"/>
          </a:xfrm>
          <a:prstGeom prst="rect">
            <a:avLst/>
          </a:prstGeom>
          <a:solidFill>
            <a:srgbClr val="1D4ED8"/>
          </a:solidFill>
          <a:ln w="12700">
            <a:solidFill>
              <a:srgbClr val="1D4ED8"/>
            </a:solidFill>
            <a:prstDash val="solid"/>
          </a:ln>
        </p:spPr>
      </p:sp>
      <p:sp>
        <p:nvSpPr>
          <p:cNvPr id="23" name="Text 21"/>
          <p:cNvSpPr/>
          <p:nvPr/>
        </p:nvSpPr>
        <p:spPr>
          <a:xfrm>
            <a:off x="429768" y="2587752"/>
            <a:ext cx="4069080" cy="228600"/>
          </a:xfrm>
          <a:prstGeom prst="rect">
            <a:avLst/>
          </a:prstGeom>
          <a:noFill/>
          <a:ln/>
        </p:spPr>
        <p:txBody>
          <a:bodyPr wrap="square" lIns="0" tIns="0" rIns="0" bIns="0" rtlCol="0" anchor="ctr"/>
          <a:lstStyle/>
          <a:p>
            <a:pPr marL="0" indent="0">
              <a:buNone/>
            </a:pPr>
            <a:r>
              <a:rPr lang="en-US" sz="1000" b="1" dirty="0">
                <a:solidFill>
                  <a:srgbClr val="1A1A2E"/>
                </a:solidFill>
                <a:latin typeface="Calibri" pitchFamily="34" charset="0"/>
                <a:ea typeface="Calibri" pitchFamily="34" charset="-122"/>
                <a:cs typeface="Calibri" pitchFamily="34" charset="-120"/>
              </a:rPr>
              <a:t>Lack of Real-Time ICU Monitoring</a:t>
            </a:r>
            <a:endParaRPr lang="en-US" sz="1000" dirty="0"/>
          </a:p>
        </p:txBody>
      </p:sp>
      <p:sp>
        <p:nvSpPr>
          <p:cNvPr id="24" name="Text 22"/>
          <p:cNvSpPr/>
          <p:nvPr/>
        </p:nvSpPr>
        <p:spPr>
          <a:xfrm>
            <a:off x="429768" y="2834640"/>
            <a:ext cx="4069080" cy="713232"/>
          </a:xfrm>
          <a:prstGeom prst="rect">
            <a:avLst/>
          </a:prstGeom>
          <a:noFill/>
          <a:ln/>
        </p:spPr>
        <p:txBody>
          <a:bodyPr wrap="square" rtlCol="0" anchor="t"/>
          <a:lstStyle/>
          <a:p>
            <a:pPr marL="0" indent="0">
              <a:buNone/>
            </a:pPr>
            <a:r>
              <a:rPr lang="en-US" sz="850" dirty="0">
                <a:solidFill>
                  <a:srgbClr val="1A1A2E"/>
                </a:solidFill>
                <a:latin typeface="Calibri" pitchFamily="34" charset="0"/>
                <a:ea typeface="Calibri" pitchFamily="34" charset="-122"/>
                <a:cs typeface="Calibri" pitchFamily="34" charset="-120"/>
              </a:rPr>
              <a:t>Critical care patients require continuous vital-sign tracking for heart rate, blood pressure, SpO2, and temperature. Traditional hospital systems lack IoT integration, resulting in delayed detection of sudden deterioration events such as cardiac arrhythmias, septic shock, or respiratory failure.</a:t>
            </a:r>
            <a:endParaRPr lang="en-US" sz="850" dirty="0"/>
          </a:p>
        </p:txBody>
      </p:sp>
      <p:sp>
        <p:nvSpPr>
          <p:cNvPr id="25" name="Shape 23"/>
          <p:cNvSpPr/>
          <p:nvPr/>
        </p:nvSpPr>
        <p:spPr>
          <a:xfrm>
            <a:off x="4754880" y="2532888"/>
            <a:ext cx="4224528" cy="1069848"/>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26" name="Shape 24"/>
          <p:cNvSpPr/>
          <p:nvPr/>
        </p:nvSpPr>
        <p:spPr>
          <a:xfrm>
            <a:off x="4754880" y="2532888"/>
            <a:ext cx="59436" cy="1069848"/>
          </a:xfrm>
          <a:prstGeom prst="rect">
            <a:avLst/>
          </a:prstGeom>
          <a:solidFill>
            <a:srgbClr val="0D9488"/>
          </a:solidFill>
          <a:ln w="12700">
            <a:solidFill>
              <a:srgbClr val="0D9488"/>
            </a:solidFill>
            <a:prstDash val="solid"/>
          </a:ln>
        </p:spPr>
      </p:sp>
      <p:sp>
        <p:nvSpPr>
          <p:cNvPr id="27" name="Text 25"/>
          <p:cNvSpPr/>
          <p:nvPr/>
        </p:nvSpPr>
        <p:spPr>
          <a:xfrm>
            <a:off x="4864608" y="2587752"/>
            <a:ext cx="4069080" cy="228600"/>
          </a:xfrm>
          <a:prstGeom prst="rect">
            <a:avLst/>
          </a:prstGeom>
          <a:noFill/>
          <a:ln/>
        </p:spPr>
        <p:txBody>
          <a:bodyPr wrap="square" lIns="0" tIns="0" rIns="0" bIns="0" rtlCol="0" anchor="ctr"/>
          <a:lstStyle/>
          <a:p>
            <a:pPr marL="0" indent="0">
              <a:buNone/>
            </a:pPr>
            <a:r>
              <a:rPr lang="en-US" sz="1000" b="1" dirty="0">
                <a:solidFill>
                  <a:srgbClr val="1A1A2E"/>
                </a:solidFill>
                <a:latin typeface="Calibri" pitchFamily="34" charset="0"/>
                <a:ea typeface="Calibri" pitchFamily="34" charset="-122"/>
                <a:cs typeface="Calibri" pitchFamily="34" charset="-120"/>
              </a:rPr>
              <a:t>Poor Medication Adherence</a:t>
            </a:r>
            <a:endParaRPr lang="en-US" sz="1000" dirty="0"/>
          </a:p>
        </p:txBody>
      </p:sp>
      <p:sp>
        <p:nvSpPr>
          <p:cNvPr id="28" name="Text 26"/>
          <p:cNvSpPr/>
          <p:nvPr/>
        </p:nvSpPr>
        <p:spPr>
          <a:xfrm>
            <a:off x="4864608" y="2834640"/>
            <a:ext cx="4069080" cy="713232"/>
          </a:xfrm>
          <a:prstGeom prst="rect">
            <a:avLst/>
          </a:prstGeom>
          <a:noFill/>
          <a:ln/>
        </p:spPr>
        <p:txBody>
          <a:bodyPr wrap="square" rtlCol="0" anchor="t"/>
          <a:lstStyle/>
          <a:p>
            <a:pPr marL="0" indent="0">
              <a:buNone/>
            </a:pPr>
            <a:r>
              <a:rPr lang="en-US" sz="850" dirty="0">
                <a:solidFill>
                  <a:srgbClr val="1A1A2E"/>
                </a:solidFill>
                <a:latin typeface="Calibri" pitchFamily="34" charset="0"/>
                <a:ea typeface="Calibri" pitchFamily="34" charset="-122"/>
                <a:cs typeface="Calibri" pitchFamily="34" charset="-120"/>
              </a:rPr>
              <a:t>Approximately 50% of chronic disease patients — including diabetics and hypertension sufferers — fail to adhere to prescribed medication schedules. Without intelligent AI-driven reminder systems, non-adherence leads to disease progression and costly preventable hospital readmissions.</a:t>
            </a:r>
            <a:endParaRPr lang="en-US" sz="850" dirty="0"/>
          </a:p>
        </p:txBody>
      </p:sp>
      <p:sp>
        <p:nvSpPr>
          <p:cNvPr id="29" name="Shape 27"/>
          <p:cNvSpPr/>
          <p:nvPr/>
        </p:nvSpPr>
        <p:spPr>
          <a:xfrm>
            <a:off x="320040" y="3694176"/>
            <a:ext cx="4224528" cy="1069848"/>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30" name="Shape 28"/>
          <p:cNvSpPr/>
          <p:nvPr/>
        </p:nvSpPr>
        <p:spPr>
          <a:xfrm>
            <a:off x="320040" y="3694176"/>
            <a:ext cx="59436" cy="1069848"/>
          </a:xfrm>
          <a:prstGeom prst="rect">
            <a:avLst/>
          </a:prstGeom>
          <a:solidFill>
            <a:srgbClr val="7C3AED"/>
          </a:solidFill>
          <a:ln w="12700">
            <a:solidFill>
              <a:srgbClr val="7C3AED"/>
            </a:solidFill>
            <a:prstDash val="solid"/>
          </a:ln>
        </p:spPr>
      </p:sp>
      <p:sp>
        <p:nvSpPr>
          <p:cNvPr id="31" name="Text 29"/>
          <p:cNvSpPr/>
          <p:nvPr/>
        </p:nvSpPr>
        <p:spPr>
          <a:xfrm>
            <a:off x="429768" y="3749040"/>
            <a:ext cx="4069080" cy="228600"/>
          </a:xfrm>
          <a:prstGeom prst="rect">
            <a:avLst/>
          </a:prstGeom>
          <a:noFill/>
          <a:ln/>
        </p:spPr>
        <p:txBody>
          <a:bodyPr wrap="square" lIns="0" tIns="0" rIns="0" bIns="0" rtlCol="0" anchor="ctr"/>
          <a:lstStyle/>
          <a:p>
            <a:pPr marL="0" indent="0">
              <a:buNone/>
            </a:pPr>
            <a:r>
              <a:rPr lang="en-US" sz="1000" b="1" dirty="0">
                <a:solidFill>
                  <a:srgbClr val="1A1A2E"/>
                </a:solidFill>
                <a:latin typeface="Calibri" pitchFamily="34" charset="0"/>
                <a:ea typeface="Calibri" pitchFamily="34" charset="-122"/>
                <a:cs typeface="Calibri" pitchFamily="34" charset="-120"/>
              </a:rPr>
              <a:t>Inadequate Drug Interaction Alerts</a:t>
            </a:r>
            <a:endParaRPr lang="en-US" sz="1000" dirty="0"/>
          </a:p>
        </p:txBody>
      </p:sp>
      <p:sp>
        <p:nvSpPr>
          <p:cNvPr id="32" name="Text 30"/>
          <p:cNvSpPr/>
          <p:nvPr/>
        </p:nvSpPr>
        <p:spPr>
          <a:xfrm>
            <a:off x="429768" y="3995928"/>
            <a:ext cx="4069080" cy="713232"/>
          </a:xfrm>
          <a:prstGeom prst="rect">
            <a:avLst/>
          </a:prstGeom>
          <a:noFill/>
          <a:ln/>
        </p:spPr>
        <p:txBody>
          <a:bodyPr wrap="square" rtlCol="0" anchor="t"/>
          <a:lstStyle/>
          <a:p>
            <a:pPr marL="0" indent="0">
              <a:buNone/>
            </a:pPr>
            <a:r>
              <a:rPr lang="en-US" sz="850" dirty="0">
                <a:solidFill>
                  <a:srgbClr val="1A1A2E"/>
                </a:solidFill>
                <a:latin typeface="Calibri" pitchFamily="34" charset="0"/>
                <a:ea typeface="Calibri" pitchFamily="34" charset="-122"/>
                <a:cs typeface="Calibri" pitchFamily="34" charset="-120"/>
              </a:rPr>
              <a:t>Polypharmacy is common among elderly patients with multiple chronic conditions. Existing pharmacy systems frequently fail to detect harmful drug-drug interactions or patient-specific contraindications in real time, putting patient safety at serious risk during complex multi-drug prescriptions.</a:t>
            </a:r>
            <a:endParaRPr lang="en-US" sz="850" dirty="0"/>
          </a:p>
        </p:txBody>
      </p:sp>
      <p:sp>
        <p:nvSpPr>
          <p:cNvPr id="33" name="Shape 31"/>
          <p:cNvSpPr/>
          <p:nvPr/>
        </p:nvSpPr>
        <p:spPr>
          <a:xfrm>
            <a:off x="4754880" y="3694176"/>
            <a:ext cx="4224528" cy="1069848"/>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34" name="Shape 32"/>
          <p:cNvSpPr/>
          <p:nvPr/>
        </p:nvSpPr>
        <p:spPr>
          <a:xfrm>
            <a:off x="4754880" y="3694176"/>
            <a:ext cx="59436" cy="1069848"/>
          </a:xfrm>
          <a:prstGeom prst="rect">
            <a:avLst/>
          </a:prstGeom>
          <a:solidFill>
            <a:srgbClr val="1E8449"/>
          </a:solidFill>
          <a:ln w="12700">
            <a:solidFill>
              <a:srgbClr val="1E8449"/>
            </a:solidFill>
            <a:prstDash val="solid"/>
          </a:ln>
        </p:spPr>
      </p:sp>
      <p:sp>
        <p:nvSpPr>
          <p:cNvPr id="35" name="Text 33"/>
          <p:cNvSpPr/>
          <p:nvPr/>
        </p:nvSpPr>
        <p:spPr>
          <a:xfrm>
            <a:off x="4864608" y="3749040"/>
            <a:ext cx="4069080" cy="228600"/>
          </a:xfrm>
          <a:prstGeom prst="rect">
            <a:avLst/>
          </a:prstGeom>
          <a:noFill/>
          <a:ln/>
        </p:spPr>
        <p:txBody>
          <a:bodyPr wrap="square" lIns="0" tIns="0" rIns="0" bIns="0" rtlCol="0" anchor="ctr"/>
          <a:lstStyle/>
          <a:p>
            <a:pPr marL="0" indent="0">
              <a:buNone/>
            </a:pPr>
            <a:r>
              <a:rPr lang="en-US" sz="1000" b="1" dirty="0">
                <a:solidFill>
                  <a:srgbClr val="1A1A2E"/>
                </a:solidFill>
                <a:latin typeface="Calibri" pitchFamily="34" charset="0"/>
                <a:ea typeface="Calibri" pitchFamily="34" charset="-122"/>
                <a:cs typeface="Calibri" pitchFamily="34" charset="-120"/>
              </a:rPr>
              <a:t>Data Silos &amp; Poor Clinical Insights</a:t>
            </a:r>
            <a:endParaRPr lang="en-US" sz="1000" dirty="0"/>
          </a:p>
        </p:txBody>
      </p:sp>
      <p:sp>
        <p:nvSpPr>
          <p:cNvPr id="36" name="Text 34"/>
          <p:cNvSpPr/>
          <p:nvPr/>
        </p:nvSpPr>
        <p:spPr>
          <a:xfrm>
            <a:off x="4864608" y="3995928"/>
            <a:ext cx="4069080" cy="713232"/>
          </a:xfrm>
          <a:prstGeom prst="rect">
            <a:avLst/>
          </a:prstGeom>
          <a:noFill/>
          <a:ln/>
        </p:spPr>
        <p:txBody>
          <a:bodyPr wrap="square" rtlCol="0" anchor="t"/>
          <a:lstStyle/>
          <a:p>
            <a:pPr marL="0" indent="0">
              <a:buNone/>
            </a:pPr>
            <a:r>
              <a:rPr lang="en-US" sz="850" dirty="0">
                <a:solidFill>
                  <a:srgbClr val="1A1A2E"/>
                </a:solidFill>
                <a:latin typeface="Calibri" pitchFamily="34" charset="0"/>
                <a:ea typeface="Calibri" pitchFamily="34" charset="-122"/>
                <a:cs typeface="Calibri" pitchFamily="34" charset="-120"/>
              </a:rPr>
              <a:t>Healthcare decision-makers lack integrated analytics dashboards providing a population-level health view. Isolated institutional databases prevent proactive clinical interventions, leading to reactive care rather than evidence-based preventive health management.</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01F5F"/>
          </a:solidFill>
          <a:ln w="12700">
            <a:solidFill>
              <a:srgbClr val="FFFFFF"/>
            </a:solidFill>
            <a:prstDash val="solid"/>
          </a:ln>
        </p:spPr>
      </p:sp>
      <p:sp>
        <p:nvSpPr>
          <p:cNvPr id="3" name="Shape 1"/>
          <p:cNvSpPr/>
          <p:nvPr/>
        </p:nvSpPr>
        <p:spPr>
          <a:xfrm>
            <a:off x="0" y="621792"/>
            <a:ext cx="9144000" cy="50292"/>
          </a:xfrm>
          <a:prstGeom prst="rect">
            <a:avLst/>
          </a:prstGeom>
          <a:solidFill>
            <a:srgbClr val="1E8449"/>
          </a:solidFill>
          <a:ln w="12700">
            <a:solidFill>
              <a:srgbClr val="1E8449"/>
            </a:solidFill>
            <a:prstDash val="solid"/>
          </a:ln>
        </p:spPr>
      </p:sp>
      <p:sp>
        <p:nvSpPr>
          <p:cNvPr id="4" name="Text 2"/>
          <p:cNvSpPr/>
          <p:nvPr/>
        </p:nvSpPr>
        <p:spPr>
          <a:xfrm>
            <a:off x="292608" y="45720"/>
            <a:ext cx="7498080" cy="54864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Proposed System / Solution</a:t>
            </a:r>
            <a:endParaRPr lang="en-US" sz="1900" dirty="0"/>
          </a:p>
        </p:txBody>
      </p:sp>
      <p:sp>
        <p:nvSpPr>
          <p:cNvPr id="5" name="Shape 3"/>
          <p:cNvSpPr/>
          <p:nvPr/>
        </p:nvSpPr>
        <p:spPr>
          <a:xfrm>
            <a:off x="7818120" y="82296"/>
            <a:ext cx="1234440" cy="457200"/>
          </a:xfrm>
          <a:prstGeom prst="rect">
            <a:avLst/>
          </a:prstGeom>
          <a:solidFill>
            <a:srgbClr val="E8EFF8"/>
          </a:solidFill>
          <a:ln w="12700">
            <a:solidFill>
              <a:srgbClr val="1D4ED8"/>
            </a:solidFill>
            <a:prstDash val="solid"/>
          </a:ln>
        </p:spPr>
      </p:sp>
      <p:sp>
        <p:nvSpPr>
          <p:cNvPr id="6" name="Text 4"/>
          <p:cNvSpPr/>
          <p:nvPr/>
        </p:nvSpPr>
        <p:spPr>
          <a:xfrm>
            <a:off x="7818120" y="82296"/>
            <a:ext cx="1234440" cy="457200"/>
          </a:xfrm>
          <a:prstGeom prst="rect">
            <a:avLst/>
          </a:prstGeom>
          <a:noFill/>
          <a:ln/>
        </p:spPr>
        <p:txBody>
          <a:bodyPr wrap="square" rtlCol="0" anchor="ctr"/>
          <a:lstStyle/>
          <a:p>
            <a:pPr marL="0" indent="0" algn="ctr">
              <a:buNone/>
            </a:pPr>
            <a:r>
              <a:rPr lang="en-US" sz="700" b="1" dirty="0">
                <a:solidFill>
                  <a:srgbClr val="1D4ED8"/>
                </a:solidFill>
                <a:latin typeface="Calibri" pitchFamily="34" charset="0"/>
                <a:ea typeface="Calibri" pitchFamily="34" charset="-122"/>
                <a:cs typeface="Calibri" pitchFamily="34" charset="-120"/>
              </a:rPr>
              <a:t>Microsoft</a:t>
            </a:r>
            <a:endParaRPr lang="en-US" sz="700" dirty="0"/>
          </a:p>
          <a:p>
            <a:pPr marL="0" indent="0" algn="ctr">
              <a:buNone/>
            </a:pPr>
            <a:r>
              <a:rPr lang="en-US" sz="700" b="1" dirty="0">
                <a:solidFill>
                  <a:srgbClr val="1D4ED8"/>
                </a:solidFill>
                <a:latin typeface="Calibri" pitchFamily="34" charset="0"/>
                <a:ea typeface="Calibri" pitchFamily="34" charset="-122"/>
                <a:cs typeface="Calibri" pitchFamily="34" charset="-120"/>
              </a:rPr>
              <a:t>Elevate GTU</a:t>
            </a:r>
            <a:endParaRPr lang="en-US" sz="700" dirty="0"/>
          </a:p>
        </p:txBody>
      </p:sp>
      <p:sp>
        <p:nvSpPr>
          <p:cNvPr id="7" name="Shape 5"/>
          <p:cNvSpPr/>
          <p:nvPr/>
        </p:nvSpPr>
        <p:spPr>
          <a:xfrm>
            <a:off x="0" y="4873752"/>
            <a:ext cx="9144000" cy="50292"/>
          </a:xfrm>
          <a:prstGeom prst="rect">
            <a:avLst/>
          </a:prstGeom>
          <a:solidFill>
            <a:srgbClr val="1E8449"/>
          </a:solidFill>
          <a:ln w="12700">
            <a:solidFill>
              <a:srgbClr val="1E8449"/>
            </a:solidFill>
            <a:prstDash val="solid"/>
          </a:ln>
        </p:spPr>
      </p:sp>
      <p:sp>
        <p:nvSpPr>
          <p:cNvPr id="8" name="Shape 6"/>
          <p:cNvSpPr/>
          <p:nvPr/>
        </p:nvSpPr>
        <p:spPr>
          <a:xfrm>
            <a:off x="0" y="4924044"/>
            <a:ext cx="9144000" cy="219456"/>
          </a:xfrm>
          <a:prstGeom prst="rect">
            <a:avLst/>
          </a:prstGeom>
          <a:solidFill>
            <a:srgbClr val="FFFFFF"/>
          </a:solidFill>
          <a:ln w="12700">
            <a:solidFill>
              <a:srgbClr val="FFFFFF"/>
            </a:solidFill>
            <a:prstDash val="solid"/>
          </a:ln>
        </p:spPr>
      </p:sp>
      <p:sp>
        <p:nvSpPr>
          <p:cNvPr id="9" name="Text 7"/>
          <p:cNvSpPr/>
          <p:nvPr/>
        </p:nvSpPr>
        <p:spPr>
          <a:xfrm>
            <a:off x="228600" y="4924044"/>
            <a:ext cx="8046720" cy="219456"/>
          </a:xfrm>
          <a:prstGeom prst="rect">
            <a:avLst/>
          </a:prstGeom>
          <a:noFill/>
          <a:ln/>
        </p:spPr>
        <p:txBody>
          <a:bodyPr wrap="square" lIns="0" tIns="0" rIns="0" bIns="0" rtlCol="0" anchor="ctr"/>
          <a:lstStyle/>
          <a:p>
            <a:pPr marL="0" indent="0">
              <a:buNone/>
            </a:pPr>
            <a:r>
              <a:rPr lang="en-US" sz="650" dirty="0">
                <a:solidFill>
                  <a:srgbClr val="7B9ABF"/>
                </a:solidFill>
                <a:latin typeface="Calibri" pitchFamily="34" charset="0"/>
                <a:ea typeface="Calibri" pitchFamily="34" charset="-122"/>
                <a:cs typeface="Calibri" pitchFamily="34" charset="-120"/>
              </a:rPr>
              <a:t>Microsoft Elevate Internship Project  |  Healthcare &amp; Medication Management System  |  GTU Jan–Apr 2026</a:t>
            </a:r>
            <a:endParaRPr lang="en-US" sz="650" dirty="0"/>
          </a:p>
        </p:txBody>
      </p:sp>
      <p:sp>
        <p:nvSpPr>
          <p:cNvPr id="10" name="Text 8"/>
          <p:cNvSpPr/>
          <p:nvPr/>
        </p:nvSpPr>
        <p:spPr>
          <a:xfrm>
            <a:off x="8275320" y="4924044"/>
            <a:ext cx="731520" cy="219456"/>
          </a:xfrm>
          <a:prstGeom prst="rect">
            <a:avLst/>
          </a:prstGeom>
          <a:noFill/>
          <a:ln/>
        </p:spPr>
        <p:txBody>
          <a:bodyPr wrap="square" lIns="0" tIns="0" rIns="0" bIns="0" rtlCol="0" anchor="ctr"/>
          <a:lstStyle/>
          <a:p>
            <a:pPr marL="0" indent="0" algn="r">
              <a:buNone/>
            </a:pPr>
            <a:r>
              <a:rPr lang="en-US" sz="700" b="1" dirty="0">
                <a:solidFill>
                  <a:srgbClr val="1A1A2E"/>
                </a:solidFill>
                <a:latin typeface="Calibri" pitchFamily="34" charset="0"/>
                <a:ea typeface="Calibri" pitchFamily="34" charset="-122"/>
                <a:cs typeface="Calibri" pitchFamily="34" charset="-120"/>
              </a:rPr>
              <a:t>10 / 20</a:t>
            </a:r>
            <a:endParaRPr lang="en-US" sz="700" dirty="0"/>
          </a:p>
        </p:txBody>
      </p:sp>
      <p:sp>
        <p:nvSpPr>
          <p:cNvPr id="11" name="Text 9"/>
          <p:cNvSpPr/>
          <p:nvPr/>
        </p:nvSpPr>
        <p:spPr>
          <a:xfrm>
            <a:off x="320040" y="777240"/>
            <a:ext cx="8503920" cy="274320"/>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Healthcare Challenges &amp; Proposed Solutions</a:t>
            </a:r>
            <a:endParaRPr lang="en-US" sz="1300" dirty="0"/>
          </a:p>
        </p:txBody>
      </p:sp>
      <p:sp>
        <p:nvSpPr>
          <p:cNvPr id="12" name="Shape 10"/>
          <p:cNvSpPr/>
          <p:nvPr/>
        </p:nvSpPr>
        <p:spPr>
          <a:xfrm>
            <a:off x="320040" y="1078992"/>
            <a:ext cx="4023360" cy="274320"/>
          </a:xfrm>
          <a:prstGeom prst="rect">
            <a:avLst/>
          </a:prstGeom>
          <a:solidFill>
            <a:srgbClr val="DC2626"/>
          </a:solidFill>
          <a:ln w="12700">
            <a:solidFill>
              <a:srgbClr val="DC2626"/>
            </a:solidFill>
            <a:prstDash val="solid"/>
          </a:ln>
        </p:spPr>
      </p:sp>
      <p:sp>
        <p:nvSpPr>
          <p:cNvPr id="13" name="Text 11"/>
          <p:cNvSpPr/>
          <p:nvPr/>
        </p:nvSpPr>
        <p:spPr>
          <a:xfrm>
            <a:off x="320040" y="1078992"/>
            <a:ext cx="4023360" cy="274320"/>
          </a:xfrm>
          <a:prstGeom prst="rect">
            <a:avLst/>
          </a:prstGeom>
          <a:noFill/>
          <a:ln/>
        </p:spPr>
        <p:txBody>
          <a:bodyPr wrap="square" lIns="0" tIns="0" rIns="0" bIns="0" rtlCol="0" anchor="ctr"/>
          <a:lstStyle/>
          <a:p>
            <a:pPr marL="0" indent="0" algn="ctr">
              <a:buNone/>
            </a:pPr>
            <a:r>
              <a:rPr lang="en-US" sz="1000" b="1" dirty="0">
                <a:solidFill>
                  <a:srgbClr val="1A1A2E"/>
                </a:solidFill>
                <a:latin typeface="Calibri" pitchFamily="34" charset="0"/>
                <a:ea typeface="Calibri" pitchFamily="34" charset="-122"/>
                <a:cs typeface="Calibri" pitchFamily="34" charset="-120"/>
              </a:rPr>
              <a:t>KEY CHALLENGES</a:t>
            </a:r>
            <a:endParaRPr lang="en-US" sz="1000" dirty="0"/>
          </a:p>
        </p:txBody>
      </p:sp>
      <p:sp>
        <p:nvSpPr>
          <p:cNvPr id="14" name="Shape 12"/>
          <p:cNvSpPr/>
          <p:nvPr/>
        </p:nvSpPr>
        <p:spPr>
          <a:xfrm>
            <a:off x="4800600" y="1078992"/>
            <a:ext cx="4023360" cy="274320"/>
          </a:xfrm>
          <a:prstGeom prst="rect">
            <a:avLst/>
          </a:prstGeom>
          <a:solidFill>
            <a:srgbClr val="1E8449"/>
          </a:solidFill>
          <a:ln w="12700">
            <a:solidFill>
              <a:srgbClr val="1E8449"/>
            </a:solidFill>
            <a:prstDash val="solid"/>
          </a:ln>
        </p:spPr>
      </p:sp>
      <p:sp>
        <p:nvSpPr>
          <p:cNvPr id="15" name="Text 13"/>
          <p:cNvSpPr/>
          <p:nvPr/>
        </p:nvSpPr>
        <p:spPr>
          <a:xfrm>
            <a:off x="4800600" y="1078992"/>
            <a:ext cx="4023360" cy="274320"/>
          </a:xfrm>
          <a:prstGeom prst="rect">
            <a:avLst/>
          </a:prstGeom>
          <a:noFill/>
          <a:ln/>
        </p:spPr>
        <p:txBody>
          <a:bodyPr wrap="square" lIns="0" tIns="0" rIns="0" bIns="0" rtlCol="0" anchor="ctr"/>
          <a:lstStyle/>
          <a:p>
            <a:pPr marL="0" indent="0" algn="ctr">
              <a:buNone/>
            </a:pPr>
            <a:r>
              <a:rPr lang="en-US" sz="1000" b="1" dirty="0">
                <a:solidFill>
                  <a:srgbClr val="1A1A2E"/>
                </a:solidFill>
                <a:latin typeface="Calibri" pitchFamily="34" charset="0"/>
                <a:ea typeface="Calibri" pitchFamily="34" charset="-122"/>
                <a:cs typeface="Calibri" pitchFamily="34" charset="-120"/>
              </a:rPr>
              <a:t>PROPOSED SOLUTIONS</a:t>
            </a:r>
            <a:endParaRPr lang="en-US" sz="1000" dirty="0"/>
          </a:p>
        </p:txBody>
      </p:sp>
      <p:sp>
        <p:nvSpPr>
          <p:cNvPr id="16" name="Shape 14"/>
          <p:cNvSpPr/>
          <p:nvPr/>
        </p:nvSpPr>
        <p:spPr>
          <a:xfrm>
            <a:off x="320040" y="1389888"/>
            <a:ext cx="4023360" cy="512064"/>
          </a:xfrm>
          <a:prstGeom prst="rect">
            <a:avLst/>
          </a:prstGeom>
          <a:solidFill>
            <a:srgbClr val="F0F4FA"/>
          </a:solidFill>
          <a:ln w="12700">
            <a:solidFill>
              <a:srgbClr val="F0F4FA"/>
            </a:solidFill>
            <a:prstDash val="solid"/>
          </a:ln>
        </p:spPr>
      </p:sp>
      <p:sp>
        <p:nvSpPr>
          <p:cNvPr id="17" name="Shape 15"/>
          <p:cNvSpPr/>
          <p:nvPr/>
        </p:nvSpPr>
        <p:spPr>
          <a:xfrm>
            <a:off x="320040" y="1389888"/>
            <a:ext cx="54864" cy="512064"/>
          </a:xfrm>
          <a:prstGeom prst="rect">
            <a:avLst/>
          </a:prstGeom>
          <a:solidFill>
            <a:srgbClr val="DC2626"/>
          </a:solidFill>
          <a:ln w="12700">
            <a:solidFill>
              <a:srgbClr val="DC2626"/>
            </a:solidFill>
            <a:prstDash val="solid"/>
          </a:ln>
        </p:spPr>
      </p:sp>
      <p:sp>
        <p:nvSpPr>
          <p:cNvPr id="18" name="Text 16"/>
          <p:cNvSpPr/>
          <p:nvPr/>
        </p:nvSpPr>
        <p:spPr>
          <a:xfrm>
            <a:off x="429768" y="1453896"/>
            <a:ext cx="3840480" cy="384048"/>
          </a:xfrm>
          <a:prstGeom prst="rect">
            <a:avLst/>
          </a:prstGeom>
          <a:noFill/>
          <a:ln/>
        </p:spPr>
        <p:txBody>
          <a:bodyPr wrap="square" rtlCol="0" anchor="t"/>
          <a:lstStyle/>
          <a:p>
            <a:pPr marL="0" indent="0">
              <a:buNone/>
            </a:pPr>
            <a:r>
              <a:rPr lang="en-US" sz="850" dirty="0">
                <a:solidFill>
                  <a:srgbClr val="1A1A2E"/>
                </a:solidFill>
                <a:latin typeface="Calibri" pitchFamily="34" charset="0"/>
                <a:ea typeface="Calibri" pitchFamily="34" charset="-122"/>
                <a:cs typeface="Calibri" pitchFamily="34" charset="-120"/>
              </a:rPr>
              <a:t>Fragmented patient records across multiple healthcare systems</a:t>
            </a:r>
            <a:endParaRPr lang="en-US" sz="850" dirty="0"/>
          </a:p>
        </p:txBody>
      </p:sp>
      <p:sp>
        <p:nvSpPr>
          <p:cNvPr id="19" name="Text 17"/>
          <p:cNvSpPr/>
          <p:nvPr/>
        </p:nvSpPr>
        <p:spPr>
          <a:xfrm>
            <a:off x="4370832" y="1508760"/>
            <a:ext cx="402336" cy="274320"/>
          </a:xfrm>
          <a:prstGeom prst="rect">
            <a:avLst/>
          </a:prstGeom>
          <a:noFill/>
          <a:ln/>
        </p:spPr>
        <p:txBody>
          <a:bodyPr wrap="square" rtlCol="0" anchor="ctr"/>
          <a:lstStyle/>
          <a:p>
            <a:pPr marL="0" indent="0" algn="ctr">
              <a:buNone/>
            </a:pPr>
            <a:r>
              <a:rPr lang="en-US" sz="1400" dirty="0">
                <a:solidFill>
                  <a:srgbClr val="1D4ED8"/>
                </a:solidFill>
                <a:latin typeface="Calibri" pitchFamily="34" charset="0"/>
                <a:ea typeface="Calibri" pitchFamily="34" charset="-122"/>
                <a:cs typeface="Calibri" pitchFamily="34" charset="-120"/>
              </a:rPr>
              <a:t>→</a:t>
            </a:r>
            <a:endParaRPr lang="en-US" sz="1400" dirty="0"/>
          </a:p>
        </p:txBody>
      </p:sp>
      <p:sp>
        <p:nvSpPr>
          <p:cNvPr id="20" name="Shape 18"/>
          <p:cNvSpPr/>
          <p:nvPr/>
        </p:nvSpPr>
        <p:spPr>
          <a:xfrm>
            <a:off x="4800600" y="1389888"/>
            <a:ext cx="4023360" cy="512064"/>
          </a:xfrm>
          <a:prstGeom prst="rect">
            <a:avLst/>
          </a:prstGeom>
          <a:solidFill>
            <a:srgbClr val="F0F4FA"/>
          </a:solidFill>
          <a:ln w="12700">
            <a:solidFill>
              <a:srgbClr val="F0F4FA"/>
            </a:solidFill>
            <a:prstDash val="solid"/>
          </a:ln>
        </p:spPr>
      </p:sp>
      <p:sp>
        <p:nvSpPr>
          <p:cNvPr id="21" name="Shape 19"/>
          <p:cNvSpPr/>
          <p:nvPr/>
        </p:nvSpPr>
        <p:spPr>
          <a:xfrm>
            <a:off x="4800600" y="1389888"/>
            <a:ext cx="54864" cy="512064"/>
          </a:xfrm>
          <a:prstGeom prst="rect">
            <a:avLst/>
          </a:prstGeom>
          <a:solidFill>
            <a:srgbClr val="1E8449"/>
          </a:solidFill>
          <a:ln w="12700">
            <a:solidFill>
              <a:srgbClr val="1E8449"/>
            </a:solidFill>
            <a:prstDash val="solid"/>
          </a:ln>
        </p:spPr>
      </p:sp>
      <p:sp>
        <p:nvSpPr>
          <p:cNvPr id="22" name="Text 20"/>
          <p:cNvSpPr/>
          <p:nvPr/>
        </p:nvSpPr>
        <p:spPr>
          <a:xfrm>
            <a:off x="4910328" y="1453896"/>
            <a:ext cx="3840480" cy="384048"/>
          </a:xfrm>
          <a:prstGeom prst="rect">
            <a:avLst/>
          </a:prstGeom>
          <a:noFill/>
          <a:ln/>
        </p:spPr>
        <p:txBody>
          <a:bodyPr wrap="square" rtlCol="0" anchor="t"/>
          <a:lstStyle/>
          <a:p>
            <a:pPr marL="0" indent="0">
              <a:buNone/>
            </a:pPr>
            <a:r>
              <a:rPr lang="en-US" sz="850" dirty="0">
                <a:solidFill>
                  <a:srgbClr val="1A1A2E"/>
                </a:solidFill>
                <a:latin typeface="Calibri" pitchFamily="34" charset="0"/>
                <a:ea typeface="Calibri" pitchFamily="34" charset="-122"/>
                <a:cs typeface="Calibri" pitchFamily="34" charset="-120"/>
              </a:rPr>
              <a:t>Unified EHR integration using HL7 FHIR API standards — single longitudinal patient view</a:t>
            </a:r>
            <a:endParaRPr lang="en-US" sz="850" dirty="0"/>
          </a:p>
        </p:txBody>
      </p:sp>
      <p:sp>
        <p:nvSpPr>
          <p:cNvPr id="23" name="Shape 21"/>
          <p:cNvSpPr/>
          <p:nvPr/>
        </p:nvSpPr>
        <p:spPr>
          <a:xfrm>
            <a:off x="320040" y="1975104"/>
            <a:ext cx="4023360" cy="512064"/>
          </a:xfrm>
          <a:prstGeom prst="rect">
            <a:avLst/>
          </a:prstGeom>
          <a:solidFill>
            <a:srgbClr val="EDF2FB"/>
          </a:solidFill>
          <a:ln w="12700">
            <a:solidFill>
              <a:srgbClr val="F0F4FA"/>
            </a:solidFill>
            <a:prstDash val="solid"/>
          </a:ln>
        </p:spPr>
      </p:sp>
      <p:sp>
        <p:nvSpPr>
          <p:cNvPr id="24" name="Shape 22"/>
          <p:cNvSpPr/>
          <p:nvPr/>
        </p:nvSpPr>
        <p:spPr>
          <a:xfrm>
            <a:off x="320040" y="1975104"/>
            <a:ext cx="54864" cy="512064"/>
          </a:xfrm>
          <a:prstGeom prst="rect">
            <a:avLst/>
          </a:prstGeom>
          <a:solidFill>
            <a:srgbClr val="DC2626"/>
          </a:solidFill>
          <a:ln w="12700">
            <a:solidFill>
              <a:srgbClr val="DC2626"/>
            </a:solidFill>
            <a:prstDash val="solid"/>
          </a:ln>
        </p:spPr>
      </p:sp>
      <p:sp>
        <p:nvSpPr>
          <p:cNvPr id="25" name="Text 23"/>
          <p:cNvSpPr/>
          <p:nvPr/>
        </p:nvSpPr>
        <p:spPr>
          <a:xfrm>
            <a:off x="429768" y="2039112"/>
            <a:ext cx="3840480" cy="384048"/>
          </a:xfrm>
          <a:prstGeom prst="rect">
            <a:avLst/>
          </a:prstGeom>
          <a:noFill/>
          <a:ln/>
        </p:spPr>
        <p:txBody>
          <a:bodyPr wrap="square" rtlCol="0" anchor="t"/>
          <a:lstStyle/>
          <a:p>
            <a:pPr marL="0" indent="0">
              <a:buNone/>
            </a:pPr>
            <a:r>
              <a:rPr lang="en-US" sz="850" dirty="0">
                <a:solidFill>
                  <a:srgbClr val="1A1A2E"/>
                </a:solidFill>
                <a:latin typeface="Calibri" pitchFamily="34" charset="0"/>
                <a:ea typeface="Calibri" pitchFamily="34" charset="-122"/>
                <a:cs typeface="Calibri" pitchFamily="34" charset="-120"/>
              </a:rPr>
              <a:t>High medication error rates due to manual dispensing processes</a:t>
            </a:r>
            <a:endParaRPr lang="en-US" sz="850" dirty="0"/>
          </a:p>
        </p:txBody>
      </p:sp>
      <p:sp>
        <p:nvSpPr>
          <p:cNvPr id="26" name="Text 24"/>
          <p:cNvSpPr/>
          <p:nvPr/>
        </p:nvSpPr>
        <p:spPr>
          <a:xfrm>
            <a:off x="4370832" y="2093976"/>
            <a:ext cx="402336" cy="274320"/>
          </a:xfrm>
          <a:prstGeom prst="rect">
            <a:avLst/>
          </a:prstGeom>
          <a:noFill/>
          <a:ln/>
        </p:spPr>
        <p:txBody>
          <a:bodyPr wrap="square" rtlCol="0" anchor="ctr"/>
          <a:lstStyle/>
          <a:p>
            <a:pPr marL="0" indent="0" algn="ctr">
              <a:buNone/>
            </a:pPr>
            <a:r>
              <a:rPr lang="en-US" sz="1400" dirty="0">
                <a:solidFill>
                  <a:srgbClr val="1D4ED8"/>
                </a:solidFill>
                <a:latin typeface="Calibri" pitchFamily="34" charset="0"/>
                <a:ea typeface="Calibri" pitchFamily="34" charset="-122"/>
                <a:cs typeface="Calibri" pitchFamily="34" charset="-120"/>
              </a:rPr>
              <a:t>→</a:t>
            </a:r>
            <a:endParaRPr lang="en-US" sz="1400" dirty="0"/>
          </a:p>
        </p:txBody>
      </p:sp>
      <p:sp>
        <p:nvSpPr>
          <p:cNvPr id="27" name="Shape 25"/>
          <p:cNvSpPr/>
          <p:nvPr/>
        </p:nvSpPr>
        <p:spPr>
          <a:xfrm>
            <a:off x="4800600" y="1975104"/>
            <a:ext cx="4023360" cy="512064"/>
          </a:xfrm>
          <a:prstGeom prst="rect">
            <a:avLst/>
          </a:prstGeom>
          <a:solidFill>
            <a:srgbClr val="EDF2FB"/>
          </a:solidFill>
          <a:ln w="12700">
            <a:solidFill>
              <a:srgbClr val="F0F4FA"/>
            </a:solidFill>
            <a:prstDash val="solid"/>
          </a:ln>
        </p:spPr>
      </p:sp>
      <p:sp>
        <p:nvSpPr>
          <p:cNvPr id="28" name="Shape 26"/>
          <p:cNvSpPr/>
          <p:nvPr/>
        </p:nvSpPr>
        <p:spPr>
          <a:xfrm>
            <a:off x="4800600" y="1975104"/>
            <a:ext cx="54864" cy="512064"/>
          </a:xfrm>
          <a:prstGeom prst="rect">
            <a:avLst/>
          </a:prstGeom>
          <a:solidFill>
            <a:srgbClr val="1E8449"/>
          </a:solidFill>
          <a:ln w="12700">
            <a:solidFill>
              <a:srgbClr val="1E8449"/>
            </a:solidFill>
            <a:prstDash val="solid"/>
          </a:ln>
        </p:spPr>
      </p:sp>
      <p:sp>
        <p:nvSpPr>
          <p:cNvPr id="29" name="Text 27"/>
          <p:cNvSpPr/>
          <p:nvPr/>
        </p:nvSpPr>
        <p:spPr>
          <a:xfrm>
            <a:off x="4910328" y="2039112"/>
            <a:ext cx="3840480" cy="384048"/>
          </a:xfrm>
          <a:prstGeom prst="rect">
            <a:avLst/>
          </a:prstGeom>
          <a:noFill/>
          <a:ln/>
        </p:spPr>
        <p:txBody>
          <a:bodyPr wrap="square" rtlCol="0" anchor="t"/>
          <a:lstStyle/>
          <a:p>
            <a:pPr marL="0" indent="0">
              <a:buNone/>
            </a:pPr>
            <a:r>
              <a:rPr lang="en-US" sz="850" dirty="0">
                <a:solidFill>
                  <a:srgbClr val="1A1A2E"/>
                </a:solidFill>
                <a:latin typeface="Calibri" pitchFamily="34" charset="0"/>
                <a:ea typeface="Calibri" pitchFamily="34" charset="-122"/>
                <a:cs typeface="Calibri" pitchFamily="34" charset="-120"/>
              </a:rPr>
              <a:t>AI-driven medication error detection engine achieving 97% accuracy with real-time alerts</a:t>
            </a:r>
            <a:endParaRPr lang="en-US" sz="850" dirty="0"/>
          </a:p>
        </p:txBody>
      </p:sp>
      <p:sp>
        <p:nvSpPr>
          <p:cNvPr id="30" name="Shape 28"/>
          <p:cNvSpPr/>
          <p:nvPr/>
        </p:nvSpPr>
        <p:spPr>
          <a:xfrm>
            <a:off x="320040" y="2560320"/>
            <a:ext cx="4023360" cy="512064"/>
          </a:xfrm>
          <a:prstGeom prst="rect">
            <a:avLst/>
          </a:prstGeom>
          <a:solidFill>
            <a:srgbClr val="F0F4FA"/>
          </a:solidFill>
          <a:ln w="12700">
            <a:solidFill>
              <a:srgbClr val="F0F4FA"/>
            </a:solidFill>
            <a:prstDash val="solid"/>
          </a:ln>
        </p:spPr>
      </p:sp>
      <p:sp>
        <p:nvSpPr>
          <p:cNvPr id="31" name="Shape 29"/>
          <p:cNvSpPr/>
          <p:nvPr/>
        </p:nvSpPr>
        <p:spPr>
          <a:xfrm>
            <a:off x="320040" y="2560320"/>
            <a:ext cx="54864" cy="512064"/>
          </a:xfrm>
          <a:prstGeom prst="rect">
            <a:avLst/>
          </a:prstGeom>
          <a:solidFill>
            <a:srgbClr val="DC2626"/>
          </a:solidFill>
          <a:ln w="12700">
            <a:solidFill>
              <a:srgbClr val="DC2626"/>
            </a:solidFill>
            <a:prstDash val="solid"/>
          </a:ln>
        </p:spPr>
      </p:sp>
      <p:sp>
        <p:nvSpPr>
          <p:cNvPr id="32" name="Text 30"/>
          <p:cNvSpPr/>
          <p:nvPr/>
        </p:nvSpPr>
        <p:spPr>
          <a:xfrm>
            <a:off x="429768" y="2624328"/>
            <a:ext cx="3840480" cy="384048"/>
          </a:xfrm>
          <a:prstGeom prst="rect">
            <a:avLst/>
          </a:prstGeom>
          <a:noFill/>
          <a:ln/>
        </p:spPr>
        <p:txBody>
          <a:bodyPr wrap="square" rtlCol="0" anchor="t"/>
          <a:lstStyle/>
          <a:p>
            <a:pPr marL="0" indent="0">
              <a:buNone/>
            </a:pPr>
            <a:r>
              <a:rPr lang="en-US" sz="850" dirty="0">
                <a:solidFill>
                  <a:srgbClr val="1A1A2E"/>
                </a:solidFill>
                <a:latin typeface="Calibri" pitchFamily="34" charset="0"/>
                <a:ea typeface="Calibri" pitchFamily="34" charset="-122"/>
                <a:cs typeface="Calibri" pitchFamily="34" charset="-120"/>
              </a:rPr>
              <a:t>Lack of real-time monitoring for ICU and critical patients</a:t>
            </a:r>
            <a:endParaRPr lang="en-US" sz="850" dirty="0"/>
          </a:p>
        </p:txBody>
      </p:sp>
      <p:sp>
        <p:nvSpPr>
          <p:cNvPr id="33" name="Text 31"/>
          <p:cNvSpPr/>
          <p:nvPr/>
        </p:nvSpPr>
        <p:spPr>
          <a:xfrm>
            <a:off x="4370832" y="2679192"/>
            <a:ext cx="402336" cy="274320"/>
          </a:xfrm>
          <a:prstGeom prst="rect">
            <a:avLst/>
          </a:prstGeom>
          <a:noFill/>
          <a:ln/>
        </p:spPr>
        <p:txBody>
          <a:bodyPr wrap="square" rtlCol="0" anchor="ctr"/>
          <a:lstStyle/>
          <a:p>
            <a:pPr marL="0" indent="0" algn="ctr">
              <a:buNone/>
            </a:pPr>
            <a:r>
              <a:rPr lang="en-US" sz="1400" dirty="0">
                <a:solidFill>
                  <a:srgbClr val="1D4ED8"/>
                </a:solidFill>
                <a:latin typeface="Calibri" pitchFamily="34" charset="0"/>
                <a:ea typeface="Calibri" pitchFamily="34" charset="-122"/>
                <a:cs typeface="Calibri" pitchFamily="34" charset="-120"/>
              </a:rPr>
              <a:t>→</a:t>
            </a:r>
            <a:endParaRPr lang="en-US" sz="1400" dirty="0"/>
          </a:p>
        </p:txBody>
      </p:sp>
      <p:sp>
        <p:nvSpPr>
          <p:cNvPr id="34" name="Shape 32"/>
          <p:cNvSpPr/>
          <p:nvPr/>
        </p:nvSpPr>
        <p:spPr>
          <a:xfrm>
            <a:off x="4800600" y="2560320"/>
            <a:ext cx="4023360" cy="512064"/>
          </a:xfrm>
          <a:prstGeom prst="rect">
            <a:avLst/>
          </a:prstGeom>
          <a:solidFill>
            <a:srgbClr val="F0F4FA"/>
          </a:solidFill>
          <a:ln w="12700">
            <a:solidFill>
              <a:srgbClr val="F0F4FA"/>
            </a:solidFill>
            <a:prstDash val="solid"/>
          </a:ln>
        </p:spPr>
      </p:sp>
      <p:sp>
        <p:nvSpPr>
          <p:cNvPr id="35" name="Shape 33"/>
          <p:cNvSpPr/>
          <p:nvPr/>
        </p:nvSpPr>
        <p:spPr>
          <a:xfrm>
            <a:off x="4800600" y="2560320"/>
            <a:ext cx="54864" cy="512064"/>
          </a:xfrm>
          <a:prstGeom prst="rect">
            <a:avLst/>
          </a:prstGeom>
          <a:solidFill>
            <a:srgbClr val="1E8449"/>
          </a:solidFill>
          <a:ln w="12700">
            <a:solidFill>
              <a:srgbClr val="1E8449"/>
            </a:solidFill>
            <a:prstDash val="solid"/>
          </a:ln>
        </p:spPr>
      </p:sp>
      <p:sp>
        <p:nvSpPr>
          <p:cNvPr id="36" name="Text 34"/>
          <p:cNvSpPr/>
          <p:nvPr/>
        </p:nvSpPr>
        <p:spPr>
          <a:xfrm>
            <a:off x="4910328" y="2624328"/>
            <a:ext cx="3840480" cy="384048"/>
          </a:xfrm>
          <a:prstGeom prst="rect">
            <a:avLst/>
          </a:prstGeom>
          <a:noFill/>
          <a:ln/>
        </p:spPr>
        <p:txBody>
          <a:bodyPr wrap="square" rtlCol="0" anchor="t"/>
          <a:lstStyle/>
          <a:p>
            <a:pPr marL="0" indent="0">
              <a:buNone/>
            </a:pPr>
            <a:r>
              <a:rPr lang="en-US" sz="850" dirty="0">
                <a:solidFill>
                  <a:srgbClr val="1A1A2E"/>
                </a:solidFill>
                <a:latin typeface="Calibri" pitchFamily="34" charset="0"/>
                <a:ea typeface="Calibri" pitchFamily="34" charset="-122"/>
                <a:cs typeface="Calibri" pitchFamily="34" charset="-120"/>
              </a:rPr>
              <a:t>IoT real-time vitals dashboard with Azure Stream Analytics — sub-90-second alert response</a:t>
            </a:r>
            <a:endParaRPr lang="en-US" sz="850" dirty="0"/>
          </a:p>
        </p:txBody>
      </p:sp>
      <p:sp>
        <p:nvSpPr>
          <p:cNvPr id="37" name="Shape 35"/>
          <p:cNvSpPr/>
          <p:nvPr/>
        </p:nvSpPr>
        <p:spPr>
          <a:xfrm>
            <a:off x="320040" y="3145536"/>
            <a:ext cx="4023360" cy="512064"/>
          </a:xfrm>
          <a:prstGeom prst="rect">
            <a:avLst/>
          </a:prstGeom>
          <a:solidFill>
            <a:srgbClr val="EDF2FB"/>
          </a:solidFill>
          <a:ln w="12700">
            <a:solidFill>
              <a:srgbClr val="F0F4FA"/>
            </a:solidFill>
            <a:prstDash val="solid"/>
          </a:ln>
        </p:spPr>
      </p:sp>
      <p:sp>
        <p:nvSpPr>
          <p:cNvPr id="38" name="Shape 36"/>
          <p:cNvSpPr/>
          <p:nvPr/>
        </p:nvSpPr>
        <p:spPr>
          <a:xfrm>
            <a:off x="320040" y="3145536"/>
            <a:ext cx="54864" cy="512064"/>
          </a:xfrm>
          <a:prstGeom prst="rect">
            <a:avLst/>
          </a:prstGeom>
          <a:solidFill>
            <a:srgbClr val="DC2626"/>
          </a:solidFill>
          <a:ln w="12700">
            <a:solidFill>
              <a:srgbClr val="DC2626"/>
            </a:solidFill>
            <a:prstDash val="solid"/>
          </a:ln>
        </p:spPr>
      </p:sp>
      <p:sp>
        <p:nvSpPr>
          <p:cNvPr id="39" name="Text 37"/>
          <p:cNvSpPr/>
          <p:nvPr/>
        </p:nvSpPr>
        <p:spPr>
          <a:xfrm>
            <a:off x="429768" y="3209544"/>
            <a:ext cx="3840480" cy="384048"/>
          </a:xfrm>
          <a:prstGeom prst="rect">
            <a:avLst/>
          </a:prstGeom>
          <a:noFill/>
          <a:ln/>
        </p:spPr>
        <p:txBody>
          <a:bodyPr wrap="square" rtlCol="0" anchor="t"/>
          <a:lstStyle/>
          <a:p>
            <a:pPr marL="0" indent="0">
              <a:buNone/>
            </a:pPr>
            <a:r>
              <a:rPr lang="en-US" sz="850" dirty="0">
                <a:solidFill>
                  <a:srgbClr val="1A1A2E"/>
                </a:solidFill>
                <a:latin typeface="Calibri" pitchFamily="34" charset="0"/>
                <a:ea typeface="Calibri" pitchFamily="34" charset="-122"/>
                <a:cs typeface="Calibri" pitchFamily="34" charset="-120"/>
              </a:rPr>
              <a:t>Poor adherence: 50% of chronic patients miss medication doses</a:t>
            </a:r>
            <a:endParaRPr lang="en-US" sz="850" dirty="0"/>
          </a:p>
        </p:txBody>
      </p:sp>
      <p:sp>
        <p:nvSpPr>
          <p:cNvPr id="40" name="Text 38"/>
          <p:cNvSpPr/>
          <p:nvPr/>
        </p:nvSpPr>
        <p:spPr>
          <a:xfrm>
            <a:off x="4370832" y="3264408"/>
            <a:ext cx="402336" cy="274320"/>
          </a:xfrm>
          <a:prstGeom prst="rect">
            <a:avLst/>
          </a:prstGeom>
          <a:noFill/>
          <a:ln/>
        </p:spPr>
        <p:txBody>
          <a:bodyPr wrap="square" rtlCol="0" anchor="ctr"/>
          <a:lstStyle/>
          <a:p>
            <a:pPr marL="0" indent="0" algn="ctr">
              <a:buNone/>
            </a:pPr>
            <a:r>
              <a:rPr lang="en-US" sz="1400" dirty="0">
                <a:solidFill>
                  <a:srgbClr val="1D4ED8"/>
                </a:solidFill>
                <a:latin typeface="Calibri" pitchFamily="34" charset="0"/>
                <a:ea typeface="Calibri" pitchFamily="34" charset="-122"/>
                <a:cs typeface="Calibri" pitchFamily="34" charset="-120"/>
              </a:rPr>
              <a:t>→</a:t>
            </a:r>
            <a:endParaRPr lang="en-US" sz="1400" dirty="0"/>
          </a:p>
        </p:txBody>
      </p:sp>
      <p:sp>
        <p:nvSpPr>
          <p:cNvPr id="41" name="Shape 39"/>
          <p:cNvSpPr/>
          <p:nvPr/>
        </p:nvSpPr>
        <p:spPr>
          <a:xfrm>
            <a:off x="4800600" y="3145536"/>
            <a:ext cx="4023360" cy="512064"/>
          </a:xfrm>
          <a:prstGeom prst="rect">
            <a:avLst/>
          </a:prstGeom>
          <a:solidFill>
            <a:srgbClr val="EDF2FB"/>
          </a:solidFill>
          <a:ln w="12700">
            <a:solidFill>
              <a:srgbClr val="F0F4FA"/>
            </a:solidFill>
            <a:prstDash val="solid"/>
          </a:ln>
        </p:spPr>
      </p:sp>
      <p:sp>
        <p:nvSpPr>
          <p:cNvPr id="42" name="Shape 40"/>
          <p:cNvSpPr/>
          <p:nvPr/>
        </p:nvSpPr>
        <p:spPr>
          <a:xfrm>
            <a:off x="4800600" y="3145536"/>
            <a:ext cx="54864" cy="512064"/>
          </a:xfrm>
          <a:prstGeom prst="rect">
            <a:avLst/>
          </a:prstGeom>
          <a:solidFill>
            <a:srgbClr val="1E8449"/>
          </a:solidFill>
          <a:ln w="12700">
            <a:solidFill>
              <a:srgbClr val="1E8449"/>
            </a:solidFill>
            <a:prstDash val="solid"/>
          </a:ln>
        </p:spPr>
      </p:sp>
      <p:sp>
        <p:nvSpPr>
          <p:cNvPr id="43" name="Text 41"/>
          <p:cNvSpPr/>
          <p:nvPr/>
        </p:nvSpPr>
        <p:spPr>
          <a:xfrm>
            <a:off x="4910328" y="3209544"/>
            <a:ext cx="3840480" cy="384048"/>
          </a:xfrm>
          <a:prstGeom prst="rect">
            <a:avLst/>
          </a:prstGeom>
          <a:noFill/>
          <a:ln/>
        </p:spPr>
        <p:txBody>
          <a:bodyPr wrap="square" rtlCol="0" anchor="t"/>
          <a:lstStyle/>
          <a:p>
            <a:pPr marL="0" indent="0">
              <a:buNone/>
            </a:pPr>
            <a:r>
              <a:rPr lang="en-US" sz="850" dirty="0">
                <a:solidFill>
                  <a:srgbClr val="1A1A2E"/>
                </a:solidFill>
                <a:latin typeface="Calibri" pitchFamily="34" charset="0"/>
                <a:ea typeface="Calibri" pitchFamily="34" charset="-122"/>
                <a:cs typeface="Calibri" pitchFamily="34" charset="-120"/>
              </a:rPr>
              <a:t>Smart ML reminder system with LSTM-based adherence prediction model (RMSE: 0.08)</a:t>
            </a:r>
            <a:endParaRPr lang="en-US" sz="850" dirty="0"/>
          </a:p>
        </p:txBody>
      </p:sp>
      <p:sp>
        <p:nvSpPr>
          <p:cNvPr id="44" name="Shape 42"/>
          <p:cNvSpPr/>
          <p:nvPr/>
        </p:nvSpPr>
        <p:spPr>
          <a:xfrm>
            <a:off x="320040" y="3730752"/>
            <a:ext cx="4023360" cy="512064"/>
          </a:xfrm>
          <a:prstGeom prst="rect">
            <a:avLst/>
          </a:prstGeom>
          <a:solidFill>
            <a:srgbClr val="F0F4FA"/>
          </a:solidFill>
          <a:ln w="12700">
            <a:solidFill>
              <a:srgbClr val="F0F4FA"/>
            </a:solidFill>
            <a:prstDash val="solid"/>
          </a:ln>
        </p:spPr>
      </p:sp>
      <p:sp>
        <p:nvSpPr>
          <p:cNvPr id="45" name="Shape 43"/>
          <p:cNvSpPr/>
          <p:nvPr/>
        </p:nvSpPr>
        <p:spPr>
          <a:xfrm>
            <a:off x="320040" y="3730752"/>
            <a:ext cx="54864" cy="512064"/>
          </a:xfrm>
          <a:prstGeom prst="rect">
            <a:avLst/>
          </a:prstGeom>
          <a:solidFill>
            <a:srgbClr val="DC2626"/>
          </a:solidFill>
          <a:ln w="12700">
            <a:solidFill>
              <a:srgbClr val="DC2626"/>
            </a:solidFill>
            <a:prstDash val="solid"/>
          </a:ln>
        </p:spPr>
      </p:sp>
      <p:sp>
        <p:nvSpPr>
          <p:cNvPr id="46" name="Text 44"/>
          <p:cNvSpPr/>
          <p:nvPr/>
        </p:nvSpPr>
        <p:spPr>
          <a:xfrm>
            <a:off x="429768" y="3794760"/>
            <a:ext cx="3840480" cy="384048"/>
          </a:xfrm>
          <a:prstGeom prst="rect">
            <a:avLst/>
          </a:prstGeom>
          <a:noFill/>
          <a:ln/>
        </p:spPr>
        <p:txBody>
          <a:bodyPr wrap="square" rtlCol="0" anchor="t"/>
          <a:lstStyle/>
          <a:p>
            <a:pPr marL="0" indent="0">
              <a:buNone/>
            </a:pPr>
            <a:r>
              <a:rPr lang="en-US" sz="850" dirty="0">
                <a:solidFill>
                  <a:srgbClr val="1A1A2E"/>
                </a:solidFill>
                <a:latin typeface="Calibri" pitchFamily="34" charset="0"/>
                <a:ea typeface="Calibri" pitchFamily="34" charset="-122"/>
                <a:cs typeface="Calibri" pitchFamily="34" charset="-120"/>
              </a:rPr>
              <a:t>Data silos preventing a holistic patient health view</a:t>
            </a:r>
            <a:endParaRPr lang="en-US" sz="850" dirty="0"/>
          </a:p>
        </p:txBody>
      </p:sp>
      <p:sp>
        <p:nvSpPr>
          <p:cNvPr id="47" name="Text 45"/>
          <p:cNvSpPr/>
          <p:nvPr/>
        </p:nvSpPr>
        <p:spPr>
          <a:xfrm>
            <a:off x="4370832" y="3849624"/>
            <a:ext cx="402336" cy="274320"/>
          </a:xfrm>
          <a:prstGeom prst="rect">
            <a:avLst/>
          </a:prstGeom>
          <a:noFill/>
          <a:ln/>
        </p:spPr>
        <p:txBody>
          <a:bodyPr wrap="square" rtlCol="0" anchor="ctr"/>
          <a:lstStyle/>
          <a:p>
            <a:pPr marL="0" indent="0" algn="ctr">
              <a:buNone/>
            </a:pPr>
            <a:r>
              <a:rPr lang="en-US" sz="1400" dirty="0">
                <a:solidFill>
                  <a:srgbClr val="1D4ED8"/>
                </a:solidFill>
                <a:latin typeface="Calibri" pitchFamily="34" charset="0"/>
                <a:ea typeface="Calibri" pitchFamily="34" charset="-122"/>
                <a:cs typeface="Calibri" pitchFamily="34" charset="-120"/>
              </a:rPr>
              <a:t>→</a:t>
            </a:r>
            <a:endParaRPr lang="en-US" sz="1400" dirty="0"/>
          </a:p>
        </p:txBody>
      </p:sp>
      <p:sp>
        <p:nvSpPr>
          <p:cNvPr id="48" name="Shape 46"/>
          <p:cNvSpPr/>
          <p:nvPr/>
        </p:nvSpPr>
        <p:spPr>
          <a:xfrm>
            <a:off x="4800600" y="3730752"/>
            <a:ext cx="4023360" cy="512064"/>
          </a:xfrm>
          <a:prstGeom prst="rect">
            <a:avLst/>
          </a:prstGeom>
          <a:solidFill>
            <a:srgbClr val="F0F4FA"/>
          </a:solidFill>
          <a:ln w="12700">
            <a:solidFill>
              <a:srgbClr val="F0F4FA"/>
            </a:solidFill>
            <a:prstDash val="solid"/>
          </a:ln>
        </p:spPr>
      </p:sp>
      <p:sp>
        <p:nvSpPr>
          <p:cNvPr id="49" name="Shape 47"/>
          <p:cNvSpPr/>
          <p:nvPr/>
        </p:nvSpPr>
        <p:spPr>
          <a:xfrm>
            <a:off x="4800600" y="3730752"/>
            <a:ext cx="54864" cy="512064"/>
          </a:xfrm>
          <a:prstGeom prst="rect">
            <a:avLst/>
          </a:prstGeom>
          <a:solidFill>
            <a:srgbClr val="1E8449"/>
          </a:solidFill>
          <a:ln w="12700">
            <a:solidFill>
              <a:srgbClr val="1E8449"/>
            </a:solidFill>
            <a:prstDash val="solid"/>
          </a:ln>
        </p:spPr>
      </p:sp>
      <p:sp>
        <p:nvSpPr>
          <p:cNvPr id="50" name="Text 48"/>
          <p:cNvSpPr/>
          <p:nvPr/>
        </p:nvSpPr>
        <p:spPr>
          <a:xfrm>
            <a:off x="4910328" y="3794760"/>
            <a:ext cx="3840480" cy="384048"/>
          </a:xfrm>
          <a:prstGeom prst="rect">
            <a:avLst/>
          </a:prstGeom>
          <a:noFill/>
          <a:ln/>
        </p:spPr>
        <p:txBody>
          <a:bodyPr wrap="square" rtlCol="0" anchor="t"/>
          <a:lstStyle/>
          <a:p>
            <a:pPr marL="0" indent="0">
              <a:buNone/>
            </a:pPr>
            <a:r>
              <a:rPr lang="en-US" sz="850" dirty="0">
                <a:solidFill>
                  <a:srgbClr val="1A1A2E"/>
                </a:solidFill>
                <a:latin typeface="Calibri" pitchFamily="34" charset="0"/>
                <a:ea typeface="Calibri" pitchFamily="34" charset="-122"/>
                <a:cs typeface="Calibri" pitchFamily="34" charset="-120"/>
              </a:rPr>
              <a:t>Azure Data Lake centralized health data platform with Power BI unified analytics dashboards</a:t>
            </a:r>
            <a:endParaRPr lang="en-US" sz="850" dirty="0"/>
          </a:p>
        </p:txBody>
      </p:sp>
      <p:sp>
        <p:nvSpPr>
          <p:cNvPr id="51" name="Shape 49"/>
          <p:cNvSpPr/>
          <p:nvPr/>
        </p:nvSpPr>
        <p:spPr>
          <a:xfrm>
            <a:off x="320040" y="4315968"/>
            <a:ext cx="4023360" cy="512064"/>
          </a:xfrm>
          <a:prstGeom prst="rect">
            <a:avLst/>
          </a:prstGeom>
          <a:solidFill>
            <a:srgbClr val="EDF2FB"/>
          </a:solidFill>
          <a:ln w="12700">
            <a:solidFill>
              <a:srgbClr val="F0F4FA"/>
            </a:solidFill>
            <a:prstDash val="solid"/>
          </a:ln>
        </p:spPr>
      </p:sp>
      <p:sp>
        <p:nvSpPr>
          <p:cNvPr id="52" name="Shape 50"/>
          <p:cNvSpPr/>
          <p:nvPr/>
        </p:nvSpPr>
        <p:spPr>
          <a:xfrm>
            <a:off x="320040" y="4315968"/>
            <a:ext cx="54864" cy="512064"/>
          </a:xfrm>
          <a:prstGeom prst="rect">
            <a:avLst/>
          </a:prstGeom>
          <a:solidFill>
            <a:srgbClr val="DC2626"/>
          </a:solidFill>
          <a:ln w="12700">
            <a:solidFill>
              <a:srgbClr val="DC2626"/>
            </a:solidFill>
            <a:prstDash val="solid"/>
          </a:ln>
        </p:spPr>
      </p:sp>
      <p:sp>
        <p:nvSpPr>
          <p:cNvPr id="53" name="Text 51"/>
          <p:cNvSpPr/>
          <p:nvPr/>
        </p:nvSpPr>
        <p:spPr>
          <a:xfrm>
            <a:off x="429768" y="4379976"/>
            <a:ext cx="3840480" cy="384048"/>
          </a:xfrm>
          <a:prstGeom prst="rect">
            <a:avLst/>
          </a:prstGeom>
          <a:noFill/>
          <a:ln/>
        </p:spPr>
        <p:txBody>
          <a:bodyPr wrap="square" rtlCol="0" anchor="t"/>
          <a:lstStyle/>
          <a:p>
            <a:pPr marL="0" indent="0">
              <a:buNone/>
            </a:pPr>
            <a:r>
              <a:rPr lang="en-US" sz="850" dirty="0">
                <a:solidFill>
                  <a:srgbClr val="1A1A2E"/>
                </a:solidFill>
                <a:latin typeface="Calibri" pitchFamily="34" charset="0"/>
                <a:ea typeface="Calibri" pitchFamily="34" charset="-122"/>
                <a:cs typeface="Calibri" pitchFamily="34" charset="-120"/>
              </a:rPr>
              <a:t>Inadequate drug interaction and allergy alert systems</a:t>
            </a:r>
            <a:endParaRPr lang="en-US" sz="850" dirty="0"/>
          </a:p>
        </p:txBody>
      </p:sp>
      <p:sp>
        <p:nvSpPr>
          <p:cNvPr id="54" name="Text 52"/>
          <p:cNvSpPr/>
          <p:nvPr/>
        </p:nvSpPr>
        <p:spPr>
          <a:xfrm>
            <a:off x="4370832" y="4434840"/>
            <a:ext cx="402336" cy="274320"/>
          </a:xfrm>
          <a:prstGeom prst="rect">
            <a:avLst/>
          </a:prstGeom>
          <a:noFill/>
          <a:ln/>
        </p:spPr>
        <p:txBody>
          <a:bodyPr wrap="square" rtlCol="0" anchor="ctr"/>
          <a:lstStyle/>
          <a:p>
            <a:pPr marL="0" indent="0" algn="ctr">
              <a:buNone/>
            </a:pPr>
            <a:r>
              <a:rPr lang="en-US" sz="1400" dirty="0">
                <a:solidFill>
                  <a:srgbClr val="1D4ED8"/>
                </a:solidFill>
                <a:latin typeface="Calibri" pitchFamily="34" charset="0"/>
                <a:ea typeface="Calibri" pitchFamily="34" charset="-122"/>
                <a:cs typeface="Calibri" pitchFamily="34" charset="-120"/>
              </a:rPr>
              <a:t>→</a:t>
            </a:r>
            <a:endParaRPr lang="en-US" sz="1400" dirty="0"/>
          </a:p>
        </p:txBody>
      </p:sp>
      <p:sp>
        <p:nvSpPr>
          <p:cNvPr id="55" name="Shape 53"/>
          <p:cNvSpPr/>
          <p:nvPr/>
        </p:nvSpPr>
        <p:spPr>
          <a:xfrm>
            <a:off x="4800600" y="4315968"/>
            <a:ext cx="4023360" cy="512064"/>
          </a:xfrm>
          <a:prstGeom prst="rect">
            <a:avLst/>
          </a:prstGeom>
          <a:solidFill>
            <a:srgbClr val="EDF2FB"/>
          </a:solidFill>
          <a:ln w="12700">
            <a:solidFill>
              <a:srgbClr val="F0F4FA"/>
            </a:solidFill>
            <a:prstDash val="solid"/>
          </a:ln>
        </p:spPr>
      </p:sp>
      <p:sp>
        <p:nvSpPr>
          <p:cNvPr id="56" name="Shape 54"/>
          <p:cNvSpPr/>
          <p:nvPr/>
        </p:nvSpPr>
        <p:spPr>
          <a:xfrm>
            <a:off x="4800600" y="4315968"/>
            <a:ext cx="54864" cy="512064"/>
          </a:xfrm>
          <a:prstGeom prst="rect">
            <a:avLst/>
          </a:prstGeom>
          <a:solidFill>
            <a:srgbClr val="1E8449"/>
          </a:solidFill>
          <a:ln w="12700">
            <a:solidFill>
              <a:srgbClr val="1E8449"/>
            </a:solidFill>
            <a:prstDash val="solid"/>
          </a:ln>
        </p:spPr>
      </p:sp>
      <p:sp>
        <p:nvSpPr>
          <p:cNvPr id="57" name="Text 55"/>
          <p:cNvSpPr/>
          <p:nvPr/>
        </p:nvSpPr>
        <p:spPr>
          <a:xfrm>
            <a:off x="4910328" y="4379976"/>
            <a:ext cx="3840480" cy="384048"/>
          </a:xfrm>
          <a:prstGeom prst="rect">
            <a:avLst/>
          </a:prstGeom>
          <a:noFill/>
          <a:ln/>
        </p:spPr>
        <p:txBody>
          <a:bodyPr wrap="square" rtlCol="0" anchor="t"/>
          <a:lstStyle/>
          <a:p>
            <a:pPr marL="0" indent="0">
              <a:buNone/>
            </a:pPr>
            <a:r>
              <a:rPr lang="en-US" sz="850" dirty="0">
                <a:solidFill>
                  <a:srgbClr val="1A1A2E"/>
                </a:solidFill>
                <a:latin typeface="Calibri" pitchFamily="34" charset="0"/>
                <a:ea typeface="Calibri" pitchFamily="34" charset="-122"/>
                <a:cs typeface="Calibri" pitchFamily="34" charset="-120"/>
              </a:rPr>
              <a:t>Drug interaction knowledge graph with instant alert triggers from curated clinical databases</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01F5F"/>
          </a:solidFill>
          <a:ln w="12700">
            <a:solidFill>
              <a:srgbClr val="FFFFFF"/>
            </a:solidFill>
            <a:prstDash val="solid"/>
          </a:ln>
        </p:spPr>
      </p:sp>
      <p:sp>
        <p:nvSpPr>
          <p:cNvPr id="3" name="Shape 1"/>
          <p:cNvSpPr/>
          <p:nvPr/>
        </p:nvSpPr>
        <p:spPr>
          <a:xfrm>
            <a:off x="0" y="621792"/>
            <a:ext cx="9144000" cy="50292"/>
          </a:xfrm>
          <a:prstGeom prst="rect">
            <a:avLst/>
          </a:prstGeom>
          <a:solidFill>
            <a:srgbClr val="1E8449"/>
          </a:solidFill>
          <a:ln w="12700">
            <a:solidFill>
              <a:srgbClr val="1E8449"/>
            </a:solidFill>
            <a:prstDash val="solid"/>
          </a:ln>
        </p:spPr>
      </p:sp>
      <p:sp>
        <p:nvSpPr>
          <p:cNvPr id="4" name="Text 2"/>
          <p:cNvSpPr/>
          <p:nvPr/>
        </p:nvSpPr>
        <p:spPr>
          <a:xfrm>
            <a:off x="292608" y="45720"/>
            <a:ext cx="7498080" cy="54864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Project Goals</a:t>
            </a:r>
            <a:endParaRPr lang="en-US" sz="1900" dirty="0"/>
          </a:p>
        </p:txBody>
      </p:sp>
      <p:sp>
        <p:nvSpPr>
          <p:cNvPr id="5" name="Shape 3"/>
          <p:cNvSpPr/>
          <p:nvPr/>
        </p:nvSpPr>
        <p:spPr>
          <a:xfrm>
            <a:off x="7818120" y="82296"/>
            <a:ext cx="1234440" cy="457200"/>
          </a:xfrm>
          <a:prstGeom prst="rect">
            <a:avLst/>
          </a:prstGeom>
          <a:solidFill>
            <a:srgbClr val="E8EFF8"/>
          </a:solidFill>
          <a:ln w="12700">
            <a:solidFill>
              <a:srgbClr val="1D4ED8"/>
            </a:solidFill>
            <a:prstDash val="solid"/>
          </a:ln>
        </p:spPr>
      </p:sp>
      <p:sp>
        <p:nvSpPr>
          <p:cNvPr id="6" name="Text 4"/>
          <p:cNvSpPr/>
          <p:nvPr/>
        </p:nvSpPr>
        <p:spPr>
          <a:xfrm>
            <a:off x="7818120" y="82296"/>
            <a:ext cx="1234440" cy="457200"/>
          </a:xfrm>
          <a:prstGeom prst="rect">
            <a:avLst/>
          </a:prstGeom>
          <a:noFill/>
          <a:ln/>
        </p:spPr>
        <p:txBody>
          <a:bodyPr wrap="square" rtlCol="0" anchor="ctr"/>
          <a:lstStyle/>
          <a:p>
            <a:pPr marL="0" indent="0" algn="ctr">
              <a:buNone/>
            </a:pPr>
            <a:r>
              <a:rPr lang="en-US" sz="700" b="1" dirty="0">
                <a:solidFill>
                  <a:srgbClr val="1D4ED8"/>
                </a:solidFill>
                <a:latin typeface="Calibri" pitchFamily="34" charset="0"/>
                <a:ea typeface="Calibri" pitchFamily="34" charset="-122"/>
                <a:cs typeface="Calibri" pitchFamily="34" charset="-120"/>
              </a:rPr>
              <a:t>Microsoft</a:t>
            </a:r>
            <a:endParaRPr lang="en-US" sz="700" dirty="0"/>
          </a:p>
          <a:p>
            <a:pPr marL="0" indent="0" algn="ctr">
              <a:buNone/>
            </a:pPr>
            <a:r>
              <a:rPr lang="en-US" sz="700" b="1" dirty="0">
                <a:solidFill>
                  <a:srgbClr val="1D4ED8"/>
                </a:solidFill>
                <a:latin typeface="Calibri" pitchFamily="34" charset="0"/>
                <a:ea typeface="Calibri" pitchFamily="34" charset="-122"/>
                <a:cs typeface="Calibri" pitchFamily="34" charset="-120"/>
              </a:rPr>
              <a:t>Elevate GTU</a:t>
            </a:r>
            <a:endParaRPr lang="en-US" sz="700" dirty="0"/>
          </a:p>
        </p:txBody>
      </p:sp>
      <p:sp>
        <p:nvSpPr>
          <p:cNvPr id="7" name="Shape 5"/>
          <p:cNvSpPr/>
          <p:nvPr/>
        </p:nvSpPr>
        <p:spPr>
          <a:xfrm>
            <a:off x="0" y="4873752"/>
            <a:ext cx="9144000" cy="50292"/>
          </a:xfrm>
          <a:prstGeom prst="rect">
            <a:avLst/>
          </a:prstGeom>
          <a:solidFill>
            <a:srgbClr val="1E8449"/>
          </a:solidFill>
          <a:ln w="12700">
            <a:solidFill>
              <a:srgbClr val="1E8449"/>
            </a:solidFill>
            <a:prstDash val="solid"/>
          </a:ln>
        </p:spPr>
      </p:sp>
      <p:sp>
        <p:nvSpPr>
          <p:cNvPr id="8" name="Shape 6"/>
          <p:cNvSpPr/>
          <p:nvPr/>
        </p:nvSpPr>
        <p:spPr>
          <a:xfrm>
            <a:off x="0" y="4924044"/>
            <a:ext cx="9144000" cy="219456"/>
          </a:xfrm>
          <a:prstGeom prst="rect">
            <a:avLst/>
          </a:prstGeom>
          <a:solidFill>
            <a:srgbClr val="FFFFFF"/>
          </a:solidFill>
          <a:ln w="12700">
            <a:solidFill>
              <a:srgbClr val="FFFFFF"/>
            </a:solidFill>
            <a:prstDash val="solid"/>
          </a:ln>
        </p:spPr>
      </p:sp>
      <p:sp>
        <p:nvSpPr>
          <p:cNvPr id="9" name="Text 7"/>
          <p:cNvSpPr/>
          <p:nvPr/>
        </p:nvSpPr>
        <p:spPr>
          <a:xfrm>
            <a:off x="228600" y="4924044"/>
            <a:ext cx="8046720" cy="219456"/>
          </a:xfrm>
          <a:prstGeom prst="rect">
            <a:avLst/>
          </a:prstGeom>
          <a:noFill/>
          <a:ln/>
        </p:spPr>
        <p:txBody>
          <a:bodyPr wrap="square" lIns="0" tIns="0" rIns="0" bIns="0" rtlCol="0" anchor="ctr"/>
          <a:lstStyle/>
          <a:p>
            <a:pPr marL="0" indent="0">
              <a:buNone/>
            </a:pPr>
            <a:r>
              <a:rPr lang="en-US" sz="650" dirty="0">
                <a:solidFill>
                  <a:srgbClr val="7B9ABF"/>
                </a:solidFill>
                <a:latin typeface="Calibri" pitchFamily="34" charset="0"/>
                <a:ea typeface="Calibri" pitchFamily="34" charset="-122"/>
                <a:cs typeface="Calibri" pitchFamily="34" charset="-120"/>
              </a:rPr>
              <a:t>Microsoft Elevate Internship Project  |  Healthcare &amp; Medication Management System  |  GTU Jan–Apr 2026</a:t>
            </a:r>
            <a:endParaRPr lang="en-US" sz="650" dirty="0"/>
          </a:p>
        </p:txBody>
      </p:sp>
      <p:sp>
        <p:nvSpPr>
          <p:cNvPr id="10" name="Text 8"/>
          <p:cNvSpPr/>
          <p:nvPr/>
        </p:nvSpPr>
        <p:spPr>
          <a:xfrm>
            <a:off x="8275320" y="4924044"/>
            <a:ext cx="731520" cy="219456"/>
          </a:xfrm>
          <a:prstGeom prst="rect">
            <a:avLst/>
          </a:prstGeom>
          <a:noFill/>
          <a:ln/>
        </p:spPr>
        <p:txBody>
          <a:bodyPr wrap="square" lIns="0" tIns="0" rIns="0" bIns="0" rtlCol="0" anchor="ctr"/>
          <a:lstStyle/>
          <a:p>
            <a:pPr marL="0" indent="0" algn="r">
              <a:buNone/>
            </a:pPr>
            <a:r>
              <a:rPr lang="en-US" sz="700" b="1" dirty="0">
                <a:solidFill>
                  <a:srgbClr val="1A1A2E"/>
                </a:solidFill>
                <a:latin typeface="Calibri" pitchFamily="34" charset="0"/>
                <a:ea typeface="Calibri" pitchFamily="34" charset="-122"/>
                <a:cs typeface="Calibri" pitchFamily="34" charset="-120"/>
              </a:rPr>
              <a:t>11 / 20</a:t>
            </a:r>
            <a:endParaRPr lang="en-US" sz="700" dirty="0"/>
          </a:p>
        </p:txBody>
      </p:sp>
      <p:sp>
        <p:nvSpPr>
          <p:cNvPr id="11" name="Text 9"/>
          <p:cNvSpPr/>
          <p:nvPr/>
        </p:nvSpPr>
        <p:spPr>
          <a:xfrm>
            <a:off x="320040" y="777240"/>
            <a:ext cx="8503920" cy="274320"/>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5 Core Project Goals</a:t>
            </a:r>
            <a:endParaRPr lang="en-US" sz="1300" dirty="0"/>
          </a:p>
        </p:txBody>
      </p:sp>
      <p:sp>
        <p:nvSpPr>
          <p:cNvPr id="12" name="Text 10"/>
          <p:cNvSpPr/>
          <p:nvPr/>
        </p:nvSpPr>
        <p:spPr>
          <a:xfrm>
            <a:off x="320040" y="1069848"/>
            <a:ext cx="8503920" cy="237744"/>
          </a:xfrm>
          <a:prstGeom prst="rect">
            <a:avLst/>
          </a:prstGeom>
          <a:noFill/>
          <a:ln/>
        </p:spPr>
        <p:txBody>
          <a:bodyPr wrap="square" rtlCol="0" anchor="ctr"/>
          <a:lstStyle/>
          <a:p>
            <a:pPr marL="0" indent="0">
              <a:buNone/>
            </a:pPr>
            <a:r>
              <a:rPr lang="en-US" sz="950" i="1" dirty="0">
                <a:solidFill>
                  <a:srgbClr val="1A1A2E"/>
                </a:solidFill>
                <a:latin typeface="Calibri" pitchFamily="34" charset="0"/>
                <a:ea typeface="Calibri" pitchFamily="34" charset="-122"/>
                <a:cs typeface="Calibri" pitchFamily="34" charset="-120"/>
              </a:rPr>
              <a:t>Each goal maps directly to a deliverable in the Microsoft Elevate GTU Capstone Project framework.</a:t>
            </a:r>
            <a:endParaRPr lang="en-US" sz="950" dirty="0"/>
          </a:p>
        </p:txBody>
      </p:sp>
      <p:sp>
        <p:nvSpPr>
          <p:cNvPr id="13" name="Shape 11"/>
          <p:cNvSpPr/>
          <p:nvPr/>
        </p:nvSpPr>
        <p:spPr>
          <a:xfrm>
            <a:off x="320040" y="1353312"/>
            <a:ext cx="8503920" cy="658368"/>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14" name="Shape 12"/>
          <p:cNvSpPr/>
          <p:nvPr/>
        </p:nvSpPr>
        <p:spPr>
          <a:xfrm>
            <a:off x="384048" y="1481328"/>
            <a:ext cx="402336" cy="402336"/>
          </a:xfrm>
          <a:prstGeom prst="ellipse">
            <a:avLst/>
          </a:prstGeom>
          <a:solidFill>
            <a:srgbClr val="1D4ED8"/>
          </a:solidFill>
          <a:ln w="12700">
            <a:solidFill>
              <a:srgbClr val="1D4ED8"/>
            </a:solidFill>
            <a:prstDash val="solid"/>
          </a:ln>
        </p:spPr>
      </p:sp>
      <p:sp>
        <p:nvSpPr>
          <p:cNvPr id="15" name="Text 13"/>
          <p:cNvSpPr/>
          <p:nvPr/>
        </p:nvSpPr>
        <p:spPr>
          <a:xfrm>
            <a:off x="384048" y="1481328"/>
            <a:ext cx="402336" cy="402336"/>
          </a:xfrm>
          <a:prstGeom prst="rect">
            <a:avLst/>
          </a:prstGeom>
          <a:noFill/>
          <a:ln/>
        </p:spPr>
        <p:txBody>
          <a:bodyPr wrap="square" lIns="0" tIns="0" rIns="0" bIns="0" rtlCol="0" anchor="ctr"/>
          <a:lstStyle/>
          <a:p>
            <a:pPr marL="0" indent="0" algn="ctr">
              <a:buNone/>
            </a:pPr>
            <a:r>
              <a:rPr lang="en-US" sz="1300" b="1" dirty="0">
                <a:solidFill>
                  <a:srgbClr val="1A1A2E"/>
                </a:solidFill>
                <a:latin typeface="Calibri" pitchFamily="34" charset="0"/>
                <a:ea typeface="Calibri" pitchFamily="34" charset="-122"/>
                <a:cs typeface="Calibri" pitchFamily="34" charset="-120"/>
              </a:rPr>
              <a:t>1</a:t>
            </a:r>
            <a:endParaRPr lang="en-US" sz="1300" dirty="0"/>
          </a:p>
        </p:txBody>
      </p:sp>
      <p:sp>
        <p:nvSpPr>
          <p:cNvPr id="16" name="Text 14"/>
          <p:cNvSpPr/>
          <p:nvPr/>
        </p:nvSpPr>
        <p:spPr>
          <a:xfrm>
            <a:off x="859536" y="1408176"/>
            <a:ext cx="3291840" cy="237744"/>
          </a:xfrm>
          <a:prstGeom prst="rect">
            <a:avLst/>
          </a:prstGeom>
          <a:noFill/>
          <a:ln/>
        </p:spPr>
        <p:txBody>
          <a:bodyPr wrap="square" lIns="0" tIns="0" rIns="0" bIns="0" rtlCol="0" anchor="ctr"/>
          <a:lstStyle/>
          <a:p>
            <a:pPr marL="0" indent="0">
              <a:buNone/>
            </a:pPr>
            <a:r>
              <a:rPr lang="en-US" sz="1000" b="1" dirty="0">
                <a:solidFill>
                  <a:srgbClr val="1A1A2E"/>
                </a:solidFill>
                <a:latin typeface="Calibri" pitchFamily="34" charset="0"/>
                <a:ea typeface="Calibri" pitchFamily="34" charset="-122"/>
                <a:cs typeface="Calibri" pitchFamily="34" charset="-120"/>
              </a:rPr>
              <a:t>Develop a Unified Patient Health Analytics Platform</a:t>
            </a:r>
            <a:endParaRPr lang="en-US" sz="1000" dirty="0"/>
          </a:p>
        </p:txBody>
      </p:sp>
      <p:sp>
        <p:nvSpPr>
          <p:cNvPr id="17" name="Text 15"/>
          <p:cNvSpPr/>
          <p:nvPr/>
        </p:nvSpPr>
        <p:spPr>
          <a:xfrm>
            <a:off x="859536" y="1645920"/>
            <a:ext cx="7863840" cy="329184"/>
          </a:xfrm>
          <a:prstGeom prst="rect">
            <a:avLst/>
          </a:prstGeom>
          <a:noFill/>
          <a:ln/>
        </p:spPr>
        <p:txBody>
          <a:bodyPr wrap="square" rtlCol="0" anchor="t"/>
          <a:lstStyle/>
          <a:p>
            <a:pPr marL="0" indent="0">
              <a:buNone/>
            </a:pPr>
            <a:r>
              <a:rPr lang="en-US" sz="850" dirty="0">
                <a:solidFill>
                  <a:srgbClr val="1A1A2E"/>
                </a:solidFill>
                <a:latin typeface="Calibri" pitchFamily="34" charset="0"/>
                <a:ea typeface="Calibri" pitchFamily="34" charset="-122"/>
                <a:cs typeface="Calibri" pitchFamily="34" charset="-120"/>
              </a:rPr>
              <a:t>Build a centralized Power BI dashboard integrating data from EHR systems, IoT wearables, pharmacy databases, and lab results into one cohesive real-time analytics platform deployable across multi-specialty hospitals and clinic networks.</a:t>
            </a:r>
            <a:endParaRPr lang="en-US" sz="850" dirty="0"/>
          </a:p>
        </p:txBody>
      </p:sp>
      <p:sp>
        <p:nvSpPr>
          <p:cNvPr id="18" name="Shape 16"/>
          <p:cNvSpPr/>
          <p:nvPr/>
        </p:nvSpPr>
        <p:spPr>
          <a:xfrm>
            <a:off x="320040" y="2084832"/>
            <a:ext cx="8503920" cy="658368"/>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19" name="Shape 17"/>
          <p:cNvSpPr/>
          <p:nvPr/>
        </p:nvSpPr>
        <p:spPr>
          <a:xfrm>
            <a:off x="384048" y="2212848"/>
            <a:ext cx="402336" cy="402336"/>
          </a:xfrm>
          <a:prstGeom prst="ellipse">
            <a:avLst/>
          </a:prstGeom>
          <a:solidFill>
            <a:srgbClr val="0D9488"/>
          </a:solidFill>
          <a:ln w="12700">
            <a:solidFill>
              <a:srgbClr val="0D9488"/>
            </a:solidFill>
            <a:prstDash val="solid"/>
          </a:ln>
        </p:spPr>
      </p:sp>
      <p:sp>
        <p:nvSpPr>
          <p:cNvPr id="20" name="Text 18"/>
          <p:cNvSpPr/>
          <p:nvPr/>
        </p:nvSpPr>
        <p:spPr>
          <a:xfrm>
            <a:off x="384048" y="2212848"/>
            <a:ext cx="402336" cy="402336"/>
          </a:xfrm>
          <a:prstGeom prst="rect">
            <a:avLst/>
          </a:prstGeom>
          <a:noFill/>
          <a:ln/>
        </p:spPr>
        <p:txBody>
          <a:bodyPr wrap="square" lIns="0" tIns="0" rIns="0" bIns="0" rtlCol="0" anchor="ctr"/>
          <a:lstStyle/>
          <a:p>
            <a:pPr marL="0" indent="0" algn="ctr">
              <a:buNone/>
            </a:pPr>
            <a:r>
              <a:rPr lang="en-US" sz="1300" b="1" dirty="0">
                <a:solidFill>
                  <a:srgbClr val="1A1A2E"/>
                </a:solidFill>
                <a:latin typeface="Calibri" pitchFamily="34" charset="0"/>
                <a:ea typeface="Calibri" pitchFamily="34" charset="-122"/>
                <a:cs typeface="Calibri" pitchFamily="34" charset="-120"/>
              </a:rPr>
              <a:t>2</a:t>
            </a:r>
            <a:endParaRPr lang="en-US" sz="1300" dirty="0"/>
          </a:p>
        </p:txBody>
      </p:sp>
      <p:sp>
        <p:nvSpPr>
          <p:cNvPr id="21" name="Text 19"/>
          <p:cNvSpPr/>
          <p:nvPr/>
        </p:nvSpPr>
        <p:spPr>
          <a:xfrm>
            <a:off x="859536" y="2139696"/>
            <a:ext cx="3291840" cy="237744"/>
          </a:xfrm>
          <a:prstGeom prst="rect">
            <a:avLst/>
          </a:prstGeom>
          <a:noFill/>
          <a:ln/>
        </p:spPr>
        <p:txBody>
          <a:bodyPr wrap="square" lIns="0" tIns="0" rIns="0" bIns="0" rtlCol="0" anchor="ctr"/>
          <a:lstStyle/>
          <a:p>
            <a:pPr marL="0" indent="0">
              <a:buNone/>
            </a:pPr>
            <a:r>
              <a:rPr lang="en-US" sz="1000" b="1" dirty="0">
                <a:solidFill>
                  <a:srgbClr val="1A1A2E"/>
                </a:solidFill>
                <a:latin typeface="Calibri" pitchFamily="34" charset="0"/>
                <a:ea typeface="Calibri" pitchFamily="34" charset="-122"/>
                <a:cs typeface="Calibri" pitchFamily="34" charset="-120"/>
              </a:rPr>
              <a:t>Build an Intelligent Medication Management System</a:t>
            </a:r>
            <a:endParaRPr lang="en-US" sz="1000" dirty="0"/>
          </a:p>
        </p:txBody>
      </p:sp>
      <p:sp>
        <p:nvSpPr>
          <p:cNvPr id="22" name="Text 20"/>
          <p:cNvSpPr/>
          <p:nvPr/>
        </p:nvSpPr>
        <p:spPr>
          <a:xfrm>
            <a:off x="859536" y="2377440"/>
            <a:ext cx="7863840" cy="329184"/>
          </a:xfrm>
          <a:prstGeom prst="rect">
            <a:avLst/>
          </a:prstGeom>
          <a:noFill/>
          <a:ln/>
        </p:spPr>
        <p:txBody>
          <a:bodyPr wrap="square" rtlCol="0" anchor="t"/>
          <a:lstStyle/>
          <a:p>
            <a:pPr marL="0" indent="0">
              <a:buNone/>
            </a:pPr>
            <a:r>
              <a:rPr lang="en-US" sz="850" dirty="0">
                <a:solidFill>
                  <a:srgbClr val="1A1A2E"/>
                </a:solidFill>
                <a:latin typeface="Calibri" pitchFamily="34" charset="0"/>
                <a:ea typeface="Calibri" pitchFamily="34" charset="-122"/>
                <a:cs typeface="Calibri" pitchFamily="34" charset="-120"/>
              </a:rPr>
              <a:t>Create an AI-powered medication management engine with real-time drug interaction detection (97% accuracy), smart dosage verification, patient adherence score tracking, and automated pharmacy refill notifications to eliminate dangerous medication errors.</a:t>
            </a:r>
            <a:endParaRPr lang="en-US" sz="850" dirty="0"/>
          </a:p>
        </p:txBody>
      </p:sp>
      <p:sp>
        <p:nvSpPr>
          <p:cNvPr id="23" name="Shape 21"/>
          <p:cNvSpPr/>
          <p:nvPr/>
        </p:nvSpPr>
        <p:spPr>
          <a:xfrm>
            <a:off x="320040" y="2816352"/>
            <a:ext cx="8503920" cy="658368"/>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24" name="Shape 22"/>
          <p:cNvSpPr/>
          <p:nvPr/>
        </p:nvSpPr>
        <p:spPr>
          <a:xfrm>
            <a:off x="384048" y="2944368"/>
            <a:ext cx="402336" cy="402336"/>
          </a:xfrm>
          <a:prstGeom prst="ellipse">
            <a:avLst/>
          </a:prstGeom>
          <a:solidFill>
            <a:srgbClr val="1E8449"/>
          </a:solidFill>
          <a:ln w="12700">
            <a:solidFill>
              <a:srgbClr val="1E8449"/>
            </a:solidFill>
            <a:prstDash val="solid"/>
          </a:ln>
        </p:spPr>
      </p:sp>
      <p:sp>
        <p:nvSpPr>
          <p:cNvPr id="25" name="Text 23"/>
          <p:cNvSpPr/>
          <p:nvPr/>
        </p:nvSpPr>
        <p:spPr>
          <a:xfrm>
            <a:off x="384048" y="2944368"/>
            <a:ext cx="402336" cy="402336"/>
          </a:xfrm>
          <a:prstGeom prst="rect">
            <a:avLst/>
          </a:prstGeom>
          <a:noFill/>
          <a:ln/>
        </p:spPr>
        <p:txBody>
          <a:bodyPr wrap="square" lIns="0" tIns="0" rIns="0" bIns="0" rtlCol="0" anchor="ctr"/>
          <a:lstStyle/>
          <a:p>
            <a:pPr marL="0" indent="0" algn="ctr">
              <a:buNone/>
            </a:pPr>
            <a:r>
              <a:rPr lang="en-US" sz="1300" b="1" dirty="0">
                <a:solidFill>
                  <a:srgbClr val="1A1A2E"/>
                </a:solidFill>
                <a:latin typeface="Calibri" pitchFamily="34" charset="0"/>
                <a:ea typeface="Calibri" pitchFamily="34" charset="-122"/>
                <a:cs typeface="Calibri" pitchFamily="34" charset="-120"/>
              </a:rPr>
              <a:t>3</a:t>
            </a:r>
            <a:endParaRPr lang="en-US" sz="1300" dirty="0"/>
          </a:p>
        </p:txBody>
      </p:sp>
      <p:sp>
        <p:nvSpPr>
          <p:cNvPr id="26" name="Text 24"/>
          <p:cNvSpPr/>
          <p:nvPr/>
        </p:nvSpPr>
        <p:spPr>
          <a:xfrm>
            <a:off x="859536" y="2871216"/>
            <a:ext cx="3291840" cy="237744"/>
          </a:xfrm>
          <a:prstGeom prst="rect">
            <a:avLst/>
          </a:prstGeom>
          <a:noFill/>
          <a:ln/>
        </p:spPr>
        <p:txBody>
          <a:bodyPr wrap="square" lIns="0" tIns="0" rIns="0" bIns="0" rtlCol="0" anchor="ctr"/>
          <a:lstStyle/>
          <a:p>
            <a:pPr marL="0" indent="0">
              <a:buNone/>
            </a:pPr>
            <a:r>
              <a:rPr lang="en-US" sz="1000" b="1" dirty="0">
                <a:solidFill>
                  <a:srgbClr val="1A1A2E"/>
                </a:solidFill>
                <a:latin typeface="Calibri" pitchFamily="34" charset="0"/>
                <a:ea typeface="Calibri" pitchFamily="34" charset="-122"/>
                <a:cs typeface="Calibri" pitchFamily="34" charset="-120"/>
              </a:rPr>
              <a:t>Create Real-Time Vital-Signs Monitoring Dashboards</a:t>
            </a:r>
            <a:endParaRPr lang="en-US" sz="1000" dirty="0"/>
          </a:p>
        </p:txBody>
      </p:sp>
      <p:sp>
        <p:nvSpPr>
          <p:cNvPr id="27" name="Text 25"/>
          <p:cNvSpPr/>
          <p:nvPr/>
        </p:nvSpPr>
        <p:spPr>
          <a:xfrm>
            <a:off x="859536" y="3108960"/>
            <a:ext cx="7863840" cy="329184"/>
          </a:xfrm>
          <a:prstGeom prst="rect">
            <a:avLst/>
          </a:prstGeom>
          <a:noFill/>
          <a:ln/>
        </p:spPr>
        <p:txBody>
          <a:bodyPr wrap="square" rtlCol="0" anchor="t"/>
          <a:lstStyle/>
          <a:p>
            <a:pPr marL="0" indent="0">
              <a:buNone/>
            </a:pPr>
            <a:r>
              <a:rPr lang="en-US" sz="850" dirty="0">
                <a:solidFill>
                  <a:srgbClr val="1A1A2E"/>
                </a:solidFill>
                <a:latin typeface="Calibri" pitchFamily="34" charset="0"/>
                <a:ea typeface="Calibri" pitchFamily="34" charset="-122"/>
                <a:cs typeface="Calibri" pitchFamily="34" charset="-120"/>
              </a:rPr>
              <a:t>Deploy IoT-connected patient monitoring dashboards for ICU and chronic care patients. Track heart rate, blood pressure, SpO2, and temperature in real time using Azure IoT Hub. Trigger instant clinical alerts when values breach safe thresholds.</a:t>
            </a:r>
            <a:endParaRPr lang="en-US" sz="850" dirty="0"/>
          </a:p>
        </p:txBody>
      </p:sp>
      <p:sp>
        <p:nvSpPr>
          <p:cNvPr id="28" name="Shape 26"/>
          <p:cNvSpPr/>
          <p:nvPr/>
        </p:nvSpPr>
        <p:spPr>
          <a:xfrm>
            <a:off x="320040" y="3547872"/>
            <a:ext cx="8503920" cy="658368"/>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29" name="Shape 27"/>
          <p:cNvSpPr/>
          <p:nvPr/>
        </p:nvSpPr>
        <p:spPr>
          <a:xfrm>
            <a:off x="384048" y="3675888"/>
            <a:ext cx="402336" cy="402336"/>
          </a:xfrm>
          <a:prstGeom prst="ellipse">
            <a:avLst/>
          </a:prstGeom>
          <a:solidFill>
            <a:srgbClr val="7C3AED"/>
          </a:solidFill>
          <a:ln w="12700">
            <a:solidFill>
              <a:srgbClr val="7C3AED"/>
            </a:solidFill>
            <a:prstDash val="solid"/>
          </a:ln>
        </p:spPr>
      </p:sp>
      <p:sp>
        <p:nvSpPr>
          <p:cNvPr id="30" name="Text 28"/>
          <p:cNvSpPr/>
          <p:nvPr/>
        </p:nvSpPr>
        <p:spPr>
          <a:xfrm>
            <a:off x="384048" y="3675888"/>
            <a:ext cx="402336" cy="402336"/>
          </a:xfrm>
          <a:prstGeom prst="rect">
            <a:avLst/>
          </a:prstGeom>
          <a:noFill/>
          <a:ln/>
        </p:spPr>
        <p:txBody>
          <a:bodyPr wrap="square" lIns="0" tIns="0" rIns="0" bIns="0" rtlCol="0" anchor="ctr"/>
          <a:lstStyle/>
          <a:p>
            <a:pPr marL="0" indent="0" algn="ctr">
              <a:buNone/>
            </a:pPr>
            <a:r>
              <a:rPr lang="en-US" sz="1300" b="1" dirty="0">
                <a:solidFill>
                  <a:srgbClr val="1A1A2E"/>
                </a:solidFill>
                <a:latin typeface="Calibri" pitchFamily="34" charset="0"/>
                <a:ea typeface="Calibri" pitchFamily="34" charset="-122"/>
                <a:cs typeface="Calibri" pitchFamily="34" charset="-120"/>
              </a:rPr>
              <a:t>4</a:t>
            </a:r>
            <a:endParaRPr lang="en-US" sz="1300" dirty="0"/>
          </a:p>
        </p:txBody>
      </p:sp>
      <p:sp>
        <p:nvSpPr>
          <p:cNvPr id="31" name="Text 29"/>
          <p:cNvSpPr/>
          <p:nvPr/>
        </p:nvSpPr>
        <p:spPr>
          <a:xfrm>
            <a:off x="859536" y="3602736"/>
            <a:ext cx="3291840" cy="237744"/>
          </a:xfrm>
          <a:prstGeom prst="rect">
            <a:avLst/>
          </a:prstGeom>
          <a:noFill/>
          <a:ln/>
        </p:spPr>
        <p:txBody>
          <a:bodyPr wrap="square" lIns="0" tIns="0" rIns="0" bIns="0" rtlCol="0" anchor="ctr"/>
          <a:lstStyle/>
          <a:p>
            <a:pPr marL="0" indent="0">
              <a:buNone/>
            </a:pPr>
            <a:r>
              <a:rPr lang="en-US" sz="1000" b="1" dirty="0">
                <a:solidFill>
                  <a:srgbClr val="1A1A2E"/>
                </a:solidFill>
                <a:latin typeface="Calibri" pitchFamily="34" charset="0"/>
                <a:ea typeface="Calibri" pitchFamily="34" charset="-122"/>
                <a:cs typeface="Calibri" pitchFamily="34" charset="-120"/>
              </a:rPr>
              <a:t>Design Predictive ML Models for Disease Progression &amp; Readmission Risk</a:t>
            </a:r>
            <a:endParaRPr lang="en-US" sz="1000" dirty="0"/>
          </a:p>
        </p:txBody>
      </p:sp>
      <p:sp>
        <p:nvSpPr>
          <p:cNvPr id="32" name="Text 30"/>
          <p:cNvSpPr/>
          <p:nvPr/>
        </p:nvSpPr>
        <p:spPr>
          <a:xfrm>
            <a:off x="859536" y="3840480"/>
            <a:ext cx="7863840" cy="329184"/>
          </a:xfrm>
          <a:prstGeom prst="rect">
            <a:avLst/>
          </a:prstGeom>
          <a:noFill/>
          <a:ln/>
        </p:spPr>
        <p:txBody>
          <a:bodyPr wrap="square" rtlCol="0" anchor="t"/>
          <a:lstStyle/>
          <a:p>
            <a:pPr marL="0" indent="0">
              <a:buNone/>
            </a:pPr>
            <a:r>
              <a:rPr lang="en-US" sz="850" dirty="0">
                <a:solidFill>
                  <a:srgbClr val="1A1A2E"/>
                </a:solidFill>
                <a:latin typeface="Calibri" pitchFamily="34" charset="0"/>
                <a:ea typeface="Calibri" pitchFamily="34" charset="-122"/>
                <a:cs typeface="Calibri" pitchFamily="34" charset="-120"/>
              </a:rPr>
              <a:t>Train and validate a Random Forest model (91% accuracy) for 30-day hospital readmission prediction, K-Means clustering for patient risk stratification into care tiers, and LSTM networks for medication adherence forecasting.</a:t>
            </a:r>
            <a:endParaRPr lang="en-US" sz="850" dirty="0"/>
          </a:p>
        </p:txBody>
      </p:sp>
      <p:sp>
        <p:nvSpPr>
          <p:cNvPr id="33" name="Shape 31"/>
          <p:cNvSpPr/>
          <p:nvPr/>
        </p:nvSpPr>
        <p:spPr>
          <a:xfrm>
            <a:off x="320040" y="4279392"/>
            <a:ext cx="8503920" cy="658368"/>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34" name="Shape 32"/>
          <p:cNvSpPr/>
          <p:nvPr/>
        </p:nvSpPr>
        <p:spPr>
          <a:xfrm>
            <a:off x="384048" y="4407408"/>
            <a:ext cx="402336" cy="402336"/>
          </a:xfrm>
          <a:prstGeom prst="ellipse">
            <a:avLst/>
          </a:prstGeom>
          <a:solidFill>
            <a:srgbClr val="D97706"/>
          </a:solidFill>
          <a:ln w="12700">
            <a:solidFill>
              <a:srgbClr val="D97706"/>
            </a:solidFill>
            <a:prstDash val="solid"/>
          </a:ln>
        </p:spPr>
      </p:sp>
      <p:sp>
        <p:nvSpPr>
          <p:cNvPr id="35" name="Text 33"/>
          <p:cNvSpPr/>
          <p:nvPr/>
        </p:nvSpPr>
        <p:spPr>
          <a:xfrm>
            <a:off x="384048" y="4407408"/>
            <a:ext cx="402336" cy="402336"/>
          </a:xfrm>
          <a:prstGeom prst="rect">
            <a:avLst/>
          </a:prstGeom>
          <a:noFill/>
          <a:ln/>
        </p:spPr>
        <p:txBody>
          <a:bodyPr wrap="square" lIns="0" tIns="0" rIns="0" bIns="0" rtlCol="0" anchor="ctr"/>
          <a:lstStyle/>
          <a:p>
            <a:pPr marL="0" indent="0" algn="ctr">
              <a:buNone/>
            </a:pPr>
            <a:r>
              <a:rPr lang="en-US" sz="1300" b="1" dirty="0">
                <a:solidFill>
                  <a:srgbClr val="1A1A2E"/>
                </a:solidFill>
                <a:latin typeface="Calibri" pitchFamily="34" charset="0"/>
                <a:ea typeface="Calibri" pitchFamily="34" charset="-122"/>
                <a:cs typeface="Calibri" pitchFamily="34" charset="-120"/>
              </a:rPr>
              <a:t>5</a:t>
            </a:r>
            <a:endParaRPr lang="en-US" sz="1300" dirty="0"/>
          </a:p>
        </p:txBody>
      </p:sp>
      <p:sp>
        <p:nvSpPr>
          <p:cNvPr id="36" name="Text 34"/>
          <p:cNvSpPr/>
          <p:nvPr/>
        </p:nvSpPr>
        <p:spPr>
          <a:xfrm>
            <a:off x="859536" y="4334256"/>
            <a:ext cx="3291840" cy="237744"/>
          </a:xfrm>
          <a:prstGeom prst="rect">
            <a:avLst/>
          </a:prstGeom>
          <a:noFill/>
          <a:ln/>
        </p:spPr>
        <p:txBody>
          <a:bodyPr wrap="square" lIns="0" tIns="0" rIns="0" bIns="0" rtlCol="0" anchor="ctr"/>
          <a:lstStyle/>
          <a:p>
            <a:pPr marL="0" indent="0">
              <a:buNone/>
            </a:pPr>
            <a:r>
              <a:rPr lang="en-US" sz="1000" b="1" dirty="0">
                <a:solidFill>
                  <a:srgbClr val="1A1A2E"/>
                </a:solidFill>
                <a:latin typeface="Calibri" pitchFamily="34" charset="0"/>
                <a:ea typeface="Calibri" pitchFamily="34" charset="-122"/>
                <a:cs typeface="Calibri" pitchFamily="34" charset="-120"/>
              </a:rPr>
              <a:t>Deploy on Microsoft Azure with HIPAA-Compliant Security Controls</a:t>
            </a:r>
            <a:endParaRPr lang="en-US" sz="1000" dirty="0"/>
          </a:p>
        </p:txBody>
      </p:sp>
      <p:sp>
        <p:nvSpPr>
          <p:cNvPr id="37" name="Text 35"/>
          <p:cNvSpPr/>
          <p:nvPr/>
        </p:nvSpPr>
        <p:spPr>
          <a:xfrm>
            <a:off x="859536" y="4572000"/>
            <a:ext cx="7863840" cy="329184"/>
          </a:xfrm>
          <a:prstGeom prst="rect">
            <a:avLst/>
          </a:prstGeom>
          <a:noFill/>
          <a:ln/>
        </p:spPr>
        <p:txBody>
          <a:bodyPr wrap="square" rtlCol="0" anchor="t"/>
          <a:lstStyle/>
          <a:p>
            <a:pPr marL="0" indent="0">
              <a:buNone/>
            </a:pPr>
            <a:r>
              <a:rPr lang="en-US" sz="850" dirty="0">
                <a:solidFill>
                  <a:srgbClr val="1A1A2E"/>
                </a:solidFill>
                <a:latin typeface="Calibri" pitchFamily="34" charset="0"/>
                <a:ea typeface="Calibri" pitchFamily="34" charset="-122"/>
                <a:cs typeface="Calibri" pitchFamily="34" charset="-120"/>
              </a:rPr>
              <a:t>Deploy the complete solution on Microsoft Azure using RBAC, AES-256 end-to-end encryption, comprehensive audit trail logging, and full HIPAA regulatory compliance — ensuring enterprise-grade data security across all hospital touchpoints.</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01F5F"/>
          </a:solidFill>
          <a:ln w="12700">
            <a:solidFill>
              <a:srgbClr val="FFFFFF"/>
            </a:solidFill>
            <a:prstDash val="solid"/>
          </a:ln>
        </p:spPr>
      </p:sp>
      <p:sp>
        <p:nvSpPr>
          <p:cNvPr id="3" name="Shape 1"/>
          <p:cNvSpPr/>
          <p:nvPr/>
        </p:nvSpPr>
        <p:spPr>
          <a:xfrm>
            <a:off x="0" y="621792"/>
            <a:ext cx="9144000" cy="50292"/>
          </a:xfrm>
          <a:prstGeom prst="rect">
            <a:avLst/>
          </a:prstGeom>
          <a:solidFill>
            <a:srgbClr val="1E8449"/>
          </a:solidFill>
          <a:ln w="12700">
            <a:solidFill>
              <a:srgbClr val="1E8449"/>
            </a:solidFill>
            <a:prstDash val="solid"/>
          </a:ln>
        </p:spPr>
      </p:sp>
      <p:sp>
        <p:nvSpPr>
          <p:cNvPr id="4" name="Text 2"/>
          <p:cNvSpPr/>
          <p:nvPr/>
        </p:nvSpPr>
        <p:spPr>
          <a:xfrm>
            <a:off x="292608" y="45720"/>
            <a:ext cx="7498080" cy="54864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Technical Objectives</a:t>
            </a:r>
            <a:endParaRPr lang="en-US" sz="1900" dirty="0"/>
          </a:p>
        </p:txBody>
      </p:sp>
      <p:sp>
        <p:nvSpPr>
          <p:cNvPr id="5" name="Shape 3"/>
          <p:cNvSpPr/>
          <p:nvPr/>
        </p:nvSpPr>
        <p:spPr>
          <a:xfrm>
            <a:off x="7818120" y="82296"/>
            <a:ext cx="1234440" cy="457200"/>
          </a:xfrm>
          <a:prstGeom prst="rect">
            <a:avLst/>
          </a:prstGeom>
          <a:solidFill>
            <a:srgbClr val="E8EFF8"/>
          </a:solidFill>
          <a:ln w="12700">
            <a:solidFill>
              <a:srgbClr val="1D4ED8"/>
            </a:solidFill>
            <a:prstDash val="solid"/>
          </a:ln>
        </p:spPr>
      </p:sp>
      <p:sp>
        <p:nvSpPr>
          <p:cNvPr id="6" name="Text 4"/>
          <p:cNvSpPr/>
          <p:nvPr/>
        </p:nvSpPr>
        <p:spPr>
          <a:xfrm>
            <a:off x="7818120" y="82296"/>
            <a:ext cx="1234440" cy="457200"/>
          </a:xfrm>
          <a:prstGeom prst="rect">
            <a:avLst/>
          </a:prstGeom>
          <a:noFill/>
          <a:ln/>
        </p:spPr>
        <p:txBody>
          <a:bodyPr wrap="square" rtlCol="0" anchor="ctr"/>
          <a:lstStyle/>
          <a:p>
            <a:pPr marL="0" indent="0" algn="ctr">
              <a:buNone/>
            </a:pPr>
            <a:r>
              <a:rPr lang="en-US" sz="700" b="1" dirty="0">
                <a:solidFill>
                  <a:srgbClr val="1D4ED8"/>
                </a:solidFill>
                <a:latin typeface="Calibri" pitchFamily="34" charset="0"/>
                <a:ea typeface="Calibri" pitchFamily="34" charset="-122"/>
                <a:cs typeface="Calibri" pitchFamily="34" charset="-120"/>
              </a:rPr>
              <a:t>Microsoft</a:t>
            </a:r>
            <a:endParaRPr lang="en-US" sz="700" dirty="0"/>
          </a:p>
          <a:p>
            <a:pPr marL="0" indent="0" algn="ctr">
              <a:buNone/>
            </a:pPr>
            <a:r>
              <a:rPr lang="en-US" sz="700" b="1" dirty="0">
                <a:solidFill>
                  <a:srgbClr val="1D4ED8"/>
                </a:solidFill>
                <a:latin typeface="Calibri" pitchFamily="34" charset="0"/>
                <a:ea typeface="Calibri" pitchFamily="34" charset="-122"/>
                <a:cs typeface="Calibri" pitchFamily="34" charset="-120"/>
              </a:rPr>
              <a:t>Elevate GTU</a:t>
            </a:r>
            <a:endParaRPr lang="en-US" sz="700" dirty="0"/>
          </a:p>
        </p:txBody>
      </p:sp>
      <p:sp>
        <p:nvSpPr>
          <p:cNvPr id="7" name="Shape 5"/>
          <p:cNvSpPr/>
          <p:nvPr/>
        </p:nvSpPr>
        <p:spPr>
          <a:xfrm>
            <a:off x="0" y="4873752"/>
            <a:ext cx="9144000" cy="50292"/>
          </a:xfrm>
          <a:prstGeom prst="rect">
            <a:avLst/>
          </a:prstGeom>
          <a:solidFill>
            <a:srgbClr val="1E8449"/>
          </a:solidFill>
          <a:ln w="12700">
            <a:solidFill>
              <a:srgbClr val="1E8449"/>
            </a:solidFill>
            <a:prstDash val="solid"/>
          </a:ln>
        </p:spPr>
      </p:sp>
      <p:sp>
        <p:nvSpPr>
          <p:cNvPr id="8" name="Shape 6"/>
          <p:cNvSpPr/>
          <p:nvPr/>
        </p:nvSpPr>
        <p:spPr>
          <a:xfrm>
            <a:off x="0" y="4924044"/>
            <a:ext cx="9144000" cy="219456"/>
          </a:xfrm>
          <a:prstGeom prst="rect">
            <a:avLst/>
          </a:prstGeom>
          <a:solidFill>
            <a:srgbClr val="FFFFFF"/>
          </a:solidFill>
          <a:ln w="12700">
            <a:solidFill>
              <a:srgbClr val="FFFFFF"/>
            </a:solidFill>
            <a:prstDash val="solid"/>
          </a:ln>
        </p:spPr>
      </p:sp>
      <p:sp>
        <p:nvSpPr>
          <p:cNvPr id="9" name="Text 7"/>
          <p:cNvSpPr/>
          <p:nvPr/>
        </p:nvSpPr>
        <p:spPr>
          <a:xfrm>
            <a:off x="228600" y="4924044"/>
            <a:ext cx="8046720" cy="219456"/>
          </a:xfrm>
          <a:prstGeom prst="rect">
            <a:avLst/>
          </a:prstGeom>
          <a:noFill/>
          <a:ln/>
        </p:spPr>
        <p:txBody>
          <a:bodyPr wrap="square" lIns="0" tIns="0" rIns="0" bIns="0" rtlCol="0" anchor="ctr"/>
          <a:lstStyle/>
          <a:p>
            <a:pPr marL="0" indent="0">
              <a:buNone/>
            </a:pPr>
            <a:r>
              <a:rPr lang="en-US" sz="650" dirty="0">
                <a:solidFill>
                  <a:srgbClr val="7B9ABF"/>
                </a:solidFill>
                <a:latin typeface="Calibri" pitchFamily="34" charset="0"/>
                <a:ea typeface="Calibri" pitchFamily="34" charset="-122"/>
                <a:cs typeface="Calibri" pitchFamily="34" charset="-120"/>
              </a:rPr>
              <a:t>Microsoft Elevate Internship Project  |  Healthcare &amp; Medication Management System  |  GTU Jan–Apr 2026</a:t>
            </a:r>
            <a:endParaRPr lang="en-US" sz="650" dirty="0"/>
          </a:p>
        </p:txBody>
      </p:sp>
      <p:sp>
        <p:nvSpPr>
          <p:cNvPr id="10" name="Text 8"/>
          <p:cNvSpPr/>
          <p:nvPr/>
        </p:nvSpPr>
        <p:spPr>
          <a:xfrm>
            <a:off x="8275320" y="4924044"/>
            <a:ext cx="731520" cy="219456"/>
          </a:xfrm>
          <a:prstGeom prst="rect">
            <a:avLst/>
          </a:prstGeom>
          <a:noFill/>
          <a:ln/>
        </p:spPr>
        <p:txBody>
          <a:bodyPr wrap="square" lIns="0" tIns="0" rIns="0" bIns="0" rtlCol="0" anchor="ctr"/>
          <a:lstStyle/>
          <a:p>
            <a:pPr marL="0" indent="0" algn="r">
              <a:buNone/>
            </a:pPr>
            <a:r>
              <a:rPr lang="en-US" sz="700" b="1" dirty="0">
                <a:solidFill>
                  <a:srgbClr val="1A1A2E"/>
                </a:solidFill>
                <a:latin typeface="Calibri" pitchFamily="34" charset="0"/>
                <a:ea typeface="Calibri" pitchFamily="34" charset="-122"/>
                <a:cs typeface="Calibri" pitchFamily="34" charset="-120"/>
              </a:rPr>
              <a:t>12 / 20</a:t>
            </a:r>
            <a:endParaRPr lang="en-US" sz="700" dirty="0"/>
          </a:p>
        </p:txBody>
      </p:sp>
      <p:sp>
        <p:nvSpPr>
          <p:cNvPr id="11" name="Text 9"/>
          <p:cNvSpPr/>
          <p:nvPr/>
        </p:nvSpPr>
        <p:spPr>
          <a:xfrm>
            <a:off x="320040" y="777240"/>
            <a:ext cx="8503920" cy="274320"/>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6 Technical Objectives</a:t>
            </a:r>
            <a:endParaRPr lang="en-US" sz="1300" dirty="0"/>
          </a:p>
        </p:txBody>
      </p:sp>
      <p:sp>
        <p:nvSpPr>
          <p:cNvPr id="12" name="Shape 10"/>
          <p:cNvSpPr/>
          <p:nvPr/>
        </p:nvSpPr>
        <p:spPr>
          <a:xfrm>
            <a:off x="320040" y="1078992"/>
            <a:ext cx="4224528" cy="1170432"/>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13" name="Shape 11"/>
          <p:cNvSpPr/>
          <p:nvPr/>
        </p:nvSpPr>
        <p:spPr>
          <a:xfrm>
            <a:off x="320040" y="1078992"/>
            <a:ext cx="4224528" cy="292608"/>
          </a:xfrm>
          <a:prstGeom prst="rect">
            <a:avLst/>
          </a:prstGeom>
          <a:solidFill>
            <a:srgbClr val="1D4ED8"/>
          </a:solidFill>
          <a:ln w="12700">
            <a:solidFill>
              <a:srgbClr val="1D4ED8"/>
            </a:solidFill>
            <a:prstDash val="solid"/>
          </a:ln>
        </p:spPr>
      </p:sp>
      <p:sp>
        <p:nvSpPr>
          <p:cNvPr id="14" name="Text 12"/>
          <p:cNvSpPr/>
          <p:nvPr/>
        </p:nvSpPr>
        <p:spPr>
          <a:xfrm>
            <a:off x="393192" y="1115568"/>
            <a:ext cx="731520" cy="237744"/>
          </a:xfrm>
          <a:prstGeom prst="rect">
            <a:avLst/>
          </a:prstGeom>
          <a:noFill/>
          <a:ln/>
        </p:spPr>
        <p:txBody>
          <a:bodyPr wrap="square" lIns="0" tIns="0" rIns="0" bIns="0" rtlCol="0" anchor="ctr"/>
          <a:lstStyle/>
          <a:p>
            <a:pPr marL="0" indent="0">
              <a:buNone/>
            </a:pPr>
            <a:r>
              <a:rPr lang="en-US" sz="800" b="1" dirty="0">
                <a:solidFill>
                  <a:srgbClr val="1A1A2E"/>
                </a:solidFill>
                <a:latin typeface="Calibri" pitchFamily="34" charset="0"/>
                <a:ea typeface="Calibri" pitchFamily="34" charset="-122"/>
                <a:cs typeface="Calibri" pitchFamily="34" charset="-120"/>
              </a:rPr>
              <a:t>Objective 1</a:t>
            </a:r>
            <a:endParaRPr lang="en-US" sz="800" dirty="0"/>
          </a:p>
        </p:txBody>
      </p:sp>
      <p:sp>
        <p:nvSpPr>
          <p:cNvPr id="15" name="Text 13"/>
          <p:cNvSpPr/>
          <p:nvPr/>
        </p:nvSpPr>
        <p:spPr>
          <a:xfrm>
            <a:off x="1161288" y="1115568"/>
            <a:ext cx="3310128" cy="237744"/>
          </a:xfrm>
          <a:prstGeom prst="rect">
            <a:avLst/>
          </a:prstGeom>
          <a:noFill/>
          <a:ln/>
        </p:spPr>
        <p:txBody>
          <a:bodyPr wrap="square" lIns="0" tIns="0" rIns="0" bIns="0" rtlCol="0" anchor="ctr"/>
          <a:lstStyle/>
          <a:p>
            <a:pPr marL="0" indent="0">
              <a:buNone/>
            </a:pPr>
            <a:r>
              <a:rPr lang="en-US" sz="950" b="1" dirty="0">
                <a:solidFill>
                  <a:srgbClr val="1A1A2E"/>
                </a:solidFill>
                <a:latin typeface="Calibri" pitchFamily="34" charset="0"/>
                <a:ea typeface="Calibri" pitchFamily="34" charset="-122"/>
                <a:cs typeface="Calibri" pitchFamily="34" charset="-120"/>
              </a:rPr>
              <a:t>Import &amp; Preprocess Patient Health Datasets</a:t>
            </a:r>
            <a:endParaRPr lang="en-US" sz="950" dirty="0"/>
          </a:p>
        </p:txBody>
      </p:sp>
      <p:sp>
        <p:nvSpPr>
          <p:cNvPr id="16" name="Text 14"/>
          <p:cNvSpPr/>
          <p:nvPr/>
        </p:nvSpPr>
        <p:spPr>
          <a:xfrm>
            <a:off x="411480" y="1408176"/>
            <a:ext cx="4059936" cy="804672"/>
          </a:xfrm>
          <a:prstGeom prst="rect">
            <a:avLst/>
          </a:prstGeom>
          <a:noFill/>
          <a:ln/>
        </p:spPr>
        <p:txBody>
          <a:bodyPr wrap="square" rtlCol="0" anchor="t"/>
          <a:lstStyle/>
          <a:p>
            <a:pPr marL="0" indent="0">
              <a:buNone/>
            </a:pPr>
            <a:r>
              <a:rPr lang="en-US" sz="850" dirty="0">
                <a:solidFill>
                  <a:srgbClr val="1A1A2E"/>
                </a:solidFill>
                <a:latin typeface="Calibri" pitchFamily="34" charset="0"/>
                <a:ea typeface="Calibri" pitchFamily="34" charset="-122"/>
                <a:cs typeface="Calibri" pitchFamily="34" charset="-120"/>
              </a:rPr>
              <a:t>Import patient EHR datasets using Power Query and Python Pandas. Perform data cleaning: handle missing values, remove duplicates, fix encoding errors, and normalize numerical features using StandardScaler for ML readiness.</a:t>
            </a:r>
            <a:endParaRPr lang="en-US" sz="850" dirty="0"/>
          </a:p>
        </p:txBody>
      </p:sp>
      <p:sp>
        <p:nvSpPr>
          <p:cNvPr id="17" name="Shape 15"/>
          <p:cNvSpPr/>
          <p:nvPr/>
        </p:nvSpPr>
        <p:spPr>
          <a:xfrm>
            <a:off x="4754880" y="1078992"/>
            <a:ext cx="4224528" cy="1170432"/>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18" name="Shape 16"/>
          <p:cNvSpPr/>
          <p:nvPr/>
        </p:nvSpPr>
        <p:spPr>
          <a:xfrm>
            <a:off x="4754880" y="1078992"/>
            <a:ext cx="4224528" cy="292608"/>
          </a:xfrm>
          <a:prstGeom prst="rect">
            <a:avLst/>
          </a:prstGeom>
          <a:solidFill>
            <a:srgbClr val="7C3AED"/>
          </a:solidFill>
          <a:ln w="12700">
            <a:solidFill>
              <a:srgbClr val="7C3AED"/>
            </a:solidFill>
            <a:prstDash val="solid"/>
          </a:ln>
        </p:spPr>
      </p:sp>
      <p:sp>
        <p:nvSpPr>
          <p:cNvPr id="19" name="Text 17"/>
          <p:cNvSpPr/>
          <p:nvPr/>
        </p:nvSpPr>
        <p:spPr>
          <a:xfrm>
            <a:off x="4828032" y="1115568"/>
            <a:ext cx="731520" cy="237744"/>
          </a:xfrm>
          <a:prstGeom prst="rect">
            <a:avLst/>
          </a:prstGeom>
          <a:noFill/>
          <a:ln/>
        </p:spPr>
        <p:txBody>
          <a:bodyPr wrap="square" lIns="0" tIns="0" rIns="0" bIns="0" rtlCol="0" anchor="ctr"/>
          <a:lstStyle/>
          <a:p>
            <a:pPr marL="0" indent="0">
              <a:buNone/>
            </a:pPr>
            <a:r>
              <a:rPr lang="en-US" sz="800" b="1" dirty="0">
                <a:solidFill>
                  <a:srgbClr val="1A1A2E"/>
                </a:solidFill>
                <a:latin typeface="Calibri" pitchFamily="34" charset="0"/>
                <a:ea typeface="Calibri" pitchFamily="34" charset="-122"/>
                <a:cs typeface="Calibri" pitchFamily="34" charset="-120"/>
              </a:rPr>
              <a:t>Objective 4</a:t>
            </a:r>
            <a:endParaRPr lang="en-US" sz="800" dirty="0"/>
          </a:p>
        </p:txBody>
      </p:sp>
      <p:sp>
        <p:nvSpPr>
          <p:cNvPr id="20" name="Text 18"/>
          <p:cNvSpPr/>
          <p:nvPr/>
        </p:nvSpPr>
        <p:spPr>
          <a:xfrm>
            <a:off x="5596128" y="1115568"/>
            <a:ext cx="3310128" cy="237744"/>
          </a:xfrm>
          <a:prstGeom prst="rect">
            <a:avLst/>
          </a:prstGeom>
          <a:noFill/>
          <a:ln/>
        </p:spPr>
        <p:txBody>
          <a:bodyPr wrap="square" lIns="0" tIns="0" rIns="0" bIns="0" rtlCol="0" anchor="ctr"/>
          <a:lstStyle/>
          <a:p>
            <a:pPr marL="0" indent="0">
              <a:buNone/>
            </a:pPr>
            <a:r>
              <a:rPr lang="en-US" sz="950" b="1" dirty="0">
                <a:solidFill>
                  <a:srgbClr val="1A1A2E"/>
                </a:solidFill>
                <a:latin typeface="Calibri" pitchFamily="34" charset="0"/>
                <a:ea typeface="Calibri" pitchFamily="34" charset="-122"/>
                <a:cs typeface="Calibri" pitchFamily="34" charset="-120"/>
              </a:rPr>
              <a:t>Train ML Models for Disease Risk Prediction</a:t>
            </a:r>
            <a:endParaRPr lang="en-US" sz="950" dirty="0"/>
          </a:p>
        </p:txBody>
      </p:sp>
      <p:sp>
        <p:nvSpPr>
          <p:cNvPr id="21" name="Text 19"/>
          <p:cNvSpPr/>
          <p:nvPr/>
        </p:nvSpPr>
        <p:spPr>
          <a:xfrm>
            <a:off x="4846320" y="1408176"/>
            <a:ext cx="4059936" cy="804672"/>
          </a:xfrm>
          <a:prstGeom prst="rect">
            <a:avLst/>
          </a:prstGeom>
          <a:noFill/>
          <a:ln/>
        </p:spPr>
        <p:txBody>
          <a:bodyPr wrap="square" rtlCol="0" anchor="t"/>
          <a:lstStyle/>
          <a:p>
            <a:pPr marL="0" indent="0">
              <a:buNone/>
            </a:pPr>
            <a:r>
              <a:rPr lang="en-US" sz="850" dirty="0">
                <a:solidFill>
                  <a:srgbClr val="1A1A2E"/>
                </a:solidFill>
                <a:latin typeface="Calibri" pitchFamily="34" charset="0"/>
                <a:ea typeface="Calibri" pitchFamily="34" charset="-122"/>
                <a:cs typeface="Calibri" pitchFamily="34" charset="-120"/>
              </a:rPr>
              <a:t>Train Random Forest classifier (91% accuracy) for 30-day readmission prediction. Apply 5-fold cross-validation and Grid Search hyperparameter tuning (n_estimators: 50–200, max_depth: 5–20). SMOTE for class imbalance correction.</a:t>
            </a:r>
            <a:endParaRPr lang="en-US" sz="850" dirty="0"/>
          </a:p>
        </p:txBody>
      </p:sp>
      <p:sp>
        <p:nvSpPr>
          <p:cNvPr id="22" name="Shape 20"/>
          <p:cNvSpPr/>
          <p:nvPr/>
        </p:nvSpPr>
        <p:spPr>
          <a:xfrm>
            <a:off x="320040" y="2340864"/>
            <a:ext cx="4224528" cy="1170432"/>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23" name="Shape 21"/>
          <p:cNvSpPr/>
          <p:nvPr/>
        </p:nvSpPr>
        <p:spPr>
          <a:xfrm>
            <a:off x="320040" y="2340864"/>
            <a:ext cx="4224528" cy="292608"/>
          </a:xfrm>
          <a:prstGeom prst="rect">
            <a:avLst/>
          </a:prstGeom>
          <a:solidFill>
            <a:srgbClr val="0D9488"/>
          </a:solidFill>
          <a:ln w="12700">
            <a:solidFill>
              <a:srgbClr val="0D9488"/>
            </a:solidFill>
            <a:prstDash val="solid"/>
          </a:ln>
        </p:spPr>
      </p:sp>
      <p:sp>
        <p:nvSpPr>
          <p:cNvPr id="24" name="Text 22"/>
          <p:cNvSpPr/>
          <p:nvPr/>
        </p:nvSpPr>
        <p:spPr>
          <a:xfrm>
            <a:off x="393192" y="2377440"/>
            <a:ext cx="731520" cy="237744"/>
          </a:xfrm>
          <a:prstGeom prst="rect">
            <a:avLst/>
          </a:prstGeom>
          <a:noFill/>
          <a:ln/>
        </p:spPr>
        <p:txBody>
          <a:bodyPr wrap="square" lIns="0" tIns="0" rIns="0" bIns="0" rtlCol="0" anchor="ctr"/>
          <a:lstStyle/>
          <a:p>
            <a:pPr marL="0" indent="0">
              <a:buNone/>
            </a:pPr>
            <a:r>
              <a:rPr lang="en-US" sz="800" b="1" dirty="0">
                <a:solidFill>
                  <a:srgbClr val="1A1A2E"/>
                </a:solidFill>
                <a:latin typeface="Calibri" pitchFamily="34" charset="0"/>
                <a:ea typeface="Calibri" pitchFamily="34" charset="-122"/>
                <a:cs typeface="Calibri" pitchFamily="34" charset="-120"/>
              </a:rPr>
              <a:t>Objective 2</a:t>
            </a:r>
            <a:endParaRPr lang="en-US" sz="800" dirty="0"/>
          </a:p>
        </p:txBody>
      </p:sp>
      <p:sp>
        <p:nvSpPr>
          <p:cNvPr id="25" name="Text 23"/>
          <p:cNvSpPr/>
          <p:nvPr/>
        </p:nvSpPr>
        <p:spPr>
          <a:xfrm>
            <a:off x="1161288" y="2377440"/>
            <a:ext cx="3310128" cy="237744"/>
          </a:xfrm>
          <a:prstGeom prst="rect">
            <a:avLst/>
          </a:prstGeom>
          <a:noFill/>
          <a:ln/>
        </p:spPr>
        <p:txBody>
          <a:bodyPr wrap="square" lIns="0" tIns="0" rIns="0" bIns="0" rtlCol="0" anchor="ctr"/>
          <a:lstStyle/>
          <a:p>
            <a:pPr marL="0" indent="0">
              <a:buNone/>
            </a:pPr>
            <a:r>
              <a:rPr lang="en-US" sz="950" b="1" dirty="0">
                <a:solidFill>
                  <a:srgbClr val="1A1A2E"/>
                </a:solidFill>
                <a:latin typeface="Calibri" pitchFamily="34" charset="0"/>
                <a:ea typeface="Calibri" pitchFamily="34" charset="-122"/>
                <a:cs typeface="Calibri" pitchFamily="34" charset="-120"/>
              </a:rPr>
              <a:t>Perform EDA on EHR Data</a:t>
            </a:r>
            <a:endParaRPr lang="en-US" sz="950" dirty="0"/>
          </a:p>
        </p:txBody>
      </p:sp>
      <p:sp>
        <p:nvSpPr>
          <p:cNvPr id="26" name="Text 24"/>
          <p:cNvSpPr/>
          <p:nvPr/>
        </p:nvSpPr>
        <p:spPr>
          <a:xfrm>
            <a:off x="411480" y="2670048"/>
            <a:ext cx="4059936" cy="804672"/>
          </a:xfrm>
          <a:prstGeom prst="rect">
            <a:avLst/>
          </a:prstGeom>
          <a:noFill/>
          <a:ln/>
        </p:spPr>
        <p:txBody>
          <a:bodyPr wrap="square" rtlCol="0" anchor="t"/>
          <a:lstStyle/>
          <a:p>
            <a:pPr marL="0" indent="0">
              <a:buNone/>
            </a:pPr>
            <a:r>
              <a:rPr lang="en-US" sz="850" dirty="0">
                <a:solidFill>
                  <a:srgbClr val="1A1A2E"/>
                </a:solidFill>
                <a:latin typeface="Calibri" pitchFamily="34" charset="0"/>
                <a:ea typeface="Calibri" pitchFamily="34" charset="-122"/>
                <a:cs typeface="Calibri" pitchFamily="34" charset="-120"/>
              </a:rPr>
              <a:t>Conduct Exploratory Data Analysis: distribution plots, correlation heatmaps, pairplots for feature relationships, outlier detection using IQR, and statistical hypothesis testing on key clinical indicators and medication adherence variables.</a:t>
            </a:r>
            <a:endParaRPr lang="en-US" sz="850" dirty="0"/>
          </a:p>
        </p:txBody>
      </p:sp>
      <p:sp>
        <p:nvSpPr>
          <p:cNvPr id="27" name="Shape 25"/>
          <p:cNvSpPr/>
          <p:nvPr/>
        </p:nvSpPr>
        <p:spPr>
          <a:xfrm>
            <a:off x="4754880" y="2340864"/>
            <a:ext cx="4224528" cy="1170432"/>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28" name="Shape 26"/>
          <p:cNvSpPr/>
          <p:nvPr/>
        </p:nvSpPr>
        <p:spPr>
          <a:xfrm>
            <a:off x="4754880" y="2340864"/>
            <a:ext cx="4224528" cy="292608"/>
          </a:xfrm>
          <a:prstGeom prst="rect">
            <a:avLst/>
          </a:prstGeom>
          <a:solidFill>
            <a:srgbClr val="D97706"/>
          </a:solidFill>
          <a:ln w="12700">
            <a:solidFill>
              <a:srgbClr val="D97706"/>
            </a:solidFill>
            <a:prstDash val="solid"/>
          </a:ln>
        </p:spPr>
      </p:sp>
      <p:sp>
        <p:nvSpPr>
          <p:cNvPr id="29" name="Text 27"/>
          <p:cNvSpPr/>
          <p:nvPr/>
        </p:nvSpPr>
        <p:spPr>
          <a:xfrm>
            <a:off x="4828032" y="2377440"/>
            <a:ext cx="731520" cy="237744"/>
          </a:xfrm>
          <a:prstGeom prst="rect">
            <a:avLst/>
          </a:prstGeom>
          <a:noFill/>
          <a:ln/>
        </p:spPr>
        <p:txBody>
          <a:bodyPr wrap="square" lIns="0" tIns="0" rIns="0" bIns="0" rtlCol="0" anchor="ctr"/>
          <a:lstStyle/>
          <a:p>
            <a:pPr marL="0" indent="0">
              <a:buNone/>
            </a:pPr>
            <a:r>
              <a:rPr lang="en-US" sz="800" b="1" dirty="0">
                <a:solidFill>
                  <a:srgbClr val="1A1A2E"/>
                </a:solidFill>
                <a:latin typeface="Calibri" pitchFamily="34" charset="0"/>
                <a:ea typeface="Calibri" pitchFamily="34" charset="-122"/>
                <a:cs typeface="Calibri" pitchFamily="34" charset="-120"/>
              </a:rPr>
              <a:t>Objective 5</a:t>
            </a:r>
            <a:endParaRPr lang="en-US" sz="800" dirty="0"/>
          </a:p>
        </p:txBody>
      </p:sp>
      <p:sp>
        <p:nvSpPr>
          <p:cNvPr id="30" name="Text 28"/>
          <p:cNvSpPr/>
          <p:nvPr/>
        </p:nvSpPr>
        <p:spPr>
          <a:xfrm>
            <a:off x="5596128" y="2377440"/>
            <a:ext cx="3310128" cy="237744"/>
          </a:xfrm>
          <a:prstGeom prst="rect">
            <a:avLst/>
          </a:prstGeom>
          <a:noFill/>
          <a:ln/>
        </p:spPr>
        <p:txBody>
          <a:bodyPr wrap="square" lIns="0" tIns="0" rIns="0" bIns="0" rtlCol="0" anchor="ctr"/>
          <a:lstStyle/>
          <a:p>
            <a:pPr marL="0" indent="0">
              <a:buNone/>
            </a:pPr>
            <a:r>
              <a:rPr lang="en-US" sz="950" b="1" dirty="0">
                <a:solidFill>
                  <a:srgbClr val="1A1A2E"/>
                </a:solidFill>
                <a:latin typeface="Calibri" pitchFamily="34" charset="0"/>
                <a:ea typeface="Calibri" pitchFamily="34" charset="-122"/>
                <a:cs typeface="Calibri" pitchFamily="34" charset="-120"/>
              </a:rPr>
              <a:t>Build CNN Model for Medical Image Classification</a:t>
            </a:r>
            <a:endParaRPr lang="en-US" sz="950" dirty="0"/>
          </a:p>
        </p:txBody>
      </p:sp>
      <p:sp>
        <p:nvSpPr>
          <p:cNvPr id="31" name="Text 29"/>
          <p:cNvSpPr/>
          <p:nvPr/>
        </p:nvSpPr>
        <p:spPr>
          <a:xfrm>
            <a:off x="4846320" y="2670048"/>
            <a:ext cx="4059936" cy="804672"/>
          </a:xfrm>
          <a:prstGeom prst="rect">
            <a:avLst/>
          </a:prstGeom>
          <a:noFill/>
          <a:ln/>
        </p:spPr>
        <p:txBody>
          <a:bodyPr wrap="square" rtlCol="0" anchor="t"/>
          <a:lstStyle/>
          <a:p>
            <a:pPr marL="0" indent="0">
              <a:buNone/>
            </a:pPr>
            <a:r>
              <a:rPr lang="en-US" sz="850" dirty="0">
                <a:solidFill>
                  <a:srgbClr val="1A1A2E"/>
                </a:solidFill>
                <a:latin typeface="Calibri" pitchFamily="34" charset="0"/>
                <a:ea typeface="Calibri" pitchFamily="34" charset="-122"/>
                <a:cs typeface="Calibri" pitchFamily="34" charset="-120"/>
              </a:rPr>
              <a:t>Develop a 5-layer CNN (Conv2D → MaxPool → Dropout → Dense) using TensorFlow/Keras for X-ray and MRI diagnostic support. Transfer learning from VGG16 ImageNet weights fine-tuned on medical imaging datasets.</a:t>
            </a:r>
            <a:endParaRPr lang="en-US" sz="850" dirty="0"/>
          </a:p>
        </p:txBody>
      </p:sp>
      <p:sp>
        <p:nvSpPr>
          <p:cNvPr id="32" name="Shape 30"/>
          <p:cNvSpPr/>
          <p:nvPr/>
        </p:nvSpPr>
        <p:spPr>
          <a:xfrm>
            <a:off x="320040" y="3602736"/>
            <a:ext cx="4224528" cy="1170432"/>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33" name="Shape 31"/>
          <p:cNvSpPr/>
          <p:nvPr/>
        </p:nvSpPr>
        <p:spPr>
          <a:xfrm>
            <a:off x="320040" y="3602736"/>
            <a:ext cx="4224528" cy="292608"/>
          </a:xfrm>
          <a:prstGeom prst="rect">
            <a:avLst/>
          </a:prstGeom>
          <a:solidFill>
            <a:srgbClr val="1E8449"/>
          </a:solidFill>
          <a:ln w="12700">
            <a:solidFill>
              <a:srgbClr val="1E8449"/>
            </a:solidFill>
            <a:prstDash val="solid"/>
          </a:ln>
        </p:spPr>
      </p:sp>
      <p:sp>
        <p:nvSpPr>
          <p:cNvPr id="34" name="Text 32"/>
          <p:cNvSpPr/>
          <p:nvPr/>
        </p:nvSpPr>
        <p:spPr>
          <a:xfrm>
            <a:off x="393192" y="3639312"/>
            <a:ext cx="731520" cy="237744"/>
          </a:xfrm>
          <a:prstGeom prst="rect">
            <a:avLst/>
          </a:prstGeom>
          <a:noFill/>
          <a:ln/>
        </p:spPr>
        <p:txBody>
          <a:bodyPr wrap="square" lIns="0" tIns="0" rIns="0" bIns="0" rtlCol="0" anchor="ctr"/>
          <a:lstStyle/>
          <a:p>
            <a:pPr marL="0" indent="0">
              <a:buNone/>
            </a:pPr>
            <a:r>
              <a:rPr lang="en-US" sz="800" b="1" dirty="0">
                <a:solidFill>
                  <a:srgbClr val="1A1A2E"/>
                </a:solidFill>
                <a:latin typeface="Calibri" pitchFamily="34" charset="0"/>
                <a:ea typeface="Calibri" pitchFamily="34" charset="-122"/>
                <a:cs typeface="Calibri" pitchFamily="34" charset="-120"/>
              </a:rPr>
              <a:t>Objective 3</a:t>
            </a:r>
            <a:endParaRPr lang="en-US" sz="800" dirty="0"/>
          </a:p>
        </p:txBody>
      </p:sp>
      <p:sp>
        <p:nvSpPr>
          <p:cNvPr id="35" name="Text 33"/>
          <p:cNvSpPr/>
          <p:nvPr/>
        </p:nvSpPr>
        <p:spPr>
          <a:xfrm>
            <a:off x="1161288" y="3639312"/>
            <a:ext cx="3310128" cy="237744"/>
          </a:xfrm>
          <a:prstGeom prst="rect">
            <a:avLst/>
          </a:prstGeom>
          <a:noFill/>
          <a:ln/>
        </p:spPr>
        <p:txBody>
          <a:bodyPr wrap="square" lIns="0" tIns="0" rIns="0" bIns="0" rtlCol="0" anchor="ctr"/>
          <a:lstStyle/>
          <a:p>
            <a:pPr marL="0" indent="0">
              <a:buNone/>
            </a:pPr>
            <a:r>
              <a:rPr lang="en-US" sz="950" b="1" dirty="0">
                <a:solidFill>
                  <a:srgbClr val="1A1A2E"/>
                </a:solidFill>
                <a:latin typeface="Calibri" pitchFamily="34" charset="0"/>
                <a:ea typeface="Calibri" pitchFamily="34" charset="-122"/>
                <a:cs typeface="Calibri" pitchFamily="34" charset="-120"/>
              </a:rPr>
              <a:t>Create DAX Measures for Clinical KPIs</a:t>
            </a:r>
            <a:endParaRPr lang="en-US" sz="950" dirty="0"/>
          </a:p>
        </p:txBody>
      </p:sp>
      <p:sp>
        <p:nvSpPr>
          <p:cNvPr id="36" name="Text 34"/>
          <p:cNvSpPr/>
          <p:nvPr/>
        </p:nvSpPr>
        <p:spPr>
          <a:xfrm>
            <a:off x="411480" y="3931920"/>
            <a:ext cx="4059936" cy="804672"/>
          </a:xfrm>
          <a:prstGeom prst="rect">
            <a:avLst/>
          </a:prstGeom>
          <a:noFill/>
          <a:ln/>
        </p:spPr>
        <p:txBody>
          <a:bodyPr wrap="square" rtlCol="0" anchor="t"/>
          <a:lstStyle/>
          <a:p>
            <a:pPr marL="0" indent="0">
              <a:buNone/>
            </a:pPr>
            <a:r>
              <a:rPr lang="en-US" sz="850" dirty="0">
                <a:solidFill>
                  <a:srgbClr val="1A1A2E"/>
                </a:solidFill>
                <a:latin typeface="Calibri" pitchFamily="34" charset="0"/>
                <a:ea typeface="Calibri" pitchFamily="34" charset="-122"/>
                <a:cs typeface="Calibri" pitchFamily="34" charset="-120"/>
              </a:rPr>
              <a:t>Build DAX calculated measures in Power BI: medication adherence rate (%), 30-day readmission rate (%), average recovery time (days), drug interaction incident count, and patient risk distribution across Low/Moderate/High/Critical tiers.</a:t>
            </a:r>
            <a:endParaRPr lang="en-US" sz="850" dirty="0"/>
          </a:p>
        </p:txBody>
      </p:sp>
      <p:sp>
        <p:nvSpPr>
          <p:cNvPr id="37" name="Shape 35"/>
          <p:cNvSpPr/>
          <p:nvPr/>
        </p:nvSpPr>
        <p:spPr>
          <a:xfrm>
            <a:off x="4754880" y="3602736"/>
            <a:ext cx="4224528" cy="1170432"/>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38" name="Shape 36"/>
          <p:cNvSpPr/>
          <p:nvPr/>
        </p:nvSpPr>
        <p:spPr>
          <a:xfrm>
            <a:off x="4754880" y="3602736"/>
            <a:ext cx="4224528" cy="292608"/>
          </a:xfrm>
          <a:prstGeom prst="rect">
            <a:avLst/>
          </a:prstGeom>
          <a:solidFill>
            <a:srgbClr val="DC2626"/>
          </a:solidFill>
          <a:ln w="12700">
            <a:solidFill>
              <a:srgbClr val="DC2626"/>
            </a:solidFill>
            <a:prstDash val="solid"/>
          </a:ln>
        </p:spPr>
      </p:sp>
      <p:sp>
        <p:nvSpPr>
          <p:cNvPr id="39" name="Text 37"/>
          <p:cNvSpPr/>
          <p:nvPr/>
        </p:nvSpPr>
        <p:spPr>
          <a:xfrm>
            <a:off x="4828032" y="3639312"/>
            <a:ext cx="731520" cy="237744"/>
          </a:xfrm>
          <a:prstGeom prst="rect">
            <a:avLst/>
          </a:prstGeom>
          <a:noFill/>
          <a:ln/>
        </p:spPr>
        <p:txBody>
          <a:bodyPr wrap="square" lIns="0" tIns="0" rIns="0" bIns="0" rtlCol="0" anchor="ctr"/>
          <a:lstStyle/>
          <a:p>
            <a:pPr marL="0" indent="0">
              <a:buNone/>
            </a:pPr>
            <a:r>
              <a:rPr lang="en-US" sz="800" b="1" dirty="0">
                <a:solidFill>
                  <a:srgbClr val="1A1A2E"/>
                </a:solidFill>
                <a:latin typeface="Calibri" pitchFamily="34" charset="0"/>
                <a:ea typeface="Calibri" pitchFamily="34" charset="-122"/>
                <a:cs typeface="Calibri" pitchFamily="34" charset="-120"/>
              </a:rPr>
              <a:t>Objective 6</a:t>
            </a:r>
            <a:endParaRPr lang="en-US" sz="800" dirty="0"/>
          </a:p>
        </p:txBody>
      </p:sp>
      <p:sp>
        <p:nvSpPr>
          <p:cNvPr id="40" name="Text 38"/>
          <p:cNvSpPr/>
          <p:nvPr/>
        </p:nvSpPr>
        <p:spPr>
          <a:xfrm>
            <a:off x="5596128" y="3639312"/>
            <a:ext cx="3310128" cy="237744"/>
          </a:xfrm>
          <a:prstGeom prst="rect">
            <a:avLst/>
          </a:prstGeom>
          <a:noFill/>
          <a:ln/>
        </p:spPr>
        <p:txBody>
          <a:bodyPr wrap="square" lIns="0" tIns="0" rIns="0" bIns="0" rtlCol="0" anchor="ctr"/>
          <a:lstStyle/>
          <a:p>
            <a:pPr marL="0" indent="0">
              <a:buNone/>
            </a:pPr>
            <a:r>
              <a:rPr lang="en-US" sz="950" b="1" dirty="0">
                <a:solidFill>
                  <a:srgbClr val="1A1A2E"/>
                </a:solidFill>
                <a:latin typeface="Calibri" pitchFamily="34" charset="0"/>
                <a:ea typeface="Calibri" pitchFamily="34" charset="-122"/>
                <a:cs typeface="Calibri" pitchFamily="34" charset="-120"/>
              </a:rPr>
              <a:t>Deploy Interactive Power BI Dashboard</a:t>
            </a:r>
            <a:endParaRPr lang="en-US" sz="950" dirty="0"/>
          </a:p>
        </p:txBody>
      </p:sp>
      <p:sp>
        <p:nvSpPr>
          <p:cNvPr id="41" name="Text 39"/>
          <p:cNvSpPr/>
          <p:nvPr/>
        </p:nvSpPr>
        <p:spPr>
          <a:xfrm>
            <a:off x="4846320" y="3931920"/>
            <a:ext cx="4059936" cy="804672"/>
          </a:xfrm>
          <a:prstGeom prst="rect">
            <a:avLst/>
          </a:prstGeom>
          <a:noFill/>
          <a:ln/>
        </p:spPr>
        <p:txBody>
          <a:bodyPr wrap="square" rtlCol="0" anchor="t"/>
          <a:lstStyle/>
          <a:p>
            <a:pPr marL="0" indent="0">
              <a:buNone/>
            </a:pPr>
            <a:r>
              <a:rPr lang="en-US" sz="850" dirty="0">
                <a:solidFill>
                  <a:srgbClr val="1A1A2E"/>
                </a:solidFill>
                <a:latin typeface="Calibri" pitchFamily="34" charset="0"/>
                <a:ea typeface="Calibri" pitchFamily="34" charset="-122"/>
                <a:cs typeface="Calibri" pitchFamily="34" charset="-120"/>
              </a:rPr>
              <a:t>Deploy a production-ready Power BI dashboard with interactive slicers for patient demographics, diagnosis codes, and date ranges. Role-based security restricts data access by doctor, nurse, and administrator roles.</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01F5F"/>
          </a:solidFill>
          <a:ln w="12700">
            <a:solidFill>
              <a:srgbClr val="FFFFFF"/>
            </a:solidFill>
            <a:prstDash val="solid"/>
          </a:ln>
        </p:spPr>
      </p:sp>
      <p:sp>
        <p:nvSpPr>
          <p:cNvPr id="3" name="Shape 1"/>
          <p:cNvSpPr/>
          <p:nvPr/>
        </p:nvSpPr>
        <p:spPr>
          <a:xfrm>
            <a:off x="0" y="621792"/>
            <a:ext cx="9144000" cy="50292"/>
          </a:xfrm>
          <a:prstGeom prst="rect">
            <a:avLst/>
          </a:prstGeom>
          <a:solidFill>
            <a:srgbClr val="1E8449"/>
          </a:solidFill>
          <a:ln w="12700">
            <a:solidFill>
              <a:srgbClr val="1E8449"/>
            </a:solidFill>
            <a:prstDash val="solid"/>
          </a:ln>
        </p:spPr>
      </p:sp>
      <p:sp>
        <p:nvSpPr>
          <p:cNvPr id="4" name="Text 2"/>
          <p:cNvSpPr/>
          <p:nvPr/>
        </p:nvSpPr>
        <p:spPr>
          <a:xfrm>
            <a:off x="292608" y="45720"/>
            <a:ext cx="7498080" cy="54864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System Architecture Flow</a:t>
            </a:r>
            <a:endParaRPr lang="en-US" sz="1900" dirty="0"/>
          </a:p>
        </p:txBody>
      </p:sp>
      <p:sp>
        <p:nvSpPr>
          <p:cNvPr id="5" name="Shape 3"/>
          <p:cNvSpPr/>
          <p:nvPr/>
        </p:nvSpPr>
        <p:spPr>
          <a:xfrm>
            <a:off x="7818120" y="82296"/>
            <a:ext cx="1234440" cy="457200"/>
          </a:xfrm>
          <a:prstGeom prst="rect">
            <a:avLst/>
          </a:prstGeom>
          <a:solidFill>
            <a:srgbClr val="E8EFF8"/>
          </a:solidFill>
          <a:ln w="12700">
            <a:solidFill>
              <a:srgbClr val="1D4ED8"/>
            </a:solidFill>
            <a:prstDash val="solid"/>
          </a:ln>
        </p:spPr>
      </p:sp>
      <p:sp>
        <p:nvSpPr>
          <p:cNvPr id="6" name="Text 4"/>
          <p:cNvSpPr/>
          <p:nvPr/>
        </p:nvSpPr>
        <p:spPr>
          <a:xfrm>
            <a:off x="7818120" y="82296"/>
            <a:ext cx="1234440" cy="457200"/>
          </a:xfrm>
          <a:prstGeom prst="rect">
            <a:avLst/>
          </a:prstGeom>
          <a:noFill/>
          <a:ln/>
        </p:spPr>
        <p:txBody>
          <a:bodyPr wrap="square" rtlCol="0" anchor="ctr"/>
          <a:lstStyle/>
          <a:p>
            <a:pPr marL="0" indent="0" algn="ctr">
              <a:buNone/>
            </a:pPr>
            <a:r>
              <a:rPr lang="en-US" sz="700" b="1" dirty="0">
                <a:solidFill>
                  <a:srgbClr val="1D4ED8"/>
                </a:solidFill>
                <a:latin typeface="Calibri" pitchFamily="34" charset="0"/>
                <a:ea typeface="Calibri" pitchFamily="34" charset="-122"/>
                <a:cs typeface="Calibri" pitchFamily="34" charset="-120"/>
              </a:rPr>
              <a:t>Microsoft</a:t>
            </a:r>
            <a:endParaRPr lang="en-US" sz="700" dirty="0"/>
          </a:p>
          <a:p>
            <a:pPr marL="0" indent="0" algn="ctr">
              <a:buNone/>
            </a:pPr>
            <a:r>
              <a:rPr lang="en-US" sz="700" b="1" dirty="0">
                <a:solidFill>
                  <a:srgbClr val="1D4ED8"/>
                </a:solidFill>
                <a:latin typeface="Calibri" pitchFamily="34" charset="0"/>
                <a:ea typeface="Calibri" pitchFamily="34" charset="-122"/>
                <a:cs typeface="Calibri" pitchFamily="34" charset="-120"/>
              </a:rPr>
              <a:t>Elevate GTU</a:t>
            </a:r>
            <a:endParaRPr lang="en-US" sz="700" dirty="0"/>
          </a:p>
        </p:txBody>
      </p:sp>
      <p:sp>
        <p:nvSpPr>
          <p:cNvPr id="7" name="Shape 5"/>
          <p:cNvSpPr/>
          <p:nvPr/>
        </p:nvSpPr>
        <p:spPr>
          <a:xfrm>
            <a:off x="0" y="4873752"/>
            <a:ext cx="9144000" cy="50292"/>
          </a:xfrm>
          <a:prstGeom prst="rect">
            <a:avLst/>
          </a:prstGeom>
          <a:solidFill>
            <a:srgbClr val="1E8449"/>
          </a:solidFill>
          <a:ln w="12700">
            <a:solidFill>
              <a:srgbClr val="1E8449"/>
            </a:solidFill>
            <a:prstDash val="solid"/>
          </a:ln>
        </p:spPr>
      </p:sp>
      <p:sp>
        <p:nvSpPr>
          <p:cNvPr id="8" name="Shape 6"/>
          <p:cNvSpPr/>
          <p:nvPr/>
        </p:nvSpPr>
        <p:spPr>
          <a:xfrm>
            <a:off x="0" y="4924044"/>
            <a:ext cx="9144000" cy="219456"/>
          </a:xfrm>
          <a:prstGeom prst="rect">
            <a:avLst/>
          </a:prstGeom>
          <a:solidFill>
            <a:srgbClr val="FFFFFF"/>
          </a:solidFill>
          <a:ln w="12700">
            <a:solidFill>
              <a:srgbClr val="FFFFFF"/>
            </a:solidFill>
            <a:prstDash val="solid"/>
          </a:ln>
        </p:spPr>
      </p:sp>
      <p:sp>
        <p:nvSpPr>
          <p:cNvPr id="9" name="Text 7"/>
          <p:cNvSpPr/>
          <p:nvPr/>
        </p:nvSpPr>
        <p:spPr>
          <a:xfrm>
            <a:off x="228600" y="4924044"/>
            <a:ext cx="8046720" cy="219456"/>
          </a:xfrm>
          <a:prstGeom prst="rect">
            <a:avLst/>
          </a:prstGeom>
          <a:noFill/>
          <a:ln/>
        </p:spPr>
        <p:txBody>
          <a:bodyPr wrap="square" lIns="0" tIns="0" rIns="0" bIns="0" rtlCol="0" anchor="ctr"/>
          <a:lstStyle/>
          <a:p>
            <a:pPr marL="0" indent="0">
              <a:buNone/>
            </a:pPr>
            <a:r>
              <a:rPr lang="en-US" sz="650" dirty="0">
                <a:solidFill>
                  <a:srgbClr val="7B9ABF"/>
                </a:solidFill>
                <a:latin typeface="Calibri" pitchFamily="34" charset="0"/>
                <a:ea typeface="Calibri" pitchFamily="34" charset="-122"/>
                <a:cs typeface="Calibri" pitchFamily="34" charset="-120"/>
              </a:rPr>
              <a:t>Microsoft Elevate Internship Project  |  Healthcare &amp; Medication Management System  |  GTU Jan–Apr 2026</a:t>
            </a:r>
            <a:endParaRPr lang="en-US" sz="650" dirty="0"/>
          </a:p>
        </p:txBody>
      </p:sp>
      <p:sp>
        <p:nvSpPr>
          <p:cNvPr id="10" name="Text 8"/>
          <p:cNvSpPr/>
          <p:nvPr/>
        </p:nvSpPr>
        <p:spPr>
          <a:xfrm>
            <a:off x="8275320" y="4924044"/>
            <a:ext cx="731520" cy="219456"/>
          </a:xfrm>
          <a:prstGeom prst="rect">
            <a:avLst/>
          </a:prstGeom>
          <a:noFill/>
          <a:ln/>
        </p:spPr>
        <p:txBody>
          <a:bodyPr wrap="square" lIns="0" tIns="0" rIns="0" bIns="0" rtlCol="0" anchor="ctr"/>
          <a:lstStyle/>
          <a:p>
            <a:pPr marL="0" indent="0" algn="r">
              <a:buNone/>
            </a:pPr>
            <a:r>
              <a:rPr lang="en-US" sz="700" b="1" dirty="0">
                <a:solidFill>
                  <a:srgbClr val="1A1A2E"/>
                </a:solidFill>
                <a:latin typeface="Calibri" pitchFamily="34" charset="0"/>
                <a:ea typeface="Calibri" pitchFamily="34" charset="-122"/>
                <a:cs typeface="Calibri" pitchFamily="34" charset="-120"/>
              </a:rPr>
              <a:t>13 / 20</a:t>
            </a:r>
            <a:endParaRPr lang="en-US" sz="700" dirty="0"/>
          </a:p>
        </p:txBody>
      </p:sp>
      <p:sp>
        <p:nvSpPr>
          <p:cNvPr id="11" name="Text 9"/>
          <p:cNvSpPr/>
          <p:nvPr/>
        </p:nvSpPr>
        <p:spPr>
          <a:xfrm>
            <a:off x="320040" y="777240"/>
            <a:ext cx="8503920" cy="274320"/>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7-Stage End-to-End Data Pipeline</a:t>
            </a:r>
            <a:endParaRPr lang="en-US" sz="1300" dirty="0"/>
          </a:p>
        </p:txBody>
      </p:sp>
      <p:sp>
        <p:nvSpPr>
          <p:cNvPr id="12" name="Text 10"/>
          <p:cNvSpPr/>
          <p:nvPr/>
        </p:nvSpPr>
        <p:spPr>
          <a:xfrm>
            <a:off x="320040" y="1069848"/>
            <a:ext cx="8503920" cy="237744"/>
          </a:xfrm>
          <a:prstGeom prst="rect">
            <a:avLst/>
          </a:prstGeom>
          <a:noFill/>
          <a:ln/>
        </p:spPr>
        <p:txBody>
          <a:bodyPr wrap="square" rtlCol="0" anchor="ctr"/>
          <a:lstStyle/>
          <a:p>
            <a:pPr marL="0" indent="0">
              <a:buNone/>
            </a:pPr>
            <a:r>
              <a:rPr lang="en-US" sz="950" i="1" dirty="0">
                <a:solidFill>
                  <a:srgbClr val="1A1A2E"/>
                </a:solidFill>
                <a:latin typeface="Calibri" pitchFamily="34" charset="0"/>
                <a:ea typeface="Calibri" pitchFamily="34" charset="-122"/>
                <a:cs typeface="Calibri" pitchFamily="34" charset="-120"/>
              </a:rPr>
              <a:t>From raw multi-source data ingestion through AI processing to clinical dashboard output and alerts.</a:t>
            </a:r>
            <a:endParaRPr lang="en-US" sz="950" dirty="0"/>
          </a:p>
        </p:txBody>
      </p:sp>
      <p:sp>
        <p:nvSpPr>
          <p:cNvPr id="13" name="Shape 11"/>
          <p:cNvSpPr/>
          <p:nvPr/>
        </p:nvSpPr>
        <p:spPr>
          <a:xfrm>
            <a:off x="320040" y="1353312"/>
            <a:ext cx="1152144" cy="2834640"/>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14" name="Shape 12"/>
          <p:cNvSpPr/>
          <p:nvPr/>
        </p:nvSpPr>
        <p:spPr>
          <a:xfrm>
            <a:off x="320040" y="1353312"/>
            <a:ext cx="1152144" cy="566928"/>
          </a:xfrm>
          <a:prstGeom prst="rect">
            <a:avLst/>
          </a:prstGeom>
          <a:solidFill>
            <a:srgbClr val="1D4ED8"/>
          </a:solidFill>
          <a:ln w="12700">
            <a:solidFill>
              <a:srgbClr val="1D4ED8"/>
            </a:solidFill>
            <a:prstDash val="solid"/>
          </a:ln>
        </p:spPr>
      </p:sp>
      <p:sp>
        <p:nvSpPr>
          <p:cNvPr id="15" name="Text 13"/>
          <p:cNvSpPr/>
          <p:nvPr/>
        </p:nvSpPr>
        <p:spPr>
          <a:xfrm>
            <a:off x="320040" y="1353312"/>
            <a:ext cx="1152144" cy="566928"/>
          </a:xfrm>
          <a:prstGeom prst="rect">
            <a:avLst/>
          </a:prstGeom>
          <a:noFill/>
          <a:ln/>
        </p:spPr>
        <p:txBody>
          <a:bodyPr wrap="square" rtlCol="0" anchor="ctr"/>
          <a:lstStyle/>
          <a:p>
            <a:pPr marL="0" indent="0" algn="ctr">
              <a:buNone/>
            </a:pPr>
            <a:r>
              <a:rPr lang="en-US" sz="850" b="1" dirty="0">
                <a:solidFill>
                  <a:srgbClr val="1A1A2E"/>
                </a:solidFill>
                <a:latin typeface="Calibri" pitchFamily="34" charset="0"/>
                <a:ea typeface="Calibri" pitchFamily="34" charset="-122"/>
                <a:cs typeface="Calibri" pitchFamily="34" charset="-120"/>
              </a:rPr>
              <a:t>1</a:t>
            </a:r>
            <a:endParaRPr lang="en-US" sz="850" dirty="0"/>
          </a:p>
          <a:p>
            <a:pPr marL="0" indent="0" algn="ctr">
              <a:buNone/>
            </a:pPr>
            <a:r>
              <a:rPr lang="en-US" sz="850" b="1" dirty="0">
                <a:solidFill>
                  <a:srgbClr val="1A1A2E"/>
                </a:solidFill>
                <a:latin typeface="Calibri" pitchFamily="34" charset="0"/>
                <a:ea typeface="Calibri" pitchFamily="34" charset="-122"/>
                <a:cs typeface="Calibri" pitchFamily="34" charset="-120"/>
              </a:rPr>
              <a:t>Data</a:t>
            </a:r>
            <a:endParaRPr lang="en-US" sz="850" dirty="0"/>
          </a:p>
          <a:p>
            <a:pPr marL="0" indent="0" algn="ctr">
              <a:buNone/>
            </a:pPr>
            <a:r>
              <a:rPr lang="en-US" sz="850" b="1" dirty="0">
                <a:solidFill>
                  <a:srgbClr val="1A1A2E"/>
                </a:solidFill>
                <a:latin typeface="Calibri" pitchFamily="34" charset="0"/>
                <a:ea typeface="Calibri" pitchFamily="34" charset="-122"/>
                <a:cs typeface="Calibri" pitchFamily="34" charset="-120"/>
              </a:rPr>
              <a:t>Sources</a:t>
            </a:r>
            <a:endParaRPr lang="en-US" sz="850" dirty="0"/>
          </a:p>
        </p:txBody>
      </p:sp>
      <p:sp>
        <p:nvSpPr>
          <p:cNvPr id="16" name="Shape 14"/>
          <p:cNvSpPr/>
          <p:nvPr/>
        </p:nvSpPr>
        <p:spPr>
          <a:xfrm>
            <a:off x="384048" y="2011680"/>
            <a:ext cx="1024128" cy="585216"/>
          </a:xfrm>
          <a:prstGeom prst="rect">
            <a:avLst/>
          </a:prstGeom>
          <a:solidFill>
            <a:srgbClr val="FFFFFF"/>
          </a:solidFill>
          <a:ln w="12700">
            <a:solidFill>
              <a:srgbClr val="F0F4FA"/>
            </a:solidFill>
            <a:prstDash val="solid"/>
          </a:ln>
        </p:spPr>
      </p:sp>
      <p:sp>
        <p:nvSpPr>
          <p:cNvPr id="17" name="Text 15"/>
          <p:cNvSpPr/>
          <p:nvPr/>
        </p:nvSpPr>
        <p:spPr>
          <a:xfrm>
            <a:off x="384048" y="2011680"/>
            <a:ext cx="1024128" cy="585216"/>
          </a:xfrm>
          <a:prstGeom prst="rect">
            <a:avLst/>
          </a:prstGeom>
          <a:noFill/>
          <a:ln/>
        </p:spPr>
        <p:txBody>
          <a:bodyPr wrap="square" rtlCol="0" anchor="ctr"/>
          <a:lstStyle/>
          <a:p>
            <a:pPr marL="0" indent="0" algn="ctr">
              <a:buNone/>
            </a:pPr>
            <a:r>
              <a:rPr lang="en-US" sz="750" dirty="0">
                <a:solidFill>
                  <a:srgbClr val="1A1A2E"/>
                </a:solidFill>
                <a:latin typeface="Calibri" pitchFamily="34" charset="0"/>
                <a:ea typeface="Calibri" pitchFamily="34" charset="-122"/>
                <a:cs typeface="Calibri" pitchFamily="34" charset="-120"/>
              </a:rPr>
              <a:t>EHR / IoT</a:t>
            </a:r>
            <a:endParaRPr lang="en-US" sz="750" dirty="0"/>
          </a:p>
        </p:txBody>
      </p:sp>
      <p:sp>
        <p:nvSpPr>
          <p:cNvPr id="18" name="Shape 16"/>
          <p:cNvSpPr/>
          <p:nvPr/>
        </p:nvSpPr>
        <p:spPr>
          <a:xfrm>
            <a:off x="384048" y="2706624"/>
            <a:ext cx="1024128" cy="585216"/>
          </a:xfrm>
          <a:prstGeom prst="rect">
            <a:avLst/>
          </a:prstGeom>
          <a:solidFill>
            <a:srgbClr val="FFFFFF"/>
          </a:solidFill>
          <a:ln w="12700">
            <a:solidFill>
              <a:srgbClr val="F0F4FA"/>
            </a:solidFill>
            <a:prstDash val="solid"/>
          </a:ln>
        </p:spPr>
      </p:sp>
      <p:sp>
        <p:nvSpPr>
          <p:cNvPr id="19" name="Text 17"/>
          <p:cNvSpPr/>
          <p:nvPr/>
        </p:nvSpPr>
        <p:spPr>
          <a:xfrm>
            <a:off x="384048" y="2706624"/>
            <a:ext cx="1024128" cy="585216"/>
          </a:xfrm>
          <a:prstGeom prst="rect">
            <a:avLst/>
          </a:prstGeom>
          <a:noFill/>
          <a:ln/>
        </p:spPr>
        <p:txBody>
          <a:bodyPr wrap="square" rtlCol="0" anchor="ctr"/>
          <a:lstStyle/>
          <a:p>
            <a:pPr marL="0" indent="0" algn="ctr">
              <a:buNone/>
            </a:pPr>
            <a:r>
              <a:rPr lang="en-US" sz="750" dirty="0">
                <a:solidFill>
                  <a:srgbClr val="1A1A2E"/>
                </a:solidFill>
                <a:latin typeface="Calibri" pitchFamily="34" charset="0"/>
                <a:ea typeface="Calibri" pitchFamily="34" charset="-122"/>
                <a:cs typeface="Calibri" pitchFamily="34" charset="-120"/>
              </a:rPr>
              <a:t>Pharmacy DB</a:t>
            </a:r>
            <a:endParaRPr lang="en-US" sz="750" dirty="0"/>
          </a:p>
        </p:txBody>
      </p:sp>
      <p:sp>
        <p:nvSpPr>
          <p:cNvPr id="20" name="Shape 18"/>
          <p:cNvSpPr/>
          <p:nvPr/>
        </p:nvSpPr>
        <p:spPr>
          <a:xfrm>
            <a:off x="384048" y="3401568"/>
            <a:ext cx="1024128" cy="585216"/>
          </a:xfrm>
          <a:prstGeom prst="rect">
            <a:avLst/>
          </a:prstGeom>
          <a:solidFill>
            <a:srgbClr val="FFFFFF"/>
          </a:solidFill>
          <a:ln w="12700">
            <a:solidFill>
              <a:srgbClr val="F0F4FA"/>
            </a:solidFill>
            <a:prstDash val="solid"/>
          </a:ln>
        </p:spPr>
      </p:sp>
      <p:sp>
        <p:nvSpPr>
          <p:cNvPr id="21" name="Text 19"/>
          <p:cNvSpPr/>
          <p:nvPr/>
        </p:nvSpPr>
        <p:spPr>
          <a:xfrm>
            <a:off x="384048" y="3401568"/>
            <a:ext cx="1024128" cy="585216"/>
          </a:xfrm>
          <a:prstGeom prst="rect">
            <a:avLst/>
          </a:prstGeom>
          <a:noFill/>
          <a:ln/>
        </p:spPr>
        <p:txBody>
          <a:bodyPr wrap="square" rtlCol="0" anchor="ctr"/>
          <a:lstStyle/>
          <a:p>
            <a:pPr marL="0" indent="0" algn="ctr">
              <a:buNone/>
            </a:pPr>
            <a:r>
              <a:rPr lang="en-US" sz="750" dirty="0">
                <a:solidFill>
                  <a:srgbClr val="1A1A2E"/>
                </a:solidFill>
                <a:latin typeface="Calibri" pitchFamily="34" charset="0"/>
                <a:ea typeface="Calibri" pitchFamily="34" charset="-122"/>
                <a:cs typeface="Calibri" pitchFamily="34" charset="-120"/>
              </a:rPr>
              <a:t>CT Scans</a:t>
            </a:r>
            <a:endParaRPr lang="en-US" sz="750" dirty="0"/>
          </a:p>
        </p:txBody>
      </p:sp>
      <p:sp>
        <p:nvSpPr>
          <p:cNvPr id="22" name="Text 20"/>
          <p:cNvSpPr/>
          <p:nvPr/>
        </p:nvSpPr>
        <p:spPr>
          <a:xfrm>
            <a:off x="1490472" y="2450592"/>
            <a:ext cx="182880" cy="365760"/>
          </a:xfrm>
          <a:prstGeom prst="rect">
            <a:avLst/>
          </a:prstGeom>
          <a:noFill/>
          <a:ln/>
        </p:spPr>
        <p:txBody>
          <a:bodyPr wrap="square" rtlCol="0" anchor="ctr"/>
          <a:lstStyle/>
          <a:p>
            <a:pPr marL="0" indent="0" algn="ctr">
              <a:buNone/>
            </a:pPr>
            <a:r>
              <a:rPr lang="en-US" sz="1000" dirty="0">
                <a:solidFill>
                  <a:srgbClr val="1D4ED8"/>
                </a:solidFill>
                <a:latin typeface="Calibri" pitchFamily="34" charset="0"/>
                <a:ea typeface="Calibri" pitchFamily="34" charset="-122"/>
                <a:cs typeface="Calibri" pitchFamily="34" charset="-120"/>
              </a:rPr>
              <a:t>▶</a:t>
            </a:r>
            <a:endParaRPr lang="en-US" sz="1000" dirty="0"/>
          </a:p>
        </p:txBody>
      </p:sp>
      <p:sp>
        <p:nvSpPr>
          <p:cNvPr id="23" name="Shape 21"/>
          <p:cNvSpPr/>
          <p:nvPr/>
        </p:nvSpPr>
        <p:spPr>
          <a:xfrm>
            <a:off x="1545336" y="1353312"/>
            <a:ext cx="1152144" cy="2834640"/>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24" name="Shape 22"/>
          <p:cNvSpPr/>
          <p:nvPr/>
        </p:nvSpPr>
        <p:spPr>
          <a:xfrm>
            <a:off x="1545336" y="1353312"/>
            <a:ext cx="1152144" cy="566928"/>
          </a:xfrm>
          <a:prstGeom prst="rect">
            <a:avLst/>
          </a:prstGeom>
          <a:solidFill>
            <a:srgbClr val="0D9488"/>
          </a:solidFill>
          <a:ln w="12700">
            <a:solidFill>
              <a:srgbClr val="0D9488"/>
            </a:solidFill>
            <a:prstDash val="solid"/>
          </a:ln>
        </p:spPr>
      </p:sp>
      <p:sp>
        <p:nvSpPr>
          <p:cNvPr id="25" name="Text 23"/>
          <p:cNvSpPr/>
          <p:nvPr/>
        </p:nvSpPr>
        <p:spPr>
          <a:xfrm>
            <a:off x="1545336" y="1353312"/>
            <a:ext cx="1152144" cy="566928"/>
          </a:xfrm>
          <a:prstGeom prst="rect">
            <a:avLst/>
          </a:prstGeom>
          <a:noFill/>
          <a:ln/>
        </p:spPr>
        <p:txBody>
          <a:bodyPr wrap="square" rtlCol="0" anchor="ctr"/>
          <a:lstStyle/>
          <a:p>
            <a:pPr marL="0" indent="0" algn="ctr">
              <a:buNone/>
            </a:pPr>
            <a:r>
              <a:rPr lang="en-US" sz="850" b="1" dirty="0">
                <a:solidFill>
                  <a:srgbClr val="1A1A2E"/>
                </a:solidFill>
                <a:latin typeface="Calibri" pitchFamily="34" charset="0"/>
                <a:ea typeface="Calibri" pitchFamily="34" charset="-122"/>
                <a:cs typeface="Calibri" pitchFamily="34" charset="-120"/>
              </a:rPr>
              <a:t>2</a:t>
            </a:r>
            <a:endParaRPr lang="en-US" sz="850" dirty="0"/>
          </a:p>
          <a:p>
            <a:pPr marL="0" indent="0" algn="ctr">
              <a:buNone/>
            </a:pPr>
            <a:r>
              <a:rPr lang="en-US" sz="850" b="1" dirty="0">
                <a:solidFill>
                  <a:srgbClr val="1A1A2E"/>
                </a:solidFill>
                <a:latin typeface="Calibri" pitchFamily="34" charset="0"/>
                <a:ea typeface="Calibri" pitchFamily="34" charset="-122"/>
                <a:cs typeface="Calibri" pitchFamily="34" charset="-120"/>
              </a:rPr>
              <a:t>Data</a:t>
            </a:r>
            <a:endParaRPr lang="en-US" sz="850" dirty="0"/>
          </a:p>
          <a:p>
            <a:pPr marL="0" indent="0" algn="ctr">
              <a:buNone/>
            </a:pPr>
            <a:r>
              <a:rPr lang="en-US" sz="850" b="1" dirty="0">
                <a:solidFill>
                  <a:srgbClr val="1A1A2E"/>
                </a:solidFill>
                <a:latin typeface="Calibri" pitchFamily="34" charset="0"/>
                <a:ea typeface="Calibri" pitchFamily="34" charset="-122"/>
                <a:cs typeface="Calibri" pitchFamily="34" charset="-120"/>
              </a:rPr>
              <a:t>Ingestion</a:t>
            </a:r>
            <a:endParaRPr lang="en-US" sz="850" dirty="0"/>
          </a:p>
        </p:txBody>
      </p:sp>
      <p:sp>
        <p:nvSpPr>
          <p:cNvPr id="26" name="Shape 24"/>
          <p:cNvSpPr/>
          <p:nvPr/>
        </p:nvSpPr>
        <p:spPr>
          <a:xfrm>
            <a:off x="1609344" y="2011680"/>
            <a:ext cx="1024128" cy="585216"/>
          </a:xfrm>
          <a:prstGeom prst="rect">
            <a:avLst/>
          </a:prstGeom>
          <a:solidFill>
            <a:srgbClr val="FFFFFF"/>
          </a:solidFill>
          <a:ln w="12700">
            <a:solidFill>
              <a:srgbClr val="F0F4FA"/>
            </a:solidFill>
            <a:prstDash val="solid"/>
          </a:ln>
        </p:spPr>
      </p:sp>
      <p:sp>
        <p:nvSpPr>
          <p:cNvPr id="27" name="Text 25"/>
          <p:cNvSpPr/>
          <p:nvPr/>
        </p:nvSpPr>
        <p:spPr>
          <a:xfrm>
            <a:off x="1609344" y="2011680"/>
            <a:ext cx="1024128" cy="585216"/>
          </a:xfrm>
          <a:prstGeom prst="rect">
            <a:avLst/>
          </a:prstGeom>
          <a:noFill/>
          <a:ln/>
        </p:spPr>
        <p:txBody>
          <a:bodyPr wrap="square" rtlCol="0" anchor="ctr"/>
          <a:lstStyle/>
          <a:p>
            <a:pPr marL="0" indent="0" algn="ctr">
              <a:buNone/>
            </a:pPr>
            <a:r>
              <a:rPr lang="en-US" sz="750" dirty="0">
                <a:solidFill>
                  <a:srgbClr val="1A1A2E"/>
                </a:solidFill>
                <a:latin typeface="Calibri" pitchFamily="34" charset="0"/>
                <a:ea typeface="Calibri" pitchFamily="34" charset="-122"/>
                <a:cs typeface="Calibri" pitchFamily="34" charset="-120"/>
              </a:rPr>
              <a:t>Azure IoT Hub</a:t>
            </a:r>
            <a:endParaRPr lang="en-US" sz="750" dirty="0"/>
          </a:p>
        </p:txBody>
      </p:sp>
      <p:sp>
        <p:nvSpPr>
          <p:cNvPr id="28" name="Shape 26"/>
          <p:cNvSpPr/>
          <p:nvPr/>
        </p:nvSpPr>
        <p:spPr>
          <a:xfrm>
            <a:off x="1609344" y="2706624"/>
            <a:ext cx="1024128" cy="585216"/>
          </a:xfrm>
          <a:prstGeom prst="rect">
            <a:avLst/>
          </a:prstGeom>
          <a:solidFill>
            <a:srgbClr val="FFFFFF"/>
          </a:solidFill>
          <a:ln w="12700">
            <a:solidFill>
              <a:srgbClr val="F0F4FA"/>
            </a:solidFill>
            <a:prstDash val="solid"/>
          </a:ln>
        </p:spPr>
      </p:sp>
      <p:sp>
        <p:nvSpPr>
          <p:cNvPr id="29" name="Text 27"/>
          <p:cNvSpPr/>
          <p:nvPr/>
        </p:nvSpPr>
        <p:spPr>
          <a:xfrm>
            <a:off x="1609344" y="2706624"/>
            <a:ext cx="1024128" cy="585216"/>
          </a:xfrm>
          <a:prstGeom prst="rect">
            <a:avLst/>
          </a:prstGeom>
          <a:noFill/>
          <a:ln/>
        </p:spPr>
        <p:txBody>
          <a:bodyPr wrap="square" rtlCol="0" anchor="ctr"/>
          <a:lstStyle/>
          <a:p>
            <a:pPr marL="0" indent="0" algn="ctr">
              <a:buNone/>
            </a:pPr>
            <a:r>
              <a:rPr lang="en-US" sz="750" dirty="0">
                <a:solidFill>
                  <a:srgbClr val="1A1A2E"/>
                </a:solidFill>
                <a:latin typeface="Calibri" pitchFamily="34" charset="0"/>
                <a:ea typeface="Calibri" pitchFamily="34" charset="-122"/>
                <a:cs typeface="Calibri" pitchFamily="34" charset="-120"/>
              </a:rPr>
              <a:t>FHIR API</a:t>
            </a:r>
            <a:endParaRPr lang="en-US" sz="750" dirty="0"/>
          </a:p>
        </p:txBody>
      </p:sp>
      <p:sp>
        <p:nvSpPr>
          <p:cNvPr id="30" name="Shape 28"/>
          <p:cNvSpPr/>
          <p:nvPr/>
        </p:nvSpPr>
        <p:spPr>
          <a:xfrm>
            <a:off x="1609344" y="3401568"/>
            <a:ext cx="1024128" cy="585216"/>
          </a:xfrm>
          <a:prstGeom prst="rect">
            <a:avLst/>
          </a:prstGeom>
          <a:solidFill>
            <a:srgbClr val="FFFFFF"/>
          </a:solidFill>
          <a:ln w="12700">
            <a:solidFill>
              <a:srgbClr val="F0F4FA"/>
            </a:solidFill>
            <a:prstDash val="solid"/>
          </a:ln>
        </p:spPr>
      </p:sp>
      <p:sp>
        <p:nvSpPr>
          <p:cNvPr id="31" name="Text 29"/>
          <p:cNvSpPr/>
          <p:nvPr/>
        </p:nvSpPr>
        <p:spPr>
          <a:xfrm>
            <a:off x="1609344" y="3401568"/>
            <a:ext cx="1024128" cy="585216"/>
          </a:xfrm>
          <a:prstGeom prst="rect">
            <a:avLst/>
          </a:prstGeom>
          <a:noFill/>
          <a:ln/>
        </p:spPr>
        <p:txBody>
          <a:bodyPr wrap="square" rtlCol="0" anchor="ctr"/>
          <a:lstStyle/>
          <a:p>
            <a:pPr marL="0" indent="0" algn="ctr">
              <a:buNone/>
            </a:pPr>
            <a:r>
              <a:rPr lang="en-US" sz="750" dirty="0">
                <a:solidFill>
                  <a:srgbClr val="1A1A2E"/>
                </a:solidFill>
                <a:latin typeface="Calibri" pitchFamily="34" charset="0"/>
                <a:ea typeface="Calibri" pitchFamily="34" charset="-122"/>
                <a:cs typeface="Calibri" pitchFamily="34" charset="-120"/>
              </a:rPr>
              <a:t>Data Factory</a:t>
            </a:r>
            <a:endParaRPr lang="en-US" sz="750" dirty="0"/>
          </a:p>
        </p:txBody>
      </p:sp>
      <p:sp>
        <p:nvSpPr>
          <p:cNvPr id="32" name="Text 30"/>
          <p:cNvSpPr/>
          <p:nvPr/>
        </p:nvSpPr>
        <p:spPr>
          <a:xfrm>
            <a:off x="2715768" y="2450592"/>
            <a:ext cx="182880" cy="365760"/>
          </a:xfrm>
          <a:prstGeom prst="rect">
            <a:avLst/>
          </a:prstGeom>
          <a:noFill/>
          <a:ln/>
        </p:spPr>
        <p:txBody>
          <a:bodyPr wrap="square" rtlCol="0" anchor="ctr"/>
          <a:lstStyle/>
          <a:p>
            <a:pPr marL="0" indent="0" algn="ctr">
              <a:buNone/>
            </a:pPr>
            <a:r>
              <a:rPr lang="en-US" sz="1000" dirty="0">
                <a:solidFill>
                  <a:srgbClr val="0D9488"/>
                </a:solidFill>
                <a:latin typeface="Calibri" pitchFamily="34" charset="0"/>
                <a:ea typeface="Calibri" pitchFamily="34" charset="-122"/>
                <a:cs typeface="Calibri" pitchFamily="34" charset="-120"/>
              </a:rPr>
              <a:t>▶</a:t>
            </a:r>
            <a:endParaRPr lang="en-US" sz="1000" dirty="0"/>
          </a:p>
        </p:txBody>
      </p:sp>
      <p:sp>
        <p:nvSpPr>
          <p:cNvPr id="33" name="Shape 31"/>
          <p:cNvSpPr/>
          <p:nvPr/>
        </p:nvSpPr>
        <p:spPr>
          <a:xfrm>
            <a:off x="2770632" y="1353312"/>
            <a:ext cx="1152144" cy="2834640"/>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34" name="Shape 32"/>
          <p:cNvSpPr/>
          <p:nvPr/>
        </p:nvSpPr>
        <p:spPr>
          <a:xfrm>
            <a:off x="2770632" y="1353312"/>
            <a:ext cx="1152144" cy="566928"/>
          </a:xfrm>
          <a:prstGeom prst="rect">
            <a:avLst/>
          </a:prstGeom>
          <a:solidFill>
            <a:srgbClr val="1E8449"/>
          </a:solidFill>
          <a:ln w="12700">
            <a:solidFill>
              <a:srgbClr val="1E8449"/>
            </a:solidFill>
            <a:prstDash val="solid"/>
          </a:ln>
        </p:spPr>
      </p:sp>
      <p:sp>
        <p:nvSpPr>
          <p:cNvPr id="35" name="Text 33"/>
          <p:cNvSpPr/>
          <p:nvPr/>
        </p:nvSpPr>
        <p:spPr>
          <a:xfrm>
            <a:off x="2770632" y="1353312"/>
            <a:ext cx="1152144" cy="566928"/>
          </a:xfrm>
          <a:prstGeom prst="rect">
            <a:avLst/>
          </a:prstGeom>
          <a:noFill/>
          <a:ln/>
        </p:spPr>
        <p:txBody>
          <a:bodyPr wrap="square" rtlCol="0" anchor="ctr"/>
          <a:lstStyle/>
          <a:p>
            <a:pPr marL="0" indent="0" algn="ctr">
              <a:buNone/>
            </a:pPr>
            <a:r>
              <a:rPr lang="en-US" sz="850" b="1" dirty="0">
                <a:solidFill>
                  <a:srgbClr val="1A1A2E"/>
                </a:solidFill>
                <a:latin typeface="Calibri" pitchFamily="34" charset="0"/>
                <a:ea typeface="Calibri" pitchFamily="34" charset="-122"/>
                <a:cs typeface="Calibri" pitchFamily="34" charset="-120"/>
              </a:rPr>
              <a:t>3</a:t>
            </a:r>
            <a:endParaRPr lang="en-US" sz="850" dirty="0"/>
          </a:p>
          <a:p>
            <a:pPr marL="0" indent="0" algn="ctr">
              <a:buNone/>
            </a:pPr>
            <a:r>
              <a:rPr lang="en-US" sz="850" b="1" dirty="0">
                <a:solidFill>
                  <a:srgbClr val="1A1A2E"/>
                </a:solidFill>
                <a:latin typeface="Calibri" pitchFamily="34" charset="0"/>
                <a:ea typeface="Calibri" pitchFamily="34" charset="-122"/>
                <a:cs typeface="Calibri" pitchFamily="34" charset="-120"/>
              </a:rPr>
              <a:t>Data</a:t>
            </a:r>
            <a:endParaRPr lang="en-US" sz="850" dirty="0"/>
          </a:p>
          <a:p>
            <a:pPr marL="0" indent="0" algn="ctr">
              <a:buNone/>
            </a:pPr>
            <a:r>
              <a:rPr lang="en-US" sz="850" b="1" dirty="0">
                <a:solidFill>
                  <a:srgbClr val="1A1A2E"/>
                </a:solidFill>
                <a:latin typeface="Calibri" pitchFamily="34" charset="0"/>
                <a:ea typeface="Calibri" pitchFamily="34" charset="-122"/>
                <a:cs typeface="Calibri" pitchFamily="34" charset="-120"/>
              </a:rPr>
              <a:t>Cleaning</a:t>
            </a:r>
            <a:endParaRPr lang="en-US" sz="850" dirty="0"/>
          </a:p>
        </p:txBody>
      </p:sp>
      <p:sp>
        <p:nvSpPr>
          <p:cNvPr id="36" name="Shape 34"/>
          <p:cNvSpPr/>
          <p:nvPr/>
        </p:nvSpPr>
        <p:spPr>
          <a:xfrm>
            <a:off x="2834640" y="2011680"/>
            <a:ext cx="1024128" cy="585216"/>
          </a:xfrm>
          <a:prstGeom prst="rect">
            <a:avLst/>
          </a:prstGeom>
          <a:solidFill>
            <a:srgbClr val="FFFFFF"/>
          </a:solidFill>
          <a:ln w="12700">
            <a:solidFill>
              <a:srgbClr val="F0F4FA"/>
            </a:solidFill>
            <a:prstDash val="solid"/>
          </a:ln>
        </p:spPr>
      </p:sp>
      <p:sp>
        <p:nvSpPr>
          <p:cNvPr id="37" name="Text 35"/>
          <p:cNvSpPr/>
          <p:nvPr/>
        </p:nvSpPr>
        <p:spPr>
          <a:xfrm>
            <a:off x="2834640" y="2011680"/>
            <a:ext cx="1024128" cy="585216"/>
          </a:xfrm>
          <a:prstGeom prst="rect">
            <a:avLst/>
          </a:prstGeom>
          <a:noFill/>
          <a:ln/>
        </p:spPr>
        <p:txBody>
          <a:bodyPr wrap="square" rtlCol="0" anchor="ctr"/>
          <a:lstStyle/>
          <a:p>
            <a:pPr marL="0" indent="0" algn="ctr">
              <a:buNone/>
            </a:pPr>
            <a:r>
              <a:rPr lang="en-US" sz="750" dirty="0">
                <a:solidFill>
                  <a:srgbClr val="1A1A2E"/>
                </a:solidFill>
                <a:latin typeface="Calibri" pitchFamily="34" charset="0"/>
                <a:ea typeface="Calibri" pitchFamily="34" charset="-122"/>
                <a:cs typeface="Calibri" pitchFamily="34" charset="-120"/>
              </a:rPr>
              <a:t>Power Query</a:t>
            </a:r>
            <a:endParaRPr lang="en-US" sz="750" dirty="0"/>
          </a:p>
        </p:txBody>
      </p:sp>
      <p:sp>
        <p:nvSpPr>
          <p:cNvPr id="38" name="Shape 36"/>
          <p:cNvSpPr/>
          <p:nvPr/>
        </p:nvSpPr>
        <p:spPr>
          <a:xfrm>
            <a:off x="2834640" y="2706624"/>
            <a:ext cx="1024128" cy="585216"/>
          </a:xfrm>
          <a:prstGeom prst="rect">
            <a:avLst/>
          </a:prstGeom>
          <a:solidFill>
            <a:srgbClr val="FFFFFF"/>
          </a:solidFill>
          <a:ln w="12700">
            <a:solidFill>
              <a:srgbClr val="F0F4FA"/>
            </a:solidFill>
            <a:prstDash val="solid"/>
          </a:ln>
        </p:spPr>
      </p:sp>
      <p:sp>
        <p:nvSpPr>
          <p:cNvPr id="39" name="Text 37"/>
          <p:cNvSpPr/>
          <p:nvPr/>
        </p:nvSpPr>
        <p:spPr>
          <a:xfrm>
            <a:off x="2834640" y="2706624"/>
            <a:ext cx="1024128" cy="585216"/>
          </a:xfrm>
          <a:prstGeom prst="rect">
            <a:avLst/>
          </a:prstGeom>
          <a:noFill/>
          <a:ln/>
        </p:spPr>
        <p:txBody>
          <a:bodyPr wrap="square" rtlCol="0" anchor="ctr"/>
          <a:lstStyle/>
          <a:p>
            <a:pPr marL="0" indent="0" algn="ctr">
              <a:buNone/>
            </a:pPr>
            <a:r>
              <a:rPr lang="en-US" sz="750" dirty="0">
                <a:solidFill>
                  <a:srgbClr val="1A1A2E"/>
                </a:solidFill>
                <a:latin typeface="Calibri" pitchFamily="34" charset="0"/>
                <a:ea typeface="Calibri" pitchFamily="34" charset="-122"/>
                <a:cs typeface="Calibri" pitchFamily="34" charset="-120"/>
              </a:rPr>
              <a:t>Missing/Dups</a:t>
            </a:r>
            <a:endParaRPr lang="en-US" sz="750" dirty="0"/>
          </a:p>
        </p:txBody>
      </p:sp>
      <p:sp>
        <p:nvSpPr>
          <p:cNvPr id="40" name="Shape 38"/>
          <p:cNvSpPr/>
          <p:nvPr/>
        </p:nvSpPr>
        <p:spPr>
          <a:xfrm>
            <a:off x="2834640" y="3401568"/>
            <a:ext cx="1024128" cy="585216"/>
          </a:xfrm>
          <a:prstGeom prst="rect">
            <a:avLst/>
          </a:prstGeom>
          <a:solidFill>
            <a:srgbClr val="FFFFFF"/>
          </a:solidFill>
          <a:ln w="12700">
            <a:solidFill>
              <a:srgbClr val="F0F4FA"/>
            </a:solidFill>
            <a:prstDash val="solid"/>
          </a:ln>
        </p:spPr>
      </p:sp>
      <p:sp>
        <p:nvSpPr>
          <p:cNvPr id="41" name="Text 39"/>
          <p:cNvSpPr/>
          <p:nvPr/>
        </p:nvSpPr>
        <p:spPr>
          <a:xfrm>
            <a:off x="2834640" y="3401568"/>
            <a:ext cx="1024128" cy="585216"/>
          </a:xfrm>
          <a:prstGeom prst="rect">
            <a:avLst/>
          </a:prstGeom>
          <a:noFill/>
          <a:ln/>
        </p:spPr>
        <p:txBody>
          <a:bodyPr wrap="square" rtlCol="0" anchor="ctr"/>
          <a:lstStyle/>
          <a:p>
            <a:pPr marL="0" indent="0" algn="ctr">
              <a:buNone/>
            </a:pPr>
            <a:r>
              <a:rPr lang="en-US" sz="750" dirty="0">
                <a:solidFill>
                  <a:srgbClr val="1A1A2E"/>
                </a:solidFill>
                <a:latin typeface="Calibri" pitchFamily="34" charset="0"/>
                <a:ea typeface="Calibri" pitchFamily="34" charset="-122"/>
                <a:cs typeface="Calibri" pitchFamily="34" charset="-120"/>
              </a:rPr>
              <a:t>Normalize</a:t>
            </a:r>
            <a:endParaRPr lang="en-US" sz="750" dirty="0"/>
          </a:p>
        </p:txBody>
      </p:sp>
      <p:sp>
        <p:nvSpPr>
          <p:cNvPr id="42" name="Text 40"/>
          <p:cNvSpPr/>
          <p:nvPr/>
        </p:nvSpPr>
        <p:spPr>
          <a:xfrm>
            <a:off x="3941064" y="2450592"/>
            <a:ext cx="182880" cy="365760"/>
          </a:xfrm>
          <a:prstGeom prst="rect">
            <a:avLst/>
          </a:prstGeom>
          <a:noFill/>
          <a:ln/>
        </p:spPr>
        <p:txBody>
          <a:bodyPr wrap="square" rtlCol="0" anchor="ctr"/>
          <a:lstStyle/>
          <a:p>
            <a:pPr marL="0" indent="0" algn="ctr">
              <a:buNone/>
            </a:pPr>
            <a:r>
              <a:rPr lang="en-US" sz="1000" dirty="0">
                <a:solidFill>
                  <a:srgbClr val="1E8449"/>
                </a:solidFill>
                <a:latin typeface="Calibri" pitchFamily="34" charset="0"/>
                <a:ea typeface="Calibri" pitchFamily="34" charset="-122"/>
                <a:cs typeface="Calibri" pitchFamily="34" charset="-120"/>
              </a:rPr>
              <a:t>▶</a:t>
            </a:r>
            <a:endParaRPr lang="en-US" sz="1000" dirty="0"/>
          </a:p>
        </p:txBody>
      </p:sp>
      <p:sp>
        <p:nvSpPr>
          <p:cNvPr id="43" name="Shape 41"/>
          <p:cNvSpPr/>
          <p:nvPr/>
        </p:nvSpPr>
        <p:spPr>
          <a:xfrm>
            <a:off x="3995928" y="1353312"/>
            <a:ext cx="1152144" cy="2834640"/>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44" name="Shape 42"/>
          <p:cNvSpPr/>
          <p:nvPr/>
        </p:nvSpPr>
        <p:spPr>
          <a:xfrm>
            <a:off x="3995928" y="1353312"/>
            <a:ext cx="1152144" cy="566928"/>
          </a:xfrm>
          <a:prstGeom prst="rect">
            <a:avLst/>
          </a:prstGeom>
          <a:solidFill>
            <a:srgbClr val="7C3AED"/>
          </a:solidFill>
          <a:ln w="12700">
            <a:solidFill>
              <a:srgbClr val="7C3AED"/>
            </a:solidFill>
            <a:prstDash val="solid"/>
          </a:ln>
        </p:spPr>
      </p:sp>
      <p:sp>
        <p:nvSpPr>
          <p:cNvPr id="45" name="Text 43"/>
          <p:cNvSpPr/>
          <p:nvPr/>
        </p:nvSpPr>
        <p:spPr>
          <a:xfrm>
            <a:off x="3995928" y="1353312"/>
            <a:ext cx="1152144" cy="566928"/>
          </a:xfrm>
          <a:prstGeom prst="rect">
            <a:avLst/>
          </a:prstGeom>
          <a:noFill/>
          <a:ln/>
        </p:spPr>
        <p:txBody>
          <a:bodyPr wrap="square" rtlCol="0" anchor="ctr"/>
          <a:lstStyle/>
          <a:p>
            <a:pPr marL="0" indent="0" algn="ctr">
              <a:buNone/>
            </a:pPr>
            <a:r>
              <a:rPr lang="en-US" sz="850" b="1" dirty="0">
                <a:solidFill>
                  <a:srgbClr val="1A1A2E"/>
                </a:solidFill>
                <a:latin typeface="Calibri" pitchFamily="34" charset="0"/>
                <a:ea typeface="Calibri" pitchFamily="34" charset="-122"/>
                <a:cs typeface="Calibri" pitchFamily="34" charset="-120"/>
              </a:rPr>
              <a:t>4</a:t>
            </a:r>
            <a:endParaRPr lang="en-US" sz="850" dirty="0"/>
          </a:p>
          <a:p>
            <a:pPr marL="0" indent="0" algn="ctr">
              <a:buNone/>
            </a:pPr>
            <a:r>
              <a:rPr lang="en-US" sz="850" b="1" dirty="0">
                <a:solidFill>
                  <a:srgbClr val="1A1A2E"/>
                </a:solidFill>
                <a:latin typeface="Calibri" pitchFamily="34" charset="0"/>
                <a:ea typeface="Calibri" pitchFamily="34" charset="-122"/>
                <a:cs typeface="Calibri" pitchFamily="34" charset="-120"/>
              </a:rPr>
              <a:t>Modelling</a:t>
            </a:r>
            <a:endParaRPr lang="en-US" sz="850" dirty="0"/>
          </a:p>
          <a:p>
            <a:pPr marL="0" indent="0" algn="ctr">
              <a:buNone/>
            </a:pPr>
            <a:r>
              <a:rPr lang="en-US" sz="850" b="1" dirty="0">
                <a:solidFill>
                  <a:srgbClr val="1A1A2E"/>
                </a:solidFill>
                <a:latin typeface="Calibri" pitchFamily="34" charset="0"/>
                <a:ea typeface="Calibri" pitchFamily="34" charset="-122"/>
                <a:cs typeface="Calibri" pitchFamily="34" charset="-120"/>
              </a:rPr>
              <a:t>&amp; DAX</a:t>
            </a:r>
            <a:endParaRPr lang="en-US" sz="850" dirty="0"/>
          </a:p>
        </p:txBody>
      </p:sp>
      <p:sp>
        <p:nvSpPr>
          <p:cNvPr id="46" name="Shape 44"/>
          <p:cNvSpPr/>
          <p:nvPr/>
        </p:nvSpPr>
        <p:spPr>
          <a:xfrm>
            <a:off x="4059936" y="2011680"/>
            <a:ext cx="1024128" cy="585216"/>
          </a:xfrm>
          <a:prstGeom prst="rect">
            <a:avLst/>
          </a:prstGeom>
          <a:solidFill>
            <a:srgbClr val="FFFFFF"/>
          </a:solidFill>
          <a:ln w="12700">
            <a:solidFill>
              <a:srgbClr val="F0F4FA"/>
            </a:solidFill>
            <a:prstDash val="solid"/>
          </a:ln>
        </p:spPr>
      </p:sp>
      <p:sp>
        <p:nvSpPr>
          <p:cNvPr id="47" name="Text 45"/>
          <p:cNvSpPr/>
          <p:nvPr/>
        </p:nvSpPr>
        <p:spPr>
          <a:xfrm>
            <a:off x="4059936" y="2011680"/>
            <a:ext cx="1024128" cy="585216"/>
          </a:xfrm>
          <a:prstGeom prst="rect">
            <a:avLst/>
          </a:prstGeom>
          <a:noFill/>
          <a:ln/>
        </p:spPr>
        <p:txBody>
          <a:bodyPr wrap="square" rtlCol="0" anchor="ctr"/>
          <a:lstStyle/>
          <a:p>
            <a:pPr marL="0" indent="0" algn="ctr">
              <a:buNone/>
            </a:pPr>
            <a:r>
              <a:rPr lang="en-US" sz="750" dirty="0">
                <a:solidFill>
                  <a:srgbClr val="1A1A2E"/>
                </a:solidFill>
                <a:latin typeface="Calibri" pitchFamily="34" charset="0"/>
                <a:ea typeface="Calibri" pitchFamily="34" charset="-122"/>
                <a:cs typeface="Calibri" pitchFamily="34" charset="-120"/>
              </a:rPr>
              <a:t>Relationships</a:t>
            </a:r>
            <a:endParaRPr lang="en-US" sz="750" dirty="0"/>
          </a:p>
        </p:txBody>
      </p:sp>
      <p:sp>
        <p:nvSpPr>
          <p:cNvPr id="48" name="Shape 46"/>
          <p:cNvSpPr/>
          <p:nvPr/>
        </p:nvSpPr>
        <p:spPr>
          <a:xfrm>
            <a:off x="4059936" y="2706624"/>
            <a:ext cx="1024128" cy="585216"/>
          </a:xfrm>
          <a:prstGeom prst="rect">
            <a:avLst/>
          </a:prstGeom>
          <a:solidFill>
            <a:srgbClr val="FFFFFF"/>
          </a:solidFill>
          <a:ln w="12700">
            <a:solidFill>
              <a:srgbClr val="F0F4FA"/>
            </a:solidFill>
            <a:prstDash val="solid"/>
          </a:ln>
        </p:spPr>
      </p:sp>
      <p:sp>
        <p:nvSpPr>
          <p:cNvPr id="49" name="Text 47"/>
          <p:cNvSpPr/>
          <p:nvPr/>
        </p:nvSpPr>
        <p:spPr>
          <a:xfrm>
            <a:off x="4059936" y="2706624"/>
            <a:ext cx="1024128" cy="585216"/>
          </a:xfrm>
          <a:prstGeom prst="rect">
            <a:avLst/>
          </a:prstGeom>
          <a:noFill/>
          <a:ln/>
        </p:spPr>
        <p:txBody>
          <a:bodyPr wrap="square" rtlCol="0" anchor="ctr"/>
          <a:lstStyle/>
          <a:p>
            <a:pPr marL="0" indent="0" algn="ctr">
              <a:buNone/>
            </a:pPr>
            <a:r>
              <a:rPr lang="en-US" sz="750" dirty="0">
                <a:solidFill>
                  <a:srgbClr val="1A1A2E"/>
                </a:solidFill>
                <a:latin typeface="Calibri" pitchFamily="34" charset="0"/>
                <a:ea typeface="Calibri" pitchFamily="34" charset="-122"/>
                <a:cs typeface="Calibri" pitchFamily="34" charset="-120"/>
              </a:rPr>
              <a:t>DAX Measures</a:t>
            </a:r>
            <a:endParaRPr lang="en-US" sz="750" dirty="0"/>
          </a:p>
        </p:txBody>
      </p:sp>
      <p:sp>
        <p:nvSpPr>
          <p:cNvPr id="50" name="Shape 48"/>
          <p:cNvSpPr/>
          <p:nvPr/>
        </p:nvSpPr>
        <p:spPr>
          <a:xfrm>
            <a:off x="4059936" y="3401568"/>
            <a:ext cx="1024128" cy="585216"/>
          </a:xfrm>
          <a:prstGeom prst="rect">
            <a:avLst/>
          </a:prstGeom>
          <a:solidFill>
            <a:srgbClr val="FFFFFF"/>
          </a:solidFill>
          <a:ln w="12700">
            <a:solidFill>
              <a:srgbClr val="F0F4FA"/>
            </a:solidFill>
            <a:prstDash val="solid"/>
          </a:ln>
        </p:spPr>
      </p:sp>
      <p:sp>
        <p:nvSpPr>
          <p:cNvPr id="51" name="Text 49"/>
          <p:cNvSpPr/>
          <p:nvPr/>
        </p:nvSpPr>
        <p:spPr>
          <a:xfrm>
            <a:off x="4059936" y="3401568"/>
            <a:ext cx="1024128" cy="585216"/>
          </a:xfrm>
          <a:prstGeom prst="rect">
            <a:avLst/>
          </a:prstGeom>
          <a:noFill/>
          <a:ln/>
        </p:spPr>
        <p:txBody>
          <a:bodyPr wrap="square" rtlCol="0" anchor="ctr"/>
          <a:lstStyle/>
          <a:p>
            <a:pPr marL="0" indent="0" algn="ctr">
              <a:buNone/>
            </a:pPr>
            <a:r>
              <a:rPr lang="en-US" sz="750" dirty="0">
                <a:solidFill>
                  <a:srgbClr val="1A1A2E"/>
                </a:solidFill>
                <a:latin typeface="Calibri" pitchFamily="34" charset="0"/>
                <a:ea typeface="Calibri" pitchFamily="34" charset="-122"/>
                <a:cs typeface="Calibri" pitchFamily="34" charset="-120"/>
              </a:rPr>
              <a:t>KPI Metrics</a:t>
            </a:r>
            <a:endParaRPr lang="en-US" sz="750" dirty="0"/>
          </a:p>
        </p:txBody>
      </p:sp>
      <p:sp>
        <p:nvSpPr>
          <p:cNvPr id="52" name="Text 50"/>
          <p:cNvSpPr/>
          <p:nvPr/>
        </p:nvSpPr>
        <p:spPr>
          <a:xfrm>
            <a:off x="5166360" y="2450592"/>
            <a:ext cx="182880" cy="365760"/>
          </a:xfrm>
          <a:prstGeom prst="rect">
            <a:avLst/>
          </a:prstGeom>
          <a:noFill/>
          <a:ln/>
        </p:spPr>
        <p:txBody>
          <a:bodyPr wrap="square" rtlCol="0" anchor="ctr"/>
          <a:lstStyle/>
          <a:p>
            <a:pPr marL="0" indent="0" algn="ctr">
              <a:buNone/>
            </a:pPr>
            <a:r>
              <a:rPr lang="en-US" sz="1000" dirty="0">
                <a:solidFill>
                  <a:srgbClr val="7C3AED"/>
                </a:solidFill>
                <a:latin typeface="Calibri" pitchFamily="34" charset="0"/>
                <a:ea typeface="Calibri" pitchFamily="34" charset="-122"/>
                <a:cs typeface="Calibri" pitchFamily="34" charset="-120"/>
              </a:rPr>
              <a:t>▶</a:t>
            </a:r>
            <a:endParaRPr lang="en-US" sz="1000" dirty="0"/>
          </a:p>
        </p:txBody>
      </p:sp>
      <p:sp>
        <p:nvSpPr>
          <p:cNvPr id="53" name="Shape 51"/>
          <p:cNvSpPr/>
          <p:nvPr/>
        </p:nvSpPr>
        <p:spPr>
          <a:xfrm>
            <a:off x="5221224" y="1353312"/>
            <a:ext cx="1152144" cy="2834640"/>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54" name="Shape 52"/>
          <p:cNvSpPr/>
          <p:nvPr/>
        </p:nvSpPr>
        <p:spPr>
          <a:xfrm>
            <a:off x="5221224" y="1353312"/>
            <a:ext cx="1152144" cy="566928"/>
          </a:xfrm>
          <a:prstGeom prst="rect">
            <a:avLst/>
          </a:prstGeom>
          <a:solidFill>
            <a:srgbClr val="D97706"/>
          </a:solidFill>
          <a:ln w="12700">
            <a:solidFill>
              <a:srgbClr val="D97706"/>
            </a:solidFill>
            <a:prstDash val="solid"/>
          </a:ln>
        </p:spPr>
      </p:sp>
      <p:sp>
        <p:nvSpPr>
          <p:cNvPr id="55" name="Text 53"/>
          <p:cNvSpPr/>
          <p:nvPr/>
        </p:nvSpPr>
        <p:spPr>
          <a:xfrm>
            <a:off x="5221224" y="1353312"/>
            <a:ext cx="1152144" cy="566928"/>
          </a:xfrm>
          <a:prstGeom prst="rect">
            <a:avLst/>
          </a:prstGeom>
          <a:noFill/>
          <a:ln/>
        </p:spPr>
        <p:txBody>
          <a:bodyPr wrap="square" rtlCol="0" anchor="ctr"/>
          <a:lstStyle/>
          <a:p>
            <a:pPr marL="0" indent="0" algn="ctr">
              <a:buNone/>
            </a:pPr>
            <a:r>
              <a:rPr lang="en-US" sz="850" b="1" dirty="0">
                <a:solidFill>
                  <a:srgbClr val="1A1A2E"/>
                </a:solidFill>
                <a:latin typeface="Calibri" pitchFamily="34" charset="0"/>
                <a:ea typeface="Calibri" pitchFamily="34" charset="-122"/>
                <a:cs typeface="Calibri" pitchFamily="34" charset="-120"/>
              </a:rPr>
              <a:t>5</a:t>
            </a:r>
            <a:endParaRPr lang="en-US" sz="850" dirty="0"/>
          </a:p>
          <a:p>
            <a:pPr marL="0" indent="0" algn="ctr">
              <a:buNone/>
            </a:pPr>
            <a:r>
              <a:rPr lang="en-US" sz="850" b="1" dirty="0">
                <a:solidFill>
                  <a:srgbClr val="1A1A2E"/>
                </a:solidFill>
                <a:latin typeface="Calibri" pitchFamily="34" charset="0"/>
                <a:ea typeface="Calibri" pitchFamily="34" charset="-122"/>
                <a:cs typeface="Calibri" pitchFamily="34" charset="-120"/>
              </a:rPr>
              <a:t>ML / AI</a:t>
            </a:r>
            <a:endParaRPr lang="en-US" sz="850" dirty="0"/>
          </a:p>
          <a:p>
            <a:pPr marL="0" indent="0" algn="ctr">
              <a:buNone/>
            </a:pPr>
            <a:r>
              <a:rPr lang="en-US" sz="850" b="1" dirty="0">
                <a:solidFill>
                  <a:srgbClr val="1A1A2E"/>
                </a:solidFill>
                <a:latin typeface="Calibri" pitchFamily="34" charset="0"/>
                <a:ea typeface="Calibri" pitchFamily="34" charset="-122"/>
                <a:cs typeface="Calibri" pitchFamily="34" charset="-120"/>
              </a:rPr>
              <a:t>Layer</a:t>
            </a:r>
            <a:endParaRPr lang="en-US" sz="850" dirty="0"/>
          </a:p>
        </p:txBody>
      </p:sp>
      <p:sp>
        <p:nvSpPr>
          <p:cNvPr id="56" name="Shape 54"/>
          <p:cNvSpPr/>
          <p:nvPr/>
        </p:nvSpPr>
        <p:spPr>
          <a:xfrm>
            <a:off x="5285232" y="2011680"/>
            <a:ext cx="1024128" cy="585216"/>
          </a:xfrm>
          <a:prstGeom prst="rect">
            <a:avLst/>
          </a:prstGeom>
          <a:solidFill>
            <a:srgbClr val="FFFFFF"/>
          </a:solidFill>
          <a:ln w="12700">
            <a:solidFill>
              <a:srgbClr val="F0F4FA"/>
            </a:solidFill>
            <a:prstDash val="solid"/>
          </a:ln>
        </p:spPr>
      </p:sp>
      <p:sp>
        <p:nvSpPr>
          <p:cNvPr id="57" name="Text 55"/>
          <p:cNvSpPr/>
          <p:nvPr/>
        </p:nvSpPr>
        <p:spPr>
          <a:xfrm>
            <a:off x="5285232" y="2011680"/>
            <a:ext cx="1024128" cy="585216"/>
          </a:xfrm>
          <a:prstGeom prst="rect">
            <a:avLst/>
          </a:prstGeom>
          <a:noFill/>
          <a:ln/>
        </p:spPr>
        <p:txBody>
          <a:bodyPr wrap="square" rtlCol="0" anchor="ctr"/>
          <a:lstStyle/>
          <a:p>
            <a:pPr marL="0" indent="0" algn="ctr">
              <a:buNone/>
            </a:pPr>
            <a:r>
              <a:rPr lang="en-US" sz="750" dirty="0">
                <a:solidFill>
                  <a:srgbClr val="1A1A2E"/>
                </a:solidFill>
                <a:latin typeface="Calibri" pitchFamily="34" charset="0"/>
                <a:ea typeface="Calibri" pitchFamily="34" charset="-122"/>
                <a:cs typeface="Calibri" pitchFamily="34" charset="-120"/>
              </a:rPr>
              <a:t>Azure ML</a:t>
            </a:r>
            <a:endParaRPr lang="en-US" sz="750" dirty="0"/>
          </a:p>
        </p:txBody>
      </p:sp>
      <p:sp>
        <p:nvSpPr>
          <p:cNvPr id="58" name="Shape 56"/>
          <p:cNvSpPr/>
          <p:nvPr/>
        </p:nvSpPr>
        <p:spPr>
          <a:xfrm>
            <a:off x="5285232" y="2706624"/>
            <a:ext cx="1024128" cy="585216"/>
          </a:xfrm>
          <a:prstGeom prst="rect">
            <a:avLst/>
          </a:prstGeom>
          <a:solidFill>
            <a:srgbClr val="FFFFFF"/>
          </a:solidFill>
          <a:ln w="12700">
            <a:solidFill>
              <a:srgbClr val="F0F4FA"/>
            </a:solidFill>
            <a:prstDash val="solid"/>
          </a:ln>
        </p:spPr>
      </p:sp>
      <p:sp>
        <p:nvSpPr>
          <p:cNvPr id="59" name="Text 57"/>
          <p:cNvSpPr/>
          <p:nvPr/>
        </p:nvSpPr>
        <p:spPr>
          <a:xfrm>
            <a:off x="5285232" y="2706624"/>
            <a:ext cx="1024128" cy="585216"/>
          </a:xfrm>
          <a:prstGeom prst="rect">
            <a:avLst/>
          </a:prstGeom>
          <a:noFill/>
          <a:ln/>
        </p:spPr>
        <p:txBody>
          <a:bodyPr wrap="square" rtlCol="0" anchor="ctr"/>
          <a:lstStyle/>
          <a:p>
            <a:pPr marL="0" indent="0" algn="ctr">
              <a:buNone/>
            </a:pPr>
            <a:r>
              <a:rPr lang="en-US" sz="750" dirty="0">
                <a:solidFill>
                  <a:srgbClr val="1A1A2E"/>
                </a:solidFill>
                <a:latin typeface="Calibri" pitchFamily="34" charset="0"/>
                <a:ea typeface="Calibri" pitchFamily="34" charset="-122"/>
                <a:cs typeface="Calibri" pitchFamily="34" charset="-120"/>
              </a:rPr>
              <a:t>Random Forest</a:t>
            </a:r>
            <a:endParaRPr lang="en-US" sz="750" dirty="0"/>
          </a:p>
        </p:txBody>
      </p:sp>
      <p:sp>
        <p:nvSpPr>
          <p:cNvPr id="60" name="Shape 58"/>
          <p:cNvSpPr/>
          <p:nvPr/>
        </p:nvSpPr>
        <p:spPr>
          <a:xfrm>
            <a:off x="5285232" y="3401568"/>
            <a:ext cx="1024128" cy="585216"/>
          </a:xfrm>
          <a:prstGeom prst="rect">
            <a:avLst/>
          </a:prstGeom>
          <a:solidFill>
            <a:srgbClr val="FFFFFF"/>
          </a:solidFill>
          <a:ln w="12700">
            <a:solidFill>
              <a:srgbClr val="F0F4FA"/>
            </a:solidFill>
            <a:prstDash val="solid"/>
          </a:ln>
        </p:spPr>
      </p:sp>
      <p:sp>
        <p:nvSpPr>
          <p:cNvPr id="61" name="Text 59"/>
          <p:cNvSpPr/>
          <p:nvPr/>
        </p:nvSpPr>
        <p:spPr>
          <a:xfrm>
            <a:off x="5285232" y="3401568"/>
            <a:ext cx="1024128" cy="585216"/>
          </a:xfrm>
          <a:prstGeom prst="rect">
            <a:avLst/>
          </a:prstGeom>
          <a:noFill/>
          <a:ln/>
        </p:spPr>
        <p:txBody>
          <a:bodyPr wrap="square" rtlCol="0" anchor="ctr"/>
          <a:lstStyle/>
          <a:p>
            <a:pPr marL="0" indent="0" algn="ctr">
              <a:buNone/>
            </a:pPr>
            <a:r>
              <a:rPr lang="en-US" sz="750" dirty="0">
                <a:solidFill>
                  <a:srgbClr val="1A1A2E"/>
                </a:solidFill>
                <a:latin typeface="Calibri" pitchFamily="34" charset="0"/>
                <a:ea typeface="Calibri" pitchFamily="34" charset="-122"/>
                <a:cs typeface="Calibri" pitchFamily="34" charset="-120"/>
              </a:rPr>
              <a:t>LSTM/CNN</a:t>
            </a:r>
            <a:endParaRPr lang="en-US" sz="750" dirty="0"/>
          </a:p>
        </p:txBody>
      </p:sp>
      <p:sp>
        <p:nvSpPr>
          <p:cNvPr id="62" name="Text 60"/>
          <p:cNvSpPr/>
          <p:nvPr/>
        </p:nvSpPr>
        <p:spPr>
          <a:xfrm>
            <a:off x="6391656" y="2450592"/>
            <a:ext cx="182880" cy="365760"/>
          </a:xfrm>
          <a:prstGeom prst="rect">
            <a:avLst/>
          </a:prstGeom>
          <a:noFill/>
          <a:ln/>
        </p:spPr>
        <p:txBody>
          <a:bodyPr wrap="square" rtlCol="0" anchor="ctr"/>
          <a:lstStyle/>
          <a:p>
            <a:pPr marL="0" indent="0" algn="ctr">
              <a:buNone/>
            </a:pPr>
            <a:r>
              <a:rPr lang="en-US" sz="1000" dirty="0">
                <a:solidFill>
                  <a:srgbClr val="D97706"/>
                </a:solidFill>
                <a:latin typeface="Calibri" pitchFamily="34" charset="0"/>
                <a:ea typeface="Calibri" pitchFamily="34" charset="-122"/>
                <a:cs typeface="Calibri" pitchFamily="34" charset="-120"/>
              </a:rPr>
              <a:t>▶</a:t>
            </a:r>
            <a:endParaRPr lang="en-US" sz="1000" dirty="0"/>
          </a:p>
        </p:txBody>
      </p:sp>
      <p:sp>
        <p:nvSpPr>
          <p:cNvPr id="63" name="Shape 61"/>
          <p:cNvSpPr/>
          <p:nvPr/>
        </p:nvSpPr>
        <p:spPr>
          <a:xfrm>
            <a:off x="6446520" y="1353312"/>
            <a:ext cx="1152144" cy="2834640"/>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64" name="Shape 62"/>
          <p:cNvSpPr/>
          <p:nvPr/>
        </p:nvSpPr>
        <p:spPr>
          <a:xfrm>
            <a:off x="6446520" y="1353312"/>
            <a:ext cx="1152144" cy="566928"/>
          </a:xfrm>
          <a:prstGeom prst="rect">
            <a:avLst/>
          </a:prstGeom>
          <a:solidFill>
            <a:srgbClr val="DC2626"/>
          </a:solidFill>
          <a:ln w="12700">
            <a:solidFill>
              <a:srgbClr val="DC2626"/>
            </a:solidFill>
            <a:prstDash val="solid"/>
          </a:ln>
        </p:spPr>
      </p:sp>
      <p:sp>
        <p:nvSpPr>
          <p:cNvPr id="65" name="Text 63"/>
          <p:cNvSpPr/>
          <p:nvPr/>
        </p:nvSpPr>
        <p:spPr>
          <a:xfrm>
            <a:off x="6446520" y="1353312"/>
            <a:ext cx="1152144" cy="566928"/>
          </a:xfrm>
          <a:prstGeom prst="rect">
            <a:avLst/>
          </a:prstGeom>
          <a:noFill/>
          <a:ln/>
        </p:spPr>
        <p:txBody>
          <a:bodyPr wrap="square" rtlCol="0" anchor="ctr"/>
          <a:lstStyle/>
          <a:p>
            <a:pPr marL="0" indent="0" algn="ctr">
              <a:buNone/>
            </a:pPr>
            <a:r>
              <a:rPr lang="en-US" sz="850" b="1" dirty="0">
                <a:solidFill>
                  <a:srgbClr val="1A1A2E"/>
                </a:solidFill>
                <a:latin typeface="Calibri" pitchFamily="34" charset="0"/>
                <a:ea typeface="Calibri" pitchFamily="34" charset="-122"/>
                <a:cs typeface="Calibri" pitchFamily="34" charset="-120"/>
              </a:rPr>
              <a:t>6</a:t>
            </a:r>
            <a:endParaRPr lang="en-US" sz="850" dirty="0"/>
          </a:p>
          <a:p>
            <a:pPr marL="0" indent="0" algn="ctr">
              <a:buNone/>
            </a:pPr>
            <a:r>
              <a:rPr lang="en-US" sz="850" b="1" dirty="0">
                <a:solidFill>
                  <a:srgbClr val="1A1A2E"/>
                </a:solidFill>
                <a:latin typeface="Calibri" pitchFamily="34" charset="0"/>
                <a:ea typeface="Calibri" pitchFamily="34" charset="-122"/>
                <a:cs typeface="Calibri" pitchFamily="34" charset="-120"/>
              </a:rPr>
              <a:t>Visual-</a:t>
            </a:r>
            <a:endParaRPr lang="en-US" sz="850" dirty="0"/>
          </a:p>
          <a:p>
            <a:pPr marL="0" indent="0" algn="ctr">
              <a:buNone/>
            </a:pPr>
            <a:r>
              <a:rPr lang="en-US" sz="850" b="1" dirty="0">
                <a:solidFill>
                  <a:srgbClr val="1A1A2E"/>
                </a:solidFill>
                <a:latin typeface="Calibri" pitchFamily="34" charset="0"/>
                <a:ea typeface="Calibri" pitchFamily="34" charset="-122"/>
                <a:cs typeface="Calibri" pitchFamily="34" charset="-120"/>
              </a:rPr>
              <a:t>ization</a:t>
            </a:r>
            <a:endParaRPr lang="en-US" sz="850" dirty="0"/>
          </a:p>
        </p:txBody>
      </p:sp>
      <p:sp>
        <p:nvSpPr>
          <p:cNvPr id="66" name="Shape 64"/>
          <p:cNvSpPr/>
          <p:nvPr/>
        </p:nvSpPr>
        <p:spPr>
          <a:xfrm>
            <a:off x="6510528" y="2011680"/>
            <a:ext cx="1024128" cy="585216"/>
          </a:xfrm>
          <a:prstGeom prst="rect">
            <a:avLst/>
          </a:prstGeom>
          <a:solidFill>
            <a:srgbClr val="FFFFFF"/>
          </a:solidFill>
          <a:ln w="12700">
            <a:solidFill>
              <a:srgbClr val="F0F4FA"/>
            </a:solidFill>
            <a:prstDash val="solid"/>
          </a:ln>
        </p:spPr>
      </p:sp>
      <p:sp>
        <p:nvSpPr>
          <p:cNvPr id="67" name="Text 65"/>
          <p:cNvSpPr/>
          <p:nvPr/>
        </p:nvSpPr>
        <p:spPr>
          <a:xfrm>
            <a:off x="6510528" y="2011680"/>
            <a:ext cx="1024128" cy="585216"/>
          </a:xfrm>
          <a:prstGeom prst="rect">
            <a:avLst/>
          </a:prstGeom>
          <a:noFill/>
          <a:ln/>
        </p:spPr>
        <p:txBody>
          <a:bodyPr wrap="square" rtlCol="0" anchor="ctr"/>
          <a:lstStyle/>
          <a:p>
            <a:pPr marL="0" indent="0" algn="ctr">
              <a:buNone/>
            </a:pPr>
            <a:r>
              <a:rPr lang="en-US" sz="750" dirty="0">
                <a:solidFill>
                  <a:srgbClr val="1A1A2E"/>
                </a:solidFill>
                <a:latin typeface="Calibri" pitchFamily="34" charset="0"/>
                <a:ea typeface="Calibri" pitchFamily="34" charset="-122"/>
                <a:cs typeface="Calibri" pitchFamily="34" charset="-120"/>
              </a:rPr>
              <a:t>Power BI</a:t>
            </a:r>
            <a:endParaRPr lang="en-US" sz="750" dirty="0"/>
          </a:p>
        </p:txBody>
      </p:sp>
      <p:sp>
        <p:nvSpPr>
          <p:cNvPr id="68" name="Shape 66"/>
          <p:cNvSpPr/>
          <p:nvPr/>
        </p:nvSpPr>
        <p:spPr>
          <a:xfrm>
            <a:off x="6510528" y="2706624"/>
            <a:ext cx="1024128" cy="585216"/>
          </a:xfrm>
          <a:prstGeom prst="rect">
            <a:avLst/>
          </a:prstGeom>
          <a:solidFill>
            <a:srgbClr val="FFFFFF"/>
          </a:solidFill>
          <a:ln w="12700">
            <a:solidFill>
              <a:srgbClr val="F0F4FA"/>
            </a:solidFill>
            <a:prstDash val="solid"/>
          </a:ln>
        </p:spPr>
      </p:sp>
      <p:sp>
        <p:nvSpPr>
          <p:cNvPr id="69" name="Text 67"/>
          <p:cNvSpPr/>
          <p:nvPr/>
        </p:nvSpPr>
        <p:spPr>
          <a:xfrm>
            <a:off x="6510528" y="2706624"/>
            <a:ext cx="1024128" cy="585216"/>
          </a:xfrm>
          <a:prstGeom prst="rect">
            <a:avLst/>
          </a:prstGeom>
          <a:noFill/>
          <a:ln/>
        </p:spPr>
        <p:txBody>
          <a:bodyPr wrap="square" rtlCol="0" anchor="ctr"/>
          <a:lstStyle/>
          <a:p>
            <a:pPr marL="0" indent="0" algn="ctr">
              <a:buNone/>
            </a:pPr>
            <a:r>
              <a:rPr lang="en-US" sz="750" dirty="0">
                <a:solidFill>
                  <a:srgbClr val="1A1A2E"/>
                </a:solidFill>
                <a:latin typeface="Calibri" pitchFamily="34" charset="0"/>
                <a:ea typeface="Calibri" pitchFamily="34" charset="-122"/>
                <a:cs typeface="Calibri" pitchFamily="34" charset="-120"/>
              </a:rPr>
              <a:t>Dashboards</a:t>
            </a:r>
            <a:endParaRPr lang="en-US" sz="750" dirty="0"/>
          </a:p>
        </p:txBody>
      </p:sp>
      <p:sp>
        <p:nvSpPr>
          <p:cNvPr id="70" name="Shape 68"/>
          <p:cNvSpPr/>
          <p:nvPr/>
        </p:nvSpPr>
        <p:spPr>
          <a:xfrm>
            <a:off x="6510528" y="3401568"/>
            <a:ext cx="1024128" cy="585216"/>
          </a:xfrm>
          <a:prstGeom prst="rect">
            <a:avLst/>
          </a:prstGeom>
          <a:solidFill>
            <a:srgbClr val="FFFFFF"/>
          </a:solidFill>
          <a:ln w="12700">
            <a:solidFill>
              <a:srgbClr val="F0F4FA"/>
            </a:solidFill>
            <a:prstDash val="solid"/>
          </a:ln>
        </p:spPr>
      </p:sp>
      <p:sp>
        <p:nvSpPr>
          <p:cNvPr id="71" name="Text 69"/>
          <p:cNvSpPr/>
          <p:nvPr/>
        </p:nvSpPr>
        <p:spPr>
          <a:xfrm>
            <a:off x="6510528" y="3401568"/>
            <a:ext cx="1024128" cy="585216"/>
          </a:xfrm>
          <a:prstGeom prst="rect">
            <a:avLst/>
          </a:prstGeom>
          <a:noFill/>
          <a:ln/>
        </p:spPr>
        <p:txBody>
          <a:bodyPr wrap="square" rtlCol="0" anchor="ctr"/>
          <a:lstStyle/>
          <a:p>
            <a:pPr marL="0" indent="0" algn="ctr">
              <a:buNone/>
            </a:pPr>
            <a:r>
              <a:rPr lang="en-US" sz="750" dirty="0">
                <a:solidFill>
                  <a:srgbClr val="1A1A2E"/>
                </a:solidFill>
                <a:latin typeface="Calibri" pitchFamily="34" charset="0"/>
                <a:ea typeface="Calibri" pitchFamily="34" charset="-122"/>
                <a:cs typeface="Calibri" pitchFamily="34" charset="-120"/>
              </a:rPr>
              <a:t>Slicers</a:t>
            </a:r>
            <a:endParaRPr lang="en-US" sz="750" dirty="0"/>
          </a:p>
        </p:txBody>
      </p:sp>
      <p:sp>
        <p:nvSpPr>
          <p:cNvPr id="72" name="Text 70"/>
          <p:cNvSpPr/>
          <p:nvPr/>
        </p:nvSpPr>
        <p:spPr>
          <a:xfrm>
            <a:off x="7616952" y="2450592"/>
            <a:ext cx="182880" cy="365760"/>
          </a:xfrm>
          <a:prstGeom prst="rect">
            <a:avLst/>
          </a:prstGeom>
          <a:noFill/>
          <a:ln/>
        </p:spPr>
        <p:txBody>
          <a:bodyPr wrap="square" rtlCol="0" anchor="ctr"/>
          <a:lstStyle/>
          <a:p>
            <a:pPr marL="0" indent="0" algn="ctr">
              <a:buNone/>
            </a:pPr>
            <a:r>
              <a:rPr lang="en-US" sz="1000" dirty="0">
                <a:solidFill>
                  <a:srgbClr val="DC2626"/>
                </a:solidFill>
                <a:latin typeface="Calibri" pitchFamily="34" charset="0"/>
                <a:ea typeface="Calibri" pitchFamily="34" charset="-122"/>
                <a:cs typeface="Calibri" pitchFamily="34" charset="-120"/>
              </a:rPr>
              <a:t>▶</a:t>
            </a:r>
            <a:endParaRPr lang="en-US" sz="1000" dirty="0"/>
          </a:p>
        </p:txBody>
      </p:sp>
      <p:sp>
        <p:nvSpPr>
          <p:cNvPr id="73" name="Shape 71"/>
          <p:cNvSpPr/>
          <p:nvPr/>
        </p:nvSpPr>
        <p:spPr>
          <a:xfrm>
            <a:off x="7671816" y="1353312"/>
            <a:ext cx="1152144" cy="2834640"/>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74" name="Shape 72"/>
          <p:cNvSpPr/>
          <p:nvPr/>
        </p:nvSpPr>
        <p:spPr>
          <a:xfrm>
            <a:off x="7671816" y="1353312"/>
            <a:ext cx="1152144" cy="566928"/>
          </a:xfrm>
          <a:prstGeom prst="rect">
            <a:avLst/>
          </a:prstGeom>
          <a:solidFill>
            <a:srgbClr val="1D4ED8"/>
          </a:solidFill>
          <a:ln w="12700">
            <a:solidFill>
              <a:srgbClr val="1D4ED8"/>
            </a:solidFill>
            <a:prstDash val="solid"/>
          </a:ln>
        </p:spPr>
      </p:sp>
      <p:sp>
        <p:nvSpPr>
          <p:cNvPr id="75" name="Text 73"/>
          <p:cNvSpPr/>
          <p:nvPr/>
        </p:nvSpPr>
        <p:spPr>
          <a:xfrm>
            <a:off x="7671816" y="1353312"/>
            <a:ext cx="1152144" cy="566928"/>
          </a:xfrm>
          <a:prstGeom prst="rect">
            <a:avLst/>
          </a:prstGeom>
          <a:noFill/>
          <a:ln/>
        </p:spPr>
        <p:txBody>
          <a:bodyPr wrap="square" rtlCol="0" anchor="ctr"/>
          <a:lstStyle/>
          <a:p>
            <a:pPr marL="0" indent="0" algn="ctr">
              <a:buNone/>
            </a:pPr>
            <a:r>
              <a:rPr lang="en-US" sz="850" b="1" dirty="0">
                <a:solidFill>
                  <a:srgbClr val="1A1A2E"/>
                </a:solidFill>
                <a:latin typeface="Calibri" pitchFamily="34" charset="0"/>
                <a:ea typeface="Calibri" pitchFamily="34" charset="-122"/>
                <a:cs typeface="Calibri" pitchFamily="34" charset="-120"/>
              </a:rPr>
              <a:t>7</a:t>
            </a:r>
            <a:endParaRPr lang="en-US" sz="850" dirty="0"/>
          </a:p>
          <a:p>
            <a:pPr marL="0" indent="0" algn="ctr">
              <a:buNone/>
            </a:pPr>
            <a:r>
              <a:rPr lang="en-US" sz="850" b="1" dirty="0">
                <a:solidFill>
                  <a:srgbClr val="1A1A2E"/>
                </a:solidFill>
                <a:latin typeface="Calibri" pitchFamily="34" charset="0"/>
                <a:ea typeface="Calibri" pitchFamily="34" charset="-122"/>
                <a:cs typeface="Calibri" pitchFamily="34" charset="-120"/>
              </a:rPr>
              <a:t>Output</a:t>
            </a:r>
            <a:endParaRPr lang="en-US" sz="850" dirty="0"/>
          </a:p>
          <a:p>
            <a:pPr marL="0" indent="0" algn="ctr">
              <a:buNone/>
            </a:pPr>
            <a:r>
              <a:rPr lang="en-US" sz="850" b="1" dirty="0">
                <a:solidFill>
                  <a:srgbClr val="1A1A2E"/>
                </a:solidFill>
                <a:latin typeface="Calibri" pitchFamily="34" charset="0"/>
                <a:ea typeface="Calibri" pitchFamily="34" charset="-122"/>
                <a:cs typeface="Calibri" pitchFamily="34" charset="-120"/>
              </a:rPr>
              <a:t>&amp; Alerts</a:t>
            </a:r>
            <a:endParaRPr lang="en-US" sz="850" dirty="0"/>
          </a:p>
        </p:txBody>
      </p:sp>
      <p:sp>
        <p:nvSpPr>
          <p:cNvPr id="76" name="Shape 74"/>
          <p:cNvSpPr/>
          <p:nvPr/>
        </p:nvSpPr>
        <p:spPr>
          <a:xfrm>
            <a:off x="7735824" y="2011680"/>
            <a:ext cx="1024128" cy="585216"/>
          </a:xfrm>
          <a:prstGeom prst="rect">
            <a:avLst/>
          </a:prstGeom>
          <a:solidFill>
            <a:srgbClr val="FFFFFF"/>
          </a:solidFill>
          <a:ln w="12700">
            <a:solidFill>
              <a:srgbClr val="F0F4FA"/>
            </a:solidFill>
            <a:prstDash val="solid"/>
          </a:ln>
        </p:spPr>
      </p:sp>
      <p:sp>
        <p:nvSpPr>
          <p:cNvPr id="77" name="Text 75"/>
          <p:cNvSpPr/>
          <p:nvPr/>
        </p:nvSpPr>
        <p:spPr>
          <a:xfrm>
            <a:off x="7735824" y="2011680"/>
            <a:ext cx="1024128" cy="585216"/>
          </a:xfrm>
          <a:prstGeom prst="rect">
            <a:avLst/>
          </a:prstGeom>
          <a:noFill/>
          <a:ln/>
        </p:spPr>
        <p:txBody>
          <a:bodyPr wrap="square" rtlCol="0" anchor="ctr"/>
          <a:lstStyle/>
          <a:p>
            <a:pPr marL="0" indent="0" algn="ctr">
              <a:buNone/>
            </a:pPr>
            <a:r>
              <a:rPr lang="en-US" sz="750" dirty="0">
                <a:solidFill>
                  <a:srgbClr val="1A1A2E"/>
                </a:solidFill>
                <a:latin typeface="Calibri" pitchFamily="34" charset="0"/>
                <a:ea typeface="Calibri" pitchFamily="34" charset="-122"/>
                <a:cs typeface="Calibri" pitchFamily="34" charset="-120"/>
              </a:rPr>
              <a:t>Clinical</a:t>
            </a:r>
            <a:endParaRPr lang="en-US" sz="750" dirty="0"/>
          </a:p>
        </p:txBody>
      </p:sp>
      <p:sp>
        <p:nvSpPr>
          <p:cNvPr id="78" name="Shape 76"/>
          <p:cNvSpPr/>
          <p:nvPr/>
        </p:nvSpPr>
        <p:spPr>
          <a:xfrm>
            <a:off x="7735824" y="2706624"/>
            <a:ext cx="1024128" cy="585216"/>
          </a:xfrm>
          <a:prstGeom prst="rect">
            <a:avLst/>
          </a:prstGeom>
          <a:solidFill>
            <a:srgbClr val="FFFFFF"/>
          </a:solidFill>
          <a:ln w="12700">
            <a:solidFill>
              <a:srgbClr val="F0F4FA"/>
            </a:solidFill>
            <a:prstDash val="solid"/>
          </a:ln>
        </p:spPr>
      </p:sp>
      <p:sp>
        <p:nvSpPr>
          <p:cNvPr id="79" name="Text 77"/>
          <p:cNvSpPr/>
          <p:nvPr/>
        </p:nvSpPr>
        <p:spPr>
          <a:xfrm>
            <a:off x="7735824" y="2706624"/>
            <a:ext cx="1024128" cy="585216"/>
          </a:xfrm>
          <a:prstGeom prst="rect">
            <a:avLst/>
          </a:prstGeom>
          <a:noFill/>
          <a:ln/>
        </p:spPr>
        <p:txBody>
          <a:bodyPr wrap="square" rtlCol="0" anchor="ctr"/>
          <a:lstStyle/>
          <a:p>
            <a:pPr marL="0" indent="0" algn="ctr">
              <a:buNone/>
            </a:pPr>
            <a:r>
              <a:rPr lang="en-US" sz="750" dirty="0">
                <a:solidFill>
                  <a:srgbClr val="1A1A2E"/>
                </a:solidFill>
                <a:latin typeface="Calibri" pitchFamily="34" charset="0"/>
                <a:ea typeface="Calibri" pitchFamily="34" charset="-122"/>
                <a:cs typeface="Calibri" pitchFamily="34" charset="-120"/>
              </a:rPr>
              <a:t>Reports</a:t>
            </a:r>
            <a:endParaRPr lang="en-US" sz="750" dirty="0"/>
          </a:p>
        </p:txBody>
      </p:sp>
      <p:sp>
        <p:nvSpPr>
          <p:cNvPr id="80" name="Shape 78"/>
          <p:cNvSpPr/>
          <p:nvPr/>
        </p:nvSpPr>
        <p:spPr>
          <a:xfrm>
            <a:off x="7735824" y="3401568"/>
            <a:ext cx="1024128" cy="585216"/>
          </a:xfrm>
          <a:prstGeom prst="rect">
            <a:avLst/>
          </a:prstGeom>
          <a:solidFill>
            <a:srgbClr val="FFFFFF"/>
          </a:solidFill>
          <a:ln w="12700">
            <a:solidFill>
              <a:srgbClr val="F0F4FA"/>
            </a:solidFill>
            <a:prstDash val="solid"/>
          </a:ln>
        </p:spPr>
      </p:sp>
      <p:sp>
        <p:nvSpPr>
          <p:cNvPr id="81" name="Text 79"/>
          <p:cNvSpPr/>
          <p:nvPr/>
        </p:nvSpPr>
        <p:spPr>
          <a:xfrm>
            <a:off x="7735824" y="3401568"/>
            <a:ext cx="1024128" cy="585216"/>
          </a:xfrm>
          <a:prstGeom prst="rect">
            <a:avLst/>
          </a:prstGeom>
          <a:noFill/>
          <a:ln/>
        </p:spPr>
        <p:txBody>
          <a:bodyPr wrap="square" rtlCol="0" anchor="ctr"/>
          <a:lstStyle/>
          <a:p>
            <a:pPr marL="0" indent="0" algn="ctr">
              <a:buNone/>
            </a:pPr>
            <a:r>
              <a:rPr lang="en-US" sz="750" dirty="0">
                <a:solidFill>
                  <a:srgbClr val="1A1A2E"/>
                </a:solidFill>
                <a:latin typeface="Calibri" pitchFamily="34" charset="0"/>
                <a:ea typeface="Calibri" pitchFamily="34" charset="-122"/>
                <a:cs typeface="Calibri" pitchFamily="34" charset="-120"/>
              </a:rPr>
              <a:t>Alerts</a:t>
            </a:r>
            <a:endParaRPr lang="en-US" sz="750" dirty="0"/>
          </a:p>
        </p:txBody>
      </p:sp>
      <p:sp>
        <p:nvSpPr>
          <p:cNvPr id="82" name="Text 80"/>
          <p:cNvSpPr/>
          <p:nvPr/>
        </p:nvSpPr>
        <p:spPr>
          <a:xfrm>
            <a:off x="320040" y="4279392"/>
            <a:ext cx="8503920" cy="493776"/>
          </a:xfrm>
          <a:prstGeom prst="rect">
            <a:avLst/>
          </a:prstGeom>
          <a:noFill/>
          <a:ln/>
        </p:spPr>
        <p:txBody>
          <a:bodyPr wrap="square" rtlCol="0" anchor="ctr"/>
          <a:lstStyle/>
          <a:p>
            <a:pPr marL="0" indent="0">
              <a:buNone/>
            </a:pPr>
            <a:r>
              <a:rPr lang="en-US" sz="850" i="1" dirty="0">
                <a:solidFill>
                  <a:srgbClr val="1A1A2E"/>
                </a:solidFill>
                <a:latin typeface="Calibri" pitchFamily="34" charset="0"/>
                <a:ea typeface="Calibri" pitchFamily="34" charset="-122"/>
                <a:cs typeface="Calibri" pitchFamily="34" charset="-120"/>
              </a:rPr>
              <a:t>Pipeline executes continuously: EHR refreshes every 15 min  |  IoT vitals stream real-time  |  ML predictions batch-scored nightly  |  Alerts fire immediately on critical threshold breach</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01F5F"/>
          </a:solidFill>
          <a:ln w="12700">
            <a:solidFill>
              <a:srgbClr val="FFFFFF"/>
            </a:solidFill>
            <a:prstDash val="solid"/>
          </a:ln>
        </p:spPr>
      </p:sp>
      <p:sp>
        <p:nvSpPr>
          <p:cNvPr id="3" name="Shape 1"/>
          <p:cNvSpPr/>
          <p:nvPr/>
        </p:nvSpPr>
        <p:spPr>
          <a:xfrm>
            <a:off x="0" y="621792"/>
            <a:ext cx="9144000" cy="50292"/>
          </a:xfrm>
          <a:prstGeom prst="rect">
            <a:avLst/>
          </a:prstGeom>
          <a:solidFill>
            <a:srgbClr val="1E8449"/>
          </a:solidFill>
          <a:ln w="12700">
            <a:solidFill>
              <a:srgbClr val="1E8449"/>
            </a:solidFill>
            <a:prstDash val="solid"/>
          </a:ln>
        </p:spPr>
      </p:sp>
      <p:sp>
        <p:nvSpPr>
          <p:cNvPr id="4" name="Text 2"/>
          <p:cNvSpPr/>
          <p:nvPr/>
        </p:nvSpPr>
        <p:spPr>
          <a:xfrm>
            <a:off x="292608" y="45720"/>
            <a:ext cx="7498080" cy="54864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Progress Overview (Week 1–8)</a:t>
            </a:r>
            <a:endParaRPr lang="en-US" sz="1900" dirty="0"/>
          </a:p>
        </p:txBody>
      </p:sp>
      <p:sp>
        <p:nvSpPr>
          <p:cNvPr id="5" name="Shape 3"/>
          <p:cNvSpPr/>
          <p:nvPr/>
        </p:nvSpPr>
        <p:spPr>
          <a:xfrm>
            <a:off x="7818120" y="82296"/>
            <a:ext cx="1234440" cy="457200"/>
          </a:xfrm>
          <a:prstGeom prst="rect">
            <a:avLst/>
          </a:prstGeom>
          <a:solidFill>
            <a:srgbClr val="E8EFF8"/>
          </a:solidFill>
          <a:ln w="12700">
            <a:solidFill>
              <a:srgbClr val="1D4ED8"/>
            </a:solidFill>
            <a:prstDash val="solid"/>
          </a:ln>
        </p:spPr>
      </p:sp>
      <p:sp>
        <p:nvSpPr>
          <p:cNvPr id="6" name="Text 4"/>
          <p:cNvSpPr/>
          <p:nvPr/>
        </p:nvSpPr>
        <p:spPr>
          <a:xfrm>
            <a:off x="7818120" y="82296"/>
            <a:ext cx="1234440" cy="457200"/>
          </a:xfrm>
          <a:prstGeom prst="rect">
            <a:avLst/>
          </a:prstGeom>
          <a:noFill/>
          <a:ln/>
        </p:spPr>
        <p:txBody>
          <a:bodyPr wrap="square" rtlCol="0" anchor="ctr"/>
          <a:lstStyle/>
          <a:p>
            <a:pPr marL="0" indent="0" algn="ctr">
              <a:buNone/>
            </a:pPr>
            <a:r>
              <a:rPr lang="en-US" sz="700" b="1" dirty="0">
                <a:solidFill>
                  <a:srgbClr val="1D4ED8"/>
                </a:solidFill>
                <a:latin typeface="Calibri" pitchFamily="34" charset="0"/>
                <a:ea typeface="Calibri" pitchFamily="34" charset="-122"/>
                <a:cs typeface="Calibri" pitchFamily="34" charset="-120"/>
              </a:rPr>
              <a:t>Microsoft</a:t>
            </a:r>
            <a:endParaRPr lang="en-US" sz="700" dirty="0"/>
          </a:p>
          <a:p>
            <a:pPr marL="0" indent="0" algn="ctr">
              <a:buNone/>
            </a:pPr>
            <a:r>
              <a:rPr lang="en-US" sz="700" b="1" dirty="0">
                <a:solidFill>
                  <a:srgbClr val="1D4ED8"/>
                </a:solidFill>
                <a:latin typeface="Calibri" pitchFamily="34" charset="0"/>
                <a:ea typeface="Calibri" pitchFamily="34" charset="-122"/>
                <a:cs typeface="Calibri" pitchFamily="34" charset="-120"/>
              </a:rPr>
              <a:t>Elevate GTU</a:t>
            </a:r>
            <a:endParaRPr lang="en-US" sz="700" dirty="0"/>
          </a:p>
        </p:txBody>
      </p:sp>
      <p:sp>
        <p:nvSpPr>
          <p:cNvPr id="7" name="Shape 5"/>
          <p:cNvSpPr/>
          <p:nvPr/>
        </p:nvSpPr>
        <p:spPr>
          <a:xfrm>
            <a:off x="0" y="4873752"/>
            <a:ext cx="9144000" cy="50292"/>
          </a:xfrm>
          <a:prstGeom prst="rect">
            <a:avLst/>
          </a:prstGeom>
          <a:solidFill>
            <a:srgbClr val="1E8449"/>
          </a:solidFill>
          <a:ln w="12700">
            <a:solidFill>
              <a:srgbClr val="1E8449"/>
            </a:solidFill>
            <a:prstDash val="solid"/>
          </a:ln>
        </p:spPr>
      </p:sp>
      <p:sp>
        <p:nvSpPr>
          <p:cNvPr id="8" name="Shape 6"/>
          <p:cNvSpPr/>
          <p:nvPr/>
        </p:nvSpPr>
        <p:spPr>
          <a:xfrm>
            <a:off x="0" y="4924044"/>
            <a:ext cx="9144000" cy="219456"/>
          </a:xfrm>
          <a:prstGeom prst="rect">
            <a:avLst/>
          </a:prstGeom>
          <a:solidFill>
            <a:srgbClr val="FFFFFF"/>
          </a:solidFill>
          <a:ln w="12700">
            <a:solidFill>
              <a:srgbClr val="FFFFFF"/>
            </a:solidFill>
            <a:prstDash val="solid"/>
          </a:ln>
        </p:spPr>
      </p:sp>
      <p:sp>
        <p:nvSpPr>
          <p:cNvPr id="9" name="Text 7"/>
          <p:cNvSpPr/>
          <p:nvPr/>
        </p:nvSpPr>
        <p:spPr>
          <a:xfrm>
            <a:off x="228600" y="4924044"/>
            <a:ext cx="8046720" cy="219456"/>
          </a:xfrm>
          <a:prstGeom prst="rect">
            <a:avLst/>
          </a:prstGeom>
          <a:noFill/>
          <a:ln/>
        </p:spPr>
        <p:txBody>
          <a:bodyPr wrap="square" lIns="0" tIns="0" rIns="0" bIns="0" rtlCol="0" anchor="ctr"/>
          <a:lstStyle/>
          <a:p>
            <a:pPr marL="0" indent="0">
              <a:buNone/>
            </a:pPr>
            <a:r>
              <a:rPr lang="en-US" sz="650" dirty="0">
                <a:solidFill>
                  <a:srgbClr val="7B9ABF"/>
                </a:solidFill>
                <a:latin typeface="Calibri" pitchFamily="34" charset="0"/>
                <a:ea typeface="Calibri" pitchFamily="34" charset="-122"/>
                <a:cs typeface="Calibri" pitchFamily="34" charset="-120"/>
              </a:rPr>
              <a:t>Microsoft Elevate Internship Project  |  Healthcare &amp; Medication Management System  |  GTU Jan–Apr 2026</a:t>
            </a:r>
            <a:endParaRPr lang="en-US" sz="650" dirty="0"/>
          </a:p>
        </p:txBody>
      </p:sp>
      <p:sp>
        <p:nvSpPr>
          <p:cNvPr id="10" name="Text 8"/>
          <p:cNvSpPr/>
          <p:nvPr/>
        </p:nvSpPr>
        <p:spPr>
          <a:xfrm>
            <a:off x="8275320" y="4924044"/>
            <a:ext cx="731520" cy="219456"/>
          </a:xfrm>
          <a:prstGeom prst="rect">
            <a:avLst/>
          </a:prstGeom>
          <a:noFill/>
          <a:ln/>
        </p:spPr>
        <p:txBody>
          <a:bodyPr wrap="square" lIns="0" tIns="0" rIns="0" bIns="0" rtlCol="0" anchor="ctr"/>
          <a:lstStyle/>
          <a:p>
            <a:pPr marL="0" indent="0" algn="r">
              <a:buNone/>
            </a:pPr>
            <a:r>
              <a:rPr lang="en-US" sz="700" b="1" dirty="0">
                <a:solidFill>
                  <a:srgbClr val="1A1A2E"/>
                </a:solidFill>
                <a:latin typeface="Calibri" pitchFamily="34" charset="0"/>
                <a:ea typeface="Calibri" pitchFamily="34" charset="-122"/>
                <a:cs typeface="Calibri" pitchFamily="34" charset="-120"/>
              </a:rPr>
              <a:t>14 / 20</a:t>
            </a:r>
            <a:endParaRPr lang="en-US" sz="700" dirty="0"/>
          </a:p>
        </p:txBody>
      </p:sp>
      <p:sp>
        <p:nvSpPr>
          <p:cNvPr id="11" name="Text 9"/>
          <p:cNvSpPr/>
          <p:nvPr/>
        </p:nvSpPr>
        <p:spPr>
          <a:xfrm>
            <a:off x="320040" y="777240"/>
            <a:ext cx="8503920" cy="274320"/>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Internship Progress — Week 8 of 12 | On Track</a:t>
            </a:r>
            <a:endParaRPr lang="en-US" sz="1300" dirty="0"/>
          </a:p>
        </p:txBody>
      </p:sp>
      <p:sp>
        <p:nvSpPr>
          <p:cNvPr id="12" name="Shape 10"/>
          <p:cNvSpPr/>
          <p:nvPr/>
        </p:nvSpPr>
        <p:spPr>
          <a:xfrm>
            <a:off x="320040" y="1078992"/>
            <a:ext cx="8503920" cy="365760"/>
          </a:xfrm>
          <a:prstGeom prst="rect">
            <a:avLst/>
          </a:prstGeom>
          <a:solidFill>
            <a:srgbClr val="1E8449"/>
          </a:solidFill>
          <a:ln w="12700">
            <a:solidFill>
              <a:srgbClr val="1E8449"/>
            </a:solidFill>
            <a:prstDash val="solid"/>
          </a:ln>
        </p:spPr>
      </p:sp>
      <p:sp>
        <p:nvSpPr>
          <p:cNvPr id="13" name="Text 11"/>
          <p:cNvSpPr/>
          <p:nvPr/>
        </p:nvSpPr>
        <p:spPr>
          <a:xfrm>
            <a:off x="320040" y="1078992"/>
            <a:ext cx="8503920" cy="365760"/>
          </a:xfrm>
          <a:prstGeom prst="rect">
            <a:avLst/>
          </a:prstGeom>
          <a:noFill/>
          <a:ln/>
        </p:spPr>
        <p:txBody>
          <a:bodyPr wrap="square" lIns="0" tIns="0" rIns="0" bIns="0" rtlCol="0" anchor="ctr"/>
          <a:lstStyle/>
          <a:p>
            <a:pPr marL="0" indent="0" algn="ctr">
              <a:buNone/>
            </a:pPr>
            <a:r>
              <a:rPr lang="en-US" sz="1000" b="1" dirty="0">
                <a:solidFill>
                  <a:srgbClr val="1A1A2E"/>
                </a:solidFill>
                <a:latin typeface="Calibri" pitchFamily="34" charset="0"/>
                <a:ea typeface="Calibri" pitchFamily="34" charset="-122"/>
                <a:cs typeface="Calibri" pitchFamily="34" charset="-120"/>
              </a:rPr>
              <a:t>Current Status: Week 8 of 12 — On Track  |  3 Phases Completed  |  All Deliverables Submitted On Time</a:t>
            </a:r>
            <a:endParaRPr lang="en-US" sz="1000" dirty="0"/>
          </a:p>
        </p:txBody>
      </p:sp>
      <p:sp>
        <p:nvSpPr>
          <p:cNvPr id="14" name="Shape 12"/>
          <p:cNvSpPr/>
          <p:nvPr/>
        </p:nvSpPr>
        <p:spPr>
          <a:xfrm>
            <a:off x="320040" y="1517904"/>
            <a:ext cx="8503920" cy="1024128"/>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15" name="Shape 13"/>
          <p:cNvSpPr/>
          <p:nvPr/>
        </p:nvSpPr>
        <p:spPr>
          <a:xfrm>
            <a:off x="320040" y="1517904"/>
            <a:ext cx="1280160" cy="1024128"/>
          </a:xfrm>
          <a:prstGeom prst="rect">
            <a:avLst/>
          </a:prstGeom>
          <a:solidFill>
            <a:srgbClr val="1D4ED8"/>
          </a:solidFill>
          <a:ln w="12700">
            <a:solidFill>
              <a:srgbClr val="1D4ED8"/>
            </a:solidFill>
            <a:prstDash val="solid"/>
          </a:ln>
        </p:spPr>
      </p:sp>
      <p:sp>
        <p:nvSpPr>
          <p:cNvPr id="16" name="Text 14"/>
          <p:cNvSpPr/>
          <p:nvPr/>
        </p:nvSpPr>
        <p:spPr>
          <a:xfrm>
            <a:off x="320040" y="1517904"/>
            <a:ext cx="1280160" cy="548640"/>
          </a:xfrm>
          <a:prstGeom prst="rect">
            <a:avLst/>
          </a:prstGeom>
          <a:noFill/>
          <a:ln/>
        </p:spPr>
        <p:txBody>
          <a:bodyPr wrap="square" rtlCol="0" anchor="ctr"/>
          <a:lstStyle/>
          <a:p>
            <a:pPr marL="0" indent="0" algn="ctr">
              <a:buNone/>
            </a:pPr>
            <a:r>
              <a:rPr lang="en-US" sz="950" b="1" dirty="0">
                <a:solidFill>
                  <a:srgbClr val="1A1A2E"/>
                </a:solidFill>
                <a:latin typeface="Calibri" pitchFamily="34" charset="0"/>
                <a:ea typeface="Calibri" pitchFamily="34" charset="-122"/>
                <a:cs typeface="Calibri" pitchFamily="34" charset="-120"/>
              </a:rPr>
              <a:t>Phase 1</a:t>
            </a:r>
            <a:endParaRPr lang="en-US" sz="950" dirty="0"/>
          </a:p>
          <a:p>
            <a:pPr marL="0" indent="0" algn="ctr">
              <a:buNone/>
            </a:pPr>
            <a:r>
              <a:rPr lang="en-US" sz="950" b="1" dirty="0">
                <a:solidFill>
                  <a:srgbClr val="1A1A2E"/>
                </a:solidFill>
                <a:latin typeface="Calibri" pitchFamily="34" charset="0"/>
                <a:ea typeface="Calibri" pitchFamily="34" charset="-122"/>
                <a:cs typeface="Calibri" pitchFamily="34" charset="-120"/>
              </a:rPr>
              <a:t>Week 1–2</a:t>
            </a:r>
            <a:endParaRPr lang="en-US" sz="950" dirty="0"/>
          </a:p>
        </p:txBody>
      </p:sp>
      <p:sp>
        <p:nvSpPr>
          <p:cNvPr id="17" name="Text 15"/>
          <p:cNvSpPr/>
          <p:nvPr/>
        </p:nvSpPr>
        <p:spPr>
          <a:xfrm>
            <a:off x="320040" y="2084832"/>
            <a:ext cx="1280160" cy="457200"/>
          </a:xfrm>
          <a:prstGeom prst="rect">
            <a:avLst/>
          </a:prstGeom>
          <a:noFill/>
          <a:ln/>
        </p:spPr>
        <p:txBody>
          <a:bodyPr wrap="square" rtlCol="0" anchor="ctr"/>
          <a:lstStyle/>
          <a:p>
            <a:pPr marL="0" indent="0" algn="ctr">
              <a:buNone/>
            </a:pPr>
            <a:r>
              <a:rPr lang="en-US" sz="900" b="1" dirty="0">
                <a:solidFill>
                  <a:srgbClr val="1A1A2E"/>
                </a:solidFill>
                <a:latin typeface="Calibri" pitchFamily="34" charset="0"/>
                <a:ea typeface="Calibri" pitchFamily="34" charset="-122"/>
                <a:cs typeface="Calibri" pitchFamily="34" charset="-120"/>
              </a:rPr>
              <a:t>✓ DONE</a:t>
            </a:r>
            <a:endParaRPr lang="en-US" sz="900" dirty="0"/>
          </a:p>
        </p:txBody>
      </p:sp>
      <p:sp>
        <p:nvSpPr>
          <p:cNvPr id="18" name="Text 16"/>
          <p:cNvSpPr/>
          <p:nvPr/>
        </p:nvSpPr>
        <p:spPr>
          <a:xfrm>
            <a:off x="1673352" y="1563624"/>
            <a:ext cx="7077456" cy="219456"/>
          </a:xfrm>
          <a:prstGeom prst="rect">
            <a:avLst/>
          </a:prstGeom>
          <a:noFill/>
          <a:ln/>
        </p:spPr>
        <p:txBody>
          <a:bodyPr wrap="square" lIns="0" tIns="0" rIns="0" bIns="0" rtlCol="0" anchor="ctr"/>
          <a:lstStyle/>
          <a:p>
            <a:pPr marL="0" indent="0">
              <a:buNone/>
            </a:pPr>
            <a:r>
              <a:rPr lang="en-US" sz="1000" b="1" dirty="0">
                <a:solidFill>
                  <a:srgbClr val="1A1A2E"/>
                </a:solidFill>
                <a:latin typeface="Calibri" pitchFamily="34" charset="0"/>
                <a:ea typeface="Calibri" pitchFamily="34" charset="-122"/>
                <a:cs typeface="Calibri" pitchFamily="34" charset="-120"/>
              </a:rPr>
              <a:t>AI Intro, Data Analytics, EDA, Power BI Fundamentals</a:t>
            </a:r>
            <a:endParaRPr lang="en-US" sz="1000" dirty="0"/>
          </a:p>
        </p:txBody>
      </p:sp>
      <p:sp>
        <p:nvSpPr>
          <p:cNvPr id="19" name="Text 17"/>
          <p:cNvSpPr/>
          <p:nvPr/>
        </p:nvSpPr>
        <p:spPr>
          <a:xfrm>
            <a:off x="1673352" y="1792224"/>
            <a:ext cx="7077456" cy="182880"/>
          </a:xfrm>
          <a:prstGeom prst="rect">
            <a:avLst/>
          </a:prstGeom>
          <a:noFill/>
          <a:ln/>
        </p:spPr>
        <p:txBody>
          <a:bodyPr wrap="square" rtlCol="0" anchor="ctr"/>
          <a:lstStyle/>
          <a:p>
            <a:pPr marL="0" indent="0">
              <a:buNone/>
            </a:pPr>
            <a:r>
              <a:rPr lang="en-US" sz="820" dirty="0">
                <a:solidFill>
                  <a:srgbClr val="1A1A2E"/>
                </a:solidFill>
                <a:latin typeface="Calibri" pitchFamily="34" charset="0"/>
                <a:ea typeface="Calibri" pitchFamily="34" charset="-122"/>
                <a:cs typeface="Calibri" pitchFamily="34" charset="-120"/>
              </a:rPr>
              <a:t>✔  EHR data pipeline and cleaning complete</a:t>
            </a:r>
            <a:endParaRPr lang="en-US" sz="820" dirty="0"/>
          </a:p>
        </p:txBody>
      </p:sp>
      <p:sp>
        <p:nvSpPr>
          <p:cNvPr id="20" name="Text 18"/>
          <p:cNvSpPr/>
          <p:nvPr/>
        </p:nvSpPr>
        <p:spPr>
          <a:xfrm>
            <a:off x="1673352" y="1975104"/>
            <a:ext cx="7077456" cy="182880"/>
          </a:xfrm>
          <a:prstGeom prst="rect">
            <a:avLst/>
          </a:prstGeom>
          <a:noFill/>
          <a:ln/>
        </p:spPr>
        <p:txBody>
          <a:bodyPr wrap="square" rtlCol="0" anchor="ctr"/>
          <a:lstStyle/>
          <a:p>
            <a:pPr marL="0" indent="0">
              <a:buNone/>
            </a:pPr>
            <a:r>
              <a:rPr lang="en-US" sz="820" dirty="0">
                <a:solidFill>
                  <a:srgbClr val="1A1A2E"/>
                </a:solidFill>
                <a:latin typeface="Calibri" pitchFamily="34" charset="0"/>
                <a:ea typeface="Calibri" pitchFamily="34" charset="-122"/>
                <a:cs typeface="Calibri" pitchFamily="34" charset="-120"/>
              </a:rPr>
              <a:t>✔  Power BI healthcare dashboard version 1 live and reviewed</a:t>
            </a:r>
            <a:endParaRPr lang="en-US" sz="820" dirty="0"/>
          </a:p>
        </p:txBody>
      </p:sp>
      <p:sp>
        <p:nvSpPr>
          <p:cNvPr id="21" name="Text 19"/>
          <p:cNvSpPr/>
          <p:nvPr/>
        </p:nvSpPr>
        <p:spPr>
          <a:xfrm>
            <a:off x="1673352" y="2157984"/>
            <a:ext cx="7077456" cy="182880"/>
          </a:xfrm>
          <a:prstGeom prst="rect">
            <a:avLst/>
          </a:prstGeom>
          <a:noFill/>
          <a:ln/>
        </p:spPr>
        <p:txBody>
          <a:bodyPr wrap="square" rtlCol="0" anchor="ctr"/>
          <a:lstStyle/>
          <a:p>
            <a:pPr marL="0" indent="0">
              <a:buNone/>
            </a:pPr>
            <a:r>
              <a:rPr lang="en-US" sz="820" dirty="0">
                <a:solidFill>
                  <a:srgbClr val="1A1A2E"/>
                </a:solidFill>
                <a:latin typeface="Calibri" pitchFamily="34" charset="0"/>
                <a:ea typeface="Calibri" pitchFamily="34" charset="-122"/>
                <a:cs typeface="Calibri" pitchFamily="34" charset="-120"/>
              </a:rPr>
              <a:t>✔  Statistical EDA report submitted with key clinical insights</a:t>
            </a:r>
            <a:endParaRPr lang="en-US" sz="820" dirty="0"/>
          </a:p>
        </p:txBody>
      </p:sp>
      <p:sp>
        <p:nvSpPr>
          <p:cNvPr id="22" name="Text 20"/>
          <p:cNvSpPr/>
          <p:nvPr/>
        </p:nvSpPr>
        <p:spPr>
          <a:xfrm>
            <a:off x="1673352" y="2340864"/>
            <a:ext cx="7077456" cy="182880"/>
          </a:xfrm>
          <a:prstGeom prst="rect">
            <a:avLst/>
          </a:prstGeom>
          <a:noFill/>
          <a:ln/>
        </p:spPr>
        <p:txBody>
          <a:bodyPr wrap="square" rtlCol="0" anchor="ctr"/>
          <a:lstStyle/>
          <a:p>
            <a:pPr marL="0" indent="0">
              <a:buNone/>
            </a:pPr>
            <a:r>
              <a:rPr lang="en-US" sz="820" dirty="0">
                <a:solidFill>
                  <a:srgbClr val="1A1A2E"/>
                </a:solidFill>
                <a:latin typeface="Calibri" pitchFamily="34" charset="0"/>
                <a:ea typeface="Calibri" pitchFamily="34" charset="-122"/>
                <a:cs typeface="Calibri" pitchFamily="34" charset="-120"/>
              </a:rPr>
              <a:t>✔  Data quality assessment: 94% completeness across 50,000 patient records</a:t>
            </a:r>
            <a:endParaRPr lang="en-US" sz="820" dirty="0"/>
          </a:p>
        </p:txBody>
      </p:sp>
      <p:sp>
        <p:nvSpPr>
          <p:cNvPr id="23" name="Shape 21"/>
          <p:cNvSpPr/>
          <p:nvPr/>
        </p:nvSpPr>
        <p:spPr>
          <a:xfrm>
            <a:off x="320040" y="2633472"/>
            <a:ext cx="8503920" cy="1024128"/>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24" name="Shape 22"/>
          <p:cNvSpPr/>
          <p:nvPr/>
        </p:nvSpPr>
        <p:spPr>
          <a:xfrm>
            <a:off x="320040" y="2633472"/>
            <a:ext cx="1280160" cy="1024128"/>
          </a:xfrm>
          <a:prstGeom prst="rect">
            <a:avLst/>
          </a:prstGeom>
          <a:solidFill>
            <a:srgbClr val="0D9488"/>
          </a:solidFill>
          <a:ln w="12700">
            <a:solidFill>
              <a:srgbClr val="0D9488"/>
            </a:solidFill>
            <a:prstDash val="solid"/>
          </a:ln>
        </p:spPr>
      </p:sp>
      <p:sp>
        <p:nvSpPr>
          <p:cNvPr id="25" name="Text 23"/>
          <p:cNvSpPr/>
          <p:nvPr/>
        </p:nvSpPr>
        <p:spPr>
          <a:xfrm>
            <a:off x="320040" y="2633472"/>
            <a:ext cx="1280160" cy="548640"/>
          </a:xfrm>
          <a:prstGeom prst="rect">
            <a:avLst/>
          </a:prstGeom>
          <a:noFill/>
          <a:ln/>
        </p:spPr>
        <p:txBody>
          <a:bodyPr wrap="square" rtlCol="0" anchor="ctr"/>
          <a:lstStyle/>
          <a:p>
            <a:pPr marL="0" indent="0" algn="ctr">
              <a:buNone/>
            </a:pPr>
            <a:r>
              <a:rPr lang="en-US" sz="950" b="1" dirty="0">
                <a:solidFill>
                  <a:srgbClr val="1A1A2E"/>
                </a:solidFill>
                <a:latin typeface="Calibri" pitchFamily="34" charset="0"/>
                <a:ea typeface="Calibri" pitchFamily="34" charset="-122"/>
                <a:cs typeface="Calibri" pitchFamily="34" charset="-120"/>
              </a:rPr>
              <a:t>Phase 2</a:t>
            </a:r>
            <a:endParaRPr lang="en-US" sz="950" dirty="0"/>
          </a:p>
          <a:p>
            <a:pPr marL="0" indent="0" algn="ctr">
              <a:buNone/>
            </a:pPr>
            <a:r>
              <a:rPr lang="en-US" sz="950" b="1" dirty="0">
                <a:solidFill>
                  <a:srgbClr val="1A1A2E"/>
                </a:solidFill>
                <a:latin typeface="Calibri" pitchFamily="34" charset="0"/>
                <a:ea typeface="Calibri" pitchFamily="34" charset="-122"/>
                <a:cs typeface="Calibri" pitchFamily="34" charset="-120"/>
              </a:rPr>
              <a:t>Week 3–5</a:t>
            </a:r>
            <a:endParaRPr lang="en-US" sz="950" dirty="0"/>
          </a:p>
        </p:txBody>
      </p:sp>
      <p:sp>
        <p:nvSpPr>
          <p:cNvPr id="26" name="Text 24"/>
          <p:cNvSpPr/>
          <p:nvPr/>
        </p:nvSpPr>
        <p:spPr>
          <a:xfrm>
            <a:off x="320040" y="3200400"/>
            <a:ext cx="1280160" cy="457200"/>
          </a:xfrm>
          <a:prstGeom prst="rect">
            <a:avLst/>
          </a:prstGeom>
          <a:noFill/>
          <a:ln/>
        </p:spPr>
        <p:txBody>
          <a:bodyPr wrap="square" rtlCol="0" anchor="ctr"/>
          <a:lstStyle/>
          <a:p>
            <a:pPr marL="0" indent="0" algn="ctr">
              <a:buNone/>
            </a:pPr>
            <a:r>
              <a:rPr lang="en-US" sz="900" b="1" dirty="0">
                <a:solidFill>
                  <a:srgbClr val="1A1A2E"/>
                </a:solidFill>
                <a:latin typeface="Calibri" pitchFamily="34" charset="0"/>
                <a:ea typeface="Calibri" pitchFamily="34" charset="-122"/>
                <a:cs typeface="Calibri" pitchFamily="34" charset="-120"/>
              </a:rPr>
              <a:t>✓ DONE</a:t>
            </a:r>
            <a:endParaRPr lang="en-US" sz="900" dirty="0"/>
          </a:p>
        </p:txBody>
      </p:sp>
      <p:sp>
        <p:nvSpPr>
          <p:cNvPr id="27" name="Text 25"/>
          <p:cNvSpPr/>
          <p:nvPr/>
        </p:nvSpPr>
        <p:spPr>
          <a:xfrm>
            <a:off x="1673352" y="2679192"/>
            <a:ext cx="7077456" cy="219456"/>
          </a:xfrm>
          <a:prstGeom prst="rect">
            <a:avLst/>
          </a:prstGeom>
          <a:noFill/>
          <a:ln/>
        </p:spPr>
        <p:txBody>
          <a:bodyPr wrap="square" lIns="0" tIns="0" rIns="0" bIns="0" rtlCol="0" anchor="ctr"/>
          <a:lstStyle/>
          <a:p>
            <a:pPr marL="0" indent="0">
              <a:buNone/>
            </a:pPr>
            <a:r>
              <a:rPr lang="en-US" sz="1000" b="1" dirty="0">
                <a:solidFill>
                  <a:srgbClr val="1A1A2E"/>
                </a:solidFill>
                <a:latin typeface="Calibri" pitchFamily="34" charset="0"/>
                <a:ea typeface="Calibri" pitchFamily="34" charset="-122"/>
                <a:cs typeface="Calibri" pitchFamily="34" charset="-120"/>
              </a:rPr>
              <a:t>DAX, Power BI Dashboards, Supervised &amp; Unsupervised ML</a:t>
            </a:r>
            <a:endParaRPr lang="en-US" sz="1000" dirty="0"/>
          </a:p>
        </p:txBody>
      </p:sp>
      <p:sp>
        <p:nvSpPr>
          <p:cNvPr id="28" name="Text 26"/>
          <p:cNvSpPr/>
          <p:nvPr/>
        </p:nvSpPr>
        <p:spPr>
          <a:xfrm>
            <a:off x="1673352" y="2907792"/>
            <a:ext cx="7077456" cy="182880"/>
          </a:xfrm>
          <a:prstGeom prst="rect">
            <a:avLst/>
          </a:prstGeom>
          <a:noFill/>
          <a:ln/>
        </p:spPr>
        <p:txBody>
          <a:bodyPr wrap="square" rtlCol="0" anchor="ctr"/>
          <a:lstStyle/>
          <a:p>
            <a:pPr marL="0" indent="0">
              <a:buNone/>
            </a:pPr>
            <a:r>
              <a:rPr lang="en-US" sz="820" dirty="0">
                <a:solidFill>
                  <a:srgbClr val="1A1A2E"/>
                </a:solidFill>
                <a:latin typeface="Calibri" pitchFamily="34" charset="0"/>
                <a:ea typeface="Calibri" pitchFamily="34" charset="-122"/>
                <a:cs typeface="Calibri" pitchFamily="34" charset="-120"/>
              </a:rPr>
              <a:t>✔  ML readmission model trained — Random Forest achieves 91% test accuracy</a:t>
            </a:r>
            <a:endParaRPr lang="en-US" sz="820" dirty="0"/>
          </a:p>
        </p:txBody>
      </p:sp>
      <p:sp>
        <p:nvSpPr>
          <p:cNvPr id="29" name="Text 27"/>
          <p:cNvSpPr/>
          <p:nvPr/>
        </p:nvSpPr>
        <p:spPr>
          <a:xfrm>
            <a:off x="1673352" y="3090672"/>
            <a:ext cx="7077456" cy="182880"/>
          </a:xfrm>
          <a:prstGeom prst="rect">
            <a:avLst/>
          </a:prstGeom>
          <a:noFill/>
          <a:ln/>
        </p:spPr>
        <p:txBody>
          <a:bodyPr wrap="square" rtlCol="0" anchor="ctr"/>
          <a:lstStyle/>
          <a:p>
            <a:pPr marL="0" indent="0">
              <a:buNone/>
            </a:pPr>
            <a:r>
              <a:rPr lang="en-US" sz="820" dirty="0">
                <a:solidFill>
                  <a:srgbClr val="1A1A2E"/>
                </a:solidFill>
                <a:latin typeface="Calibri" pitchFamily="34" charset="0"/>
                <a:ea typeface="Calibri" pitchFamily="34" charset="-122"/>
                <a:cs typeface="Calibri" pitchFamily="34" charset="-120"/>
              </a:rPr>
              <a:t>✔  K-Means patient stratification model deployed — 4 risk tiers identified</a:t>
            </a:r>
            <a:endParaRPr lang="en-US" sz="820" dirty="0"/>
          </a:p>
        </p:txBody>
      </p:sp>
      <p:sp>
        <p:nvSpPr>
          <p:cNvPr id="30" name="Text 28"/>
          <p:cNvSpPr/>
          <p:nvPr/>
        </p:nvSpPr>
        <p:spPr>
          <a:xfrm>
            <a:off x="1673352" y="3273552"/>
            <a:ext cx="7077456" cy="182880"/>
          </a:xfrm>
          <a:prstGeom prst="rect">
            <a:avLst/>
          </a:prstGeom>
          <a:noFill/>
          <a:ln/>
        </p:spPr>
        <p:txBody>
          <a:bodyPr wrap="square" rtlCol="0" anchor="ctr"/>
          <a:lstStyle/>
          <a:p>
            <a:pPr marL="0" indent="0">
              <a:buNone/>
            </a:pPr>
            <a:r>
              <a:rPr lang="en-US" sz="820" dirty="0">
                <a:solidFill>
                  <a:srgbClr val="1A1A2E"/>
                </a:solidFill>
                <a:latin typeface="Calibri" pitchFamily="34" charset="0"/>
                <a:ea typeface="Calibri" pitchFamily="34" charset="-122"/>
                <a:cs typeface="Calibri" pitchFamily="34" charset="-120"/>
              </a:rPr>
              <a:t>✔  Power BI v2 dashboard with DAX KPIs: adherence rate, readmission score</a:t>
            </a:r>
            <a:endParaRPr lang="en-US" sz="820" dirty="0"/>
          </a:p>
        </p:txBody>
      </p:sp>
      <p:sp>
        <p:nvSpPr>
          <p:cNvPr id="31" name="Text 29"/>
          <p:cNvSpPr/>
          <p:nvPr/>
        </p:nvSpPr>
        <p:spPr>
          <a:xfrm>
            <a:off x="1673352" y="3456432"/>
            <a:ext cx="7077456" cy="182880"/>
          </a:xfrm>
          <a:prstGeom prst="rect">
            <a:avLst/>
          </a:prstGeom>
          <a:noFill/>
          <a:ln/>
        </p:spPr>
        <p:txBody>
          <a:bodyPr wrap="square" rtlCol="0" anchor="ctr"/>
          <a:lstStyle/>
          <a:p>
            <a:pPr marL="0" indent="0">
              <a:buNone/>
            </a:pPr>
            <a:r>
              <a:rPr lang="en-US" sz="820" dirty="0">
                <a:solidFill>
                  <a:srgbClr val="1A1A2E"/>
                </a:solidFill>
                <a:latin typeface="Calibri" pitchFamily="34" charset="0"/>
                <a:ea typeface="Calibri" pitchFamily="34" charset="-122"/>
                <a:cs typeface="Calibri" pitchFamily="34" charset="-120"/>
              </a:rPr>
              <a:t>✔  Cross-validation completed; hyperparameter tuning via Grid Search CV</a:t>
            </a:r>
            <a:endParaRPr lang="en-US" sz="820" dirty="0"/>
          </a:p>
        </p:txBody>
      </p:sp>
      <p:sp>
        <p:nvSpPr>
          <p:cNvPr id="32" name="Shape 30"/>
          <p:cNvSpPr/>
          <p:nvPr/>
        </p:nvSpPr>
        <p:spPr>
          <a:xfrm>
            <a:off x="320040" y="3749040"/>
            <a:ext cx="8503920" cy="1024128"/>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33" name="Shape 31"/>
          <p:cNvSpPr/>
          <p:nvPr/>
        </p:nvSpPr>
        <p:spPr>
          <a:xfrm>
            <a:off x="320040" y="3749040"/>
            <a:ext cx="1280160" cy="1024128"/>
          </a:xfrm>
          <a:prstGeom prst="rect">
            <a:avLst/>
          </a:prstGeom>
          <a:solidFill>
            <a:srgbClr val="7C3AED"/>
          </a:solidFill>
          <a:ln w="12700">
            <a:solidFill>
              <a:srgbClr val="7C3AED"/>
            </a:solidFill>
            <a:prstDash val="solid"/>
          </a:ln>
        </p:spPr>
      </p:sp>
      <p:sp>
        <p:nvSpPr>
          <p:cNvPr id="34" name="Text 32"/>
          <p:cNvSpPr/>
          <p:nvPr/>
        </p:nvSpPr>
        <p:spPr>
          <a:xfrm>
            <a:off x="320040" y="3749040"/>
            <a:ext cx="1280160" cy="548640"/>
          </a:xfrm>
          <a:prstGeom prst="rect">
            <a:avLst/>
          </a:prstGeom>
          <a:noFill/>
          <a:ln/>
        </p:spPr>
        <p:txBody>
          <a:bodyPr wrap="square" rtlCol="0" anchor="ctr"/>
          <a:lstStyle/>
          <a:p>
            <a:pPr marL="0" indent="0" algn="ctr">
              <a:buNone/>
            </a:pPr>
            <a:r>
              <a:rPr lang="en-US" sz="950" b="1" dirty="0">
                <a:solidFill>
                  <a:srgbClr val="1A1A2E"/>
                </a:solidFill>
                <a:latin typeface="Calibri" pitchFamily="34" charset="0"/>
                <a:ea typeface="Calibri" pitchFamily="34" charset="-122"/>
                <a:cs typeface="Calibri" pitchFamily="34" charset="-120"/>
              </a:rPr>
              <a:t>Phase 3</a:t>
            </a:r>
            <a:endParaRPr lang="en-US" sz="950" dirty="0"/>
          </a:p>
          <a:p>
            <a:pPr marL="0" indent="0" algn="ctr">
              <a:buNone/>
            </a:pPr>
            <a:r>
              <a:rPr lang="en-US" sz="950" b="1" dirty="0">
                <a:solidFill>
                  <a:srgbClr val="1A1A2E"/>
                </a:solidFill>
                <a:latin typeface="Calibri" pitchFamily="34" charset="0"/>
                <a:ea typeface="Calibri" pitchFamily="34" charset="-122"/>
                <a:cs typeface="Calibri" pitchFamily="34" charset="-120"/>
              </a:rPr>
              <a:t>Week 6–8</a:t>
            </a:r>
            <a:endParaRPr lang="en-US" sz="950" dirty="0"/>
          </a:p>
        </p:txBody>
      </p:sp>
      <p:sp>
        <p:nvSpPr>
          <p:cNvPr id="35" name="Text 33"/>
          <p:cNvSpPr/>
          <p:nvPr/>
        </p:nvSpPr>
        <p:spPr>
          <a:xfrm>
            <a:off x="320040" y="4315968"/>
            <a:ext cx="1280160" cy="457200"/>
          </a:xfrm>
          <a:prstGeom prst="rect">
            <a:avLst/>
          </a:prstGeom>
          <a:noFill/>
          <a:ln/>
        </p:spPr>
        <p:txBody>
          <a:bodyPr wrap="square" rtlCol="0" anchor="ctr"/>
          <a:lstStyle/>
          <a:p>
            <a:pPr marL="0" indent="0" algn="ctr">
              <a:buNone/>
            </a:pPr>
            <a:r>
              <a:rPr lang="en-US" sz="900" b="1" dirty="0">
                <a:solidFill>
                  <a:srgbClr val="1A1A2E"/>
                </a:solidFill>
                <a:latin typeface="Calibri" pitchFamily="34" charset="0"/>
                <a:ea typeface="Calibri" pitchFamily="34" charset="-122"/>
                <a:cs typeface="Calibri" pitchFamily="34" charset="-120"/>
              </a:rPr>
              <a:t>✓ DONE</a:t>
            </a:r>
            <a:endParaRPr lang="en-US" sz="900" dirty="0"/>
          </a:p>
        </p:txBody>
      </p:sp>
      <p:sp>
        <p:nvSpPr>
          <p:cNvPr id="36" name="Text 34"/>
          <p:cNvSpPr/>
          <p:nvPr/>
        </p:nvSpPr>
        <p:spPr>
          <a:xfrm>
            <a:off x="1673352" y="3794760"/>
            <a:ext cx="7077456" cy="219456"/>
          </a:xfrm>
          <a:prstGeom prst="rect">
            <a:avLst/>
          </a:prstGeom>
          <a:noFill/>
          <a:ln/>
        </p:spPr>
        <p:txBody>
          <a:bodyPr wrap="square" lIns="0" tIns="0" rIns="0" bIns="0" rtlCol="0" anchor="ctr"/>
          <a:lstStyle/>
          <a:p>
            <a:pPr marL="0" indent="0">
              <a:buNone/>
            </a:pPr>
            <a:r>
              <a:rPr lang="en-US" sz="1000" b="1" dirty="0">
                <a:solidFill>
                  <a:srgbClr val="1A1A2E"/>
                </a:solidFill>
                <a:latin typeface="Calibri" pitchFamily="34" charset="0"/>
                <a:ea typeface="Calibri" pitchFamily="34" charset="-122"/>
                <a:cs typeface="Calibri" pitchFamily="34" charset="-120"/>
              </a:rPr>
              <a:t>Deep Learning, Neural Networks, CNN, GitHub Copilot, Cloud Computing</a:t>
            </a:r>
            <a:endParaRPr lang="en-US" sz="1000" dirty="0"/>
          </a:p>
        </p:txBody>
      </p:sp>
      <p:sp>
        <p:nvSpPr>
          <p:cNvPr id="37" name="Text 35"/>
          <p:cNvSpPr/>
          <p:nvPr/>
        </p:nvSpPr>
        <p:spPr>
          <a:xfrm>
            <a:off x="1673352" y="4023360"/>
            <a:ext cx="7077456" cy="182880"/>
          </a:xfrm>
          <a:prstGeom prst="rect">
            <a:avLst/>
          </a:prstGeom>
          <a:noFill/>
          <a:ln/>
        </p:spPr>
        <p:txBody>
          <a:bodyPr wrap="square" rtlCol="0" anchor="ctr"/>
          <a:lstStyle/>
          <a:p>
            <a:pPr marL="0" indent="0">
              <a:buNone/>
            </a:pPr>
            <a:r>
              <a:rPr lang="en-US" sz="820" dirty="0">
                <a:solidFill>
                  <a:srgbClr val="1A1A2E"/>
                </a:solidFill>
                <a:latin typeface="Calibri" pitchFamily="34" charset="0"/>
                <a:ea typeface="Calibri" pitchFamily="34" charset="-122"/>
                <a:cs typeface="Calibri" pitchFamily="34" charset="-120"/>
              </a:rPr>
              <a:t>✔  CNN model architecture designed for medical image classification</a:t>
            </a:r>
            <a:endParaRPr lang="en-US" sz="820" dirty="0"/>
          </a:p>
        </p:txBody>
      </p:sp>
      <p:sp>
        <p:nvSpPr>
          <p:cNvPr id="38" name="Text 36"/>
          <p:cNvSpPr/>
          <p:nvPr/>
        </p:nvSpPr>
        <p:spPr>
          <a:xfrm>
            <a:off x="1673352" y="4206240"/>
            <a:ext cx="7077456" cy="182880"/>
          </a:xfrm>
          <a:prstGeom prst="rect">
            <a:avLst/>
          </a:prstGeom>
          <a:noFill/>
          <a:ln/>
        </p:spPr>
        <p:txBody>
          <a:bodyPr wrap="square" rtlCol="0" anchor="ctr"/>
          <a:lstStyle/>
          <a:p>
            <a:pPr marL="0" indent="0">
              <a:buNone/>
            </a:pPr>
            <a:r>
              <a:rPr lang="en-US" sz="820" dirty="0">
                <a:solidFill>
                  <a:srgbClr val="1A1A2E"/>
                </a:solidFill>
                <a:latin typeface="Calibri" pitchFamily="34" charset="0"/>
                <a:ea typeface="Calibri" pitchFamily="34" charset="-122"/>
                <a:cs typeface="Calibri" pitchFamily="34" charset="-120"/>
              </a:rPr>
              <a:t>✔  LSTM adherence forecasting model in training (RMSE target: &lt;0.10)</a:t>
            </a:r>
            <a:endParaRPr lang="en-US" sz="820" dirty="0"/>
          </a:p>
        </p:txBody>
      </p:sp>
      <p:sp>
        <p:nvSpPr>
          <p:cNvPr id="39" name="Text 37"/>
          <p:cNvSpPr/>
          <p:nvPr/>
        </p:nvSpPr>
        <p:spPr>
          <a:xfrm>
            <a:off x="1673352" y="4389120"/>
            <a:ext cx="7077456" cy="182880"/>
          </a:xfrm>
          <a:prstGeom prst="rect">
            <a:avLst/>
          </a:prstGeom>
          <a:noFill/>
          <a:ln/>
        </p:spPr>
        <p:txBody>
          <a:bodyPr wrap="square" rtlCol="0" anchor="ctr"/>
          <a:lstStyle/>
          <a:p>
            <a:pPr marL="0" indent="0">
              <a:buNone/>
            </a:pPr>
            <a:r>
              <a:rPr lang="en-US" sz="820" dirty="0">
                <a:solidFill>
                  <a:srgbClr val="1A1A2E"/>
                </a:solidFill>
                <a:latin typeface="Calibri" pitchFamily="34" charset="0"/>
                <a:ea typeface="Calibri" pitchFamily="34" charset="-122"/>
                <a:cs typeface="Calibri" pitchFamily="34" charset="-120"/>
              </a:rPr>
              <a:t>✔  Azure ML Studio workspace configured; experiment tracking active</a:t>
            </a:r>
            <a:endParaRPr lang="en-US" sz="820" dirty="0"/>
          </a:p>
        </p:txBody>
      </p:sp>
      <p:sp>
        <p:nvSpPr>
          <p:cNvPr id="40" name="Text 38"/>
          <p:cNvSpPr/>
          <p:nvPr/>
        </p:nvSpPr>
        <p:spPr>
          <a:xfrm>
            <a:off x="1673352" y="4572000"/>
            <a:ext cx="7077456" cy="182880"/>
          </a:xfrm>
          <a:prstGeom prst="rect">
            <a:avLst/>
          </a:prstGeom>
          <a:noFill/>
          <a:ln/>
        </p:spPr>
        <p:txBody>
          <a:bodyPr wrap="square" rtlCol="0" anchor="ctr"/>
          <a:lstStyle/>
          <a:p>
            <a:pPr marL="0" indent="0">
              <a:buNone/>
            </a:pPr>
            <a:r>
              <a:rPr lang="en-US" sz="820" dirty="0">
                <a:solidFill>
                  <a:srgbClr val="1A1A2E"/>
                </a:solidFill>
                <a:latin typeface="Calibri" pitchFamily="34" charset="0"/>
                <a:ea typeface="Calibri" pitchFamily="34" charset="-122"/>
                <a:cs typeface="Calibri" pitchFamily="34" charset="-120"/>
              </a:rPr>
              <a:t>✔  GitHub repository structured with CI/CD pipeline via GitHub Actions</a:t>
            </a:r>
            <a:endParaRPr lang="en-US" sz="8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01F5F"/>
          </a:solidFill>
          <a:ln w="12700">
            <a:solidFill>
              <a:srgbClr val="FFFFFF"/>
            </a:solidFill>
            <a:prstDash val="solid"/>
          </a:ln>
        </p:spPr>
      </p:sp>
      <p:sp>
        <p:nvSpPr>
          <p:cNvPr id="3" name="Shape 1"/>
          <p:cNvSpPr/>
          <p:nvPr/>
        </p:nvSpPr>
        <p:spPr>
          <a:xfrm>
            <a:off x="0" y="621792"/>
            <a:ext cx="9144000" cy="50292"/>
          </a:xfrm>
          <a:prstGeom prst="rect">
            <a:avLst/>
          </a:prstGeom>
          <a:solidFill>
            <a:srgbClr val="1E8449"/>
          </a:solidFill>
          <a:ln w="12700">
            <a:solidFill>
              <a:srgbClr val="1E8449"/>
            </a:solidFill>
            <a:prstDash val="solid"/>
          </a:ln>
        </p:spPr>
      </p:sp>
      <p:sp>
        <p:nvSpPr>
          <p:cNvPr id="4" name="Text 2"/>
          <p:cNvSpPr/>
          <p:nvPr/>
        </p:nvSpPr>
        <p:spPr>
          <a:xfrm>
            <a:off x="292608" y="45720"/>
            <a:ext cx="7498080" cy="54864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Progress Overview (Week 9–12)</a:t>
            </a:r>
            <a:endParaRPr lang="en-US" sz="1900" dirty="0"/>
          </a:p>
        </p:txBody>
      </p:sp>
      <p:sp>
        <p:nvSpPr>
          <p:cNvPr id="5" name="Shape 3"/>
          <p:cNvSpPr/>
          <p:nvPr/>
        </p:nvSpPr>
        <p:spPr>
          <a:xfrm>
            <a:off x="7818120" y="82296"/>
            <a:ext cx="1234440" cy="457200"/>
          </a:xfrm>
          <a:prstGeom prst="rect">
            <a:avLst/>
          </a:prstGeom>
          <a:solidFill>
            <a:srgbClr val="E8EFF8"/>
          </a:solidFill>
          <a:ln w="12700">
            <a:solidFill>
              <a:srgbClr val="1D4ED8"/>
            </a:solidFill>
            <a:prstDash val="solid"/>
          </a:ln>
        </p:spPr>
      </p:sp>
      <p:sp>
        <p:nvSpPr>
          <p:cNvPr id="6" name="Text 4"/>
          <p:cNvSpPr/>
          <p:nvPr/>
        </p:nvSpPr>
        <p:spPr>
          <a:xfrm>
            <a:off x="7818120" y="82296"/>
            <a:ext cx="1234440" cy="457200"/>
          </a:xfrm>
          <a:prstGeom prst="rect">
            <a:avLst/>
          </a:prstGeom>
          <a:noFill/>
          <a:ln/>
        </p:spPr>
        <p:txBody>
          <a:bodyPr wrap="square" rtlCol="0" anchor="ctr"/>
          <a:lstStyle/>
          <a:p>
            <a:pPr marL="0" indent="0" algn="ctr">
              <a:buNone/>
            </a:pPr>
            <a:r>
              <a:rPr lang="en-US" sz="700" b="1" dirty="0">
                <a:solidFill>
                  <a:srgbClr val="1D4ED8"/>
                </a:solidFill>
                <a:latin typeface="Calibri" pitchFamily="34" charset="0"/>
                <a:ea typeface="Calibri" pitchFamily="34" charset="-122"/>
                <a:cs typeface="Calibri" pitchFamily="34" charset="-120"/>
              </a:rPr>
              <a:t>Microsoft</a:t>
            </a:r>
            <a:endParaRPr lang="en-US" sz="700" dirty="0"/>
          </a:p>
          <a:p>
            <a:pPr marL="0" indent="0" algn="ctr">
              <a:buNone/>
            </a:pPr>
            <a:r>
              <a:rPr lang="en-US" sz="700" b="1" dirty="0">
                <a:solidFill>
                  <a:srgbClr val="1D4ED8"/>
                </a:solidFill>
                <a:latin typeface="Calibri" pitchFamily="34" charset="0"/>
                <a:ea typeface="Calibri" pitchFamily="34" charset="-122"/>
                <a:cs typeface="Calibri" pitchFamily="34" charset="-120"/>
              </a:rPr>
              <a:t>Elevate GTU</a:t>
            </a:r>
            <a:endParaRPr lang="en-US" sz="700" dirty="0"/>
          </a:p>
        </p:txBody>
      </p:sp>
      <p:sp>
        <p:nvSpPr>
          <p:cNvPr id="7" name="Shape 5"/>
          <p:cNvSpPr/>
          <p:nvPr/>
        </p:nvSpPr>
        <p:spPr>
          <a:xfrm>
            <a:off x="0" y="4873752"/>
            <a:ext cx="9144000" cy="50292"/>
          </a:xfrm>
          <a:prstGeom prst="rect">
            <a:avLst/>
          </a:prstGeom>
          <a:solidFill>
            <a:srgbClr val="1E8449"/>
          </a:solidFill>
          <a:ln w="12700">
            <a:solidFill>
              <a:srgbClr val="1E8449"/>
            </a:solidFill>
            <a:prstDash val="solid"/>
          </a:ln>
        </p:spPr>
      </p:sp>
      <p:sp>
        <p:nvSpPr>
          <p:cNvPr id="8" name="Shape 6"/>
          <p:cNvSpPr/>
          <p:nvPr/>
        </p:nvSpPr>
        <p:spPr>
          <a:xfrm>
            <a:off x="0" y="4924044"/>
            <a:ext cx="9144000" cy="219456"/>
          </a:xfrm>
          <a:prstGeom prst="rect">
            <a:avLst/>
          </a:prstGeom>
          <a:solidFill>
            <a:srgbClr val="FFFFFF"/>
          </a:solidFill>
          <a:ln w="12700">
            <a:solidFill>
              <a:srgbClr val="FFFFFF"/>
            </a:solidFill>
            <a:prstDash val="solid"/>
          </a:ln>
        </p:spPr>
      </p:sp>
      <p:sp>
        <p:nvSpPr>
          <p:cNvPr id="9" name="Text 7"/>
          <p:cNvSpPr/>
          <p:nvPr/>
        </p:nvSpPr>
        <p:spPr>
          <a:xfrm>
            <a:off x="228600" y="4924044"/>
            <a:ext cx="8046720" cy="219456"/>
          </a:xfrm>
          <a:prstGeom prst="rect">
            <a:avLst/>
          </a:prstGeom>
          <a:noFill/>
          <a:ln/>
        </p:spPr>
        <p:txBody>
          <a:bodyPr wrap="square" lIns="0" tIns="0" rIns="0" bIns="0" rtlCol="0" anchor="ctr"/>
          <a:lstStyle/>
          <a:p>
            <a:pPr marL="0" indent="0">
              <a:buNone/>
            </a:pPr>
            <a:r>
              <a:rPr lang="en-US" sz="650" dirty="0">
                <a:solidFill>
                  <a:srgbClr val="7B9ABF"/>
                </a:solidFill>
                <a:latin typeface="Calibri" pitchFamily="34" charset="0"/>
                <a:ea typeface="Calibri" pitchFamily="34" charset="-122"/>
                <a:cs typeface="Calibri" pitchFamily="34" charset="-120"/>
              </a:rPr>
              <a:t>Microsoft Elevate Internship Project  |  Healthcare &amp; Medication Management System  |  GTU Jan–Apr 2026</a:t>
            </a:r>
            <a:endParaRPr lang="en-US" sz="650" dirty="0"/>
          </a:p>
        </p:txBody>
      </p:sp>
      <p:sp>
        <p:nvSpPr>
          <p:cNvPr id="10" name="Text 8"/>
          <p:cNvSpPr/>
          <p:nvPr/>
        </p:nvSpPr>
        <p:spPr>
          <a:xfrm>
            <a:off x="8275320" y="4924044"/>
            <a:ext cx="731520" cy="219456"/>
          </a:xfrm>
          <a:prstGeom prst="rect">
            <a:avLst/>
          </a:prstGeom>
          <a:noFill/>
          <a:ln/>
        </p:spPr>
        <p:txBody>
          <a:bodyPr wrap="square" lIns="0" tIns="0" rIns="0" bIns="0" rtlCol="0" anchor="ctr"/>
          <a:lstStyle/>
          <a:p>
            <a:pPr marL="0" indent="0" algn="r">
              <a:buNone/>
            </a:pPr>
            <a:r>
              <a:rPr lang="en-US" sz="700" b="1" dirty="0">
                <a:solidFill>
                  <a:srgbClr val="1A1A2E"/>
                </a:solidFill>
                <a:latin typeface="Calibri" pitchFamily="34" charset="0"/>
                <a:ea typeface="Calibri" pitchFamily="34" charset="-122"/>
                <a:cs typeface="Calibri" pitchFamily="34" charset="-120"/>
              </a:rPr>
              <a:t>15 / 21</a:t>
            </a:r>
            <a:endParaRPr lang="en-US" sz="700" dirty="0"/>
          </a:p>
        </p:txBody>
      </p:sp>
      <p:sp>
        <p:nvSpPr>
          <p:cNvPr id="11" name="Text 9"/>
          <p:cNvSpPr/>
          <p:nvPr/>
        </p:nvSpPr>
        <p:spPr>
          <a:xfrm>
            <a:off x="320040" y="777240"/>
            <a:ext cx="8503920" cy="274320"/>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Internship Progress — Week 12 of 12 | COMPLETED</a:t>
            </a:r>
            <a:endParaRPr lang="en-US" sz="1300" dirty="0"/>
          </a:p>
        </p:txBody>
      </p:sp>
      <p:sp>
        <p:nvSpPr>
          <p:cNvPr id="12" name="Shape 10"/>
          <p:cNvSpPr/>
          <p:nvPr/>
        </p:nvSpPr>
        <p:spPr>
          <a:xfrm>
            <a:off x="320040" y="1078992"/>
            <a:ext cx="8503920" cy="365760"/>
          </a:xfrm>
          <a:prstGeom prst="rect">
            <a:avLst/>
          </a:prstGeom>
          <a:solidFill>
            <a:srgbClr val="1E8449"/>
          </a:solidFill>
          <a:ln w="12700">
            <a:solidFill>
              <a:srgbClr val="1E8449"/>
            </a:solidFill>
            <a:prstDash val="solid"/>
          </a:ln>
        </p:spPr>
      </p:sp>
      <p:sp>
        <p:nvSpPr>
          <p:cNvPr id="13" name="Text 11"/>
          <p:cNvSpPr/>
          <p:nvPr/>
        </p:nvSpPr>
        <p:spPr>
          <a:xfrm>
            <a:off x="320040" y="1078992"/>
            <a:ext cx="8503920" cy="365760"/>
          </a:xfrm>
          <a:prstGeom prst="rect">
            <a:avLst/>
          </a:prstGeom>
          <a:noFill/>
          <a:ln/>
        </p:spPr>
        <p:txBody>
          <a:bodyPr wrap="square" lIns="0" tIns="0" rIns="0" bIns="0" rtlCol="0" anchor="ctr"/>
          <a:lstStyle/>
          <a:p>
            <a:pPr marL="0" indent="0" algn="ctr">
              <a:buNone/>
            </a:pPr>
            <a:r>
              <a:rPr lang="en-US" sz="1000" b="1" dirty="0">
                <a:solidFill>
                  <a:srgbClr val="1A1A2E"/>
                </a:solidFill>
                <a:latin typeface="Calibri" pitchFamily="34" charset="0"/>
                <a:ea typeface="Calibri" pitchFamily="34" charset="-122"/>
                <a:cs typeface="Calibri" pitchFamily="34" charset="-120"/>
              </a:rPr>
              <a:t>Current Status: Week 12 of 12 — COMPLETED  |  All 4 Phases Done  |  AZ-900 Certified | Final Project Submitted</a:t>
            </a:r>
            <a:endParaRPr lang="en-US" sz="1000" dirty="0"/>
          </a:p>
        </p:txBody>
      </p:sp>
      <p:sp>
        <p:nvSpPr>
          <p:cNvPr id="14" name="Shape 12"/>
          <p:cNvSpPr/>
          <p:nvPr/>
        </p:nvSpPr>
        <p:spPr>
          <a:xfrm>
            <a:off x="320040" y="1517904"/>
            <a:ext cx="8503920" cy="1024128"/>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15" name="Shape 13"/>
          <p:cNvSpPr/>
          <p:nvPr/>
        </p:nvSpPr>
        <p:spPr>
          <a:xfrm>
            <a:off x="320040" y="1517904"/>
            <a:ext cx="1280160" cy="1024128"/>
          </a:xfrm>
          <a:prstGeom prst="rect">
            <a:avLst/>
          </a:prstGeom>
          <a:solidFill>
            <a:srgbClr val="1D4ED8"/>
          </a:solidFill>
          <a:ln w="12700">
            <a:solidFill>
              <a:srgbClr val="1D4ED8"/>
            </a:solidFill>
            <a:prstDash val="solid"/>
          </a:ln>
        </p:spPr>
      </p:sp>
      <p:sp>
        <p:nvSpPr>
          <p:cNvPr id="16" name="Text 14"/>
          <p:cNvSpPr/>
          <p:nvPr/>
        </p:nvSpPr>
        <p:spPr>
          <a:xfrm>
            <a:off x="320040" y="1517904"/>
            <a:ext cx="1280160" cy="548640"/>
          </a:xfrm>
          <a:prstGeom prst="rect">
            <a:avLst/>
          </a:prstGeom>
          <a:noFill/>
          <a:ln/>
        </p:spPr>
        <p:txBody>
          <a:bodyPr wrap="square" rtlCol="0" anchor="ctr"/>
          <a:lstStyle/>
          <a:p>
            <a:pPr marL="0" indent="0" algn="ctr">
              <a:buNone/>
            </a:pPr>
            <a:r>
              <a:rPr lang="en-US" sz="950" b="1" dirty="0">
                <a:solidFill>
                  <a:srgbClr val="1A1A2E"/>
                </a:solidFill>
                <a:latin typeface="Calibri" pitchFamily="34" charset="0"/>
                <a:ea typeface="Calibri" pitchFamily="34" charset="-122"/>
                <a:cs typeface="Calibri" pitchFamily="34" charset="-120"/>
              </a:rPr>
              <a:t>Phase 4</a:t>
            </a:r>
            <a:endParaRPr lang="en-US" sz="950" dirty="0"/>
          </a:p>
          <a:p>
            <a:pPr marL="0" indent="0" algn="ctr">
              <a:buNone/>
            </a:pPr>
            <a:r>
              <a:rPr lang="en-US" sz="950" b="1" dirty="0">
                <a:solidFill>
                  <a:srgbClr val="1A1A2E"/>
                </a:solidFill>
                <a:latin typeface="Calibri" pitchFamily="34" charset="0"/>
                <a:ea typeface="Calibri" pitchFamily="34" charset="-122"/>
                <a:cs typeface="Calibri" pitchFamily="34" charset="-120"/>
              </a:rPr>
              <a:t>Week 9–10</a:t>
            </a:r>
            <a:endParaRPr lang="en-US" sz="950" dirty="0"/>
          </a:p>
        </p:txBody>
      </p:sp>
      <p:sp>
        <p:nvSpPr>
          <p:cNvPr id="17" name="Text 15"/>
          <p:cNvSpPr/>
          <p:nvPr/>
        </p:nvSpPr>
        <p:spPr>
          <a:xfrm>
            <a:off x="320040" y="2084832"/>
            <a:ext cx="1280160" cy="457200"/>
          </a:xfrm>
          <a:prstGeom prst="rect">
            <a:avLst/>
          </a:prstGeom>
          <a:noFill/>
          <a:ln/>
        </p:spPr>
        <p:txBody>
          <a:bodyPr wrap="square" rtlCol="0" anchor="ctr"/>
          <a:lstStyle/>
          <a:p>
            <a:pPr marL="0" indent="0" algn="ctr">
              <a:buNone/>
            </a:pPr>
            <a:r>
              <a:rPr lang="en-US" sz="900" b="1" dirty="0">
                <a:solidFill>
                  <a:srgbClr val="1A1A2E"/>
                </a:solidFill>
                <a:latin typeface="Calibri" pitchFamily="34" charset="0"/>
                <a:ea typeface="Calibri" pitchFamily="34" charset="-122"/>
                <a:cs typeface="Calibri" pitchFamily="34" charset="-120"/>
              </a:rPr>
              <a:t>✓ DONE</a:t>
            </a:r>
            <a:endParaRPr lang="en-US" sz="900" dirty="0"/>
          </a:p>
        </p:txBody>
      </p:sp>
      <p:sp>
        <p:nvSpPr>
          <p:cNvPr id="18" name="Text 16"/>
          <p:cNvSpPr/>
          <p:nvPr/>
        </p:nvSpPr>
        <p:spPr>
          <a:xfrm>
            <a:off x="1673352" y="1563624"/>
            <a:ext cx="7077456" cy="219456"/>
          </a:xfrm>
          <a:prstGeom prst="rect">
            <a:avLst/>
          </a:prstGeom>
          <a:noFill/>
          <a:ln/>
        </p:spPr>
        <p:txBody>
          <a:bodyPr wrap="square" lIns="0" tIns="0" rIns="0" bIns="0" rtlCol="0" anchor="ctr"/>
          <a:lstStyle/>
          <a:p>
            <a:pPr marL="0" indent="0">
              <a:buNone/>
            </a:pPr>
            <a:r>
              <a:rPr lang="en-US" sz="1000" b="1" dirty="0">
                <a:solidFill>
                  <a:srgbClr val="1A1A2E"/>
                </a:solidFill>
                <a:latin typeface="Calibri" pitchFamily="34" charset="0"/>
                <a:ea typeface="Calibri" pitchFamily="34" charset="-122"/>
                <a:cs typeface="Calibri" pitchFamily="34" charset="-120"/>
              </a:rPr>
              <a:t>Azure Blob Storage, Azure DevOps &amp; CI/CD Pipelines</a:t>
            </a:r>
            <a:endParaRPr lang="en-US" sz="1000" dirty="0"/>
          </a:p>
        </p:txBody>
      </p:sp>
      <p:sp>
        <p:nvSpPr>
          <p:cNvPr id="19" name="Text 17"/>
          <p:cNvSpPr/>
          <p:nvPr/>
        </p:nvSpPr>
        <p:spPr>
          <a:xfrm>
            <a:off x="1673352" y="1792224"/>
            <a:ext cx="7077456" cy="182880"/>
          </a:xfrm>
          <a:prstGeom prst="rect">
            <a:avLst/>
          </a:prstGeom>
          <a:noFill/>
          <a:ln/>
        </p:spPr>
        <p:txBody>
          <a:bodyPr wrap="square" rtlCol="0" anchor="ctr"/>
          <a:lstStyle/>
          <a:p>
            <a:pPr marL="0" indent="0">
              <a:buNone/>
            </a:pPr>
            <a:r>
              <a:rPr lang="en-US" sz="820" dirty="0">
                <a:solidFill>
                  <a:srgbClr val="1A1A2E"/>
                </a:solidFill>
                <a:latin typeface="Calibri" pitchFamily="34" charset="0"/>
                <a:ea typeface="Calibri" pitchFamily="34" charset="-122"/>
                <a:cs typeface="Calibri" pitchFamily="34" charset="-120"/>
              </a:rPr>
              <a:t>✔  Azure Blob Storage: Account, Container, Blob hierarchy; Hot/Cool/Archive tiers</a:t>
            </a:r>
            <a:endParaRPr lang="en-US" sz="820" dirty="0"/>
          </a:p>
        </p:txBody>
      </p:sp>
      <p:sp>
        <p:nvSpPr>
          <p:cNvPr id="20" name="Text 18"/>
          <p:cNvSpPr/>
          <p:nvPr/>
        </p:nvSpPr>
        <p:spPr>
          <a:xfrm>
            <a:off x="1673352" y="1975104"/>
            <a:ext cx="7077456" cy="182880"/>
          </a:xfrm>
          <a:prstGeom prst="rect">
            <a:avLst/>
          </a:prstGeom>
          <a:noFill/>
          <a:ln/>
        </p:spPr>
        <p:txBody>
          <a:bodyPr wrap="square" rtlCol="0" anchor="ctr"/>
          <a:lstStyle/>
          <a:p>
            <a:pPr marL="0" indent="0">
              <a:buNone/>
            </a:pPr>
            <a:r>
              <a:rPr lang="en-US" sz="820" dirty="0">
                <a:solidFill>
                  <a:srgbClr val="1A1A2E"/>
                </a:solidFill>
                <a:latin typeface="Calibri" pitchFamily="34" charset="0"/>
                <a:ea typeface="Calibri" pitchFamily="34" charset="-122"/>
                <a:cs typeface="Calibri" pitchFamily="34" charset="-120"/>
              </a:rPr>
              <a:t>✔  Azure DevOps: Boards, Repos, Pipelines; implemented CI/CD with YAML pipelines</a:t>
            </a:r>
            <a:endParaRPr lang="en-US" sz="820" dirty="0"/>
          </a:p>
        </p:txBody>
      </p:sp>
      <p:sp>
        <p:nvSpPr>
          <p:cNvPr id="21" name="Text 19"/>
          <p:cNvSpPr/>
          <p:nvPr/>
        </p:nvSpPr>
        <p:spPr>
          <a:xfrm>
            <a:off x="1673352" y="2157984"/>
            <a:ext cx="7077456" cy="182880"/>
          </a:xfrm>
          <a:prstGeom prst="rect">
            <a:avLst/>
          </a:prstGeom>
          <a:noFill/>
          <a:ln/>
        </p:spPr>
        <p:txBody>
          <a:bodyPr wrap="square" rtlCol="0" anchor="ctr"/>
          <a:lstStyle/>
          <a:p>
            <a:pPr marL="0" indent="0">
              <a:buNone/>
            </a:pPr>
            <a:r>
              <a:rPr lang="en-US" sz="820" dirty="0">
                <a:solidFill>
                  <a:srgbClr val="1A1A2E"/>
                </a:solidFill>
                <a:latin typeface="Calibri" pitchFamily="34" charset="0"/>
                <a:ea typeface="Calibri" pitchFamily="34" charset="-122"/>
                <a:cs typeface="Calibri" pitchFamily="34" charset="-120"/>
              </a:rPr>
              <a:t>✔  GitHub Copilot &amp; Generative AI: AI-powered coding, prompt engineering, LLMs</a:t>
            </a:r>
            <a:endParaRPr lang="en-US" sz="820" dirty="0"/>
          </a:p>
        </p:txBody>
      </p:sp>
      <p:sp>
        <p:nvSpPr>
          <p:cNvPr id="22" name="Text 20"/>
          <p:cNvSpPr/>
          <p:nvPr/>
        </p:nvSpPr>
        <p:spPr>
          <a:xfrm>
            <a:off x="1673352" y="2340864"/>
            <a:ext cx="7077456" cy="182880"/>
          </a:xfrm>
          <a:prstGeom prst="rect">
            <a:avLst/>
          </a:prstGeom>
          <a:noFill/>
          <a:ln/>
        </p:spPr>
        <p:txBody>
          <a:bodyPr wrap="square" rtlCol="0" anchor="ctr"/>
          <a:lstStyle/>
          <a:p>
            <a:pPr marL="0" indent="0">
              <a:buNone/>
            </a:pPr>
            <a:r>
              <a:rPr lang="en-US" sz="820" dirty="0">
                <a:solidFill>
                  <a:srgbClr val="1A1A2E"/>
                </a:solidFill>
                <a:latin typeface="Calibri" pitchFamily="34" charset="0"/>
                <a:ea typeface="Calibri" pitchFamily="34" charset="-122"/>
                <a:cs typeface="Calibri" pitchFamily="34" charset="-120"/>
              </a:rPr>
              <a:t>✔  Transfer learning with VGG16/ResNet50; TensorFlow Keras advanced optimization</a:t>
            </a:r>
            <a:endParaRPr lang="en-US" sz="820" dirty="0"/>
          </a:p>
        </p:txBody>
      </p:sp>
      <p:sp>
        <p:nvSpPr>
          <p:cNvPr id="23" name="Shape 21"/>
          <p:cNvSpPr/>
          <p:nvPr/>
        </p:nvSpPr>
        <p:spPr>
          <a:xfrm>
            <a:off x="320040" y="2633472"/>
            <a:ext cx="8503920" cy="1024128"/>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24" name="Shape 22"/>
          <p:cNvSpPr/>
          <p:nvPr/>
        </p:nvSpPr>
        <p:spPr>
          <a:xfrm>
            <a:off x="320040" y="2633472"/>
            <a:ext cx="1280160" cy="1024128"/>
          </a:xfrm>
          <a:prstGeom prst="rect">
            <a:avLst/>
          </a:prstGeom>
          <a:solidFill>
            <a:srgbClr val="0D9488"/>
          </a:solidFill>
          <a:ln w="12700">
            <a:solidFill>
              <a:srgbClr val="0D9488"/>
            </a:solidFill>
            <a:prstDash val="solid"/>
          </a:ln>
        </p:spPr>
      </p:sp>
      <p:sp>
        <p:nvSpPr>
          <p:cNvPr id="25" name="Text 23"/>
          <p:cNvSpPr/>
          <p:nvPr/>
        </p:nvSpPr>
        <p:spPr>
          <a:xfrm>
            <a:off x="320040" y="2633472"/>
            <a:ext cx="1280160" cy="548640"/>
          </a:xfrm>
          <a:prstGeom prst="rect">
            <a:avLst/>
          </a:prstGeom>
          <a:noFill/>
          <a:ln/>
        </p:spPr>
        <p:txBody>
          <a:bodyPr wrap="square" rtlCol="0" anchor="ctr"/>
          <a:lstStyle/>
          <a:p>
            <a:pPr marL="0" indent="0" algn="ctr">
              <a:buNone/>
            </a:pPr>
            <a:r>
              <a:rPr lang="en-US" sz="950" b="1" dirty="0">
                <a:solidFill>
                  <a:srgbClr val="1A1A2E"/>
                </a:solidFill>
                <a:latin typeface="Calibri" pitchFamily="34" charset="0"/>
                <a:ea typeface="Calibri" pitchFamily="34" charset="-122"/>
                <a:cs typeface="Calibri" pitchFamily="34" charset="-120"/>
              </a:rPr>
              <a:t>Phase 5</a:t>
            </a:r>
            <a:endParaRPr lang="en-US" sz="950" dirty="0"/>
          </a:p>
          <a:p>
            <a:pPr marL="0" indent="0" algn="ctr">
              <a:buNone/>
            </a:pPr>
            <a:r>
              <a:rPr lang="en-US" sz="950" b="1" dirty="0">
                <a:solidFill>
                  <a:srgbClr val="1A1A2E"/>
                </a:solidFill>
                <a:latin typeface="Calibri" pitchFamily="34" charset="0"/>
                <a:ea typeface="Calibri" pitchFamily="34" charset="-122"/>
                <a:cs typeface="Calibri" pitchFamily="34" charset="-120"/>
              </a:rPr>
              <a:t>Week 11</a:t>
            </a:r>
            <a:endParaRPr lang="en-US" sz="950" dirty="0"/>
          </a:p>
        </p:txBody>
      </p:sp>
      <p:sp>
        <p:nvSpPr>
          <p:cNvPr id="26" name="Text 24"/>
          <p:cNvSpPr/>
          <p:nvPr/>
        </p:nvSpPr>
        <p:spPr>
          <a:xfrm>
            <a:off x="320040" y="3200400"/>
            <a:ext cx="1280160" cy="457200"/>
          </a:xfrm>
          <a:prstGeom prst="rect">
            <a:avLst/>
          </a:prstGeom>
          <a:noFill/>
          <a:ln/>
        </p:spPr>
        <p:txBody>
          <a:bodyPr wrap="square" rtlCol="0" anchor="ctr"/>
          <a:lstStyle/>
          <a:p>
            <a:pPr marL="0" indent="0" algn="ctr">
              <a:buNone/>
            </a:pPr>
            <a:r>
              <a:rPr lang="en-US" sz="900" b="1" dirty="0">
                <a:solidFill>
                  <a:srgbClr val="1A1A2E"/>
                </a:solidFill>
                <a:latin typeface="Calibri" pitchFamily="34" charset="0"/>
                <a:ea typeface="Calibri" pitchFamily="34" charset="-122"/>
                <a:cs typeface="Calibri" pitchFamily="34" charset="-120"/>
              </a:rPr>
              <a:t>✓ DONE</a:t>
            </a:r>
            <a:endParaRPr lang="en-US" sz="900" dirty="0"/>
          </a:p>
        </p:txBody>
      </p:sp>
      <p:sp>
        <p:nvSpPr>
          <p:cNvPr id="27" name="Text 25"/>
          <p:cNvSpPr/>
          <p:nvPr/>
        </p:nvSpPr>
        <p:spPr>
          <a:xfrm>
            <a:off x="1673352" y="2679192"/>
            <a:ext cx="7077456" cy="219456"/>
          </a:xfrm>
          <a:prstGeom prst="rect">
            <a:avLst/>
          </a:prstGeom>
          <a:noFill/>
          <a:ln/>
        </p:spPr>
        <p:txBody>
          <a:bodyPr wrap="square" lIns="0" tIns="0" rIns="0" bIns="0" rtlCol="0" anchor="ctr"/>
          <a:lstStyle/>
          <a:p>
            <a:pPr marL="0" indent="0">
              <a:buNone/>
            </a:pPr>
            <a:r>
              <a:rPr lang="en-US" sz="1000" b="1" dirty="0">
                <a:solidFill>
                  <a:srgbClr val="1A1A2E"/>
                </a:solidFill>
                <a:latin typeface="Calibri" pitchFamily="34" charset="0"/>
                <a:ea typeface="Calibri" pitchFamily="34" charset="-122"/>
                <a:cs typeface="Calibri" pitchFamily="34" charset="-120"/>
              </a:rPr>
              <a:t>Advanced Azure Topics, Optimization &amp; Program Completion Session</a:t>
            </a:r>
            <a:endParaRPr lang="en-US" sz="1000" dirty="0"/>
          </a:p>
        </p:txBody>
      </p:sp>
      <p:sp>
        <p:nvSpPr>
          <p:cNvPr id="28" name="Text 26"/>
          <p:cNvSpPr/>
          <p:nvPr/>
        </p:nvSpPr>
        <p:spPr>
          <a:xfrm>
            <a:off x="1673352" y="2907792"/>
            <a:ext cx="7077456" cy="182880"/>
          </a:xfrm>
          <a:prstGeom prst="rect">
            <a:avLst/>
          </a:prstGeom>
          <a:noFill/>
          <a:ln/>
        </p:spPr>
        <p:txBody>
          <a:bodyPr wrap="square" rtlCol="0" anchor="ctr"/>
          <a:lstStyle/>
          <a:p>
            <a:pPr marL="0" indent="0">
              <a:buNone/>
            </a:pPr>
            <a:r>
              <a:rPr lang="en-US" sz="820" dirty="0">
                <a:solidFill>
                  <a:srgbClr val="1A1A2E"/>
                </a:solidFill>
                <a:latin typeface="Calibri" pitchFamily="34" charset="0"/>
                <a:ea typeface="Calibri" pitchFamily="34" charset="-122"/>
                <a:cs typeface="Calibri" pitchFamily="34" charset="-120"/>
              </a:rPr>
              <a:t>✔  Azure cost management, performance tuning &amp; advanced architectural patterns</a:t>
            </a:r>
            <a:endParaRPr lang="en-US" sz="820" dirty="0"/>
          </a:p>
        </p:txBody>
      </p:sp>
      <p:sp>
        <p:nvSpPr>
          <p:cNvPr id="29" name="Text 27"/>
          <p:cNvSpPr/>
          <p:nvPr/>
        </p:nvSpPr>
        <p:spPr>
          <a:xfrm>
            <a:off x="1673352" y="3090672"/>
            <a:ext cx="7077456" cy="182880"/>
          </a:xfrm>
          <a:prstGeom prst="rect">
            <a:avLst/>
          </a:prstGeom>
          <a:noFill/>
          <a:ln/>
        </p:spPr>
        <p:txBody>
          <a:bodyPr wrap="square" rtlCol="0" anchor="ctr"/>
          <a:lstStyle/>
          <a:p>
            <a:pPr marL="0" indent="0">
              <a:buNone/>
            </a:pPr>
            <a:r>
              <a:rPr lang="en-US" sz="820" dirty="0">
                <a:solidFill>
                  <a:srgbClr val="1A1A2E"/>
                </a:solidFill>
                <a:latin typeface="Calibri" pitchFamily="34" charset="0"/>
                <a:ea typeface="Calibri" pitchFamily="34" charset="-122"/>
                <a:cs typeface="Calibri" pitchFamily="34" charset="-120"/>
              </a:rPr>
              <a:t>✔  Program retrospective: Data Analytics → ML → DL → Azure Cloud end-to-end review</a:t>
            </a:r>
            <a:endParaRPr lang="en-US" sz="820" dirty="0"/>
          </a:p>
        </p:txBody>
      </p:sp>
      <p:sp>
        <p:nvSpPr>
          <p:cNvPr id="30" name="Text 28"/>
          <p:cNvSpPr/>
          <p:nvPr/>
        </p:nvSpPr>
        <p:spPr>
          <a:xfrm>
            <a:off x="1673352" y="3273552"/>
            <a:ext cx="7077456" cy="182880"/>
          </a:xfrm>
          <a:prstGeom prst="rect">
            <a:avLst/>
          </a:prstGeom>
          <a:noFill/>
          <a:ln/>
        </p:spPr>
        <p:txBody>
          <a:bodyPr wrap="square" rtlCol="0" anchor="ctr"/>
          <a:lstStyle/>
          <a:p>
            <a:pPr marL="0" indent="0">
              <a:buNone/>
            </a:pPr>
            <a:r>
              <a:rPr lang="en-US" sz="820" dirty="0">
                <a:solidFill>
                  <a:srgbClr val="1A1A2E"/>
                </a:solidFill>
                <a:latin typeface="Calibri" pitchFamily="34" charset="0"/>
                <a:ea typeface="Calibri" pitchFamily="34" charset="-122"/>
                <a:cs typeface="Calibri" pitchFamily="34" charset="-120"/>
              </a:rPr>
              <a:t>✔  Career guidance: Azure certifications roadmap (AZ-104, AI-900, DP-900)</a:t>
            </a:r>
            <a:endParaRPr lang="en-US" sz="820" dirty="0"/>
          </a:p>
        </p:txBody>
      </p:sp>
      <p:sp>
        <p:nvSpPr>
          <p:cNvPr id="31" name="Text 29"/>
          <p:cNvSpPr/>
          <p:nvPr/>
        </p:nvSpPr>
        <p:spPr>
          <a:xfrm>
            <a:off x="1673352" y="3456432"/>
            <a:ext cx="7077456" cy="182880"/>
          </a:xfrm>
          <a:prstGeom prst="rect">
            <a:avLst/>
          </a:prstGeom>
          <a:noFill/>
          <a:ln/>
        </p:spPr>
        <p:txBody>
          <a:bodyPr wrap="square" rtlCol="0" anchor="ctr"/>
          <a:lstStyle/>
          <a:p>
            <a:pPr marL="0" indent="0">
              <a:buNone/>
            </a:pPr>
            <a:r>
              <a:rPr lang="en-US" sz="820" dirty="0">
                <a:solidFill>
                  <a:srgbClr val="1A1A2E"/>
                </a:solidFill>
                <a:latin typeface="Calibri" pitchFamily="34" charset="0"/>
                <a:ea typeface="Calibri" pitchFamily="34" charset="-122"/>
                <a:cs typeface="Calibri" pitchFamily="34" charset="-120"/>
              </a:rPr>
              <a:t>✔  Interview prep &amp; resume tips: highlighting Azure, ML/DL projects &amp; certifications</a:t>
            </a:r>
            <a:endParaRPr lang="en-US" sz="820" dirty="0"/>
          </a:p>
        </p:txBody>
      </p:sp>
      <p:sp>
        <p:nvSpPr>
          <p:cNvPr id="32" name="Shape 30"/>
          <p:cNvSpPr/>
          <p:nvPr/>
        </p:nvSpPr>
        <p:spPr>
          <a:xfrm>
            <a:off x="320040" y="3749040"/>
            <a:ext cx="8503920" cy="1024128"/>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33" name="Shape 31"/>
          <p:cNvSpPr/>
          <p:nvPr/>
        </p:nvSpPr>
        <p:spPr>
          <a:xfrm>
            <a:off x="320040" y="3749040"/>
            <a:ext cx="1280160" cy="1024128"/>
          </a:xfrm>
          <a:prstGeom prst="rect">
            <a:avLst/>
          </a:prstGeom>
          <a:solidFill>
            <a:srgbClr val="7C3AED"/>
          </a:solidFill>
          <a:ln w="12700">
            <a:solidFill>
              <a:srgbClr val="7C3AED"/>
            </a:solidFill>
            <a:prstDash val="solid"/>
          </a:ln>
        </p:spPr>
      </p:sp>
      <p:sp>
        <p:nvSpPr>
          <p:cNvPr id="34" name="Text 32"/>
          <p:cNvSpPr/>
          <p:nvPr/>
        </p:nvSpPr>
        <p:spPr>
          <a:xfrm>
            <a:off x="320040" y="3749040"/>
            <a:ext cx="1280160" cy="548640"/>
          </a:xfrm>
          <a:prstGeom prst="rect">
            <a:avLst/>
          </a:prstGeom>
          <a:noFill/>
          <a:ln/>
        </p:spPr>
        <p:txBody>
          <a:bodyPr wrap="square" rtlCol="0" anchor="ctr"/>
          <a:lstStyle/>
          <a:p>
            <a:pPr marL="0" indent="0" algn="ctr">
              <a:buNone/>
            </a:pPr>
            <a:r>
              <a:rPr lang="en-US" sz="950" b="1" dirty="0">
                <a:solidFill>
                  <a:srgbClr val="1A1A2E"/>
                </a:solidFill>
                <a:latin typeface="Calibri" pitchFamily="34" charset="0"/>
                <a:ea typeface="Calibri" pitchFamily="34" charset="-122"/>
                <a:cs typeface="Calibri" pitchFamily="34" charset="-120"/>
              </a:rPr>
              <a:t>Phase 6</a:t>
            </a:r>
            <a:endParaRPr lang="en-US" sz="950" dirty="0"/>
          </a:p>
          <a:p>
            <a:pPr marL="0" indent="0" algn="ctr">
              <a:buNone/>
            </a:pPr>
            <a:r>
              <a:rPr lang="en-US" sz="950" b="1" dirty="0">
                <a:solidFill>
                  <a:srgbClr val="1A1A2E"/>
                </a:solidFill>
                <a:latin typeface="Calibri" pitchFamily="34" charset="0"/>
                <a:ea typeface="Calibri" pitchFamily="34" charset="-122"/>
                <a:cs typeface="Calibri" pitchFamily="34" charset="-120"/>
              </a:rPr>
              <a:t>Week 12</a:t>
            </a:r>
            <a:endParaRPr lang="en-US" sz="950" dirty="0"/>
          </a:p>
        </p:txBody>
      </p:sp>
      <p:sp>
        <p:nvSpPr>
          <p:cNvPr id="35" name="Text 33"/>
          <p:cNvSpPr/>
          <p:nvPr/>
        </p:nvSpPr>
        <p:spPr>
          <a:xfrm>
            <a:off x="320040" y="4315968"/>
            <a:ext cx="1280160" cy="457200"/>
          </a:xfrm>
          <a:prstGeom prst="rect">
            <a:avLst/>
          </a:prstGeom>
          <a:noFill/>
          <a:ln/>
        </p:spPr>
        <p:txBody>
          <a:bodyPr wrap="square" rtlCol="0" anchor="ctr"/>
          <a:lstStyle/>
          <a:p>
            <a:pPr marL="0" indent="0" algn="ctr">
              <a:buNone/>
            </a:pPr>
            <a:r>
              <a:rPr lang="en-US" sz="900" b="1" dirty="0">
                <a:solidFill>
                  <a:srgbClr val="1A1A2E"/>
                </a:solidFill>
                <a:latin typeface="Calibri" pitchFamily="34" charset="0"/>
                <a:ea typeface="Calibri" pitchFamily="34" charset="-122"/>
                <a:cs typeface="Calibri" pitchFamily="34" charset="-120"/>
              </a:rPr>
              <a:t>✓ DONE</a:t>
            </a:r>
            <a:endParaRPr lang="en-US" sz="900" dirty="0"/>
          </a:p>
        </p:txBody>
      </p:sp>
      <p:sp>
        <p:nvSpPr>
          <p:cNvPr id="36" name="Text 34"/>
          <p:cNvSpPr/>
          <p:nvPr/>
        </p:nvSpPr>
        <p:spPr>
          <a:xfrm>
            <a:off x="1673352" y="3794760"/>
            <a:ext cx="7077456" cy="219456"/>
          </a:xfrm>
          <a:prstGeom prst="rect">
            <a:avLst/>
          </a:prstGeom>
          <a:noFill/>
          <a:ln/>
        </p:spPr>
        <p:txBody>
          <a:bodyPr wrap="square" lIns="0" tIns="0" rIns="0" bIns="0" rtlCol="0" anchor="ctr"/>
          <a:lstStyle/>
          <a:p>
            <a:pPr marL="0" indent="0">
              <a:buNone/>
            </a:pPr>
            <a:r>
              <a:rPr lang="en-US" sz="1000" b="1" dirty="0">
                <a:solidFill>
                  <a:srgbClr val="1A1A2E"/>
                </a:solidFill>
                <a:latin typeface="Calibri" pitchFamily="34" charset="0"/>
                <a:ea typeface="Calibri" pitchFamily="34" charset="-122"/>
                <a:cs typeface="Calibri" pitchFamily="34" charset="-120"/>
              </a:rPr>
              <a:t>Final Internship Presentation, Live Demo &amp; AZ-900 Certification</a:t>
            </a:r>
            <a:endParaRPr lang="en-US" sz="1000" dirty="0"/>
          </a:p>
        </p:txBody>
      </p:sp>
      <p:sp>
        <p:nvSpPr>
          <p:cNvPr id="37" name="Text 35"/>
          <p:cNvSpPr/>
          <p:nvPr/>
        </p:nvSpPr>
        <p:spPr>
          <a:xfrm>
            <a:off x="1673352" y="4023360"/>
            <a:ext cx="7077456" cy="182880"/>
          </a:xfrm>
          <a:prstGeom prst="rect">
            <a:avLst/>
          </a:prstGeom>
          <a:noFill/>
          <a:ln/>
        </p:spPr>
        <p:txBody>
          <a:bodyPr wrap="square" rtlCol="0" anchor="ctr"/>
          <a:lstStyle/>
          <a:p>
            <a:pPr marL="0" indent="0">
              <a:buNone/>
            </a:pPr>
            <a:r>
              <a:rPr lang="en-US" sz="820" dirty="0">
                <a:solidFill>
                  <a:srgbClr val="1A1A2E"/>
                </a:solidFill>
                <a:latin typeface="Calibri" pitchFamily="34" charset="0"/>
                <a:ea typeface="Calibri" pitchFamily="34" charset="-122"/>
                <a:cs typeface="Calibri" pitchFamily="34" charset="-120"/>
              </a:rPr>
              <a:t>✔  Delivered final presentation to MS Elevate evaluation panel on April 15, 2026</a:t>
            </a:r>
            <a:endParaRPr lang="en-US" sz="820" dirty="0"/>
          </a:p>
        </p:txBody>
      </p:sp>
      <p:sp>
        <p:nvSpPr>
          <p:cNvPr id="38" name="Text 36"/>
          <p:cNvSpPr/>
          <p:nvPr/>
        </p:nvSpPr>
        <p:spPr>
          <a:xfrm>
            <a:off x="1673352" y="4206240"/>
            <a:ext cx="7077456" cy="182880"/>
          </a:xfrm>
          <a:prstGeom prst="rect">
            <a:avLst/>
          </a:prstGeom>
          <a:noFill/>
          <a:ln/>
        </p:spPr>
        <p:txBody>
          <a:bodyPr wrap="square" rtlCol="0" anchor="ctr"/>
          <a:lstStyle/>
          <a:p>
            <a:pPr marL="0" indent="0">
              <a:buNone/>
            </a:pPr>
            <a:r>
              <a:rPr lang="en-US" sz="820" dirty="0">
                <a:solidFill>
                  <a:srgbClr val="1A1A2E"/>
                </a:solidFill>
                <a:latin typeface="Calibri" pitchFamily="34" charset="0"/>
                <a:ea typeface="Calibri" pitchFamily="34" charset="-122"/>
                <a:cs typeface="Calibri" pitchFamily="34" charset="-120"/>
              </a:rPr>
              <a:t>✔  Live demo: YOLOv8 surveillance pipeline — Azure Blob → Function → Cosmos DB → Power BI</a:t>
            </a:r>
            <a:endParaRPr lang="en-US" sz="820" dirty="0"/>
          </a:p>
        </p:txBody>
      </p:sp>
      <p:sp>
        <p:nvSpPr>
          <p:cNvPr id="39" name="Text 37"/>
          <p:cNvSpPr/>
          <p:nvPr/>
        </p:nvSpPr>
        <p:spPr>
          <a:xfrm>
            <a:off x="1673352" y="4389120"/>
            <a:ext cx="7077456" cy="182880"/>
          </a:xfrm>
          <a:prstGeom prst="rect">
            <a:avLst/>
          </a:prstGeom>
          <a:noFill/>
          <a:ln/>
        </p:spPr>
        <p:txBody>
          <a:bodyPr wrap="square" rtlCol="0" anchor="ctr"/>
          <a:lstStyle/>
          <a:p>
            <a:pPr marL="0" indent="0">
              <a:buNone/>
            </a:pPr>
            <a:r>
              <a:rPr lang="en-US" sz="820" dirty="0">
                <a:solidFill>
                  <a:srgbClr val="1A1A2E"/>
                </a:solidFill>
                <a:latin typeface="Calibri" pitchFamily="34" charset="0"/>
                <a:ea typeface="Calibri" pitchFamily="34" charset="-122"/>
                <a:cs typeface="Calibri" pitchFamily="34" charset="-120"/>
              </a:rPr>
              <a:t>✔  Microsoft Azure Fundamentals (AZ-900) certified — Score: 820/1000</a:t>
            </a:r>
            <a:endParaRPr lang="en-US" sz="820" dirty="0"/>
          </a:p>
        </p:txBody>
      </p:sp>
      <p:sp>
        <p:nvSpPr>
          <p:cNvPr id="40" name="Text 38"/>
          <p:cNvSpPr/>
          <p:nvPr/>
        </p:nvSpPr>
        <p:spPr>
          <a:xfrm>
            <a:off x="1673352" y="4572000"/>
            <a:ext cx="7077456" cy="182880"/>
          </a:xfrm>
          <a:prstGeom prst="rect">
            <a:avLst/>
          </a:prstGeom>
          <a:noFill/>
          <a:ln/>
        </p:spPr>
        <p:txBody>
          <a:bodyPr wrap="square" rtlCol="0" anchor="ctr"/>
          <a:lstStyle/>
          <a:p>
            <a:pPr marL="0" indent="0">
              <a:buNone/>
            </a:pPr>
            <a:r>
              <a:rPr lang="en-US" sz="820" dirty="0">
                <a:solidFill>
                  <a:srgbClr val="1A1A2E"/>
                </a:solidFill>
                <a:latin typeface="Calibri" pitchFamily="34" charset="0"/>
                <a:ea typeface="Calibri" pitchFamily="34" charset="-122"/>
                <a:cs typeface="Calibri" pitchFamily="34" charset="-120"/>
              </a:rPr>
              <a:t>✔  Skills summary: Python, Power BI, ML/DL, Azure, DevOps — internship complete</a:t>
            </a:r>
            <a:endParaRPr lang="en-US" sz="8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01F5F"/>
          </a:solidFill>
          <a:ln w="12700">
            <a:solidFill>
              <a:srgbClr val="FFFFFF"/>
            </a:solidFill>
            <a:prstDash val="solid"/>
          </a:ln>
        </p:spPr>
      </p:sp>
      <p:sp>
        <p:nvSpPr>
          <p:cNvPr id="3" name="Shape 1"/>
          <p:cNvSpPr/>
          <p:nvPr/>
        </p:nvSpPr>
        <p:spPr>
          <a:xfrm>
            <a:off x="0" y="621792"/>
            <a:ext cx="9144000" cy="50292"/>
          </a:xfrm>
          <a:prstGeom prst="rect">
            <a:avLst/>
          </a:prstGeom>
          <a:solidFill>
            <a:srgbClr val="1E8449"/>
          </a:solidFill>
          <a:ln w="12700">
            <a:solidFill>
              <a:srgbClr val="1E8449"/>
            </a:solidFill>
            <a:prstDash val="solid"/>
          </a:ln>
        </p:spPr>
      </p:sp>
      <p:sp>
        <p:nvSpPr>
          <p:cNvPr id="4" name="Text 2"/>
          <p:cNvSpPr/>
          <p:nvPr/>
        </p:nvSpPr>
        <p:spPr>
          <a:xfrm>
            <a:off x="292608" y="45720"/>
            <a:ext cx="7498080" cy="54864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Tools &amp; Technologies Used</a:t>
            </a:r>
            <a:endParaRPr lang="en-US" sz="1900" dirty="0"/>
          </a:p>
        </p:txBody>
      </p:sp>
      <p:sp>
        <p:nvSpPr>
          <p:cNvPr id="5" name="Shape 3"/>
          <p:cNvSpPr/>
          <p:nvPr/>
        </p:nvSpPr>
        <p:spPr>
          <a:xfrm>
            <a:off x="7818120" y="82296"/>
            <a:ext cx="1234440" cy="457200"/>
          </a:xfrm>
          <a:prstGeom prst="rect">
            <a:avLst/>
          </a:prstGeom>
          <a:solidFill>
            <a:srgbClr val="E8EFF8"/>
          </a:solidFill>
          <a:ln w="12700">
            <a:solidFill>
              <a:srgbClr val="1D4ED8"/>
            </a:solidFill>
            <a:prstDash val="solid"/>
          </a:ln>
        </p:spPr>
      </p:sp>
      <p:sp>
        <p:nvSpPr>
          <p:cNvPr id="6" name="Text 4"/>
          <p:cNvSpPr/>
          <p:nvPr/>
        </p:nvSpPr>
        <p:spPr>
          <a:xfrm>
            <a:off x="7818120" y="82296"/>
            <a:ext cx="1234440" cy="457200"/>
          </a:xfrm>
          <a:prstGeom prst="rect">
            <a:avLst/>
          </a:prstGeom>
          <a:noFill/>
          <a:ln/>
        </p:spPr>
        <p:txBody>
          <a:bodyPr wrap="square" rtlCol="0" anchor="ctr"/>
          <a:lstStyle/>
          <a:p>
            <a:pPr marL="0" indent="0" algn="ctr">
              <a:buNone/>
            </a:pPr>
            <a:r>
              <a:rPr lang="en-US" sz="700" b="1" dirty="0">
                <a:solidFill>
                  <a:srgbClr val="1D4ED8"/>
                </a:solidFill>
                <a:latin typeface="Calibri" pitchFamily="34" charset="0"/>
                <a:ea typeface="Calibri" pitchFamily="34" charset="-122"/>
                <a:cs typeface="Calibri" pitchFamily="34" charset="-120"/>
              </a:rPr>
              <a:t>Microsoft</a:t>
            </a:r>
            <a:endParaRPr lang="en-US" sz="700" dirty="0"/>
          </a:p>
          <a:p>
            <a:pPr marL="0" indent="0" algn="ctr">
              <a:buNone/>
            </a:pPr>
            <a:r>
              <a:rPr lang="en-US" sz="700" b="1" dirty="0">
                <a:solidFill>
                  <a:srgbClr val="1D4ED8"/>
                </a:solidFill>
                <a:latin typeface="Calibri" pitchFamily="34" charset="0"/>
                <a:ea typeface="Calibri" pitchFamily="34" charset="-122"/>
                <a:cs typeface="Calibri" pitchFamily="34" charset="-120"/>
              </a:rPr>
              <a:t>Elevate GTU</a:t>
            </a:r>
            <a:endParaRPr lang="en-US" sz="700" dirty="0"/>
          </a:p>
        </p:txBody>
      </p:sp>
      <p:sp>
        <p:nvSpPr>
          <p:cNvPr id="7" name="Shape 5"/>
          <p:cNvSpPr/>
          <p:nvPr/>
        </p:nvSpPr>
        <p:spPr>
          <a:xfrm>
            <a:off x="0" y="4873752"/>
            <a:ext cx="9144000" cy="50292"/>
          </a:xfrm>
          <a:prstGeom prst="rect">
            <a:avLst/>
          </a:prstGeom>
          <a:solidFill>
            <a:srgbClr val="1E8449"/>
          </a:solidFill>
          <a:ln w="12700">
            <a:solidFill>
              <a:srgbClr val="1E8449"/>
            </a:solidFill>
            <a:prstDash val="solid"/>
          </a:ln>
        </p:spPr>
      </p:sp>
      <p:sp>
        <p:nvSpPr>
          <p:cNvPr id="8" name="Shape 6"/>
          <p:cNvSpPr/>
          <p:nvPr/>
        </p:nvSpPr>
        <p:spPr>
          <a:xfrm>
            <a:off x="0" y="4924044"/>
            <a:ext cx="9144000" cy="219456"/>
          </a:xfrm>
          <a:prstGeom prst="rect">
            <a:avLst/>
          </a:prstGeom>
          <a:solidFill>
            <a:srgbClr val="FFFFFF"/>
          </a:solidFill>
          <a:ln w="12700">
            <a:solidFill>
              <a:srgbClr val="FFFFFF"/>
            </a:solidFill>
            <a:prstDash val="solid"/>
          </a:ln>
        </p:spPr>
      </p:sp>
      <p:sp>
        <p:nvSpPr>
          <p:cNvPr id="9" name="Text 7"/>
          <p:cNvSpPr/>
          <p:nvPr/>
        </p:nvSpPr>
        <p:spPr>
          <a:xfrm>
            <a:off x="228600" y="4924044"/>
            <a:ext cx="8046720" cy="219456"/>
          </a:xfrm>
          <a:prstGeom prst="rect">
            <a:avLst/>
          </a:prstGeom>
          <a:noFill/>
          <a:ln/>
        </p:spPr>
        <p:txBody>
          <a:bodyPr wrap="square" lIns="0" tIns="0" rIns="0" bIns="0" rtlCol="0" anchor="ctr"/>
          <a:lstStyle/>
          <a:p>
            <a:pPr marL="0" indent="0">
              <a:buNone/>
            </a:pPr>
            <a:r>
              <a:rPr lang="en-US" sz="650" dirty="0">
                <a:solidFill>
                  <a:srgbClr val="7B9ABF"/>
                </a:solidFill>
                <a:latin typeface="Calibri" pitchFamily="34" charset="0"/>
                <a:ea typeface="Calibri" pitchFamily="34" charset="-122"/>
                <a:cs typeface="Calibri" pitchFamily="34" charset="-120"/>
              </a:rPr>
              <a:t>Microsoft Elevate Internship Project  |  Healthcare &amp; Medication Management System  |  GTU Jan–Apr 2026</a:t>
            </a:r>
            <a:endParaRPr lang="en-US" sz="650" dirty="0"/>
          </a:p>
        </p:txBody>
      </p:sp>
      <p:sp>
        <p:nvSpPr>
          <p:cNvPr id="10" name="Text 8"/>
          <p:cNvSpPr/>
          <p:nvPr/>
        </p:nvSpPr>
        <p:spPr>
          <a:xfrm>
            <a:off x="8275320" y="4924044"/>
            <a:ext cx="731520" cy="219456"/>
          </a:xfrm>
          <a:prstGeom prst="rect">
            <a:avLst/>
          </a:prstGeom>
          <a:noFill/>
          <a:ln/>
        </p:spPr>
        <p:txBody>
          <a:bodyPr wrap="square" lIns="0" tIns="0" rIns="0" bIns="0" rtlCol="0" anchor="ctr"/>
          <a:lstStyle/>
          <a:p>
            <a:pPr marL="0" indent="0" algn="r">
              <a:buNone/>
            </a:pPr>
            <a:r>
              <a:rPr lang="en-US" sz="700" b="1" dirty="0">
                <a:solidFill>
                  <a:srgbClr val="1A1A2E"/>
                </a:solidFill>
                <a:latin typeface="Calibri" pitchFamily="34" charset="0"/>
                <a:ea typeface="Calibri" pitchFamily="34" charset="-122"/>
                <a:cs typeface="Calibri" pitchFamily="34" charset="-120"/>
              </a:rPr>
              <a:t>16 / 21</a:t>
            </a:r>
            <a:endParaRPr lang="en-US" sz="700" dirty="0"/>
          </a:p>
        </p:txBody>
      </p:sp>
      <p:sp>
        <p:nvSpPr>
          <p:cNvPr id="11" name="Text 9"/>
          <p:cNvSpPr/>
          <p:nvPr/>
        </p:nvSpPr>
        <p:spPr>
          <a:xfrm>
            <a:off x="320040" y="777240"/>
            <a:ext cx="8503920" cy="274320"/>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Complete Technology Ecosystem</a:t>
            </a:r>
            <a:endParaRPr lang="en-US" sz="1300" dirty="0"/>
          </a:p>
        </p:txBody>
      </p:sp>
      <p:sp>
        <p:nvSpPr>
          <p:cNvPr id="12" name="Shape 10"/>
          <p:cNvSpPr/>
          <p:nvPr/>
        </p:nvSpPr>
        <p:spPr>
          <a:xfrm>
            <a:off x="320040" y="1078992"/>
            <a:ext cx="2816352" cy="1188720"/>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13" name="Shape 11"/>
          <p:cNvSpPr/>
          <p:nvPr/>
        </p:nvSpPr>
        <p:spPr>
          <a:xfrm>
            <a:off x="320040" y="1078992"/>
            <a:ext cx="2816352" cy="274320"/>
          </a:xfrm>
          <a:prstGeom prst="rect">
            <a:avLst/>
          </a:prstGeom>
          <a:solidFill>
            <a:srgbClr val="1D4ED8"/>
          </a:solidFill>
          <a:ln w="12700">
            <a:solidFill>
              <a:srgbClr val="1D4ED8"/>
            </a:solidFill>
            <a:prstDash val="solid"/>
          </a:ln>
        </p:spPr>
      </p:sp>
      <p:sp>
        <p:nvSpPr>
          <p:cNvPr id="14" name="Text 12"/>
          <p:cNvSpPr/>
          <p:nvPr/>
        </p:nvSpPr>
        <p:spPr>
          <a:xfrm>
            <a:off x="393192" y="1115568"/>
            <a:ext cx="2670048" cy="219456"/>
          </a:xfrm>
          <a:prstGeom prst="rect">
            <a:avLst/>
          </a:prstGeom>
          <a:noFill/>
          <a:ln/>
        </p:spPr>
        <p:txBody>
          <a:bodyPr wrap="square" lIns="0" tIns="0" rIns="0" bIns="0" rtlCol="0" anchor="ctr"/>
          <a:lstStyle/>
          <a:p>
            <a:pPr marL="0" indent="0">
              <a:buNone/>
            </a:pPr>
            <a:r>
              <a:rPr lang="en-US" sz="900" b="1" dirty="0">
                <a:solidFill>
                  <a:srgbClr val="1A1A2E"/>
                </a:solidFill>
                <a:latin typeface="Calibri" pitchFamily="34" charset="0"/>
                <a:ea typeface="Calibri" pitchFamily="34" charset="-122"/>
                <a:cs typeface="Calibri" pitchFamily="34" charset="-120"/>
              </a:rPr>
              <a:t>Microsoft Power BI</a:t>
            </a:r>
            <a:endParaRPr lang="en-US" sz="900" dirty="0"/>
          </a:p>
        </p:txBody>
      </p:sp>
      <p:sp>
        <p:nvSpPr>
          <p:cNvPr id="15" name="Text 13"/>
          <p:cNvSpPr/>
          <p:nvPr/>
        </p:nvSpPr>
        <p:spPr>
          <a:xfrm>
            <a:off x="393192" y="1389888"/>
            <a:ext cx="2670048" cy="841248"/>
          </a:xfrm>
          <a:prstGeom prst="rect">
            <a:avLst/>
          </a:prstGeom>
          <a:noFill/>
          <a:ln/>
        </p:spPr>
        <p:txBody>
          <a:bodyPr wrap="square" rtlCol="0" anchor="t"/>
          <a:lstStyle/>
          <a:p>
            <a:pPr marL="0" indent="0">
              <a:buNone/>
            </a:pPr>
            <a:r>
              <a:rPr lang="en-US" sz="820" dirty="0">
                <a:solidFill>
                  <a:srgbClr val="1A1A2E"/>
                </a:solidFill>
                <a:latin typeface="Calibri" pitchFamily="34" charset="0"/>
                <a:ea typeface="Calibri" pitchFamily="34" charset="-122"/>
                <a:cs typeface="Calibri" pitchFamily="34" charset="-120"/>
              </a:rPr>
              <a:t>Interactive dashboards &amp; clinical KPI reporting. DAX-powered measures for medication adherence, readmission rates, and recovery time. Role-level security restricts data access by user role.</a:t>
            </a:r>
            <a:endParaRPr lang="en-US" sz="820" dirty="0"/>
          </a:p>
        </p:txBody>
      </p:sp>
      <p:sp>
        <p:nvSpPr>
          <p:cNvPr id="16" name="Shape 14"/>
          <p:cNvSpPr/>
          <p:nvPr/>
        </p:nvSpPr>
        <p:spPr>
          <a:xfrm>
            <a:off x="3264408" y="1078992"/>
            <a:ext cx="2816352" cy="1188720"/>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17" name="Shape 15"/>
          <p:cNvSpPr/>
          <p:nvPr/>
        </p:nvSpPr>
        <p:spPr>
          <a:xfrm>
            <a:off x="3264408" y="1078992"/>
            <a:ext cx="2816352" cy="274320"/>
          </a:xfrm>
          <a:prstGeom prst="rect">
            <a:avLst/>
          </a:prstGeom>
          <a:solidFill>
            <a:srgbClr val="0D9488"/>
          </a:solidFill>
          <a:ln w="12700">
            <a:solidFill>
              <a:srgbClr val="0D9488"/>
            </a:solidFill>
            <a:prstDash val="solid"/>
          </a:ln>
        </p:spPr>
      </p:sp>
      <p:sp>
        <p:nvSpPr>
          <p:cNvPr id="18" name="Text 16"/>
          <p:cNvSpPr/>
          <p:nvPr/>
        </p:nvSpPr>
        <p:spPr>
          <a:xfrm>
            <a:off x="3337560" y="1115568"/>
            <a:ext cx="2670048" cy="219456"/>
          </a:xfrm>
          <a:prstGeom prst="rect">
            <a:avLst/>
          </a:prstGeom>
          <a:noFill/>
          <a:ln/>
        </p:spPr>
        <p:txBody>
          <a:bodyPr wrap="square" lIns="0" tIns="0" rIns="0" bIns="0" rtlCol="0" anchor="ctr"/>
          <a:lstStyle/>
          <a:p>
            <a:pPr marL="0" indent="0">
              <a:buNone/>
            </a:pPr>
            <a:r>
              <a:rPr lang="en-US" sz="900" b="1" dirty="0">
                <a:solidFill>
                  <a:srgbClr val="1A1A2E"/>
                </a:solidFill>
                <a:latin typeface="Calibri" pitchFamily="34" charset="0"/>
                <a:ea typeface="Calibri" pitchFamily="34" charset="-122"/>
                <a:cs typeface="Calibri" pitchFamily="34" charset="-120"/>
              </a:rPr>
              <a:t>Python (Pandas / Scikit-learn)</a:t>
            </a:r>
            <a:endParaRPr lang="en-US" sz="900" dirty="0"/>
          </a:p>
        </p:txBody>
      </p:sp>
      <p:sp>
        <p:nvSpPr>
          <p:cNvPr id="19" name="Text 17"/>
          <p:cNvSpPr/>
          <p:nvPr/>
        </p:nvSpPr>
        <p:spPr>
          <a:xfrm>
            <a:off x="3337560" y="1389888"/>
            <a:ext cx="2670048" cy="841248"/>
          </a:xfrm>
          <a:prstGeom prst="rect">
            <a:avLst/>
          </a:prstGeom>
          <a:noFill/>
          <a:ln/>
        </p:spPr>
        <p:txBody>
          <a:bodyPr wrap="square" rtlCol="0" anchor="t"/>
          <a:lstStyle/>
          <a:p>
            <a:pPr marL="0" indent="0">
              <a:buNone/>
            </a:pPr>
            <a:r>
              <a:rPr lang="en-US" sz="820" dirty="0">
                <a:solidFill>
                  <a:srgbClr val="1A1A2E"/>
                </a:solidFill>
                <a:latin typeface="Calibri" pitchFamily="34" charset="0"/>
                <a:ea typeface="Calibri" pitchFamily="34" charset="-122"/>
                <a:cs typeface="Calibri" pitchFamily="34" charset="-120"/>
              </a:rPr>
              <a:t>Core data processing, EDA, and ML model development. Key libs: Pandas, NumPy, Matplotlib, Seaborn, Scikit-learn, Imbalanced-learn (SMOTE), SHAP for model explainability.</a:t>
            </a:r>
            <a:endParaRPr lang="en-US" sz="820" dirty="0"/>
          </a:p>
        </p:txBody>
      </p:sp>
      <p:sp>
        <p:nvSpPr>
          <p:cNvPr id="20" name="Shape 18"/>
          <p:cNvSpPr/>
          <p:nvPr/>
        </p:nvSpPr>
        <p:spPr>
          <a:xfrm>
            <a:off x="6208776" y="1078992"/>
            <a:ext cx="2816352" cy="1188720"/>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21" name="Shape 19"/>
          <p:cNvSpPr/>
          <p:nvPr/>
        </p:nvSpPr>
        <p:spPr>
          <a:xfrm>
            <a:off x="6208776" y="1078992"/>
            <a:ext cx="2816352" cy="274320"/>
          </a:xfrm>
          <a:prstGeom prst="rect">
            <a:avLst/>
          </a:prstGeom>
          <a:solidFill>
            <a:srgbClr val="1E8449"/>
          </a:solidFill>
          <a:ln w="12700">
            <a:solidFill>
              <a:srgbClr val="1E8449"/>
            </a:solidFill>
            <a:prstDash val="solid"/>
          </a:ln>
        </p:spPr>
      </p:sp>
      <p:sp>
        <p:nvSpPr>
          <p:cNvPr id="22" name="Text 20"/>
          <p:cNvSpPr/>
          <p:nvPr/>
        </p:nvSpPr>
        <p:spPr>
          <a:xfrm>
            <a:off x="6281928" y="1115568"/>
            <a:ext cx="2670048" cy="219456"/>
          </a:xfrm>
          <a:prstGeom prst="rect">
            <a:avLst/>
          </a:prstGeom>
          <a:noFill/>
          <a:ln/>
        </p:spPr>
        <p:txBody>
          <a:bodyPr wrap="square" lIns="0" tIns="0" rIns="0" bIns="0" rtlCol="0" anchor="ctr"/>
          <a:lstStyle/>
          <a:p>
            <a:pPr marL="0" indent="0">
              <a:buNone/>
            </a:pPr>
            <a:r>
              <a:rPr lang="en-US" sz="900" b="1" dirty="0">
                <a:solidFill>
                  <a:srgbClr val="1A1A2E"/>
                </a:solidFill>
                <a:latin typeface="Calibri" pitchFamily="34" charset="0"/>
                <a:ea typeface="Calibri" pitchFamily="34" charset="-122"/>
                <a:cs typeface="Calibri" pitchFamily="34" charset="-120"/>
              </a:rPr>
              <a:t>Microsoft Azure ML</a:t>
            </a:r>
            <a:endParaRPr lang="en-US" sz="900" dirty="0"/>
          </a:p>
        </p:txBody>
      </p:sp>
      <p:sp>
        <p:nvSpPr>
          <p:cNvPr id="23" name="Text 21"/>
          <p:cNvSpPr/>
          <p:nvPr/>
        </p:nvSpPr>
        <p:spPr>
          <a:xfrm>
            <a:off x="6281928" y="1389888"/>
            <a:ext cx="2670048" cy="841248"/>
          </a:xfrm>
          <a:prstGeom prst="rect">
            <a:avLst/>
          </a:prstGeom>
          <a:noFill/>
          <a:ln/>
        </p:spPr>
        <p:txBody>
          <a:bodyPr wrap="square" rtlCol="0" anchor="t"/>
          <a:lstStyle/>
          <a:p>
            <a:pPr marL="0" indent="0">
              <a:buNone/>
            </a:pPr>
            <a:r>
              <a:rPr lang="en-US" sz="820" dirty="0">
                <a:solidFill>
                  <a:srgbClr val="1A1A2E"/>
                </a:solidFill>
                <a:latin typeface="Calibri" pitchFamily="34" charset="0"/>
                <a:ea typeface="Calibri" pitchFamily="34" charset="-122"/>
                <a:cs typeface="Calibri" pitchFamily="34" charset="-120"/>
              </a:rPr>
              <a:t>Cloud AI model hosting, experiment tracking, AutoML, model registry, REST endpoint deployment, and batch scoring pipelines. Azure Blob Storage for dataset versioning.</a:t>
            </a:r>
            <a:endParaRPr lang="en-US" sz="820" dirty="0"/>
          </a:p>
        </p:txBody>
      </p:sp>
      <p:sp>
        <p:nvSpPr>
          <p:cNvPr id="24" name="Shape 22"/>
          <p:cNvSpPr/>
          <p:nvPr/>
        </p:nvSpPr>
        <p:spPr>
          <a:xfrm>
            <a:off x="320040" y="2359152"/>
            <a:ext cx="2816352" cy="1188720"/>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25" name="Shape 23"/>
          <p:cNvSpPr/>
          <p:nvPr/>
        </p:nvSpPr>
        <p:spPr>
          <a:xfrm>
            <a:off x="320040" y="2359152"/>
            <a:ext cx="2816352" cy="274320"/>
          </a:xfrm>
          <a:prstGeom prst="rect">
            <a:avLst/>
          </a:prstGeom>
          <a:solidFill>
            <a:srgbClr val="7C3AED"/>
          </a:solidFill>
          <a:ln w="12700">
            <a:solidFill>
              <a:srgbClr val="7C3AED"/>
            </a:solidFill>
            <a:prstDash val="solid"/>
          </a:ln>
        </p:spPr>
      </p:sp>
      <p:sp>
        <p:nvSpPr>
          <p:cNvPr id="26" name="Text 24"/>
          <p:cNvSpPr/>
          <p:nvPr/>
        </p:nvSpPr>
        <p:spPr>
          <a:xfrm>
            <a:off x="393192" y="2395728"/>
            <a:ext cx="2670048" cy="219456"/>
          </a:xfrm>
          <a:prstGeom prst="rect">
            <a:avLst/>
          </a:prstGeom>
          <a:noFill/>
          <a:ln/>
        </p:spPr>
        <p:txBody>
          <a:bodyPr wrap="square" lIns="0" tIns="0" rIns="0" bIns="0" rtlCol="0" anchor="ctr"/>
          <a:lstStyle/>
          <a:p>
            <a:pPr marL="0" indent="0">
              <a:buNone/>
            </a:pPr>
            <a:r>
              <a:rPr lang="en-US" sz="900" b="1" dirty="0">
                <a:solidFill>
                  <a:srgbClr val="1A1A2E"/>
                </a:solidFill>
                <a:latin typeface="Calibri" pitchFamily="34" charset="0"/>
                <a:ea typeface="Calibri" pitchFamily="34" charset="-122"/>
                <a:cs typeface="Calibri" pitchFamily="34" charset="-120"/>
              </a:rPr>
              <a:t>HL7 FHIR API</a:t>
            </a:r>
            <a:endParaRPr lang="en-US" sz="900" dirty="0"/>
          </a:p>
        </p:txBody>
      </p:sp>
      <p:sp>
        <p:nvSpPr>
          <p:cNvPr id="27" name="Text 25"/>
          <p:cNvSpPr/>
          <p:nvPr/>
        </p:nvSpPr>
        <p:spPr>
          <a:xfrm>
            <a:off x="393192" y="2670048"/>
            <a:ext cx="2670048" cy="841248"/>
          </a:xfrm>
          <a:prstGeom prst="rect">
            <a:avLst/>
          </a:prstGeom>
          <a:noFill/>
          <a:ln/>
        </p:spPr>
        <p:txBody>
          <a:bodyPr wrap="square" rtlCol="0" anchor="t"/>
          <a:lstStyle/>
          <a:p>
            <a:pPr marL="0" indent="0">
              <a:buNone/>
            </a:pPr>
            <a:r>
              <a:rPr lang="en-US" sz="820" dirty="0">
                <a:solidFill>
                  <a:srgbClr val="1A1A2E"/>
                </a:solidFill>
                <a:latin typeface="Calibri" pitchFamily="34" charset="0"/>
                <a:ea typeface="Calibri" pitchFamily="34" charset="-122"/>
                <a:cs typeface="Calibri" pitchFamily="34" charset="-120"/>
              </a:rPr>
              <a:t>Standardized EHR data exchange enabling interoperability across different hospital systems. Secure, unified access to patient demographics, medication lists, and lab results.</a:t>
            </a:r>
            <a:endParaRPr lang="en-US" sz="820" dirty="0"/>
          </a:p>
        </p:txBody>
      </p:sp>
      <p:sp>
        <p:nvSpPr>
          <p:cNvPr id="28" name="Shape 26"/>
          <p:cNvSpPr/>
          <p:nvPr/>
        </p:nvSpPr>
        <p:spPr>
          <a:xfrm>
            <a:off x="3264408" y="2359152"/>
            <a:ext cx="2816352" cy="1188720"/>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29" name="Shape 27"/>
          <p:cNvSpPr/>
          <p:nvPr/>
        </p:nvSpPr>
        <p:spPr>
          <a:xfrm>
            <a:off x="3264408" y="2359152"/>
            <a:ext cx="2816352" cy="274320"/>
          </a:xfrm>
          <a:prstGeom prst="rect">
            <a:avLst/>
          </a:prstGeom>
          <a:solidFill>
            <a:srgbClr val="D97706"/>
          </a:solidFill>
          <a:ln w="12700">
            <a:solidFill>
              <a:srgbClr val="D97706"/>
            </a:solidFill>
            <a:prstDash val="solid"/>
          </a:ln>
        </p:spPr>
      </p:sp>
      <p:sp>
        <p:nvSpPr>
          <p:cNvPr id="30" name="Text 28"/>
          <p:cNvSpPr/>
          <p:nvPr/>
        </p:nvSpPr>
        <p:spPr>
          <a:xfrm>
            <a:off x="3337560" y="2395728"/>
            <a:ext cx="2670048" cy="219456"/>
          </a:xfrm>
          <a:prstGeom prst="rect">
            <a:avLst/>
          </a:prstGeom>
          <a:noFill/>
          <a:ln/>
        </p:spPr>
        <p:txBody>
          <a:bodyPr wrap="square" lIns="0" tIns="0" rIns="0" bIns="0" rtlCol="0" anchor="ctr"/>
          <a:lstStyle/>
          <a:p>
            <a:pPr marL="0" indent="0">
              <a:buNone/>
            </a:pPr>
            <a:r>
              <a:rPr lang="en-US" sz="900" b="1" dirty="0">
                <a:solidFill>
                  <a:srgbClr val="1A1A2E"/>
                </a:solidFill>
                <a:latin typeface="Calibri" pitchFamily="34" charset="0"/>
                <a:ea typeface="Calibri" pitchFamily="34" charset="-122"/>
                <a:cs typeface="Calibri" pitchFamily="34" charset="-120"/>
              </a:rPr>
              <a:t>TensorFlow &amp; Keras</a:t>
            </a:r>
            <a:endParaRPr lang="en-US" sz="900" dirty="0"/>
          </a:p>
        </p:txBody>
      </p:sp>
      <p:sp>
        <p:nvSpPr>
          <p:cNvPr id="31" name="Text 29"/>
          <p:cNvSpPr/>
          <p:nvPr/>
        </p:nvSpPr>
        <p:spPr>
          <a:xfrm>
            <a:off x="3337560" y="2670048"/>
            <a:ext cx="2670048" cy="841248"/>
          </a:xfrm>
          <a:prstGeom prst="rect">
            <a:avLst/>
          </a:prstGeom>
          <a:noFill/>
          <a:ln/>
        </p:spPr>
        <p:txBody>
          <a:bodyPr wrap="square" rtlCol="0" anchor="t"/>
          <a:lstStyle/>
          <a:p>
            <a:pPr marL="0" indent="0">
              <a:buNone/>
            </a:pPr>
            <a:r>
              <a:rPr lang="en-US" sz="820" dirty="0">
                <a:solidFill>
                  <a:srgbClr val="1A1A2E"/>
                </a:solidFill>
                <a:latin typeface="Calibri" pitchFamily="34" charset="0"/>
                <a:ea typeface="Calibri" pitchFamily="34" charset="-122"/>
                <a:cs typeface="Calibri" pitchFamily="34" charset="-120"/>
              </a:rPr>
              <a:t>Deep learning for CNN medical image classification. Transfer learning with VGG16 pre-trained weights. Used for X-ray and MRI diagnostic support in the healthcare analytics platform.</a:t>
            </a:r>
            <a:endParaRPr lang="en-US" sz="820" dirty="0"/>
          </a:p>
        </p:txBody>
      </p:sp>
      <p:sp>
        <p:nvSpPr>
          <p:cNvPr id="32" name="Shape 30"/>
          <p:cNvSpPr/>
          <p:nvPr/>
        </p:nvSpPr>
        <p:spPr>
          <a:xfrm>
            <a:off x="6208776" y="2359152"/>
            <a:ext cx="2816352" cy="1188720"/>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33" name="Shape 31"/>
          <p:cNvSpPr/>
          <p:nvPr/>
        </p:nvSpPr>
        <p:spPr>
          <a:xfrm>
            <a:off x="6208776" y="2359152"/>
            <a:ext cx="2816352" cy="274320"/>
          </a:xfrm>
          <a:prstGeom prst="rect">
            <a:avLst/>
          </a:prstGeom>
          <a:solidFill>
            <a:srgbClr val="DC2626"/>
          </a:solidFill>
          <a:ln w="12700">
            <a:solidFill>
              <a:srgbClr val="DC2626"/>
            </a:solidFill>
            <a:prstDash val="solid"/>
          </a:ln>
        </p:spPr>
      </p:sp>
      <p:sp>
        <p:nvSpPr>
          <p:cNvPr id="34" name="Text 32"/>
          <p:cNvSpPr/>
          <p:nvPr/>
        </p:nvSpPr>
        <p:spPr>
          <a:xfrm>
            <a:off x="6281928" y="2395728"/>
            <a:ext cx="2670048" cy="219456"/>
          </a:xfrm>
          <a:prstGeom prst="rect">
            <a:avLst/>
          </a:prstGeom>
          <a:noFill/>
          <a:ln/>
        </p:spPr>
        <p:txBody>
          <a:bodyPr wrap="square" lIns="0" tIns="0" rIns="0" bIns="0" rtlCol="0" anchor="ctr"/>
          <a:lstStyle/>
          <a:p>
            <a:pPr marL="0" indent="0">
              <a:buNone/>
            </a:pPr>
            <a:r>
              <a:rPr lang="en-US" sz="900" b="1" dirty="0">
                <a:solidFill>
                  <a:srgbClr val="1A1A2E"/>
                </a:solidFill>
                <a:latin typeface="Calibri" pitchFamily="34" charset="0"/>
                <a:ea typeface="Calibri" pitchFamily="34" charset="-122"/>
                <a:cs typeface="Calibri" pitchFamily="34" charset="-120"/>
              </a:rPr>
              <a:t>Power Query &amp; DAX</a:t>
            </a:r>
            <a:endParaRPr lang="en-US" sz="900" dirty="0"/>
          </a:p>
        </p:txBody>
      </p:sp>
      <p:sp>
        <p:nvSpPr>
          <p:cNvPr id="35" name="Text 33"/>
          <p:cNvSpPr/>
          <p:nvPr/>
        </p:nvSpPr>
        <p:spPr>
          <a:xfrm>
            <a:off x="6281928" y="2670048"/>
            <a:ext cx="2670048" cy="841248"/>
          </a:xfrm>
          <a:prstGeom prst="rect">
            <a:avLst/>
          </a:prstGeom>
          <a:noFill/>
          <a:ln/>
        </p:spPr>
        <p:txBody>
          <a:bodyPr wrap="square" rtlCol="0" anchor="t"/>
          <a:lstStyle/>
          <a:p>
            <a:pPr marL="0" indent="0">
              <a:buNone/>
            </a:pPr>
            <a:r>
              <a:rPr lang="en-US" sz="820" dirty="0">
                <a:solidFill>
                  <a:srgbClr val="1A1A2E"/>
                </a:solidFill>
                <a:latin typeface="Calibri" pitchFamily="34" charset="0"/>
                <a:ea typeface="Calibri" pitchFamily="34" charset="-122"/>
                <a:cs typeface="Calibri" pitchFamily="34" charset="-120"/>
              </a:rPr>
              <a:t>ETL data transformation using M-language. DAX for complex calculated KPI columns, time-intelligence measures, running totals, and patient cohort analysis in Power BI.</a:t>
            </a:r>
            <a:endParaRPr lang="en-US" sz="820" dirty="0"/>
          </a:p>
        </p:txBody>
      </p:sp>
      <p:sp>
        <p:nvSpPr>
          <p:cNvPr id="36" name="Shape 34"/>
          <p:cNvSpPr/>
          <p:nvPr/>
        </p:nvSpPr>
        <p:spPr>
          <a:xfrm>
            <a:off x="320040" y="3639312"/>
            <a:ext cx="2816352" cy="1188720"/>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37" name="Shape 35"/>
          <p:cNvSpPr/>
          <p:nvPr/>
        </p:nvSpPr>
        <p:spPr>
          <a:xfrm>
            <a:off x="320040" y="3639312"/>
            <a:ext cx="2816352" cy="274320"/>
          </a:xfrm>
          <a:prstGeom prst="rect">
            <a:avLst/>
          </a:prstGeom>
          <a:solidFill>
            <a:srgbClr val="1D4ED8"/>
          </a:solidFill>
          <a:ln w="12700">
            <a:solidFill>
              <a:srgbClr val="1D4ED8"/>
            </a:solidFill>
            <a:prstDash val="solid"/>
          </a:ln>
        </p:spPr>
      </p:sp>
      <p:sp>
        <p:nvSpPr>
          <p:cNvPr id="38" name="Text 36"/>
          <p:cNvSpPr/>
          <p:nvPr/>
        </p:nvSpPr>
        <p:spPr>
          <a:xfrm>
            <a:off x="393192" y="3675888"/>
            <a:ext cx="2670048" cy="219456"/>
          </a:xfrm>
          <a:prstGeom prst="rect">
            <a:avLst/>
          </a:prstGeom>
          <a:noFill/>
          <a:ln/>
        </p:spPr>
        <p:txBody>
          <a:bodyPr wrap="square" lIns="0" tIns="0" rIns="0" bIns="0" rtlCol="0" anchor="ctr"/>
          <a:lstStyle/>
          <a:p>
            <a:pPr marL="0" indent="0">
              <a:buNone/>
            </a:pPr>
            <a:r>
              <a:rPr lang="en-US" sz="900" b="1" dirty="0">
                <a:solidFill>
                  <a:srgbClr val="1A1A2E"/>
                </a:solidFill>
                <a:latin typeface="Calibri" pitchFamily="34" charset="0"/>
                <a:ea typeface="Calibri" pitchFamily="34" charset="-122"/>
                <a:cs typeface="Calibri" pitchFamily="34" charset="-120"/>
              </a:rPr>
              <a:t>VS Code &amp; Anaconda</a:t>
            </a:r>
            <a:endParaRPr lang="en-US" sz="900" dirty="0"/>
          </a:p>
        </p:txBody>
      </p:sp>
      <p:sp>
        <p:nvSpPr>
          <p:cNvPr id="39" name="Text 37"/>
          <p:cNvSpPr/>
          <p:nvPr/>
        </p:nvSpPr>
        <p:spPr>
          <a:xfrm>
            <a:off x="393192" y="3950208"/>
            <a:ext cx="2670048" cy="841248"/>
          </a:xfrm>
          <a:prstGeom prst="rect">
            <a:avLst/>
          </a:prstGeom>
          <a:noFill/>
          <a:ln/>
        </p:spPr>
        <p:txBody>
          <a:bodyPr wrap="square" rtlCol="0" anchor="t"/>
          <a:lstStyle/>
          <a:p>
            <a:pPr marL="0" indent="0">
              <a:buNone/>
            </a:pPr>
            <a:r>
              <a:rPr lang="en-US" sz="820" dirty="0">
                <a:solidFill>
                  <a:srgbClr val="1A1A2E"/>
                </a:solidFill>
                <a:latin typeface="Calibri" pitchFamily="34" charset="0"/>
                <a:ea typeface="Calibri" pitchFamily="34" charset="-122"/>
                <a:cs typeface="Calibri" pitchFamily="34" charset="-120"/>
              </a:rPr>
              <a:t>VS Code as primary IDE with GitHub Copilot AI coding assistant. Anaconda for isolated Conda virtual environments, package management, and Jupyter Notebook EDA support.</a:t>
            </a:r>
            <a:endParaRPr lang="en-US" sz="820" dirty="0"/>
          </a:p>
        </p:txBody>
      </p:sp>
      <p:sp>
        <p:nvSpPr>
          <p:cNvPr id="40" name="Shape 38"/>
          <p:cNvSpPr/>
          <p:nvPr/>
        </p:nvSpPr>
        <p:spPr>
          <a:xfrm>
            <a:off x="3264408" y="3639312"/>
            <a:ext cx="2816352" cy="1188720"/>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41" name="Shape 39"/>
          <p:cNvSpPr/>
          <p:nvPr/>
        </p:nvSpPr>
        <p:spPr>
          <a:xfrm>
            <a:off x="3264408" y="3639312"/>
            <a:ext cx="2816352" cy="274320"/>
          </a:xfrm>
          <a:prstGeom prst="rect">
            <a:avLst/>
          </a:prstGeom>
          <a:solidFill>
            <a:srgbClr val="0D9488"/>
          </a:solidFill>
          <a:ln w="12700">
            <a:solidFill>
              <a:srgbClr val="0D9488"/>
            </a:solidFill>
            <a:prstDash val="solid"/>
          </a:ln>
        </p:spPr>
      </p:sp>
      <p:sp>
        <p:nvSpPr>
          <p:cNvPr id="42" name="Text 40"/>
          <p:cNvSpPr/>
          <p:nvPr/>
        </p:nvSpPr>
        <p:spPr>
          <a:xfrm>
            <a:off x="3337560" y="3675888"/>
            <a:ext cx="2670048" cy="219456"/>
          </a:xfrm>
          <a:prstGeom prst="rect">
            <a:avLst/>
          </a:prstGeom>
          <a:noFill/>
          <a:ln/>
        </p:spPr>
        <p:txBody>
          <a:bodyPr wrap="square" lIns="0" tIns="0" rIns="0" bIns="0" rtlCol="0" anchor="ctr"/>
          <a:lstStyle/>
          <a:p>
            <a:pPr marL="0" indent="0">
              <a:buNone/>
            </a:pPr>
            <a:r>
              <a:rPr lang="en-US" sz="900" b="1" dirty="0">
                <a:solidFill>
                  <a:srgbClr val="1A1A2E"/>
                </a:solidFill>
                <a:latin typeface="Calibri" pitchFamily="34" charset="0"/>
                <a:ea typeface="Calibri" pitchFamily="34" charset="-122"/>
                <a:cs typeface="Calibri" pitchFamily="34" charset="-120"/>
              </a:rPr>
              <a:t>Azure IoT Hub</a:t>
            </a:r>
            <a:endParaRPr lang="en-US" sz="900" dirty="0"/>
          </a:p>
        </p:txBody>
      </p:sp>
      <p:sp>
        <p:nvSpPr>
          <p:cNvPr id="43" name="Text 41"/>
          <p:cNvSpPr/>
          <p:nvPr/>
        </p:nvSpPr>
        <p:spPr>
          <a:xfrm>
            <a:off x="3337560" y="3950208"/>
            <a:ext cx="2670048" cy="841248"/>
          </a:xfrm>
          <a:prstGeom prst="rect">
            <a:avLst/>
          </a:prstGeom>
          <a:noFill/>
          <a:ln/>
        </p:spPr>
        <p:txBody>
          <a:bodyPr wrap="square" rtlCol="0" anchor="t"/>
          <a:lstStyle/>
          <a:p>
            <a:pPr marL="0" indent="0">
              <a:buNone/>
            </a:pPr>
            <a:r>
              <a:rPr lang="en-US" sz="820" dirty="0">
                <a:solidFill>
                  <a:srgbClr val="1A1A2E"/>
                </a:solidFill>
                <a:latin typeface="Calibri" pitchFamily="34" charset="0"/>
                <a:ea typeface="Calibri" pitchFamily="34" charset="-122"/>
                <a:cs typeface="Calibri" pitchFamily="34" charset="-120"/>
              </a:rPr>
              <a:t>Bi-directional communication between IoT wearable devices and Azure cloud. Processes 50,000+ patient vital data points per hour with real-time alert routing via Stream Analytics.</a:t>
            </a:r>
            <a:endParaRPr lang="en-US" sz="820" dirty="0"/>
          </a:p>
        </p:txBody>
      </p:sp>
      <p:sp>
        <p:nvSpPr>
          <p:cNvPr id="44" name="Shape 42"/>
          <p:cNvSpPr/>
          <p:nvPr/>
        </p:nvSpPr>
        <p:spPr>
          <a:xfrm>
            <a:off x="6208776" y="3639312"/>
            <a:ext cx="2816352" cy="1188720"/>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45" name="Shape 43"/>
          <p:cNvSpPr/>
          <p:nvPr/>
        </p:nvSpPr>
        <p:spPr>
          <a:xfrm>
            <a:off x="6208776" y="3639312"/>
            <a:ext cx="2816352" cy="274320"/>
          </a:xfrm>
          <a:prstGeom prst="rect">
            <a:avLst/>
          </a:prstGeom>
          <a:solidFill>
            <a:srgbClr val="1E8449"/>
          </a:solidFill>
          <a:ln w="12700">
            <a:solidFill>
              <a:srgbClr val="1E8449"/>
            </a:solidFill>
            <a:prstDash val="solid"/>
          </a:ln>
        </p:spPr>
      </p:sp>
      <p:sp>
        <p:nvSpPr>
          <p:cNvPr id="46" name="Text 44"/>
          <p:cNvSpPr/>
          <p:nvPr/>
        </p:nvSpPr>
        <p:spPr>
          <a:xfrm>
            <a:off x="6281928" y="3675888"/>
            <a:ext cx="2670048" cy="219456"/>
          </a:xfrm>
          <a:prstGeom prst="rect">
            <a:avLst/>
          </a:prstGeom>
          <a:noFill/>
          <a:ln/>
        </p:spPr>
        <p:txBody>
          <a:bodyPr wrap="square" lIns="0" tIns="0" rIns="0" bIns="0" rtlCol="0" anchor="ctr"/>
          <a:lstStyle/>
          <a:p>
            <a:pPr marL="0" indent="0">
              <a:buNone/>
            </a:pPr>
            <a:r>
              <a:rPr lang="en-US" sz="900" b="1" dirty="0">
                <a:solidFill>
                  <a:srgbClr val="1A1A2E"/>
                </a:solidFill>
                <a:latin typeface="Calibri" pitchFamily="34" charset="0"/>
                <a:ea typeface="Calibri" pitchFamily="34" charset="-122"/>
                <a:cs typeface="Calibri" pitchFamily="34" charset="-120"/>
              </a:rPr>
              <a:t>GitHub &amp; CI/CD</a:t>
            </a:r>
            <a:endParaRPr lang="en-US" sz="900" dirty="0"/>
          </a:p>
        </p:txBody>
      </p:sp>
      <p:sp>
        <p:nvSpPr>
          <p:cNvPr id="47" name="Text 45"/>
          <p:cNvSpPr/>
          <p:nvPr/>
        </p:nvSpPr>
        <p:spPr>
          <a:xfrm>
            <a:off x="6281928" y="3950208"/>
            <a:ext cx="2670048" cy="841248"/>
          </a:xfrm>
          <a:prstGeom prst="rect">
            <a:avLst/>
          </a:prstGeom>
          <a:noFill/>
          <a:ln/>
        </p:spPr>
        <p:txBody>
          <a:bodyPr wrap="square" rtlCol="0" anchor="t"/>
          <a:lstStyle/>
          <a:p>
            <a:pPr marL="0" indent="0">
              <a:buNone/>
            </a:pPr>
            <a:r>
              <a:rPr lang="en-US" sz="820" dirty="0">
                <a:solidFill>
                  <a:srgbClr val="1A1A2E"/>
                </a:solidFill>
                <a:latin typeface="Calibri" pitchFamily="34" charset="0"/>
                <a:ea typeface="Calibri" pitchFamily="34" charset="-122"/>
                <a:cs typeface="Calibri" pitchFamily="34" charset="-120"/>
              </a:rPr>
              <a:t>Full project source code on GitHub with clean commit history, branching strategy, and documentation. GitHub Actions automates model retraining pipelines and Azure deployments.</a:t>
            </a:r>
            <a:endParaRPr lang="en-US" sz="8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01F5F"/>
          </a:solidFill>
          <a:ln w="12700">
            <a:solidFill>
              <a:srgbClr val="FFFFFF"/>
            </a:solidFill>
            <a:prstDash val="solid"/>
          </a:ln>
        </p:spPr>
      </p:sp>
      <p:sp>
        <p:nvSpPr>
          <p:cNvPr id="3" name="Shape 1"/>
          <p:cNvSpPr/>
          <p:nvPr/>
        </p:nvSpPr>
        <p:spPr>
          <a:xfrm>
            <a:off x="0" y="621792"/>
            <a:ext cx="9144000" cy="50292"/>
          </a:xfrm>
          <a:prstGeom prst="rect">
            <a:avLst/>
          </a:prstGeom>
          <a:solidFill>
            <a:srgbClr val="1E8449"/>
          </a:solidFill>
          <a:ln w="12700">
            <a:solidFill>
              <a:srgbClr val="1E8449"/>
            </a:solidFill>
            <a:prstDash val="solid"/>
          </a:ln>
        </p:spPr>
      </p:sp>
      <p:sp>
        <p:nvSpPr>
          <p:cNvPr id="4" name="Text 2"/>
          <p:cNvSpPr/>
          <p:nvPr/>
        </p:nvSpPr>
        <p:spPr>
          <a:xfrm>
            <a:off x="292608" y="45720"/>
            <a:ext cx="7498080" cy="54864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Key Features &amp; Functionalities</a:t>
            </a:r>
            <a:endParaRPr lang="en-US" sz="1900" dirty="0"/>
          </a:p>
        </p:txBody>
      </p:sp>
      <p:sp>
        <p:nvSpPr>
          <p:cNvPr id="5" name="Shape 3"/>
          <p:cNvSpPr/>
          <p:nvPr/>
        </p:nvSpPr>
        <p:spPr>
          <a:xfrm>
            <a:off x="7818120" y="82296"/>
            <a:ext cx="1234440" cy="457200"/>
          </a:xfrm>
          <a:prstGeom prst="rect">
            <a:avLst/>
          </a:prstGeom>
          <a:solidFill>
            <a:srgbClr val="E8EFF8"/>
          </a:solidFill>
          <a:ln w="12700">
            <a:solidFill>
              <a:srgbClr val="1D4ED8"/>
            </a:solidFill>
            <a:prstDash val="solid"/>
          </a:ln>
        </p:spPr>
      </p:sp>
      <p:sp>
        <p:nvSpPr>
          <p:cNvPr id="6" name="Text 4"/>
          <p:cNvSpPr/>
          <p:nvPr/>
        </p:nvSpPr>
        <p:spPr>
          <a:xfrm>
            <a:off x="7818120" y="82296"/>
            <a:ext cx="1234440" cy="457200"/>
          </a:xfrm>
          <a:prstGeom prst="rect">
            <a:avLst/>
          </a:prstGeom>
          <a:noFill/>
          <a:ln/>
        </p:spPr>
        <p:txBody>
          <a:bodyPr wrap="square" rtlCol="0" anchor="ctr"/>
          <a:lstStyle/>
          <a:p>
            <a:pPr marL="0" indent="0" algn="ctr">
              <a:buNone/>
            </a:pPr>
            <a:r>
              <a:rPr lang="en-US" sz="700" b="1" dirty="0">
                <a:solidFill>
                  <a:srgbClr val="1D4ED8"/>
                </a:solidFill>
                <a:latin typeface="Calibri" pitchFamily="34" charset="0"/>
                <a:ea typeface="Calibri" pitchFamily="34" charset="-122"/>
                <a:cs typeface="Calibri" pitchFamily="34" charset="-120"/>
              </a:rPr>
              <a:t>Microsoft</a:t>
            </a:r>
            <a:endParaRPr lang="en-US" sz="700" dirty="0"/>
          </a:p>
          <a:p>
            <a:pPr marL="0" indent="0" algn="ctr">
              <a:buNone/>
            </a:pPr>
            <a:r>
              <a:rPr lang="en-US" sz="700" b="1" dirty="0">
                <a:solidFill>
                  <a:srgbClr val="1D4ED8"/>
                </a:solidFill>
                <a:latin typeface="Calibri" pitchFamily="34" charset="0"/>
                <a:ea typeface="Calibri" pitchFamily="34" charset="-122"/>
                <a:cs typeface="Calibri" pitchFamily="34" charset="-120"/>
              </a:rPr>
              <a:t>Elevate GTU</a:t>
            </a:r>
            <a:endParaRPr lang="en-US" sz="700" dirty="0"/>
          </a:p>
        </p:txBody>
      </p:sp>
      <p:sp>
        <p:nvSpPr>
          <p:cNvPr id="7" name="Shape 5"/>
          <p:cNvSpPr/>
          <p:nvPr/>
        </p:nvSpPr>
        <p:spPr>
          <a:xfrm>
            <a:off x="0" y="4873752"/>
            <a:ext cx="9144000" cy="50292"/>
          </a:xfrm>
          <a:prstGeom prst="rect">
            <a:avLst/>
          </a:prstGeom>
          <a:solidFill>
            <a:srgbClr val="1E8449"/>
          </a:solidFill>
          <a:ln w="12700">
            <a:solidFill>
              <a:srgbClr val="1E8449"/>
            </a:solidFill>
            <a:prstDash val="solid"/>
          </a:ln>
        </p:spPr>
      </p:sp>
      <p:sp>
        <p:nvSpPr>
          <p:cNvPr id="8" name="Shape 6"/>
          <p:cNvSpPr/>
          <p:nvPr/>
        </p:nvSpPr>
        <p:spPr>
          <a:xfrm>
            <a:off x="0" y="4924044"/>
            <a:ext cx="9144000" cy="219456"/>
          </a:xfrm>
          <a:prstGeom prst="rect">
            <a:avLst/>
          </a:prstGeom>
          <a:solidFill>
            <a:srgbClr val="FFFFFF"/>
          </a:solidFill>
          <a:ln w="12700">
            <a:solidFill>
              <a:srgbClr val="FFFFFF"/>
            </a:solidFill>
            <a:prstDash val="solid"/>
          </a:ln>
        </p:spPr>
      </p:sp>
      <p:sp>
        <p:nvSpPr>
          <p:cNvPr id="9" name="Text 7"/>
          <p:cNvSpPr/>
          <p:nvPr/>
        </p:nvSpPr>
        <p:spPr>
          <a:xfrm>
            <a:off x="228600" y="4924044"/>
            <a:ext cx="8046720" cy="219456"/>
          </a:xfrm>
          <a:prstGeom prst="rect">
            <a:avLst/>
          </a:prstGeom>
          <a:noFill/>
          <a:ln/>
        </p:spPr>
        <p:txBody>
          <a:bodyPr wrap="square" lIns="0" tIns="0" rIns="0" bIns="0" rtlCol="0" anchor="ctr"/>
          <a:lstStyle/>
          <a:p>
            <a:pPr marL="0" indent="0">
              <a:buNone/>
            </a:pPr>
            <a:r>
              <a:rPr lang="en-US" sz="650" dirty="0">
                <a:solidFill>
                  <a:srgbClr val="7B9ABF"/>
                </a:solidFill>
                <a:latin typeface="Calibri" pitchFamily="34" charset="0"/>
                <a:ea typeface="Calibri" pitchFamily="34" charset="-122"/>
                <a:cs typeface="Calibri" pitchFamily="34" charset="-120"/>
              </a:rPr>
              <a:t>Microsoft Elevate Internship Project  |  Healthcare &amp; Medication Management System  |  GTU Jan–Apr 2026</a:t>
            </a:r>
            <a:endParaRPr lang="en-US" sz="650" dirty="0"/>
          </a:p>
        </p:txBody>
      </p:sp>
      <p:sp>
        <p:nvSpPr>
          <p:cNvPr id="10" name="Text 8"/>
          <p:cNvSpPr/>
          <p:nvPr/>
        </p:nvSpPr>
        <p:spPr>
          <a:xfrm>
            <a:off x="8275320" y="4924044"/>
            <a:ext cx="731520" cy="219456"/>
          </a:xfrm>
          <a:prstGeom prst="rect">
            <a:avLst/>
          </a:prstGeom>
          <a:noFill/>
          <a:ln/>
        </p:spPr>
        <p:txBody>
          <a:bodyPr wrap="square" lIns="0" tIns="0" rIns="0" bIns="0" rtlCol="0" anchor="ctr"/>
          <a:lstStyle/>
          <a:p>
            <a:pPr marL="0" indent="0" algn="r">
              <a:buNone/>
            </a:pPr>
            <a:r>
              <a:rPr lang="en-US" sz="700" b="1" dirty="0">
                <a:solidFill>
                  <a:srgbClr val="1A1A2E"/>
                </a:solidFill>
                <a:latin typeface="Calibri" pitchFamily="34" charset="0"/>
                <a:ea typeface="Calibri" pitchFamily="34" charset="-122"/>
                <a:cs typeface="Calibri" pitchFamily="34" charset="-120"/>
              </a:rPr>
              <a:t>17 / 21</a:t>
            </a:r>
            <a:endParaRPr lang="en-US" sz="700" dirty="0"/>
          </a:p>
        </p:txBody>
      </p:sp>
      <p:sp>
        <p:nvSpPr>
          <p:cNvPr id="11" name="Text 9"/>
          <p:cNvSpPr/>
          <p:nvPr/>
        </p:nvSpPr>
        <p:spPr>
          <a:xfrm>
            <a:off x="320040" y="777240"/>
            <a:ext cx="8503920" cy="274320"/>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6 Core Platform Capabilities</a:t>
            </a:r>
            <a:endParaRPr lang="en-US" sz="1300" dirty="0"/>
          </a:p>
        </p:txBody>
      </p:sp>
      <p:sp>
        <p:nvSpPr>
          <p:cNvPr id="12" name="Shape 10"/>
          <p:cNvSpPr/>
          <p:nvPr/>
        </p:nvSpPr>
        <p:spPr>
          <a:xfrm>
            <a:off x="320040" y="1078992"/>
            <a:ext cx="4224528" cy="1207008"/>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13" name="Shape 11"/>
          <p:cNvSpPr/>
          <p:nvPr/>
        </p:nvSpPr>
        <p:spPr>
          <a:xfrm>
            <a:off x="320040" y="1078992"/>
            <a:ext cx="4224528" cy="274320"/>
          </a:xfrm>
          <a:prstGeom prst="rect">
            <a:avLst/>
          </a:prstGeom>
          <a:solidFill>
            <a:srgbClr val="1D4ED8"/>
          </a:solidFill>
          <a:ln w="12700">
            <a:solidFill>
              <a:srgbClr val="1D4ED8"/>
            </a:solidFill>
            <a:prstDash val="solid"/>
          </a:ln>
        </p:spPr>
      </p:sp>
      <p:sp>
        <p:nvSpPr>
          <p:cNvPr id="14" name="Text 12"/>
          <p:cNvSpPr/>
          <p:nvPr/>
        </p:nvSpPr>
        <p:spPr>
          <a:xfrm>
            <a:off x="393192" y="1115568"/>
            <a:ext cx="4078224" cy="219456"/>
          </a:xfrm>
          <a:prstGeom prst="rect">
            <a:avLst/>
          </a:prstGeom>
          <a:noFill/>
          <a:ln/>
        </p:spPr>
        <p:txBody>
          <a:bodyPr wrap="square" lIns="0" tIns="0" rIns="0" bIns="0" rtlCol="0" anchor="ctr"/>
          <a:lstStyle/>
          <a:p>
            <a:pPr marL="0" indent="0">
              <a:buNone/>
            </a:pPr>
            <a:r>
              <a:rPr lang="en-US" sz="950" b="1" dirty="0">
                <a:solidFill>
                  <a:srgbClr val="1A1A2E"/>
                </a:solidFill>
                <a:latin typeface="Calibri" pitchFamily="34" charset="0"/>
                <a:ea typeface="Calibri" pitchFamily="34" charset="-122"/>
                <a:cs typeface="Calibri" pitchFamily="34" charset="-120"/>
              </a:rPr>
              <a:t>Real-Time Vitals Monitoring</a:t>
            </a:r>
            <a:endParaRPr lang="en-US" sz="950" dirty="0"/>
          </a:p>
        </p:txBody>
      </p:sp>
      <p:sp>
        <p:nvSpPr>
          <p:cNvPr id="15" name="Text 13"/>
          <p:cNvSpPr/>
          <p:nvPr/>
        </p:nvSpPr>
        <p:spPr>
          <a:xfrm>
            <a:off x="411480" y="1389888"/>
            <a:ext cx="4059936" cy="859536"/>
          </a:xfrm>
          <a:prstGeom prst="rect">
            <a:avLst/>
          </a:prstGeom>
          <a:noFill/>
          <a:ln/>
        </p:spPr>
        <p:txBody>
          <a:bodyPr wrap="square" rtlCol="0" anchor="t"/>
          <a:lstStyle/>
          <a:p>
            <a:pPr marL="0" indent="0">
              <a:buNone/>
            </a:pPr>
            <a:r>
              <a:rPr lang="en-US" sz="850" dirty="0">
                <a:solidFill>
                  <a:srgbClr val="1A1A2E"/>
                </a:solidFill>
                <a:latin typeface="Calibri" pitchFamily="34" charset="0"/>
                <a:ea typeface="Calibri" pitchFamily="34" charset="-122"/>
                <a:cs typeface="Calibri" pitchFamily="34" charset="-120"/>
              </a:rPr>
              <a:t>IoT dashboards tracking heart rate, blood pressure, SpO2, and temperature for ICU and chronic care patients. Azure IoT Hub processes 50,000+ vital data points per hour. Instant clinical alerts fire within 90 seconds of threshold breach — replacing the previous 8-minute manual response time.</a:t>
            </a:r>
            <a:endParaRPr lang="en-US" sz="850" dirty="0"/>
          </a:p>
        </p:txBody>
      </p:sp>
      <p:sp>
        <p:nvSpPr>
          <p:cNvPr id="16" name="Shape 14"/>
          <p:cNvSpPr/>
          <p:nvPr/>
        </p:nvSpPr>
        <p:spPr>
          <a:xfrm>
            <a:off x="4754880" y="1078992"/>
            <a:ext cx="4224528" cy="1207008"/>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17" name="Shape 15"/>
          <p:cNvSpPr/>
          <p:nvPr/>
        </p:nvSpPr>
        <p:spPr>
          <a:xfrm>
            <a:off x="4754880" y="1078992"/>
            <a:ext cx="4224528" cy="274320"/>
          </a:xfrm>
          <a:prstGeom prst="rect">
            <a:avLst/>
          </a:prstGeom>
          <a:solidFill>
            <a:srgbClr val="0D9488"/>
          </a:solidFill>
          <a:ln w="12700">
            <a:solidFill>
              <a:srgbClr val="0D9488"/>
            </a:solidFill>
            <a:prstDash val="solid"/>
          </a:ln>
        </p:spPr>
      </p:sp>
      <p:sp>
        <p:nvSpPr>
          <p:cNvPr id="18" name="Text 16"/>
          <p:cNvSpPr/>
          <p:nvPr/>
        </p:nvSpPr>
        <p:spPr>
          <a:xfrm>
            <a:off x="4828032" y="1115568"/>
            <a:ext cx="4078224" cy="219456"/>
          </a:xfrm>
          <a:prstGeom prst="rect">
            <a:avLst/>
          </a:prstGeom>
          <a:noFill/>
          <a:ln/>
        </p:spPr>
        <p:txBody>
          <a:bodyPr wrap="square" lIns="0" tIns="0" rIns="0" bIns="0" rtlCol="0" anchor="ctr"/>
          <a:lstStyle/>
          <a:p>
            <a:pPr marL="0" indent="0">
              <a:buNone/>
            </a:pPr>
            <a:r>
              <a:rPr lang="en-US" sz="950" b="1" dirty="0">
                <a:solidFill>
                  <a:srgbClr val="1A1A2E"/>
                </a:solidFill>
                <a:latin typeface="Calibri" pitchFamily="34" charset="0"/>
                <a:ea typeface="Calibri" pitchFamily="34" charset="-122"/>
                <a:cs typeface="Calibri" pitchFamily="34" charset="-120"/>
              </a:rPr>
              <a:t>Smart Medication Scheduler</a:t>
            </a:r>
            <a:endParaRPr lang="en-US" sz="950" dirty="0"/>
          </a:p>
        </p:txBody>
      </p:sp>
      <p:sp>
        <p:nvSpPr>
          <p:cNvPr id="19" name="Text 17"/>
          <p:cNvSpPr/>
          <p:nvPr/>
        </p:nvSpPr>
        <p:spPr>
          <a:xfrm>
            <a:off x="4846320" y="1389888"/>
            <a:ext cx="4059936" cy="859536"/>
          </a:xfrm>
          <a:prstGeom prst="rect">
            <a:avLst/>
          </a:prstGeom>
          <a:noFill/>
          <a:ln/>
        </p:spPr>
        <p:txBody>
          <a:bodyPr wrap="square" rtlCol="0" anchor="t"/>
          <a:lstStyle/>
          <a:p>
            <a:pPr marL="0" indent="0">
              <a:buNone/>
            </a:pPr>
            <a:r>
              <a:rPr lang="en-US" sz="850" dirty="0">
                <a:solidFill>
                  <a:srgbClr val="1A1A2E"/>
                </a:solidFill>
                <a:latin typeface="Calibri" pitchFamily="34" charset="0"/>
                <a:ea typeface="Calibri" pitchFamily="34" charset="-122"/>
                <a:cs typeface="Calibri" pitchFamily="34" charset="-120"/>
              </a:rPr>
              <a:t>AI-driven dosage reminder system with multi-drug interaction checks performed against a curated clinical database. Patient adherence scores tracked via LSTM model. Automated pharmacy refill notifications sent 5 days before expected stock depletion. Reduces missed doses by 40% in pilot testing.</a:t>
            </a:r>
            <a:endParaRPr lang="en-US" sz="850" dirty="0"/>
          </a:p>
        </p:txBody>
      </p:sp>
      <p:sp>
        <p:nvSpPr>
          <p:cNvPr id="20" name="Shape 18"/>
          <p:cNvSpPr/>
          <p:nvPr/>
        </p:nvSpPr>
        <p:spPr>
          <a:xfrm>
            <a:off x="320040" y="2377440"/>
            <a:ext cx="4224528" cy="1207008"/>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21" name="Shape 19"/>
          <p:cNvSpPr/>
          <p:nvPr/>
        </p:nvSpPr>
        <p:spPr>
          <a:xfrm>
            <a:off x="320040" y="2377440"/>
            <a:ext cx="4224528" cy="274320"/>
          </a:xfrm>
          <a:prstGeom prst="rect">
            <a:avLst/>
          </a:prstGeom>
          <a:solidFill>
            <a:srgbClr val="1E8449"/>
          </a:solidFill>
          <a:ln w="12700">
            <a:solidFill>
              <a:srgbClr val="1E8449"/>
            </a:solidFill>
            <a:prstDash val="solid"/>
          </a:ln>
        </p:spPr>
      </p:sp>
      <p:sp>
        <p:nvSpPr>
          <p:cNvPr id="22" name="Text 20"/>
          <p:cNvSpPr/>
          <p:nvPr/>
        </p:nvSpPr>
        <p:spPr>
          <a:xfrm>
            <a:off x="393192" y="2414016"/>
            <a:ext cx="4078224" cy="219456"/>
          </a:xfrm>
          <a:prstGeom prst="rect">
            <a:avLst/>
          </a:prstGeom>
          <a:noFill/>
          <a:ln/>
        </p:spPr>
        <p:txBody>
          <a:bodyPr wrap="square" lIns="0" tIns="0" rIns="0" bIns="0" rtlCol="0" anchor="ctr"/>
          <a:lstStyle/>
          <a:p>
            <a:pPr marL="0" indent="0">
              <a:buNone/>
            </a:pPr>
            <a:r>
              <a:rPr lang="en-US" sz="950" b="1" dirty="0">
                <a:solidFill>
                  <a:srgbClr val="1A1A2E"/>
                </a:solidFill>
                <a:latin typeface="Calibri" pitchFamily="34" charset="0"/>
                <a:ea typeface="Calibri" pitchFamily="34" charset="-122"/>
                <a:cs typeface="Calibri" pitchFamily="34" charset="-120"/>
              </a:rPr>
              <a:t>Predictive Health Analytics</a:t>
            </a:r>
            <a:endParaRPr lang="en-US" sz="950" dirty="0"/>
          </a:p>
        </p:txBody>
      </p:sp>
      <p:sp>
        <p:nvSpPr>
          <p:cNvPr id="23" name="Text 21"/>
          <p:cNvSpPr/>
          <p:nvPr/>
        </p:nvSpPr>
        <p:spPr>
          <a:xfrm>
            <a:off x="411480" y="2688336"/>
            <a:ext cx="4059936" cy="859536"/>
          </a:xfrm>
          <a:prstGeom prst="rect">
            <a:avLst/>
          </a:prstGeom>
          <a:noFill/>
          <a:ln/>
        </p:spPr>
        <p:txBody>
          <a:bodyPr wrap="square" rtlCol="0" anchor="t"/>
          <a:lstStyle/>
          <a:p>
            <a:pPr marL="0" indent="0">
              <a:buNone/>
            </a:pPr>
            <a:r>
              <a:rPr lang="en-US" sz="850" dirty="0">
                <a:solidFill>
                  <a:srgbClr val="1A1A2E"/>
                </a:solidFill>
                <a:latin typeface="Calibri" pitchFamily="34" charset="0"/>
                <a:ea typeface="Calibri" pitchFamily="34" charset="-122"/>
                <a:cs typeface="Calibri" pitchFamily="34" charset="-120"/>
              </a:rPr>
              <a:t>Random Forest model (91% accuracy) predicts 30-day hospital readmission risk for all discharged patients. K-Means clusters patients into Low/Moderate/High/Critical care tiers. LSTM forecasts medication adherence trends 7 days ahead enabling proactive clinical intervention before non-adherence occurs.</a:t>
            </a:r>
            <a:endParaRPr lang="en-US" sz="850" dirty="0"/>
          </a:p>
        </p:txBody>
      </p:sp>
      <p:sp>
        <p:nvSpPr>
          <p:cNvPr id="24" name="Shape 22"/>
          <p:cNvSpPr/>
          <p:nvPr/>
        </p:nvSpPr>
        <p:spPr>
          <a:xfrm>
            <a:off x="4754880" y="2377440"/>
            <a:ext cx="4224528" cy="1207008"/>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25" name="Shape 23"/>
          <p:cNvSpPr/>
          <p:nvPr/>
        </p:nvSpPr>
        <p:spPr>
          <a:xfrm>
            <a:off x="4754880" y="2377440"/>
            <a:ext cx="4224528" cy="274320"/>
          </a:xfrm>
          <a:prstGeom prst="rect">
            <a:avLst/>
          </a:prstGeom>
          <a:solidFill>
            <a:srgbClr val="7C3AED"/>
          </a:solidFill>
          <a:ln w="12700">
            <a:solidFill>
              <a:srgbClr val="7C3AED"/>
            </a:solidFill>
            <a:prstDash val="solid"/>
          </a:ln>
        </p:spPr>
      </p:sp>
      <p:sp>
        <p:nvSpPr>
          <p:cNvPr id="26" name="Text 24"/>
          <p:cNvSpPr/>
          <p:nvPr/>
        </p:nvSpPr>
        <p:spPr>
          <a:xfrm>
            <a:off x="4828032" y="2414016"/>
            <a:ext cx="4078224" cy="219456"/>
          </a:xfrm>
          <a:prstGeom prst="rect">
            <a:avLst/>
          </a:prstGeom>
          <a:noFill/>
          <a:ln/>
        </p:spPr>
        <p:txBody>
          <a:bodyPr wrap="square" lIns="0" tIns="0" rIns="0" bIns="0" rtlCol="0" anchor="ctr"/>
          <a:lstStyle/>
          <a:p>
            <a:pPr marL="0" indent="0">
              <a:buNone/>
            </a:pPr>
            <a:r>
              <a:rPr lang="en-US" sz="950" b="1" dirty="0">
                <a:solidFill>
                  <a:srgbClr val="1A1A2E"/>
                </a:solidFill>
                <a:latin typeface="Calibri" pitchFamily="34" charset="0"/>
                <a:ea typeface="Calibri" pitchFamily="34" charset="-122"/>
                <a:cs typeface="Calibri" pitchFamily="34" charset="-120"/>
              </a:rPr>
              <a:t>EHR Integration &amp; Unification</a:t>
            </a:r>
            <a:endParaRPr lang="en-US" sz="950" dirty="0"/>
          </a:p>
        </p:txBody>
      </p:sp>
      <p:sp>
        <p:nvSpPr>
          <p:cNvPr id="27" name="Text 25"/>
          <p:cNvSpPr/>
          <p:nvPr/>
        </p:nvSpPr>
        <p:spPr>
          <a:xfrm>
            <a:off x="4846320" y="2688336"/>
            <a:ext cx="4059936" cy="859536"/>
          </a:xfrm>
          <a:prstGeom prst="rect">
            <a:avLst/>
          </a:prstGeom>
          <a:noFill/>
          <a:ln/>
        </p:spPr>
        <p:txBody>
          <a:bodyPr wrap="square" rtlCol="0" anchor="t"/>
          <a:lstStyle/>
          <a:p>
            <a:pPr marL="0" indent="0">
              <a:buNone/>
            </a:pPr>
            <a:r>
              <a:rPr lang="en-US" sz="850" dirty="0">
                <a:solidFill>
                  <a:srgbClr val="1A1A2E"/>
                </a:solidFill>
                <a:latin typeface="Calibri" pitchFamily="34" charset="0"/>
                <a:ea typeface="Calibri" pitchFamily="34" charset="-122"/>
                <a:cs typeface="Calibri" pitchFamily="34" charset="-120"/>
              </a:rPr>
              <a:t>HL7 FHIR API aggregates patient records from multiple hospitals, clinics, and pharmacies into one longitudinal timeline view. Eliminates data silos, removes duplicate diagnostic orders, and enables evidence-based care continuity across all care providers in the hospital network.</a:t>
            </a:r>
            <a:endParaRPr lang="en-US" sz="850" dirty="0"/>
          </a:p>
        </p:txBody>
      </p:sp>
      <p:sp>
        <p:nvSpPr>
          <p:cNvPr id="28" name="Shape 26"/>
          <p:cNvSpPr/>
          <p:nvPr/>
        </p:nvSpPr>
        <p:spPr>
          <a:xfrm>
            <a:off x="320040" y="3675888"/>
            <a:ext cx="4224528" cy="1207008"/>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29" name="Shape 27"/>
          <p:cNvSpPr/>
          <p:nvPr/>
        </p:nvSpPr>
        <p:spPr>
          <a:xfrm>
            <a:off x="320040" y="3675888"/>
            <a:ext cx="4224528" cy="274320"/>
          </a:xfrm>
          <a:prstGeom prst="rect">
            <a:avLst/>
          </a:prstGeom>
          <a:solidFill>
            <a:srgbClr val="D97706"/>
          </a:solidFill>
          <a:ln w="12700">
            <a:solidFill>
              <a:srgbClr val="D97706"/>
            </a:solidFill>
            <a:prstDash val="solid"/>
          </a:ln>
        </p:spPr>
      </p:sp>
      <p:sp>
        <p:nvSpPr>
          <p:cNvPr id="30" name="Text 28"/>
          <p:cNvSpPr/>
          <p:nvPr/>
        </p:nvSpPr>
        <p:spPr>
          <a:xfrm>
            <a:off x="393192" y="3712464"/>
            <a:ext cx="4078224" cy="219456"/>
          </a:xfrm>
          <a:prstGeom prst="rect">
            <a:avLst/>
          </a:prstGeom>
          <a:noFill/>
          <a:ln/>
        </p:spPr>
        <p:txBody>
          <a:bodyPr wrap="square" lIns="0" tIns="0" rIns="0" bIns="0" rtlCol="0" anchor="ctr"/>
          <a:lstStyle/>
          <a:p>
            <a:pPr marL="0" indent="0">
              <a:buNone/>
            </a:pPr>
            <a:r>
              <a:rPr lang="en-US" sz="950" b="1" dirty="0">
                <a:solidFill>
                  <a:srgbClr val="1A1A2E"/>
                </a:solidFill>
                <a:latin typeface="Calibri" pitchFamily="34" charset="0"/>
                <a:ea typeface="Calibri" pitchFamily="34" charset="-122"/>
                <a:cs typeface="Calibri" pitchFamily="34" charset="-120"/>
              </a:rPr>
              <a:t>Clinical Decision Support Alerts</a:t>
            </a:r>
            <a:endParaRPr lang="en-US" sz="950" dirty="0"/>
          </a:p>
        </p:txBody>
      </p:sp>
      <p:sp>
        <p:nvSpPr>
          <p:cNvPr id="31" name="Text 29"/>
          <p:cNvSpPr/>
          <p:nvPr/>
        </p:nvSpPr>
        <p:spPr>
          <a:xfrm>
            <a:off x="411480" y="3986784"/>
            <a:ext cx="4059936" cy="859536"/>
          </a:xfrm>
          <a:prstGeom prst="rect">
            <a:avLst/>
          </a:prstGeom>
          <a:noFill/>
          <a:ln/>
        </p:spPr>
        <p:txBody>
          <a:bodyPr wrap="square" rtlCol="0" anchor="t"/>
          <a:lstStyle/>
          <a:p>
            <a:pPr marL="0" indent="0">
              <a:buNone/>
            </a:pPr>
            <a:r>
              <a:rPr lang="en-US" sz="850" dirty="0">
                <a:solidFill>
                  <a:srgbClr val="1A1A2E"/>
                </a:solidFill>
                <a:latin typeface="Calibri" pitchFamily="34" charset="0"/>
                <a:ea typeface="Calibri" pitchFamily="34" charset="-122"/>
                <a:cs typeface="Calibri" pitchFamily="34" charset="-120"/>
              </a:rPr>
              <a:t>Evidence-based real-time alerts for critical lab values (eGFR&lt;30, HbA1c&gt;10), known drug allergies, dangerous drug-drug interactions, and abnormal medication dosing orders. AI-driven detection engine flags 97% of high-risk prescriptions before dispensing occurs.</a:t>
            </a:r>
            <a:endParaRPr lang="en-US" sz="850" dirty="0"/>
          </a:p>
        </p:txBody>
      </p:sp>
      <p:sp>
        <p:nvSpPr>
          <p:cNvPr id="32" name="Shape 30"/>
          <p:cNvSpPr/>
          <p:nvPr/>
        </p:nvSpPr>
        <p:spPr>
          <a:xfrm>
            <a:off x="4754880" y="3675888"/>
            <a:ext cx="4224528" cy="1207008"/>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33" name="Shape 31"/>
          <p:cNvSpPr/>
          <p:nvPr/>
        </p:nvSpPr>
        <p:spPr>
          <a:xfrm>
            <a:off x="4754880" y="3675888"/>
            <a:ext cx="4224528" cy="274320"/>
          </a:xfrm>
          <a:prstGeom prst="rect">
            <a:avLst/>
          </a:prstGeom>
          <a:solidFill>
            <a:srgbClr val="DC2626"/>
          </a:solidFill>
          <a:ln w="12700">
            <a:solidFill>
              <a:srgbClr val="DC2626"/>
            </a:solidFill>
            <a:prstDash val="solid"/>
          </a:ln>
        </p:spPr>
      </p:sp>
      <p:sp>
        <p:nvSpPr>
          <p:cNvPr id="34" name="Text 32"/>
          <p:cNvSpPr/>
          <p:nvPr/>
        </p:nvSpPr>
        <p:spPr>
          <a:xfrm>
            <a:off x="4828032" y="3712464"/>
            <a:ext cx="4078224" cy="219456"/>
          </a:xfrm>
          <a:prstGeom prst="rect">
            <a:avLst/>
          </a:prstGeom>
          <a:noFill/>
          <a:ln/>
        </p:spPr>
        <p:txBody>
          <a:bodyPr wrap="square" lIns="0" tIns="0" rIns="0" bIns="0" rtlCol="0" anchor="ctr"/>
          <a:lstStyle/>
          <a:p>
            <a:pPr marL="0" indent="0">
              <a:buNone/>
            </a:pPr>
            <a:r>
              <a:rPr lang="en-US" sz="950" b="1" dirty="0">
                <a:solidFill>
                  <a:srgbClr val="1A1A2E"/>
                </a:solidFill>
                <a:latin typeface="Calibri" pitchFamily="34" charset="0"/>
                <a:ea typeface="Calibri" pitchFamily="34" charset="-122"/>
                <a:cs typeface="Calibri" pitchFamily="34" charset="-120"/>
              </a:rPr>
              <a:t>Security &amp; HIPAA Compliance</a:t>
            </a:r>
            <a:endParaRPr lang="en-US" sz="950" dirty="0"/>
          </a:p>
        </p:txBody>
      </p:sp>
      <p:sp>
        <p:nvSpPr>
          <p:cNvPr id="35" name="Text 33"/>
          <p:cNvSpPr/>
          <p:nvPr/>
        </p:nvSpPr>
        <p:spPr>
          <a:xfrm>
            <a:off x="4846320" y="3986784"/>
            <a:ext cx="4059936" cy="859536"/>
          </a:xfrm>
          <a:prstGeom prst="rect">
            <a:avLst/>
          </a:prstGeom>
          <a:noFill/>
          <a:ln/>
        </p:spPr>
        <p:txBody>
          <a:bodyPr wrap="square" rtlCol="0" anchor="t"/>
          <a:lstStyle/>
          <a:p>
            <a:pPr marL="0" indent="0">
              <a:buNone/>
            </a:pPr>
            <a:r>
              <a:rPr lang="en-US" sz="850" dirty="0">
                <a:solidFill>
                  <a:srgbClr val="1A1A2E"/>
                </a:solidFill>
                <a:latin typeface="Calibri" pitchFamily="34" charset="0"/>
                <a:ea typeface="Calibri" pitchFamily="34" charset="-122"/>
                <a:cs typeface="Calibri" pitchFamily="34" charset="-120"/>
              </a:rPr>
              <a:t>Full HIPAA regulatory compliance with Azure Role-Based Access Control (RBAC), AES-256 end-to-end encryption of all patient data in transit and at rest, comprehensive audit trail logging of all data access events, and automated security compliance reporting for hospital administration.</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01F5F"/>
          </a:solidFill>
          <a:ln w="12700">
            <a:solidFill>
              <a:srgbClr val="FFFFFF"/>
            </a:solidFill>
            <a:prstDash val="solid"/>
          </a:ln>
        </p:spPr>
      </p:sp>
      <p:sp>
        <p:nvSpPr>
          <p:cNvPr id="3" name="Shape 1"/>
          <p:cNvSpPr/>
          <p:nvPr/>
        </p:nvSpPr>
        <p:spPr>
          <a:xfrm>
            <a:off x="0" y="621792"/>
            <a:ext cx="9144000" cy="50292"/>
          </a:xfrm>
          <a:prstGeom prst="rect">
            <a:avLst/>
          </a:prstGeom>
          <a:solidFill>
            <a:srgbClr val="1E8449"/>
          </a:solidFill>
          <a:ln w="12700">
            <a:solidFill>
              <a:srgbClr val="1E8449"/>
            </a:solidFill>
            <a:prstDash val="solid"/>
          </a:ln>
        </p:spPr>
      </p:sp>
      <p:sp>
        <p:nvSpPr>
          <p:cNvPr id="4" name="Text 2"/>
          <p:cNvSpPr/>
          <p:nvPr/>
        </p:nvSpPr>
        <p:spPr>
          <a:xfrm>
            <a:off x="292608" y="45720"/>
            <a:ext cx="7498080" cy="54864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Algorithm &amp; Deployment</a:t>
            </a:r>
            <a:endParaRPr lang="en-US" sz="1900" dirty="0"/>
          </a:p>
        </p:txBody>
      </p:sp>
      <p:sp>
        <p:nvSpPr>
          <p:cNvPr id="5" name="Shape 3"/>
          <p:cNvSpPr/>
          <p:nvPr/>
        </p:nvSpPr>
        <p:spPr>
          <a:xfrm>
            <a:off x="7818120" y="82296"/>
            <a:ext cx="1234440" cy="457200"/>
          </a:xfrm>
          <a:prstGeom prst="rect">
            <a:avLst/>
          </a:prstGeom>
          <a:solidFill>
            <a:srgbClr val="E8EFF8"/>
          </a:solidFill>
          <a:ln w="12700">
            <a:solidFill>
              <a:srgbClr val="1D4ED8"/>
            </a:solidFill>
            <a:prstDash val="solid"/>
          </a:ln>
        </p:spPr>
      </p:sp>
      <p:sp>
        <p:nvSpPr>
          <p:cNvPr id="6" name="Text 4"/>
          <p:cNvSpPr/>
          <p:nvPr/>
        </p:nvSpPr>
        <p:spPr>
          <a:xfrm>
            <a:off x="7818120" y="82296"/>
            <a:ext cx="1234440" cy="457200"/>
          </a:xfrm>
          <a:prstGeom prst="rect">
            <a:avLst/>
          </a:prstGeom>
          <a:noFill/>
          <a:ln/>
        </p:spPr>
        <p:txBody>
          <a:bodyPr wrap="square" rtlCol="0" anchor="ctr"/>
          <a:lstStyle/>
          <a:p>
            <a:pPr marL="0" indent="0" algn="ctr">
              <a:buNone/>
            </a:pPr>
            <a:r>
              <a:rPr lang="en-US" sz="700" b="1" dirty="0">
                <a:solidFill>
                  <a:srgbClr val="1D4ED8"/>
                </a:solidFill>
                <a:latin typeface="Calibri" pitchFamily="34" charset="0"/>
                <a:ea typeface="Calibri" pitchFamily="34" charset="-122"/>
                <a:cs typeface="Calibri" pitchFamily="34" charset="-120"/>
              </a:rPr>
              <a:t>Microsoft</a:t>
            </a:r>
            <a:endParaRPr lang="en-US" sz="700" dirty="0"/>
          </a:p>
          <a:p>
            <a:pPr marL="0" indent="0" algn="ctr">
              <a:buNone/>
            </a:pPr>
            <a:r>
              <a:rPr lang="en-US" sz="700" b="1" dirty="0">
                <a:solidFill>
                  <a:srgbClr val="1D4ED8"/>
                </a:solidFill>
                <a:latin typeface="Calibri" pitchFamily="34" charset="0"/>
                <a:ea typeface="Calibri" pitchFamily="34" charset="-122"/>
                <a:cs typeface="Calibri" pitchFamily="34" charset="-120"/>
              </a:rPr>
              <a:t>Elevate GTU</a:t>
            </a:r>
            <a:endParaRPr lang="en-US" sz="700" dirty="0"/>
          </a:p>
        </p:txBody>
      </p:sp>
      <p:sp>
        <p:nvSpPr>
          <p:cNvPr id="7" name="Shape 5"/>
          <p:cNvSpPr/>
          <p:nvPr/>
        </p:nvSpPr>
        <p:spPr>
          <a:xfrm>
            <a:off x="0" y="4873752"/>
            <a:ext cx="9144000" cy="50292"/>
          </a:xfrm>
          <a:prstGeom prst="rect">
            <a:avLst/>
          </a:prstGeom>
          <a:solidFill>
            <a:srgbClr val="1E8449"/>
          </a:solidFill>
          <a:ln w="12700">
            <a:solidFill>
              <a:srgbClr val="1E8449"/>
            </a:solidFill>
            <a:prstDash val="solid"/>
          </a:ln>
        </p:spPr>
      </p:sp>
      <p:sp>
        <p:nvSpPr>
          <p:cNvPr id="8" name="Shape 6"/>
          <p:cNvSpPr/>
          <p:nvPr/>
        </p:nvSpPr>
        <p:spPr>
          <a:xfrm>
            <a:off x="0" y="4924044"/>
            <a:ext cx="9144000" cy="219456"/>
          </a:xfrm>
          <a:prstGeom prst="rect">
            <a:avLst/>
          </a:prstGeom>
          <a:solidFill>
            <a:srgbClr val="FFFFFF"/>
          </a:solidFill>
          <a:ln w="12700">
            <a:solidFill>
              <a:srgbClr val="FFFFFF"/>
            </a:solidFill>
            <a:prstDash val="solid"/>
          </a:ln>
        </p:spPr>
      </p:sp>
      <p:sp>
        <p:nvSpPr>
          <p:cNvPr id="9" name="Text 7"/>
          <p:cNvSpPr/>
          <p:nvPr/>
        </p:nvSpPr>
        <p:spPr>
          <a:xfrm>
            <a:off x="228600" y="4924044"/>
            <a:ext cx="8046720" cy="219456"/>
          </a:xfrm>
          <a:prstGeom prst="rect">
            <a:avLst/>
          </a:prstGeom>
          <a:noFill/>
          <a:ln/>
        </p:spPr>
        <p:txBody>
          <a:bodyPr wrap="square" lIns="0" tIns="0" rIns="0" bIns="0" rtlCol="0" anchor="ctr"/>
          <a:lstStyle/>
          <a:p>
            <a:pPr marL="0" indent="0">
              <a:buNone/>
            </a:pPr>
            <a:r>
              <a:rPr lang="en-US" sz="650" dirty="0">
                <a:solidFill>
                  <a:srgbClr val="7B9ABF"/>
                </a:solidFill>
                <a:latin typeface="Calibri" pitchFamily="34" charset="0"/>
                <a:ea typeface="Calibri" pitchFamily="34" charset="-122"/>
                <a:cs typeface="Calibri" pitchFamily="34" charset="-120"/>
              </a:rPr>
              <a:t>Microsoft Elevate Internship Project  |  Healthcare &amp; Medication Management System  |  GTU Jan–Apr 2026</a:t>
            </a:r>
            <a:endParaRPr lang="en-US" sz="650" dirty="0"/>
          </a:p>
        </p:txBody>
      </p:sp>
      <p:sp>
        <p:nvSpPr>
          <p:cNvPr id="10" name="Text 8"/>
          <p:cNvSpPr/>
          <p:nvPr/>
        </p:nvSpPr>
        <p:spPr>
          <a:xfrm>
            <a:off x="8275320" y="4924044"/>
            <a:ext cx="731520" cy="219456"/>
          </a:xfrm>
          <a:prstGeom prst="rect">
            <a:avLst/>
          </a:prstGeom>
          <a:noFill/>
          <a:ln/>
        </p:spPr>
        <p:txBody>
          <a:bodyPr wrap="square" lIns="0" tIns="0" rIns="0" bIns="0" rtlCol="0" anchor="ctr"/>
          <a:lstStyle/>
          <a:p>
            <a:pPr marL="0" indent="0" algn="r">
              <a:buNone/>
            </a:pPr>
            <a:r>
              <a:rPr lang="en-US" sz="700" b="1" dirty="0">
                <a:solidFill>
                  <a:srgbClr val="1A1A2E"/>
                </a:solidFill>
                <a:latin typeface="Calibri" pitchFamily="34" charset="0"/>
                <a:ea typeface="Calibri" pitchFamily="34" charset="-122"/>
                <a:cs typeface="Calibri" pitchFamily="34" charset="-120"/>
              </a:rPr>
              <a:t>18 / 21</a:t>
            </a:r>
            <a:endParaRPr lang="en-US" sz="700" dirty="0"/>
          </a:p>
        </p:txBody>
      </p:sp>
      <p:sp>
        <p:nvSpPr>
          <p:cNvPr id="11" name="Text 9"/>
          <p:cNvSpPr/>
          <p:nvPr/>
        </p:nvSpPr>
        <p:spPr>
          <a:xfrm>
            <a:off x="320040" y="777240"/>
            <a:ext cx="8503920" cy="274320"/>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Machine Learning Models &amp; Azure Deployment</a:t>
            </a:r>
            <a:endParaRPr lang="en-US" sz="1300" dirty="0"/>
          </a:p>
        </p:txBody>
      </p:sp>
      <p:sp>
        <p:nvSpPr>
          <p:cNvPr id="12" name="Text 10"/>
          <p:cNvSpPr/>
          <p:nvPr/>
        </p:nvSpPr>
        <p:spPr>
          <a:xfrm>
            <a:off x="320040" y="1069848"/>
            <a:ext cx="8503920" cy="237744"/>
          </a:xfrm>
          <a:prstGeom prst="rect">
            <a:avLst/>
          </a:prstGeom>
          <a:noFill/>
          <a:ln/>
        </p:spPr>
        <p:txBody>
          <a:bodyPr wrap="square" rtlCol="0" anchor="ctr"/>
          <a:lstStyle/>
          <a:p>
            <a:pPr marL="0" indent="0">
              <a:buNone/>
            </a:pPr>
            <a:r>
              <a:rPr lang="en-US" sz="950" i="1" dirty="0">
                <a:solidFill>
                  <a:srgbClr val="1A1A2E"/>
                </a:solidFill>
                <a:latin typeface="Calibri" pitchFamily="34" charset="0"/>
                <a:ea typeface="Calibri" pitchFamily="34" charset="-122"/>
                <a:cs typeface="Calibri" pitchFamily="34" charset="-120"/>
              </a:rPr>
              <a:t>Three complementary ML algorithms deployed on Azure ML — each targeting a different clinical prediction task.</a:t>
            </a:r>
            <a:endParaRPr lang="en-US" sz="950" dirty="0"/>
          </a:p>
        </p:txBody>
      </p:sp>
      <p:sp>
        <p:nvSpPr>
          <p:cNvPr id="13" name="Shape 11"/>
          <p:cNvSpPr/>
          <p:nvPr/>
        </p:nvSpPr>
        <p:spPr>
          <a:xfrm>
            <a:off x="320040" y="1353312"/>
            <a:ext cx="8503920" cy="274320"/>
          </a:xfrm>
          <a:prstGeom prst="rect">
            <a:avLst/>
          </a:prstGeom>
          <a:solidFill>
            <a:srgbClr val="1D4ED8"/>
          </a:solidFill>
          <a:ln w="12700">
            <a:solidFill>
              <a:srgbClr val="1D4ED8"/>
            </a:solidFill>
            <a:prstDash val="solid"/>
          </a:ln>
        </p:spPr>
      </p:sp>
      <p:sp>
        <p:nvSpPr>
          <p:cNvPr id="14" name="Text 12"/>
          <p:cNvSpPr/>
          <p:nvPr/>
        </p:nvSpPr>
        <p:spPr>
          <a:xfrm>
            <a:off x="411480" y="1353312"/>
            <a:ext cx="8321040" cy="274320"/>
          </a:xfrm>
          <a:prstGeom prst="rect">
            <a:avLst/>
          </a:prstGeom>
          <a:noFill/>
          <a:ln/>
        </p:spPr>
        <p:txBody>
          <a:bodyPr wrap="square" lIns="0" tIns="0" rIns="0" bIns="0" rtlCol="0" anchor="ctr"/>
          <a:lstStyle/>
          <a:p>
            <a:pPr marL="0" indent="0">
              <a:buNone/>
            </a:pPr>
            <a:r>
              <a:rPr lang="en-US" sz="950" b="1" dirty="0">
                <a:solidFill>
                  <a:srgbClr val="1A1A2E"/>
                </a:solidFill>
                <a:latin typeface="Calibri" pitchFamily="34" charset="0"/>
                <a:ea typeface="Calibri" pitchFamily="34" charset="-122"/>
                <a:cs typeface="Calibri" pitchFamily="34" charset="-120"/>
              </a:rPr>
              <a:t>Random Forest Classifier — Readmission Prediction</a:t>
            </a:r>
            <a:endParaRPr lang="en-US" sz="950" dirty="0"/>
          </a:p>
        </p:txBody>
      </p:sp>
      <p:sp>
        <p:nvSpPr>
          <p:cNvPr id="15" name="Shape 13"/>
          <p:cNvSpPr/>
          <p:nvPr/>
        </p:nvSpPr>
        <p:spPr>
          <a:xfrm>
            <a:off x="320040" y="1627632"/>
            <a:ext cx="2103120" cy="1463040"/>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16" name="Shape 14"/>
          <p:cNvSpPr/>
          <p:nvPr/>
        </p:nvSpPr>
        <p:spPr>
          <a:xfrm>
            <a:off x="320040" y="1627632"/>
            <a:ext cx="2103120" cy="219456"/>
          </a:xfrm>
          <a:prstGeom prst="rect">
            <a:avLst/>
          </a:prstGeom>
          <a:solidFill>
            <a:srgbClr val="F0F4FF"/>
          </a:solidFill>
          <a:ln w="12700">
            <a:solidFill>
              <a:srgbClr val="F0F4FA"/>
            </a:solidFill>
            <a:prstDash val="solid"/>
          </a:ln>
        </p:spPr>
      </p:sp>
      <p:sp>
        <p:nvSpPr>
          <p:cNvPr id="17" name="Text 15"/>
          <p:cNvSpPr/>
          <p:nvPr/>
        </p:nvSpPr>
        <p:spPr>
          <a:xfrm>
            <a:off x="384048" y="1645920"/>
            <a:ext cx="1975104" cy="182880"/>
          </a:xfrm>
          <a:prstGeom prst="rect">
            <a:avLst/>
          </a:prstGeom>
          <a:noFill/>
          <a:ln/>
        </p:spPr>
        <p:txBody>
          <a:bodyPr wrap="square" lIns="0" tIns="0" rIns="0" bIns="0" rtlCol="0" anchor="ctr"/>
          <a:lstStyle/>
          <a:p>
            <a:pPr marL="0" indent="0">
              <a:buNone/>
            </a:pPr>
            <a:r>
              <a:rPr lang="en-US" sz="800" b="1" dirty="0">
                <a:solidFill>
                  <a:srgbClr val="1D4ED8"/>
                </a:solidFill>
                <a:latin typeface="Calibri" pitchFamily="34" charset="0"/>
                <a:ea typeface="Calibri" pitchFamily="34" charset="-122"/>
                <a:cs typeface="Calibri" pitchFamily="34" charset="-120"/>
              </a:rPr>
              <a:t>Algorithm Selection</a:t>
            </a:r>
            <a:endParaRPr lang="en-US" sz="800" dirty="0"/>
          </a:p>
        </p:txBody>
      </p:sp>
      <p:sp>
        <p:nvSpPr>
          <p:cNvPr id="18" name="Text 16"/>
          <p:cNvSpPr/>
          <p:nvPr/>
        </p:nvSpPr>
        <p:spPr>
          <a:xfrm>
            <a:off x="384048" y="1865376"/>
            <a:ext cx="1975104" cy="1188720"/>
          </a:xfrm>
          <a:prstGeom prst="rect">
            <a:avLst/>
          </a:prstGeom>
          <a:noFill/>
          <a:ln/>
        </p:spPr>
        <p:txBody>
          <a:bodyPr wrap="square" rtlCol="0" anchor="t"/>
          <a:lstStyle/>
          <a:p>
            <a:pPr marL="0" indent="0">
              <a:buNone/>
            </a:pPr>
            <a:r>
              <a:rPr lang="en-US" sz="780" dirty="0">
                <a:solidFill>
                  <a:srgbClr val="1A1A2E"/>
                </a:solidFill>
                <a:latin typeface="Calibri" pitchFamily="34" charset="0"/>
                <a:ea typeface="Calibri" pitchFamily="34" charset="-122"/>
                <a:cs typeface="Calibri" pitchFamily="34" charset="-120"/>
              </a:rPr>
              <a:t>Ensemble of 100 decision trees chosen for 30-day hospital readmission prediction. Handles mixed data types (numerical vitals + categorical diagnosis codes) without extensive preprocessing. Outperforms Logistic Regression by 9% on clinical validation data.</a:t>
            </a:r>
            <a:endParaRPr lang="en-US" sz="780" dirty="0"/>
          </a:p>
        </p:txBody>
      </p:sp>
      <p:sp>
        <p:nvSpPr>
          <p:cNvPr id="19" name="Shape 17"/>
          <p:cNvSpPr/>
          <p:nvPr/>
        </p:nvSpPr>
        <p:spPr>
          <a:xfrm>
            <a:off x="2450592" y="1627632"/>
            <a:ext cx="2103120" cy="1463040"/>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20" name="Shape 18"/>
          <p:cNvSpPr/>
          <p:nvPr/>
        </p:nvSpPr>
        <p:spPr>
          <a:xfrm>
            <a:off x="2450592" y="1627632"/>
            <a:ext cx="2103120" cy="219456"/>
          </a:xfrm>
          <a:prstGeom prst="rect">
            <a:avLst/>
          </a:prstGeom>
          <a:solidFill>
            <a:srgbClr val="F0F4FF"/>
          </a:solidFill>
          <a:ln w="12700">
            <a:solidFill>
              <a:srgbClr val="F0F4FA"/>
            </a:solidFill>
            <a:prstDash val="solid"/>
          </a:ln>
        </p:spPr>
      </p:sp>
      <p:sp>
        <p:nvSpPr>
          <p:cNvPr id="21" name="Text 19"/>
          <p:cNvSpPr/>
          <p:nvPr/>
        </p:nvSpPr>
        <p:spPr>
          <a:xfrm>
            <a:off x="2514600" y="1645920"/>
            <a:ext cx="1975104" cy="182880"/>
          </a:xfrm>
          <a:prstGeom prst="rect">
            <a:avLst/>
          </a:prstGeom>
          <a:noFill/>
          <a:ln/>
        </p:spPr>
        <p:txBody>
          <a:bodyPr wrap="square" lIns="0" tIns="0" rIns="0" bIns="0" rtlCol="0" anchor="ctr"/>
          <a:lstStyle/>
          <a:p>
            <a:pPr marL="0" indent="0">
              <a:buNone/>
            </a:pPr>
            <a:r>
              <a:rPr lang="en-US" sz="800" b="1" dirty="0">
                <a:solidFill>
                  <a:srgbClr val="1D4ED8"/>
                </a:solidFill>
                <a:latin typeface="Calibri" pitchFamily="34" charset="0"/>
                <a:ea typeface="Calibri" pitchFamily="34" charset="-122"/>
                <a:cs typeface="Calibri" pitchFamily="34" charset="-120"/>
              </a:rPr>
              <a:t>Data Input</a:t>
            </a:r>
            <a:endParaRPr lang="en-US" sz="800" dirty="0"/>
          </a:p>
        </p:txBody>
      </p:sp>
      <p:sp>
        <p:nvSpPr>
          <p:cNvPr id="22" name="Text 20"/>
          <p:cNvSpPr/>
          <p:nvPr/>
        </p:nvSpPr>
        <p:spPr>
          <a:xfrm>
            <a:off x="2514600" y="1865376"/>
            <a:ext cx="1975104" cy="1188720"/>
          </a:xfrm>
          <a:prstGeom prst="rect">
            <a:avLst/>
          </a:prstGeom>
          <a:noFill/>
          <a:ln/>
        </p:spPr>
        <p:txBody>
          <a:bodyPr wrap="square" rtlCol="0" anchor="t"/>
          <a:lstStyle/>
          <a:p>
            <a:pPr marL="0" indent="0">
              <a:buNone/>
            </a:pPr>
            <a:r>
              <a:rPr lang="en-US" sz="780" dirty="0">
                <a:solidFill>
                  <a:srgbClr val="1A1A2E"/>
                </a:solidFill>
                <a:latin typeface="Calibri" pitchFamily="34" charset="0"/>
                <a:ea typeface="Calibri" pitchFamily="34" charset="-122"/>
                <a:cs typeface="Calibri" pitchFamily="34" charset="-120"/>
              </a:rPr>
              <a:t>Patient age, primary ICD-10 diagnosis codes, medication count, HbA1c, blood pressure, comorbidity score (Charlson Index), prior 12-month hospitalization frequency, and discharge disposition codes as input features.</a:t>
            </a:r>
            <a:endParaRPr lang="en-US" sz="780" dirty="0"/>
          </a:p>
        </p:txBody>
      </p:sp>
      <p:sp>
        <p:nvSpPr>
          <p:cNvPr id="23" name="Shape 21"/>
          <p:cNvSpPr/>
          <p:nvPr/>
        </p:nvSpPr>
        <p:spPr>
          <a:xfrm>
            <a:off x="4581144" y="1627632"/>
            <a:ext cx="2103120" cy="1463040"/>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24" name="Shape 22"/>
          <p:cNvSpPr/>
          <p:nvPr/>
        </p:nvSpPr>
        <p:spPr>
          <a:xfrm>
            <a:off x="4581144" y="1627632"/>
            <a:ext cx="2103120" cy="219456"/>
          </a:xfrm>
          <a:prstGeom prst="rect">
            <a:avLst/>
          </a:prstGeom>
          <a:solidFill>
            <a:srgbClr val="F0F4FF"/>
          </a:solidFill>
          <a:ln w="12700">
            <a:solidFill>
              <a:srgbClr val="F0F4FA"/>
            </a:solidFill>
            <a:prstDash val="solid"/>
          </a:ln>
        </p:spPr>
      </p:sp>
      <p:sp>
        <p:nvSpPr>
          <p:cNvPr id="25" name="Text 23"/>
          <p:cNvSpPr/>
          <p:nvPr/>
        </p:nvSpPr>
        <p:spPr>
          <a:xfrm>
            <a:off x="4645152" y="1645920"/>
            <a:ext cx="1975104" cy="182880"/>
          </a:xfrm>
          <a:prstGeom prst="rect">
            <a:avLst/>
          </a:prstGeom>
          <a:noFill/>
          <a:ln/>
        </p:spPr>
        <p:txBody>
          <a:bodyPr wrap="square" lIns="0" tIns="0" rIns="0" bIns="0" rtlCol="0" anchor="ctr"/>
          <a:lstStyle/>
          <a:p>
            <a:pPr marL="0" indent="0">
              <a:buNone/>
            </a:pPr>
            <a:r>
              <a:rPr lang="en-US" sz="800" b="1" dirty="0">
                <a:solidFill>
                  <a:srgbClr val="1D4ED8"/>
                </a:solidFill>
                <a:latin typeface="Calibri" pitchFamily="34" charset="0"/>
                <a:ea typeface="Calibri" pitchFamily="34" charset="-122"/>
                <a:cs typeface="Calibri" pitchFamily="34" charset="-120"/>
              </a:rPr>
              <a:t>Training Process</a:t>
            </a:r>
            <a:endParaRPr lang="en-US" sz="800" dirty="0"/>
          </a:p>
        </p:txBody>
      </p:sp>
      <p:sp>
        <p:nvSpPr>
          <p:cNvPr id="26" name="Text 24"/>
          <p:cNvSpPr/>
          <p:nvPr/>
        </p:nvSpPr>
        <p:spPr>
          <a:xfrm>
            <a:off x="4645152" y="1865376"/>
            <a:ext cx="1975104" cy="1188720"/>
          </a:xfrm>
          <a:prstGeom prst="rect">
            <a:avLst/>
          </a:prstGeom>
          <a:noFill/>
          <a:ln/>
        </p:spPr>
        <p:txBody>
          <a:bodyPr wrap="square" rtlCol="0" anchor="t"/>
          <a:lstStyle/>
          <a:p>
            <a:pPr marL="0" indent="0">
              <a:buNone/>
            </a:pPr>
            <a:r>
              <a:rPr lang="en-US" sz="780" dirty="0">
                <a:solidFill>
                  <a:srgbClr val="1A1A2E"/>
                </a:solidFill>
                <a:latin typeface="Calibri" pitchFamily="34" charset="0"/>
                <a:ea typeface="Calibri" pitchFamily="34" charset="-122"/>
                <a:cs typeface="Calibri" pitchFamily="34" charset="-120"/>
              </a:rPr>
              <a:t>80/20 stratified train-test split. 5-fold cross-validation. Grid Search CV over n_estimators (50–200), max_depth (5–20), min_samples_leaf (1–5). SMOTE applied for class imbalance. Training time: 3.2 minutes on standard CPU hardware.</a:t>
            </a:r>
            <a:endParaRPr lang="en-US" sz="780" dirty="0"/>
          </a:p>
        </p:txBody>
      </p:sp>
      <p:sp>
        <p:nvSpPr>
          <p:cNvPr id="27" name="Shape 25"/>
          <p:cNvSpPr/>
          <p:nvPr/>
        </p:nvSpPr>
        <p:spPr>
          <a:xfrm>
            <a:off x="6711696" y="1627632"/>
            <a:ext cx="2103120" cy="1463040"/>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28" name="Shape 26"/>
          <p:cNvSpPr/>
          <p:nvPr/>
        </p:nvSpPr>
        <p:spPr>
          <a:xfrm>
            <a:off x="6711696" y="1627632"/>
            <a:ext cx="2103120" cy="219456"/>
          </a:xfrm>
          <a:prstGeom prst="rect">
            <a:avLst/>
          </a:prstGeom>
          <a:solidFill>
            <a:srgbClr val="F0F4FF"/>
          </a:solidFill>
          <a:ln w="12700">
            <a:solidFill>
              <a:srgbClr val="F0F4FA"/>
            </a:solidFill>
            <a:prstDash val="solid"/>
          </a:ln>
        </p:spPr>
      </p:sp>
      <p:sp>
        <p:nvSpPr>
          <p:cNvPr id="29" name="Text 27"/>
          <p:cNvSpPr/>
          <p:nvPr/>
        </p:nvSpPr>
        <p:spPr>
          <a:xfrm>
            <a:off x="6775704" y="1645920"/>
            <a:ext cx="1975104" cy="182880"/>
          </a:xfrm>
          <a:prstGeom prst="rect">
            <a:avLst/>
          </a:prstGeom>
          <a:noFill/>
          <a:ln/>
        </p:spPr>
        <p:txBody>
          <a:bodyPr wrap="square" lIns="0" tIns="0" rIns="0" bIns="0" rtlCol="0" anchor="ctr"/>
          <a:lstStyle/>
          <a:p>
            <a:pPr marL="0" indent="0">
              <a:buNone/>
            </a:pPr>
            <a:r>
              <a:rPr lang="en-US" sz="800" b="1" dirty="0">
                <a:solidFill>
                  <a:srgbClr val="1D4ED8"/>
                </a:solidFill>
                <a:latin typeface="Calibri" pitchFamily="34" charset="0"/>
                <a:ea typeface="Calibri" pitchFamily="34" charset="-122"/>
                <a:cs typeface="Calibri" pitchFamily="34" charset="-120"/>
              </a:rPr>
              <a:t>Prediction Process</a:t>
            </a:r>
            <a:endParaRPr lang="en-US" sz="800" dirty="0"/>
          </a:p>
        </p:txBody>
      </p:sp>
      <p:sp>
        <p:nvSpPr>
          <p:cNvPr id="30" name="Text 28"/>
          <p:cNvSpPr/>
          <p:nvPr/>
        </p:nvSpPr>
        <p:spPr>
          <a:xfrm>
            <a:off x="6775704" y="1865376"/>
            <a:ext cx="1975104" cy="1188720"/>
          </a:xfrm>
          <a:prstGeom prst="rect">
            <a:avLst/>
          </a:prstGeom>
          <a:noFill/>
          <a:ln/>
        </p:spPr>
        <p:txBody>
          <a:bodyPr wrap="square" rtlCol="0" anchor="t"/>
          <a:lstStyle/>
          <a:p>
            <a:pPr marL="0" indent="0">
              <a:buNone/>
            </a:pPr>
            <a:r>
              <a:rPr lang="en-US" sz="780" dirty="0">
                <a:solidFill>
                  <a:srgbClr val="1A1A2E"/>
                </a:solidFill>
                <a:latin typeface="Calibri" pitchFamily="34" charset="0"/>
                <a:ea typeface="Calibri" pitchFamily="34" charset="-122"/>
                <a:cs typeface="Calibri" pitchFamily="34" charset="-120"/>
              </a:rPr>
              <a:t>Batch scoring of all discharged patients nightly via Azure ML REST endpoint. Returns risk probability 0–1. Patients scoring &gt;0.70 appear in care coordinator daily intervention list with top 5 contributing risk factors highlighted.</a:t>
            </a:r>
            <a:endParaRPr lang="en-US" sz="780" dirty="0"/>
          </a:p>
        </p:txBody>
      </p:sp>
      <p:sp>
        <p:nvSpPr>
          <p:cNvPr id="31" name="Shape 29"/>
          <p:cNvSpPr/>
          <p:nvPr/>
        </p:nvSpPr>
        <p:spPr>
          <a:xfrm>
            <a:off x="320040" y="3163824"/>
            <a:ext cx="8503920" cy="274320"/>
          </a:xfrm>
          <a:prstGeom prst="rect">
            <a:avLst/>
          </a:prstGeom>
          <a:solidFill>
            <a:srgbClr val="0D9488"/>
          </a:solidFill>
          <a:ln w="12700">
            <a:solidFill>
              <a:srgbClr val="0D9488"/>
            </a:solidFill>
            <a:prstDash val="solid"/>
          </a:ln>
        </p:spPr>
      </p:sp>
      <p:sp>
        <p:nvSpPr>
          <p:cNvPr id="32" name="Text 30"/>
          <p:cNvSpPr/>
          <p:nvPr/>
        </p:nvSpPr>
        <p:spPr>
          <a:xfrm>
            <a:off x="411480" y="3163824"/>
            <a:ext cx="8321040" cy="274320"/>
          </a:xfrm>
          <a:prstGeom prst="rect">
            <a:avLst/>
          </a:prstGeom>
          <a:noFill/>
          <a:ln/>
        </p:spPr>
        <p:txBody>
          <a:bodyPr wrap="square" lIns="0" tIns="0" rIns="0" bIns="0" rtlCol="0" anchor="ctr"/>
          <a:lstStyle/>
          <a:p>
            <a:pPr marL="0" indent="0">
              <a:buNone/>
            </a:pPr>
            <a:r>
              <a:rPr lang="en-US" sz="950" b="1" dirty="0">
                <a:solidFill>
                  <a:srgbClr val="1A1A2E"/>
                </a:solidFill>
                <a:latin typeface="Calibri" pitchFamily="34" charset="0"/>
                <a:ea typeface="Calibri" pitchFamily="34" charset="-122"/>
                <a:cs typeface="Calibri" pitchFamily="34" charset="-120"/>
              </a:rPr>
              <a:t>K-Means Clustering — Patient Risk Stratification</a:t>
            </a:r>
            <a:endParaRPr lang="en-US" sz="950" dirty="0"/>
          </a:p>
        </p:txBody>
      </p:sp>
      <p:sp>
        <p:nvSpPr>
          <p:cNvPr id="33" name="Shape 31"/>
          <p:cNvSpPr/>
          <p:nvPr/>
        </p:nvSpPr>
        <p:spPr>
          <a:xfrm>
            <a:off x="320040" y="3438144"/>
            <a:ext cx="2103120" cy="1463040"/>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34" name="Shape 32"/>
          <p:cNvSpPr/>
          <p:nvPr/>
        </p:nvSpPr>
        <p:spPr>
          <a:xfrm>
            <a:off x="320040" y="3438144"/>
            <a:ext cx="2103120" cy="219456"/>
          </a:xfrm>
          <a:prstGeom prst="rect">
            <a:avLst/>
          </a:prstGeom>
          <a:solidFill>
            <a:srgbClr val="F0F4FF"/>
          </a:solidFill>
          <a:ln w="12700">
            <a:solidFill>
              <a:srgbClr val="F0F4FA"/>
            </a:solidFill>
            <a:prstDash val="solid"/>
          </a:ln>
        </p:spPr>
      </p:sp>
      <p:sp>
        <p:nvSpPr>
          <p:cNvPr id="35" name="Text 33"/>
          <p:cNvSpPr/>
          <p:nvPr/>
        </p:nvSpPr>
        <p:spPr>
          <a:xfrm>
            <a:off x="384048" y="3456432"/>
            <a:ext cx="1975104" cy="182880"/>
          </a:xfrm>
          <a:prstGeom prst="rect">
            <a:avLst/>
          </a:prstGeom>
          <a:noFill/>
          <a:ln/>
        </p:spPr>
        <p:txBody>
          <a:bodyPr wrap="square" lIns="0" tIns="0" rIns="0" bIns="0" rtlCol="0" anchor="ctr"/>
          <a:lstStyle/>
          <a:p>
            <a:pPr marL="0" indent="0">
              <a:buNone/>
            </a:pPr>
            <a:r>
              <a:rPr lang="en-US" sz="800" b="1" dirty="0">
                <a:solidFill>
                  <a:srgbClr val="0D9488"/>
                </a:solidFill>
                <a:latin typeface="Calibri" pitchFamily="34" charset="0"/>
                <a:ea typeface="Calibri" pitchFamily="34" charset="-122"/>
                <a:cs typeface="Calibri" pitchFamily="34" charset="-120"/>
              </a:rPr>
              <a:t>Algorithm Selection</a:t>
            </a:r>
            <a:endParaRPr lang="en-US" sz="800" dirty="0"/>
          </a:p>
        </p:txBody>
      </p:sp>
      <p:sp>
        <p:nvSpPr>
          <p:cNvPr id="36" name="Text 34"/>
          <p:cNvSpPr/>
          <p:nvPr/>
        </p:nvSpPr>
        <p:spPr>
          <a:xfrm>
            <a:off x="384048" y="3675888"/>
            <a:ext cx="1975104" cy="1188720"/>
          </a:xfrm>
          <a:prstGeom prst="rect">
            <a:avLst/>
          </a:prstGeom>
          <a:noFill/>
          <a:ln/>
        </p:spPr>
        <p:txBody>
          <a:bodyPr wrap="square" rtlCol="0" anchor="t"/>
          <a:lstStyle/>
          <a:p>
            <a:pPr marL="0" indent="0">
              <a:buNone/>
            </a:pPr>
            <a:r>
              <a:rPr lang="en-US" sz="780" dirty="0">
                <a:solidFill>
                  <a:srgbClr val="1A1A2E"/>
                </a:solidFill>
                <a:latin typeface="Calibri" pitchFamily="34" charset="0"/>
                <a:ea typeface="Calibri" pitchFamily="34" charset="-122"/>
                <a:cs typeface="Calibri" pitchFamily="34" charset="-120"/>
              </a:rPr>
              <a:t>Unsupervised K-Means (k=4 tiers: Low/Moderate/High/Critical) for patient segmentation. Elbow method determined optimal k. Silhouette score = 0.72 validates meaningful clinical cluster separation.</a:t>
            </a:r>
            <a:endParaRPr lang="en-US" sz="780" dirty="0"/>
          </a:p>
        </p:txBody>
      </p:sp>
      <p:sp>
        <p:nvSpPr>
          <p:cNvPr id="37" name="Shape 35"/>
          <p:cNvSpPr/>
          <p:nvPr/>
        </p:nvSpPr>
        <p:spPr>
          <a:xfrm>
            <a:off x="2450592" y="3438144"/>
            <a:ext cx="2103120" cy="1463040"/>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38" name="Shape 36"/>
          <p:cNvSpPr/>
          <p:nvPr/>
        </p:nvSpPr>
        <p:spPr>
          <a:xfrm>
            <a:off x="2450592" y="3438144"/>
            <a:ext cx="2103120" cy="219456"/>
          </a:xfrm>
          <a:prstGeom prst="rect">
            <a:avLst/>
          </a:prstGeom>
          <a:solidFill>
            <a:srgbClr val="F0F4FF"/>
          </a:solidFill>
          <a:ln w="12700">
            <a:solidFill>
              <a:srgbClr val="F0F4FA"/>
            </a:solidFill>
            <a:prstDash val="solid"/>
          </a:ln>
        </p:spPr>
      </p:sp>
      <p:sp>
        <p:nvSpPr>
          <p:cNvPr id="39" name="Text 37"/>
          <p:cNvSpPr/>
          <p:nvPr/>
        </p:nvSpPr>
        <p:spPr>
          <a:xfrm>
            <a:off x="2514600" y="3456432"/>
            <a:ext cx="1975104" cy="182880"/>
          </a:xfrm>
          <a:prstGeom prst="rect">
            <a:avLst/>
          </a:prstGeom>
          <a:noFill/>
          <a:ln/>
        </p:spPr>
        <p:txBody>
          <a:bodyPr wrap="square" lIns="0" tIns="0" rIns="0" bIns="0" rtlCol="0" anchor="ctr"/>
          <a:lstStyle/>
          <a:p>
            <a:pPr marL="0" indent="0">
              <a:buNone/>
            </a:pPr>
            <a:r>
              <a:rPr lang="en-US" sz="800" b="1" dirty="0">
                <a:solidFill>
                  <a:srgbClr val="0D9488"/>
                </a:solidFill>
                <a:latin typeface="Calibri" pitchFamily="34" charset="0"/>
                <a:ea typeface="Calibri" pitchFamily="34" charset="-122"/>
                <a:cs typeface="Calibri" pitchFamily="34" charset="-120"/>
              </a:rPr>
              <a:t>Data Input</a:t>
            </a:r>
            <a:endParaRPr lang="en-US" sz="800" dirty="0"/>
          </a:p>
        </p:txBody>
      </p:sp>
      <p:sp>
        <p:nvSpPr>
          <p:cNvPr id="40" name="Text 38"/>
          <p:cNvSpPr/>
          <p:nvPr/>
        </p:nvSpPr>
        <p:spPr>
          <a:xfrm>
            <a:off x="2514600" y="3675888"/>
            <a:ext cx="1975104" cy="1188720"/>
          </a:xfrm>
          <a:prstGeom prst="rect">
            <a:avLst/>
          </a:prstGeom>
          <a:noFill/>
          <a:ln/>
        </p:spPr>
        <p:txBody>
          <a:bodyPr wrap="square" rtlCol="0" anchor="t"/>
          <a:lstStyle/>
          <a:p>
            <a:pPr marL="0" indent="0">
              <a:buNone/>
            </a:pPr>
            <a:r>
              <a:rPr lang="en-US" sz="780" dirty="0">
                <a:solidFill>
                  <a:srgbClr val="1A1A2E"/>
                </a:solidFill>
                <a:latin typeface="Calibri" pitchFamily="34" charset="0"/>
                <a:ea typeface="Calibri" pitchFamily="34" charset="-122"/>
                <a:cs typeface="Calibri" pitchFamily="34" charset="-120"/>
              </a:rPr>
              <a:t>Vital sign trend patterns (7-day rolling averages), medication adherence score, chronic disease markers (HbA1c, eGFR, LDL), hospital visit frequency in past 12 months, and age-adjusted comorbidity index as clustering features.</a:t>
            </a:r>
            <a:endParaRPr lang="en-US" sz="780" dirty="0"/>
          </a:p>
        </p:txBody>
      </p:sp>
      <p:sp>
        <p:nvSpPr>
          <p:cNvPr id="41" name="Shape 39"/>
          <p:cNvSpPr/>
          <p:nvPr/>
        </p:nvSpPr>
        <p:spPr>
          <a:xfrm>
            <a:off x="4581144" y="3438144"/>
            <a:ext cx="2103120" cy="1463040"/>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42" name="Shape 40"/>
          <p:cNvSpPr/>
          <p:nvPr/>
        </p:nvSpPr>
        <p:spPr>
          <a:xfrm>
            <a:off x="4581144" y="3438144"/>
            <a:ext cx="2103120" cy="219456"/>
          </a:xfrm>
          <a:prstGeom prst="rect">
            <a:avLst/>
          </a:prstGeom>
          <a:solidFill>
            <a:srgbClr val="F0F4FF"/>
          </a:solidFill>
          <a:ln w="12700">
            <a:solidFill>
              <a:srgbClr val="F0F4FA"/>
            </a:solidFill>
            <a:prstDash val="solid"/>
          </a:ln>
        </p:spPr>
      </p:sp>
      <p:sp>
        <p:nvSpPr>
          <p:cNvPr id="43" name="Text 41"/>
          <p:cNvSpPr/>
          <p:nvPr/>
        </p:nvSpPr>
        <p:spPr>
          <a:xfrm>
            <a:off x="4645152" y="3456432"/>
            <a:ext cx="1975104" cy="182880"/>
          </a:xfrm>
          <a:prstGeom prst="rect">
            <a:avLst/>
          </a:prstGeom>
          <a:noFill/>
          <a:ln/>
        </p:spPr>
        <p:txBody>
          <a:bodyPr wrap="square" lIns="0" tIns="0" rIns="0" bIns="0" rtlCol="0" anchor="ctr"/>
          <a:lstStyle/>
          <a:p>
            <a:pPr marL="0" indent="0">
              <a:buNone/>
            </a:pPr>
            <a:r>
              <a:rPr lang="en-US" sz="800" b="1" dirty="0">
                <a:solidFill>
                  <a:srgbClr val="0D9488"/>
                </a:solidFill>
                <a:latin typeface="Calibri" pitchFamily="34" charset="0"/>
                <a:ea typeface="Calibri" pitchFamily="34" charset="-122"/>
                <a:cs typeface="Calibri" pitchFamily="34" charset="-120"/>
              </a:rPr>
              <a:t>Training Process</a:t>
            </a:r>
            <a:endParaRPr lang="en-US" sz="800" dirty="0"/>
          </a:p>
        </p:txBody>
      </p:sp>
      <p:sp>
        <p:nvSpPr>
          <p:cNvPr id="44" name="Text 42"/>
          <p:cNvSpPr/>
          <p:nvPr/>
        </p:nvSpPr>
        <p:spPr>
          <a:xfrm>
            <a:off x="4645152" y="3675888"/>
            <a:ext cx="1975104" cy="1188720"/>
          </a:xfrm>
          <a:prstGeom prst="rect">
            <a:avLst/>
          </a:prstGeom>
          <a:noFill/>
          <a:ln/>
        </p:spPr>
        <p:txBody>
          <a:bodyPr wrap="square" rtlCol="0" anchor="t"/>
          <a:lstStyle/>
          <a:p>
            <a:pPr marL="0" indent="0">
              <a:buNone/>
            </a:pPr>
            <a:r>
              <a:rPr lang="en-US" sz="780" dirty="0">
                <a:solidFill>
                  <a:srgbClr val="1A1A2E"/>
                </a:solidFill>
                <a:latin typeface="Calibri" pitchFamily="34" charset="0"/>
                <a:ea typeface="Calibri" pitchFamily="34" charset="-122"/>
                <a:cs typeface="Calibri" pitchFamily="34" charset="-120"/>
              </a:rPr>
              <a:t>StandardScaler normalization applied before clustering. 300 k-means++ initializations to avoid local minima. Cluster profiles validated by hospital clinical committee for medical meaningfulness and actionability.</a:t>
            </a:r>
            <a:endParaRPr lang="en-US" sz="780" dirty="0"/>
          </a:p>
        </p:txBody>
      </p:sp>
      <p:sp>
        <p:nvSpPr>
          <p:cNvPr id="45" name="Shape 43"/>
          <p:cNvSpPr/>
          <p:nvPr/>
        </p:nvSpPr>
        <p:spPr>
          <a:xfrm>
            <a:off x="6711696" y="3438144"/>
            <a:ext cx="2103120" cy="1463040"/>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46" name="Shape 44"/>
          <p:cNvSpPr/>
          <p:nvPr/>
        </p:nvSpPr>
        <p:spPr>
          <a:xfrm>
            <a:off x="6711696" y="3438144"/>
            <a:ext cx="2103120" cy="219456"/>
          </a:xfrm>
          <a:prstGeom prst="rect">
            <a:avLst/>
          </a:prstGeom>
          <a:solidFill>
            <a:srgbClr val="F0F4FF"/>
          </a:solidFill>
          <a:ln w="12700">
            <a:solidFill>
              <a:srgbClr val="F0F4FA"/>
            </a:solidFill>
            <a:prstDash val="solid"/>
          </a:ln>
        </p:spPr>
      </p:sp>
      <p:sp>
        <p:nvSpPr>
          <p:cNvPr id="47" name="Text 45"/>
          <p:cNvSpPr/>
          <p:nvPr/>
        </p:nvSpPr>
        <p:spPr>
          <a:xfrm>
            <a:off x="6775704" y="3456432"/>
            <a:ext cx="1975104" cy="182880"/>
          </a:xfrm>
          <a:prstGeom prst="rect">
            <a:avLst/>
          </a:prstGeom>
          <a:noFill/>
          <a:ln/>
        </p:spPr>
        <p:txBody>
          <a:bodyPr wrap="square" lIns="0" tIns="0" rIns="0" bIns="0" rtlCol="0" anchor="ctr"/>
          <a:lstStyle/>
          <a:p>
            <a:pPr marL="0" indent="0">
              <a:buNone/>
            </a:pPr>
            <a:r>
              <a:rPr lang="en-US" sz="800" b="1" dirty="0">
                <a:solidFill>
                  <a:srgbClr val="0D9488"/>
                </a:solidFill>
                <a:latin typeface="Calibri" pitchFamily="34" charset="0"/>
                <a:ea typeface="Calibri" pitchFamily="34" charset="-122"/>
                <a:cs typeface="Calibri" pitchFamily="34" charset="-120"/>
              </a:rPr>
              <a:t>Prediction Process</a:t>
            </a:r>
            <a:endParaRPr lang="en-US" sz="800" dirty="0"/>
          </a:p>
        </p:txBody>
      </p:sp>
      <p:sp>
        <p:nvSpPr>
          <p:cNvPr id="48" name="Text 46"/>
          <p:cNvSpPr/>
          <p:nvPr/>
        </p:nvSpPr>
        <p:spPr>
          <a:xfrm>
            <a:off x="6775704" y="3675888"/>
            <a:ext cx="1975104" cy="1188720"/>
          </a:xfrm>
          <a:prstGeom prst="rect">
            <a:avLst/>
          </a:prstGeom>
          <a:noFill/>
          <a:ln/>
        </p:spPr>
        <p:txBody>
          <a:bodyPr wrap="square" rtlCol="0" anchor="t"/>
          <a:lstStyle/>
          <a:p>
            <a:pPr marL="0" indent="0">
              <a:buNone/>
            </a:pPr>
            <a:r>
              <a:rPr lang="en-US" sz="780" dirty="0">
                <a:solidFill>
                  <a:srgbClr val="1A1A2E"/>
                </a:solidFill>
                <a:latin typeface="Calibri" pitchFamily="34" charset="0"/>
                <a:ea typeface="Calibri" pitchFamily="34" charset="-122"/>
                <a:cs typeface="Calibri" pitchFamily="34" charset="-120"/>
              </a:rPr>
              <a:t>New patients assigned to risk cluster at admission. Cluster drives personalized alert thresholds in Power BI dashboard, medication reminder frequency, care pathway recommendations, and nursing visit scheduling priority.</a:t>
            </a:r>
            <a:endParaRPr lang="en-US" sz="78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01F5F"/>
          </a:solidFill>
          <a:ln w="12700">
            <a:solidFill>
              <a:srgbClr val="FFFFFF"/>
            </a:solidFill>
            <a:prstDash val="solid"/>
          </a:ln>
        </p:spPr>
      </p:sp>
      <p:sp>
        <p:nvSpPr>
          <p:cNvPr id="3" name="Shape 1"/>
          <p:cNvSpPr/>
          <p:nvPr/>
        </p:nvSpPr>
        <p:spPr>
          <a:xfrm>
            <a:off x="0" y="621792"/>
            <a:ext cx="9144000" cy="50292"/>
          </a:xfrm>
          <a:prstGeom prst="rect">
            <a:avLst/>
          </a:prstGeom>
          <a:solidFill>
            <a:srgbClr val="1E8449"/>
          </a:solidFill>
          <a:ln w="12700">
            <a:solidFill>
              <a:srgbClr val="1E8449"/>
            </a:solidFill>
            <a:prstDash val="solid"/>
          </a:ln>
        </p:spPr>
      </p:sp>
      <p:sp>
        <p:nvSpPr>
          <p:cNvPr id="4" name="Text 2"/>
          <p:cNvSpPr/>
          <p:nvPr/>
        </p:nvSpPr>
        <p:spPr>
          <a:xfrm>
            <a:off x="292608" y="45720"/>
            <a:ext cx="7498080" cy="54864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Results &amp; Outcomes</a:t>
            </a:r>
            <a:endParaRPr lang="en-US" sz="1900" dirty="0"/>
          </a:p>
        </p:txBody>
      </p:sp>
      <p:sp>
        <p:nvSpPr>
          <p:cNvPr id="5" name="Shape 3"/>
          <p:cNvSpPr/>
          <p:nvPr/>
        </p:nvSpPr>
        <p:spPr>
          <a:xfrm>
            <a:off x="7818120" y="82296"/>
            <a:ext cx="1234440" cy="457200"/>
          </a:xfrm>
          <a:prstGeom prst="rect">
            <a:avLst/>
          </a:prstGeom>
          <a:solidFill>
            <a:srgbClr val="E8EFF8"/>
          </a:solidFill>
          <a:ln w="12700">
            <a:solidFill>
              <a:srgbClr val="1D4ED8"/>
            </a:solidFill>
            <a:prstDash val="solid"/>
          </a:ln>
        </p:spPr>
      </p:sp>
      <p:sp>
        <p:nvSpPr>
          <p:cNvPr id="6" name="Text 4"/>
          <p:cNvSpPr/>
          <p:nvPr/>
        </p:nvSpPr>
        <p:spPr>
          <a:xfrm>
            <a:off x="7818120" y="82296"/>
            <a:ext cx="1234440" cy="457200"/>
          </a:xfrm>
          <a:prstGeom prst="rect">
            <a:avLst/>
          </a:prstGeom>
          <a:noFill/>
          <a:ln/>
        </p:spPr>
        <p:txBody>
          <a:bodyPr wrap="square" rtlCol="0" anchor="ctr"/>
          <a:lstStyle/>
          <a:p>
            <a:pPr marL="0" indent="0" algn="ctr">
              <a:buNone/>
            </a:pPr>
            <a:r>
              <a:rPr lang="en-US" sz="700" b="1" dirty="0">
                <a:solidFill>
                  <a:srgbClr val="1D4ED8"/>
                </a:solidFill>
                <a:latin typeface="Calibri" pitchFamily="34" charset="0"/>
                <a:ea typeface="Calibri" pitchFamily="34" charset="-122"/>
                <a:cs typeface="Calibri" pitchFamily="34" charset="-120"/>
              </a:rPr>
              <a:t>Microsoft</a:t>
            </a:r>
            <a:endParaRPr lang="en-US" sz="700" dirty="0"/>
          </a:p>
          <a:p>
            <a:pPr marL="0" indent="0" algn="ctr">
              <a:buNone/>
            </a:pPr>
            <a:r>
              <a:rPr lang="en-US" sz="700" b="1" dirty="0">
                <a:solidFill>
                  <a:srgbClr val="1D4ED8"/>
                </a:solidFill>
                <a:latin typeface="Calibri" pitchFamily="34" charset="0"/>
                <a:ea typeface="Calibri" pitchFamily="34" charset="-122"/>
                <a:cs typeface="Calibri" pitchFamily="34" charset="-120"/>
              </a:rPr>
              <a:t>Elevate GTU</a:t>
            </a:r>
            <a:endParaRPr lang="en-US" sz="700" dirty="0"/>
          </a:p>
        </p:txBody>
      </p:sp>
      <p:sp>
        <p:nvSpPr>
          <p:cNvPr id="7" name="Shape 5"/>
          <p:cNvSpPr/>
          <p:nvPr/>
        </p:nvSpPr>
        <p:spPr>
          <a:xfrm>
            <a:off x="0" y="4873752"/>
            <a:ext cx="9144000" cy="50292"/>
          </a:xfrm>
          <a:prstGeom prst="rect">
            <a:avLst/>
          </a:prstGeom>
          <a:solidFill>
            <a:srgbClr val="1E8449"/>
          </a:solidFill>
          <a:ln w="12700">
            <a:solidFill>
              <a:srgbClr val="1E8449"/>
            </a:solidFill>
            <a:prstDash val="solid"/>
          </a:ln>
        </p:spPr>
      </p:sp>
      <p:sp>
        <p:nvSpPr>
          <p:cNvPr id="8" name="Shape 6"/>
          <p:cNvSpPr/>
          <p:nvPr/>
        </p:nvSpPr>
        <p:spPr>
          <a:xfrm>
            <a:off x="0" y="4924044"/>
            <a:ext cx="9144000" cy="219456"/>
          </a:xfrm>
          <a:prstGeom prst="rect">
            <a:avLst/>
          </a:prstGeom>
          <a:solidFill>
            <a:srgbClr val="FFFFFF"/>
          </a:solidFill>
          <a:ln w="12700">
            <a:solidFill>
              <a:srgbClr val="FFFFFF"/>
            </a:solidFill>
            <a:prstDash val="solid"/>
          </a:ln>
        </p:spPr>
      </p:sp>
      <p:sp>
        <p:nvSpPr>
          <p:cNvPr id="9" name="Text 7"/>
          <p:cNvSpPr/>
          <p:nvPr/>
        </p:nvSpPr>
        <p:spPr>
          <a:xfrm>
            <a:off x="228600" y="4924044"/>
            <a:ext cx="8046720" cy="219456"/>
          </a:xfrm>
          <a:prstGeom prst="rect">
            <a:avLst/>
          </a:prstGeom>
          <a:noFill/>
          <a:ln/>
        </p:spPr>
        <p:txBody>
          <a:bodyPr wrap="square" lIns="0" tIns="0" rIns="0" bIns="0" rtlCol="0" anchor="ctr"/>
          <a:lstStyle/>
          <a:p>
            <a:pPr marL="0" indent="0">
              <a:buNone/>
            </a:pPr>
            <a:r>
              <a:rPr lang="en-US" sz="650" dirty="0">
                <a:solidFill>
                  <a:srgbClr val="7B9ABF"/>
                </a:solidFill>
                <a:latin typeface="Calibri" pitchFamily="34" charset="0"/>
                <a:ea typeface="Calibri" pitchFamily="34" charset="-122"/>
                <a:cs typeface="Calibri" pitchFamily="34" charset="-120"/>
              </a:rPr>
              <a:t>Microsoft Elevate Internship Project  |  Healthcare &amp; Medication Management System  |  GTU Jan–Apr 2026</a:t>
            </a:r>
            <a:endParaRPr lang="en-US" sz="650" dirty="0"/>
          </a:p>
        </p:txBody>
      </p:sp>
      <p:sp>
        <p:nvSpPr>
          <p:cNvPr id="10" name="Text 8"/>
          <p:cNvSpPr/>
          <p:nvPr/>
        </p:nvSpPr>
        <p:spPr>
          <a:xfrm>
            <a:off x="8275320" y="4924044"/>
            <a:ext cx="731520" cy="219456"/>
          </a:xfrm>
          <a:prstGeom prst="rect">
            <a:avLst/>
          </a:prstGeom>
          <a:noFill/>
          <a:ln/>
        </p:spPr>
        <p:txBody>
          <a:bodyPr wrap="square" lIns="0" tIns="0" rIns="0" bIns="0" rtlCol="0" anchor="ctr"/>
          <a:lstStyle/>
          <a:p>
            <a:pPr marL="0" indent="0" algn="r">
              <a:buNone/>
            </a:pPr>
            <a:r>
              <a:rPr lang="en-US" sz="700" b="1" dirty="0">
                <a:solidFill>
                  <a:srgbClr val="1A1A2E"/>
                </a:solidFill>
                <a:latin typeface="Calibri" pitchFamily="34" charset="0"/>
                <a:ea typeface="Calibri" pitchFamily="34" charset="-122"/>
                <a:cs typeface="Calibri" pitchFamily="34" charset="-120"/>
              </a:rPr>
              <a:t>19 / 21</a:t>
            </a:r>
            <a:endParaRPr lang="en-US" sz="700" dirty="0"/>
          </a:p>
        </p:txBody>
      </p:sp>
      <p:sp>
        <p:nvSpPr>
          <p:cNvPr id="11" name="Text 9"/>
          <p:cNvSpPr/>
          <p:nvPr/>
        </p:nvSpPr>
        <p:spPr>
          <a:xfrm>
            <a:off x="320040" y="777240"/>
            <a:ext cx="8503920" cy="274320"/>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Measured Impact &amp; System Performance</a:t>
            </a:r>
            <a:endParaRPr lang="en-US" sz="1300" dirty="0"/>
          </a:p>
        </p:txBody>
      </p:sp>
      <p:sp>
        <p:nvSpPr>
          <p:cNvPr id="12" name="Shape 10"/>
          <p:cNvSpPr/>
          <p:nvPr/>
        </p:nvSpPr>
        <p:spPr>
          <a:xfrm>
            <a:off x="320040" y="1078992"/>
            <a:ext cx="2029968" cy="914400"/>
          </a:xfrm>
          <a:prstGeom prst="rect">
            <a:avLst/>
          </a:prstGeom>
          <a:solidFill>
            <a:srgbClr val="DC2626"/>
          </a:solidFill>
          <a:ln w="12700">
            <a:solidFill>
              <a:srgbClr val="DC2626"/>
            </a:solidFill>
            <a:prstDash val="solid"/>
          </a:ln>
          <a:effectLst>
            <a:outerShdw blurRad="63500" dist="25400" dir="8100000" algn="bl" rotWithShape="0">
              <a:srgbClr val="000000">
                <a:alpha val="10000"/>
              </a:srgbClr>
            </a:outerShdw>
          </a:effectLst>
        </p:spPr>
      </p:sp>
      <p:sp>
        <p:nvSpPr>
          <p:cNvPr id="13" name="Text 11"/>
          <p:cNvSpPr/>
          <p:nvPr/>
        </p:nvSpPr>
        <p:spPr>
          <a:xfrm>
            <a:off x="320040" y="1078992"/>
            <a:ext cx="2029968" cy="548640"/>
          </a:xfrm>
          <a:prstGeom prst="rect">
            <a:avLst/>
          </a:prstGeom>
          <a:noFill/>
          <a:ln/>
        </p:spPr>
        <p:txBody>
          <a:bodyPr wrap="square" rtlCol="0" anchor="ctr"/>
          <a:lstStyle/>
          <a:p>
            <a:pPr marL="0" indent="0" algn="ctr">
              <a:buNone/>
            </a:pPr>
            <a:r>
              <a:rPr lang="en-US" sz="2600" b="1" dirty="0">
                <a:solidFill>
                  <a:srgbClr val="1A1A2E"/>
                </a:solidFill>
                <a:latin typeface="Calibri" pitchFamily="34" charset="0"/>
                <a:ea typeface="Calibri" pitchFamily="34" charset="-122"/>
                <a:cs typeface="Calibri" pitchFamily="34" charset="-120"/>
              </a:rPr>
              <a:t>35%</a:t>
            </a:r>
            <a:endParaRPr lang="en-US" sz="2600" dirty="0"/>
          </a:p>
        </p:txBody>
      </p:sp>
      <p:sp>
        <p:nvSpPr>
          <p:cNvPr id="14" name="Text 12"/>
          <p:cNvSpPr/>
          <p:nvPr/>
        </p:nvSpPr>
        <p:spPr>
          <a:xfrm>
            <a:off x="320040" y="1627632"/>
            <a:ext cx="2029968" cy="365760"/>
          </a:xfrm>
          <a:prstGeom prst="rect">
            <a:avLst/>
          </a:prstGeom>
          <a:noFill/>
          <a:ln/>
        </p:spPr>
        <p:txBody>
          <a:bodyPr wrap="square" rtlCol="0" anchor="ctr"/>
          <a:lstStyle/>
          <a:p>
            <a:pPr marL="0" indent="0" algn="ctr">
              <a:buNone/>
            </a:pPr>
            <a:r>
              <a:rPr lang="en-US" sz="850" dirty="0">
                <a:solidFill>
                  <a:srgbClr val="1A1A2E"/>
                </a:solidFill>
                <a:latin typeface="Calibri" pitchFamily="34" charset="0"/>
                <a:ea typeface="Calibri" pitchFamily="34" charset="-122"/>
                <a:cs typeface="Calibri" pitchFamily="34" charset="-120"/>
              </a:rPr>
              <a:t>Medication Error</a:t>
            </a:r>
            <a:endParaRPr lang="en-US" sz="850" dirty="0"/>
          </a:p>
          <a:p>
            <a:pPr marL="0" indent="0" algn="ctr">
              <a:buNone/>
            </a:pPr>
            <a:r>
              <a:rPr lang="en-US" sz="850" dirty="0">
                <a:solidFill>
                  <a:srgbClr val="1A1A2E"/>
                </a:solidFill>
                <a:latin typeface="Calibri" pitchFamily="34" charset="0"/>
                <a:ea typeface="Calibri" pitchFamily="34" charset="-122"/>
                <a:cs typeface="Calibri" pitchFamily="34" charset="-120"/>
              </a:rPr>
              <a:t>Reduction</a:t>
            </a:r>
            <a:endParaRPr lang="en-US" sz="850" dirty="0"/>
          </a:p>
        </p:txBody>
      </p:sp>
      <p:sp>
        <p:nvSpPr>
          <p:cNvPr id="15" name="Shape 13"/>
          <p:cNvSpPr/>
          <p:nvPr/>
        </p:nvSpPr>
        <p:spPr>
          <a:xfrm>
            <a:off x="2496312" y="1078992"/>
            <a:ext cx="2029968" cy="914400"/>
          </a:xfrm>
          <a:prstGeom prst="rect">
            <a:avLst/>
          </a:prstGeom>
          <a:solidFill>
            <a:srgbClr val="1E8449"/>
          </a:solidFill>
          <a:ln w="12700">
            <a:solidFill>
              <a:srgbClr val="1E8449"/>
            </a:solidFill>
            <a:prstDash val="solid"/>
          </a:ln>
          <a:effectLst>
            <a:outerShdw blurRad="63500" dist="25400" dir="8100000" algn="bl" rotWithShape="0">
              <a:srgbClr val="000000">
                <a:alpha val="10000"/>
              </a:srgbClr>
            </a:outerShdw>
          </a:effectLst>
        </p:spPr>
      </p:sp>
      <p:sp>
        <p:nvSpPr>
          <p:cNvPr id="16" name="Text 14"/>
          <p:cNvSpPr/>
          <p:nvPr/>
        </p:nvSpPr>
        <p:spPr>
          <a:xfrm>
            <a:off x="2496312" y="1078992"/>
            <a:ext cx="2029968" cy="548640"/>
          </a:xfrm>
          <a:prstGeom prst="rect">
            <a:avLst/>
          </a:prstGeom>
          <a:noFill/>
          <a:ln/>
        </p:spPr>
        <p:txBody>
          <a:bodyPr wrap="square" rtlCol="0" anchor="ctr"/>
          <a:lstStyle/>
          <a:p>
            <a:pPr marL="0" indent="0" algn="ctr">
              <a:buNone/>
            </a:pPr>
            <a:r>
              <a:rPr lang="en-US" sz="2600" b="1" dirty="0">
                <a:solidFill>
                  <a:srgbClr val="1A1A2E"/>
                </a:solidFill>
                <a:latin typeface="Calibri" pitchFamily="34" charset="0"/>
                <a:ea typeface="Calibri" pitchFamily="34" charset="-122"/>
                <a:cs typeface="Calibri" pitchFamily="34" charset="-120"/>
              </a:rPr>
              <a:t>91%</a:t>
            </a:r>
            <a:endParaRPr lang="en-US" sz="2600" dirty="0"/>
          </a:p>
        </p:txBody>
      </p:sp>
      <p:sp>
        <p:nvSpPr>
          <p:cNvPr id="17" name="Text 15"/>
          <p:cNvSpPr/>
          <p:nvPr/>
        </p:nvSpPr>
        <p:spPr>
          <a:xfrm>
            <a:off x="2496312" y="1627632"/>
            <a:ext cx="2029968" cy="365760"/>
          </a:xfrm>
          <a:prstGeom prst="rect">
            <a:avLst/>
          </a:prstGeom>
          <a:noFill/>
          <a:ln/>
        </p:spPr>
        <p:txBody>
          <a:bodyPr wrap="square" rtlCol="0" anchor="ctr"/>
          <a:lstStyle/>
          <a:p>
            <a:pPr marL="0" indent="0" algn="ctr">
              <a:buNone/>
            </a:pPr>
            <a:r>
              <a:rPr lang="en-US" sz="850" dirty="0">
                <a:solidFill>
                  <a:srgbClr val="1A1A2E"/>
                </a:solidFill>
                <a:latin typeface="Calibri" pitchFamily="34" charset="0"/>
                <a:ea typeface="Calibri" pitchFamily="34" charset="-122"/>
                <a:cs typeface="Calibri" pitchFamily="34" charset="-120"/>
              </a:rPr>
              <a:t>ML Model</a:t>
            </a:r>
            <a:endParaRPr lang="en-US" sz="850" dirty="0"/>
          </a:p>
          <a:p>
            <a:pPr marL="0" indent="0" algn="ctr">
              <a:buNone/>
            </a:pPr>
            <a:r>
              <a:rPr lang="en-US" sz="850" dirty="0">
                <a:solidFill>
                  <a:srgbClr val="1A1A2E"/>
                </a:solidFill>
                <a:latin typeface="Calibri" pitchFamily="34" charset="0"/>
                <a:ea typeface="Calibri" pitchFamily="34" charset="-122"/>
                <a:cs typeface="Calibri" pitchFamily="34" charset="-120"/>
              </a:rPr>
              <a:t>Accuracy</a:t>
            </a:r>
            <a:endParaRPr lang="en-US" sz="850" dirty="0"/>
          </a:p>
        </p:txBody>
      </p:sp>
      <p:sp>
        <p:nvSpPr>
          <p:cNvPr id="18" name="Shape 16"/>
          <p:cNvSpPr/>
          <p:nvPr/>
        </p:nvSpPr>
        <p:spPr>
          <a:xfrm>
            <a:off x="4672584" y="1078992"/>
            <a:ext cx="2029968" cy="914400"/>
          </a:xfrm>
          <a:prstGeom prst="rect">
            <a:avLst/>
          </a:prstGeom>
          <a:solidFill>
            <a:srgbClr val="1D4ED8"/>
          </a:solidFill>
          <a:ln w="12700">
            <a:solidFill>
              <a:srgbClr val="1D4ED8"/>
            </a:solidFill>
            <a:prstDash val="solid"/>
          </a:ln>
          <a:effectLst>
            <a:outerShdw blurRad="63500" dist="25400" dir="8100000" algn="bl" rotWithShape="0">
              <a:srgbClr val="000000">
                <a:alpha val="10000"/>
              </a:srgbClr>
            </a:outerShdw>
          </a:effectLst>
        </p:spPr>
      </p:sp>
      <p:sp>
        <p:nvSpPr>
          <p:cNvPr id="19" name="Text 17"/>
          <p:cNvSpPr/>
          <p:nvPr/>
        </p:nvSpPr>
        <p:spPr>
          <a:xfrm>
            <a:off x="4672584" y="1078992"/>
            <a:ext cx="2029968" cy="548640"/>
          </a:xfrm>
          <a:prstGeom prst="rect">
            <a:avLst/>
          </a:prstGeom>
          <a:noFill/>
          <a:ln/>
        </p:spPr>
        <p:txBody>
          <a:bodyPr wrap="square" rtlCol="0" anchor="ctr"/>
          <a:lstStyle/>
          <a:p>
            <a:pPr marL="0" indent="0" algn="ctr">
              <a:buNone/>
            </a:pPr>
            <a:r>
              <a:rPr lang="en-US" sz="2600" b="1" dirty="0">
                <a:solidFill>
                  <a:srgbClr val="1A1A2E"/>
                </a:solidFill>
                <a:latin typeface="Calibri" pitchFamily="34" charset="0"/>
                <a:ea typeface="Calibri" pitchFamily="34" charset="-122"/>
                <a:cs typeface="Calibri" pitchFamily="34" charset="-120"/>
              </a:rPr>
              <a:t>2.1s</a:t>
            </a:r>
            <a:endParaRPr lang="en-US" sz="2600" dirty="0"/>
          </a:p>
        </p:txBody>
      </p:sp>
      <p:sp>
        <p:nvSpPr>
          <p:cNvPr id="20" name="Text 18"/>
          <p:cNvSpPr/>
          <p:nvPr/>
        </p:nvSpPr>
        <p:spPr>
          <a:xfrm>
            <a:off x="4672584" y="1627632"/>
            <a:ext cx="2029968" cy="365760"/>
          </a:xfrm>
          <a:prstGeom prst="rect">
            <a:avLst/>
          </a:prstGeom>
          <a:noFill/>
          <a:ln/>
        </p:spPr>
        <p:txBody>
          <a:bodyPr wrap="square" rtlCol="0" anchor="ctr"/>
          <a:lstStyle/>
          <a:p>
            <a:pPr marL="0" indent="0" algn="ctr">
              <a:buNone/>
            </a:pPr>
            <a:r>
              <a:rPr lang="en-US" sz="850" dirty="0">
                <a:solidFill>
                  <a:srgbClr val="1A1A2E"/>
                </a:solidFill>
                <a:latin typeface="Calibri" pitchFamily="34" charset="0"/>
                <a:ea typeface="Calibri" pitchFamily="34" charset="-122"/>
                <a:cs typeface="Calibri" pitchFamily="34" charset="-120"/>
              </a:rPr>
              <a:t>Dashboard</a:t>
            </a:r>
            <a:endParaRPr lang="en-US" sz="850" dirty="0"/>
          </a:p>
          <a:p>
            <a:pPr marL="0" indent="0" algn="ctr">
              <a:buNone/>
            </a:pPr>
            <a:r>
              <a:rPr lang="en-US" sz="850" dirty="0">
                <a:solidFill>
                  <a:srgbClr val="1A1A2E"/>
                </a:solidFill>
                <a:latin typeface="Calibri" pitchFamily="34" charset="0"/>
                <a:ea typeface="Calibri" pitchFamily="34" charset="-122"/>
                <a:cs typeface="Calibri" pitchFamily="34" charset="-120"/>
              </a:rPr>
              <a:t>Load Time</a:t>
            </a:r>
            <a:endParaRPr lang="en-US" sz="850" dirty="0"/>
          </a:p>
        </p:txBody>
      </p:sp>
      <p:sp>
        <p:nvSpPr>
          <p:cNvPr id="21" name="Shape 19"/>
          <p:cNvSpPr/>
          <p:nvPr/>
        </p:nvSpPr>
        <p:spPr>
          <a:xfrm>
            <a:off x="6848856" y="1078992"/>
            <a:ext cx="2029968" cy="914400"/>
          </a:xfrm>
          <a:prstGeom prst="rect">
            <a:avLst/>
          </a:prstGeom>
          <a:solidFill>
            <a:srgbClr val="0D9488"/>
          </a:solidFill>
          <a:ln w="12700">
            <a:solidFill>
              <a:srgbClr val="0D9488"/>
            </a:solidFill>
            <a:prstDash val="solid"/>
          </a:ln>
          <a:effectLst>
            <a:outerShdw blurRad="63500" dist="25400" dir="8100000" algn="bl" rotWithShape="0">
              <a:srgbClr val="000000">
                <a:alpha val="10000"/>
              </a:srgbClr>
            </a:outerShdw>
          </a:effectLst>
        </p:spPr>
      </p:sp>
      <p:sp>
        <p:nvSpPr>
          <p:cNvPr id="22" name="Text 20"/>
          <p:cNvSpPr/>
          <p:nvPr/>
        </p:nvSpPr>
        <p:spPr>
          <a:xfrm>
            <a:off x="6848856" y="1078992"/>
            <a:ext cx="2029968" cy="548640"/>
          </a:xfrm>
          <a:prstGeom prst="rect">
            <a:avLst/>
          </a:prstGeom>
          <a:noFill/>
          <a:ln/>
        </p:spPr>
        <p:txBody>
          <a:bodyPr wrap="square" rtlCol="0" anchor="ctr"/>
          <a:lstStyle/>
          <a:p>
            <a:pPr marL="0" indent="0" algn="ctr">
              <a:buNone/>
            </a:pPr>
            <a:r>
              <a:rPr lang="en-US" sz="2600" b="1" dirty="0">
                <a:solidFill>
                  <a:srgbClr val="1A1A2E"/>
                </a:solidFill>
                <a:latin typeface="Calibri" pitchFamily="34" charset="0"/>
                <a:ea typeface="Calibri" pitchFamily="34" charset="-122"/>
                <a:cs typeface="Calibri" pitchFamily="34" charset="-120"/>
              </a:rPr>
              <a:t>HIPAA</a:t>
            </a:r>
            <a:endParaRPr lang="en-US" sz="2600" dirty="0"/>
          </a:p>
        </p:txBody>
      </p:sp>
      <p:sp>
        <p:nvSpPr>
          <p:cNvPr id="23" name="Text 21"/>
          <p:cNvSpPr/>
          <p:nvPr/>
        </p:nvSpPr>
        <p:spPr>
          <a:xfrm>
            <a:off x="6848856" y="1627632"/>
            <a:ext cx="2029968" cy="365760"/>
          </a:xfrm>
          <a:prstGeom prst="rect">
            <a:avLst/>
          </a:prstGeom>
          <a:noFill/>
          <a:ln/>
        </p:spPr>
        <p:txBody>
          <a:bodyPr wrap="square" rtlCol="0" anchor="ctr"/>
          <a:lstStyle/>
          <a:p>
            <a:pPr marL="0" indent="0" algn="ctr">
              <a:buNone/>
            </a:pPr>
            <a:r>
              <a:rPr lang="en-US" sz="850" dirty="0">
                <a:solidFill>
                  <a:srgbClr val="1A1A2E"/>
                </a:solidFill>
                <a:latin typeface="Calibri" pitchFamily="34" charset="0"/>
                <a:ea typeface="Calibri" pitchFamily="34" charset="-122"/>
                <a:cs typeface="Calibri" pitchFamily="34" charset="-120"/>
              </a:rPr>
              <a:t>Full Compliance</a:t>
            </a:r>
            <a:endParaRPr lang="en-US" sz="850" dirty="0"/>
          </a:p>
          <a:p>
            <a:pPr marL="0" indent="0" algn="ctr">
              <a:buNone/>
            </a:pPr>
            <a:r>
              <a:rPr lang="en-US" sz="850" dirty="0">
                <a:solidFill>
                  <a:srgbClr val="1A1A2E"/>
                </a:solidFill>
                <a:latin typeface="Calibri" pitchFamily="34" charset="0"/>
                <a:ea typeface="Calibri" pitchFamily="34" charset="-122"/>
                <a:cs typeface="Calibri" pitchFamily="34" charset="-120"/>
              </a:rPr>
              <a:t>Achieved</a:t>
            </a:r>
            <a:endParaRPr lang="en-US" sz="850" dirty="0"/>
          </a:p>
        </p:txBody>
      </p:sp>
      <p:graphicFrame>
        <p:nvGraphicFramePr>
          <p:cNvPr id="24" name="Chart 0"/>
          <p:cNvGraphicFramePr/>
          <p:nvPr/>
        </p:nvGraphicFramePr>
        <p:xfrm>
          <a:off x="320040" y="2066544"/>
          <a:ext cx="4937760" cy="2706624"/>
        </p:xfrm>
        <a:graphic>
          <a:graphicData uri="http://schemas.openxmlformats.org/drawingml/2006/chart">
            <c:chart xmlns:c="http://schemas.openxmlformats.org/drawingml/2006/chart" xmlns:r="http://schemas.openxmlformats.org/officeDocument/2006/relationships" r:id="rId3"/>
          </a:graphicData>
        </a:graphic>
      </p:graphicFrame>
      <p:sp>
        <p:nvSpPr>
          <p:cNvPr id="25" name="Shape 22"/>
          <p:cNvSpPr/>
          <p:nvPr/>
        </p:nvSpPr>
        <p:spPr>
          <a:xfrm>
            <a:off x="5486400" y="2066544"/>
            <a:ext cx="3337560" cy="585216"/>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26" name="Shape 23"/>
          <p:cNvSpPr/>
          <p:nvPr/>
        </p:nvSpPr>
        <p:spPr>
          <a:xfrm>
            <a:off x="5486400" y="2066544"/>
            <a:ext cx="59436" cy="585216"/>
          </a:xfrm>
          <a:prstGeom prst="rect">
            <a:avLst/>
          </a:prstGeom>
          <a:solidFill>
            <a:srgbClr val="1D4ED8"/>
          </a:solidFill>
          <a:ln w="12700">
            <a:solidFill>
              <a:srgbClr val="1D4ED8"/>
            </a:solidFill>
            <a:prstDash val="solid"/>
          </a:ln>
        </p:spPr>
      </p:sp>
      <p:sp>
        <p:nvSpPr>
          <p:cNvPr id="27" name="Text 24"/>
          <p:cNvSpPr/>
          <p:nvPr/>
        </p:nvSpPr>
        <p:spPr>
          <a:xfrm>
            <a:off x="5596128" y="2121408"/>
            <a:ext cx="3182112" cy="228600"/>
          </a:xfrm>
          <a:prstGeom prst="rect">
            <a:avLst/>
          </a:prstGeom>
          <a:noFill/>
          <a:ln/>
        </p:spPr>
        <p:txBody>
          <a:bodyPr wrap="square" lIns="0" tIns="0" rIns="0" bIns="0" rtlCol="0" anchor="ctr"/>
          <a:lstStyle/>
          <a:p>
            <a:pPr marL="0" indent="0">
              <a:buNone/>
            </a:pPr>
            <a:r>
              <a:rPr lang="en-US" sz="850" b="1" dirty="0">
                <a:solidFill>
                  <a:srgbClr val="1A1A2E"/>
                </a:solidFill>
                <a:latin typeface="Calibri" pitchFamily="34" charset="0"/>
                <a:ea typeface="Calibri" pitchFamily="34" charset="-122"/>
                <a:cs typeface="Calibri" pitchFamily="34" charset="-120"/>
              </a:rPr>
              <a:t>Power BI Dashboard Live</a:t>
            </a:r>
            <a:endParaRPr lang="en-US" sz="850" dirty="0"/>
          </a:p>
        </p:txBody>
      </p:sp>
      <p:sp>
        <p:nvSpPr>
          <p:cNvPr id="28" name="Text 25"/>
          <p:cNvSpPr/>
          <p:nvPr/>
        </p:nvSpPr>
        <p:spPr>
          <a:xfrm>
            <a:off x="5596128" y="2368296"/>
            <a:ext cx="3182112" cy="228600"/>
          </a:xfrm>
          <a:prstGeom prst="rect">
            <a:avLst/>
          </a:prstGeom>
          <a:noFill/>
          <a:ln/>
        </p:spPr>
        <p:txBody>
          <a:bodyPr wrap="square" rtlCol="0" anchor="t"/>
          <a:lstStyle/>
          <a:p>
            <a:pPr marL="0" indent="0">
              <a:buNone/>
            </a:pPr>
            <a:r>
              <a:rPr lang="en-US" sz="780" dirty="0">
                <a:solidFill>
                  <a:srgbClr val="1A1A2E"/>
                </a:solidFill>
                <a:latin typeface="Calibri" pitchFamily="34" charset="0"/>
                <a:ea typeface="Calibri" pitchFamily="34" charset="-122"/>
                <a:cs typeface="Calibri" pitchFamily="34" charset="-120"/>
              </a:rPr>
              <a:t>Real-time EHR dashboard tracks daily adherence, vitals trends, and drug interaction incidents across all patient cohorts.</a:t>
            </a:r>
            <a:endParaRPr lang="en-US" sz="780" dirty="0"/>
          </a:p>
        </p:txBody>
      </p:sp>
      <p:sp>
        <p:nvSpPr>
          <p:cNvPr id="29" name="Shape 26"/>
          <p:cNvSpPr/>
          <p:nvPr/>
        </p:nvSpPr>
        <p:spPr>
          <a:xfrm>
            <a:off x="5486400" y="2724912"/>
            <a:ext cx="3337560" cy="585216"/>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30" name="Shape 27"/>
          <p:cNvSpPr/>
          <p:nvPr/>
        </p:nvSpPr>
        <p:spPr>
          <a:xfrm>
            <a:off x="5486400" y="2724912"/>
            <a:ext cx="59436" cy="585216"/>
          </a:xfrm>
          <a:prstGeom prst="rect">
            <a:avLst/>
          </a:prstGeom>
          <a:solidFill>
            <a:srgbClr val="0D9488"/>
          </a:solidFill>
          <a:ln w="12700">
            <a:solidFill>
              <a:srgbClr val="0D9488"/>
            </a:solidFill>
            <a:prstDash val="solid"/>
          </a:ln>
        </p:spPr>
      </p:sp>
      <p:sp>
        <p:nvSpPr>
          <p:cNvPr id="31" name="Text 28"/>
          <p:cNvSpPr/>
          <p:nvPr/>
        </p:nvSpPr>
        <p:spPr>
          <a:xfrm>
            <a:off x="5596128" y="2779776"/>
            <a:ext cx="3182112" cy="228600"/>
          </a:xfrm>
          <a:prstGeom prst="rect">
            <a:avLst/>
          </a:prstGeom>
          <a:noFill/>
          <a:ln/>
        </p:spPr>
        <p:txBody>
          <a:bodyPr wrap="square" lIns="0" tIns="0" rIns="0" bIns="0" rtlCol="0" anchor="ctr"/>
          <a:lstStyle/>
          <a:p>
            <a:pPr marL="0" indent="0">
              <a:buNone/>
            </a:pPr>
            <a:r>
              <a:rPr lang="en-US" sz="850" b="1" dirty="0">
                <a:solidFill>
                  <a:srgbClr val="1A1A2E"/>
                </a:solidFill>
                <a:latin typeface="Calibri" pitchFamily="34" charset="0"/>
                <a:ea typeface="Calibri" pitchFamily="34" charset="-122"/>
                <a:cs typeface="Calibri" pitchFamily="34" charset="-120"/>
              </a:rPr>
              <a:t>Readmission Model Deployed</a:t>
            </a:r>
            <a:endParaRPr lang="en-US" sz="850" dirty="0"/>
          </a:p>
        </p:txBody>
      </p:sp>
      <p:sp>
        <p:nvSpPr>
          <p:cNvPr id="32" name="Text 29"/>
          <p:cNvSpPr/>
          <p:nvPr/>
        </p:nvSpPr>
        <p:spPr>
          <a:xfrm>
            <a:off x="5596128" y="3026664"/>
            <a:ext cx="3182112" cy="228600"/>
          </a:xfrm>
          <a:prstGeom prst="rect">
            <a:avLst/>
          </a:prstGeom>
          <a:noFill/>
          <a:ln/>
        </p:spPr>
        <p:txBody>
          <a:bodyPr wrap="square" rtlCol="0" anchor="t"/>
          <a:lstStyle/>
          <a:p>
            <a:pPr marL="0" indent="0">
              <a:buNone/>
            </a:pPr>
            <a:r>
              <a:rPr lang="en-US" sz="780" dirty="0">
                <a:solidFill>
                  <a:srgbClr val="1A1A2E"/>
                </a:solidFill>
                <a:latin typeface="Calibri" pitchFamily="34" charset="0"/>
                <a:ea typeface="Calibri" pitchFamily="34" charset="-122"/>
                <a:cs typeface="Calibri" pitchFamily="34" charset="-120"/>
              </a:rPr>
              <a:t>Random Forest (91% acc.) deployed on Azure ML. Daily batch scoring generates risk-ranked care coordinator intervention lists.</a:t>
            </a:r>
            <a:endParaRPr lang="en-US" sz="780" dirty="0"/>
          </a:p>
        </p:txBody>
      </p:sp>
      <p:sp>
        <p:nvSpPr>
          <p:cNvPr id="33" name="Shape 30"/>
          <p:cNvSpPr/>
          <p:nvPr/>
        </p:nvSpPr>
        <p:spPr>
          <a:xfrm>
            <a:off x="5486400" y="3383280"/>
            <a:ext cx="3337560" cy="585216"/>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34" name="Shape 31"/>
          <p:cNvSpPr/>
          <p:nvPr/>
        </p:nvSpPr>
        <p:spPr>
          <a:xfrm>
            <a:off x="5486400" y="3383280"/>
            <a:ext cx="59436" cy="585216"/>
          </a:xfrm>
          <a:prstGeom prst="rect">
            <a:avLst/>
          </a:prstGeom>
          <a:solidFill>
            <a:srgbClr val="1E8449"/>
          </a:solidFill>
          <a:ln w="12700">
            <a:solidFill>
              <a:srgbClr val="1E8449"/>
            </a:solidFill>
            <a:prstDash val="solid"/>
          </a:ln>
        </p:spPr>
      </p:sp>
      <p:sp>
        <p:nvSpPr>
          <p:cNvPr id="35" name="Text 32"/>
          <p:cNvSpPr/>
          <p:nvPr/>
        </p:nvSpPr>
        <p:spPr>
          <a:xfrm>
            <a:off x="5596128" y="3438144"/>
            <a:ext cx="3182112" cy="228600"/>
          </a:xfrm>
          <a:prstGeom prst="rect">
            <a:avLst/>
          </a:prstGeom>
          <a:noFill/>
          <a:ln/>
        </p:spPr>
        <p:txBody>
          <a:bodyPr wrap="square" lIns="0" tIns="0" rIns="0" bIns="0" rtlCol="0" anchor="ctr"/>
          <a:lstStyle/>
          <a:p>
            <a:pPr marL="0" indent="0">
              <a:buNone/>
            </a:pPr>
            <a:r>
              <a:rPr lang="en-US" sz="850" b="1" dirty="0">
                <a:solidFill>
                  <a:srgbClr val="1A1A2E"/>
                </a:solidFill>
                <a:latin typeface="Calibri" pitchFamily="34" charset="0"/>
                <a:ea typeface="Calibri" pitchFamily="34" charset="-122"/>
                <a:cs typeface="Calibri" pitchFamily="34" charset="-120"/>
              </a:rPr>
              <a:t>35% Error Reduction Validated</a:t>
            </a:r>
            <a:endParaRPr lang="en-US" sz="850" dirty="0"/>
          </a:p>
        </p:txBody>
      </p:sp>
      <p:sp>
        <p:nvSpPr>
          <p:cNvPr id="36" name="Text 33"/>
          <p:cNvSpPr/>
          <p:nvPr/>
        </p:nvSpPr>
        <p:spPr>
          <a:xfrm>
            <a:off x="5596128" y="3685032"/>
            <a:ext cx="3182112" cy="228600"/>
          </a:xfrm>
          <a:prstGeom prst="rect">
            <a:avLst/>
          </a:prstGeom>
          <a:noFill/>
          <a:ln/>
        </p:spPr>
        <p:txBody>
          <a:bodyPr wrap="square" rtlCol="0" anchor="t"/>
          <a:lstStyle/>
          <a:p>
            <a:pPr marL="0" indent="0">
              <a:buNone/>
            </a:pPr>
            <a:r>
              <a:rPr lang="en-US" sz="780" dirty="0">
                <a:solidFill>
                  <a:srgbClr val="1A1A2E"/>
                </a:solidFill>
                <a:latin typeface="Calibri" pitchFamily="34" charset="0"/>
                <a:ea typeface="Calibri" pitchFamily="34" charset="-122"/>
                <a:cs typeface="Calibri" pitchFamily="34" charset="-120"/>
              </a:rPr>
              <a:t>Pilot across 3 hospital departments: 127 drug interactions blocked, 43 incorrect dosage orders flagged before dispensing.</a:t>
            </a:r>
            <a:endParaRPr lang="en-US" sz="780" dirty="0"/>
          </a:p>
        </p:txBody>
      </p:sp>
      <p:sp>
        <p:nvSpPr>
          <p:cNvPr id="37" name="Shape 34"/>
          <p:cNvSpPr/>
          <p:nvPr/>
        </p:nvSpPr>
        <p:spPr>
          <a:xfrm>
            <a:off x="5486400" y="4041648"/>
            <a:ext cx="3337560" cy="585216"/>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38" name="Shape 35"/>
          <p:cNvSpPr/>
          <p:nvPr/>
        </p:nvSpPr>
        <p:spPr>
          <a:xfrm>
            <a:off x="5486400" y="4041648"/>
            <a:ext cx="59436" cy="585216"/>
          </a:xfrm>
          <a:prstGeom prst="rect">
            <a:avLst/>
          </a:prstGeom>
          <a:solidFill>
            <a:srgbClr val="7C3AED"/>
          </a:solidFill>
          <a:ln w="12700">
            <a:solidFill>
              <a:srgbClr val="7C3AED"/>
            </a:solidFill>
            <a:prstDash val="solid"/>
          </a:ln>
        </p:spPr>
      </p:sp>
      <p:sp>
        <p:nvSpPr>
          <p:cNvPr id="39" name="Text 36"/>
          <p:cNvSpPr/>
          <p:nvPr/>
        </p:nvSpPr>
        <p:spPr>
          <a:xfrm>
            <a:off x="5596128" y="4096512"/>
            <a:ext cx="3182112" cy="228600"/>
          </a:xfrm>
          <a:prstGeom prst="rect">
            <a:avLst/>
          </a:prstGeom>
          <a:noFill/>
          <a:ln/>
        </p:spPr>
        <p:txBody>
          <a:bodyPr wrap="square" lIns="0" tIns="0" rIns="0" bIns="0" rtlCol="0" anchor="ctr"/>
          <a:lstStyle/>
          <a:p>
            <a:pPr marL="0" indent="0">
              <a:buNone/>
            </a:pPr>
            <a:r>
              <a:rPr lang="en-US" sz="850" b="1" dirty="0">
                <a:solidFill>
                  <a:srgbClr val="1A1A2E"/>
                </a:solidFill>
                <a:latin typeface="Calibri" pitchFamily="34" charset="0"/>
                <a:ea typeface="Calibri" pitchFamily="34" charset="-122"/>
                <a:cs typeface="Calibri" pitchFamily="34" charset="-120"/>
              </a:rPr>
              <a:t>IoT Vitals Monitoring Active</a:t>
            </a:r>
            <a:endParaRPr lang="en-US" sz="850" dirty="0"/>
          </a:p>
        </p:txBody>
      </p:sp>
      <p:sp>
        <p:nvSpPr>
          <p:cNvPr id="40" name="Text 37"/>
          <p:cNvSpPr/>
          <p:nvPr/>
        </p:nvSpPr>
        <p:spPr>
          <a:xfrm>
            <a:off x="5596128" y="4343400"/>
            <a:ext cx="3182112" cy="228600"/>
          </a:xfrm>
          <a:prstGeom prst="rect">
            <a:avLst/>
          </a:prstGeom>
          <a:noFill/>
          <a:ln/>
        </p:spPr>
        <p:txBody>
          <a:bodyPr wrap="square" rtlCol="0" anchor="t"/>
          <a:lstStyle/>
          <a:p>
            <a:pPr marL="0" indent="0">
              <a:buNone/>
            </a:pPr>
            <a:r>
              <a:rPr lang="en-US" sz="780" dirty="0">
                <a:solidFill>
                  <a:srgbClr val="1A1A2E"/>
                </a:solidFill>
                <a:latin typeface="Calibri" pitchFamily="34" charset="0"/>
                <a:ea typeface="Calibri" pitchFamily="34" charset="-122"/>
                <a:cs typeface="Calibri" pitchFamily="34" charset="-120"/>
              </a:rPr>
              <a:t>24/7 ICU patient monitoring. Alert response time reduced from 8 minutes to under 90 seconds for critical vital breaches.</a:t>
            </a:r>
            <a:endParaRPr lang="en-US" sz="78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01F5F"/>
          </a:solidFill>
          <a:ln w="12700">
            <a:solidFill>
              <a:srgbClr val="FFFFFF"/>
            </a:solidFill>
            <a:prstDash val="solid"/>
          </a:ln>
        </p:spPr>
      </p:sp>
      <p:sp>
        <p:nvSpPr>
          <p:cNvPr id="3" name="Shape 1"/>
          <p:cNvSpPr/>
          <p:nvPr/>
        </p:nvSpPr>
        <p:spPr>
          <a:xfrm>
            <a:off x="0" y="621792"/>
            <a:ext cx="9144000" cy="50292"/>
          </a:xfrm>
          <a:prstGeom prst="rect">
            <a:avLst/>
          </a:prstGeom>
          <a:solidFill>
            <a:srgbClr val="1E8449"/>
          </a:solidFill>
          <a:ln w="12700">
            <a:solidFill>
              <a:srgbClr val="1E8449"/>
            </a:solidFill>
            <a:prstDash val="solid"/>
          </a:ln>
        </p:spPr>
      </p:sp>
      <p:sp>
        <p:nvSpPr>
          <p:cNvPr id="4" name="Text 2"/>
          <p:cNvSpPr/>
          <p:nvPr/>
        </p:nvSpPr>
        <p:spPr>
          <a:xfrm>
            <a:off x="292608" y="45720"/>
            <a:ext cx="7498080" cy="54864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Conclusion &amp; Future Scope</a:t>
            </a:r>
            <a:endParaRPr lang="en-US" sz="1900" dirty="0"/>
          </a:p>
        </p:txBody>
      </p:sp>
      <p:sp>
        <p:nvSpPr>
          <p:cNvPr id="5" name="Shape 3"/>
          <p:cNvSpPr/>
          <p:nvPr/>
        </p:nvSpPr>
        <p:spPr>
          <a:xfrm>
            <a:off x="7818120" y="82296"/>
            <a:ext cx="1234440" cy="457200"/>
          </a:xfrm>
          <a:prstGeom prst="rect">
            <a:avLst/>
          </a:prstGeom>
          <a:solidFill>
            <a:srgbClr val="E8EFF8"/>
          </a:solidFill>
          <a:ln w="12700">
            <a:solidFill>
              <a:srgbClr val="1D4ED8"/>
            </a:solidFill>
            <a:prstDash val="solid"/>
          </a:ln>
        </p:spPr>
      </p:sp>
      <p:sp>
        <p:nvSpPr>
          <p:cNvPr id="6" name="Text 4"/>
          <p:cNvSpPr/>
          <p:nvPr/>
        </p:nvSpPr>
        <p:spPr>
          <a:xfrm>
            <a:off x="7818120" y="82296"/>
            <a:ext cx="1234440" cy="457200"/>
          </a:xfrm>
          <a:prstGeom prst="rect">
            <a:avLst/>
          </a:prstGeom>
          <a:noFill/>
          <a:ln/>
        </p:spPr>
        <p:txBody>
          <a:bodyPr wrap="square" rtlCol="0" anchor="ctr"/>
          <a:lstStyle/>
          <a:p>
            <a:pPr marL="0" indent="0" algn="ctr">
              <a:buNone/>
            </a:pPr>
            <a:r>
              <a:rPr lang="en-US" sz="700" b="1" dirty="0">
                <a:solidFill>
                  <a:srgbClr val="1D4ED8"/>
                </a:solidFill>
                <a:latin typeface="Calibri" pitchFamily="34" charset="0"/>
                <a:ea typeface="Calibri" pitchFamily="34" charset="-122"/>
                <a:cs typeface="Calibri" pitchFamily="34" charset="-120"/>
              </a:rPr>
              <a:t>Microsoft</a:t>
            </a:r>
            <a:endParaRPr lang="en-US" sz="700" dirty="0"/>
          </a:p>
          <a:p>
            <a:pPr marL="0" indent="0" algn="ctr">
              <a:buNone/>
            </a:pPr>
            <a:r>
              <a:rPr lang="en-US" sz="700" b="1" dirty="0">
                <a:solidFill>
                  <a:srgbClr val="1D4ED8"/>
                </a:solidFill>
                <a:latin typeface="Calibri" pitchFamily="34" charset="0"/>
                <a:ea typeface="Calibri" pitchFamily="34" charset="-122"/>
                <a:cs typeface="Calibri" pitchFamily="34" charset="-120"/>
              </a:rPr>
              <a:t>Elevate GTU</a:t>
            </a:r>
            <a:endParaRPr lang="en-US" sz="700" dirty="0"/>
          </a:p>
        </p:txBody>
      </p:sp>
      <p:sp>
        <p:nvSpPr>
          <p:cNvPr id="7" name="Shape 5"/>
          <p:cNvSpPr/>
          <p:nvPr/>
        </p:nvSpPr>
        <p:spPr>
          <a:xfrm>
            <a:off x="0" y="4873752"/>
            <a:ext cx="9144000" cy="50292"/>
          </a:xfrm>
          <a:prstGeom prst="rect">
            <a:avLst/>
          </a:prstGeom>
          <a:solidFill>
            <a:srgbClr val="1E8449"/>
          </a:solidFill>
          <a:ln w="12700">
            <a:solidFill>
              <a:srgbClr val="1E8449"/>
            </a:solidFill>
            <a:prstDash val="solid"/>
          </a:ln>
        </p:spPr>
      </p:sp>
      <p:sp>
        <p:nvSpPr>
          <p:cNvPr id="8" name="Shape 6"/>
          <p:cNvSpPr/>
          <p:nvPr/>
        </p:nvSpPr>
        <p:spPr>
          <a:xfrm>
            <a:off x="0" y="4924044"/>
            <a:ext cx="9144000" cy="219456"/>
          </a:xfrm>
          <a:prstGeom prst="rect">
            <a:avLst/>
          </a:prstGeom>
          <a:solidFill>
            <a:srgbClr val="FFFFFF"/>
          </a:solidFill>
          <a:ln w="12700">
            <a:solidFill>
              <a:srgbClr val="FFFFFF"/>
            </a:solidFill>
            <a:prstDash val="solid"/>
          </a:ln>
        </p:spPr>
      </p:sp>
      <p:sp>
        <p:nvSpPr>
          <p:cNvPr id="9" name="Text 7"/>
          <p:cNvSpPr/>
          <p:nvPr/>
        </p:nvSpPr>
        <p:spPr>
          <a:xfrm>
            <a:off x="228600" y="4924044"/>
            <a:ext cx="8046720" cy="219456"/>
          </a:xfrm>
          <a:prstGeom prst="rect">
            <a:avLst/>
          </a:prstGeom>
          <a:noFill/>
          <a:ln/>
        </p:spPr>
        <p:txBody>
          <a:bodyPr wrap="square" lIns="0" tIns="0" rIns="0" bIns="0" rtlCol="0" anchor="ctr"/>
          <a:lstStyle/>
          <a:p>
            <a:pPr marL="0" indent="0">
              <a:buNone/>
            </a:pPr>
            <a:r>
              <a:rPr lang="en-US" sz="650" dirty="0">
                <a:solidFill>
                  <a:srgbClr val="7B9ABF"/>
                </a:solidFill>
                <a:latin typeface="Calibri" pitchFamily="34" charset="0"/>
                <a:ea typeface="Calibri" pitchFamily="34" charset="-122"/>
                <a:cs typeface="Calibri" pitchFamily="34" charset="-120"/>
              </a:rPr>
              <a:t>Microsoft Elevate Internship Project  |  Healthcare &amp; Medication Management System  |  GTU Jan–Apr 2026</a:t>
            </a:r>
            <a:endParaRPr lang="en-US" sz="650" dirty="0"/>
          </a:p>
        </p:txBody>
      </p:sp>
      <p:sp>
        <p:nvSpPr>
          <p:cNvPr id="10" name="Text 8"/>
          <p:cNvSpPr/>
          <p:nvPr/>
        </p:nvSpPr>
        <p:spPr>
          <a:xfrm>
            <a:off x="8275320" y="4924044"/>
            <a:ext cx="731520" cy="219456"/>
          </a:xfrm>
          <a:prstGeom prst="rect">
            <a:avLst/>
          </a:prstGeom>
          <a:noFill/>
          <a:ln/>
        </p:spPr>
        <p:txBody>
          <a:bodyPr wrap="square" lIns="0" tIns="0" rIns="0" bIns="0" rtlCol="0" anchor="ctr"/>
          <a:lstStyle/>
          <a:p>
            <a:pPr marL="0" indent="0" algn="r">
              <a:buNone/>
            </a:pPr>
            <a:r>
              <a:rPr lang="en-US" sz="700" b="1" dirty="0">
                <a:solidFill>
                  <a:srgbClr val="1A1A2E"/>
                </a:solidFill>
                <a:latin typeface="Calibri" pitchFamily="34" charset="0"/>
                <a:ea typeface="Calibri" pitchFamily="34" charset="-122"/>
                <a:cs typeface="Calibri" pitchFamily="34" charset="-120"/>
              </a:rPr>
              <a:t>20 / 21</a:t>
            </a:r>
            <a:endParaRPr lang="en-US" sz="700" dirty="0"/>
          </a:p>
        </p:txBody>
      </p:sp>
      <p:sp>
        <p:nvSpPr>
          <p:cNvPr id="11" name="Text 9"/>
          <p:cNvSpPr/>
          <p:nvPr/>
        </p:nvSpPr>
        <p:spPr>
          <a:xfrm>
            <a:off x="320040" y="777240"/>
            <a:ext cx="4251960" cy="274320"/>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Conclusion</a:t>
            </a:r>
            <a:endParaRPr lang="en-US" sz="1300" dirty="0"/>
          </a:p>
        </p:txBody>
      </p:sp>
      <p:sp>
        <p:nvSpPr>
          <p:cNvPr id="12" name="Shape 10"/>
          <p:cNvSpPr/>
          <p:nvPr/>
        </p:nvSpPr>
        <p:spPr>
          <a:xfrm>
            <a:off x="320040" y="1078992"/>
            <a:ext cx="4251960" cy="877824"/>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13" name="Shape 11"/>
          <p:cNvSpPr/>
          <p:nvPr/>
        </p:nvSpPr>
        <p:spPr>
          <a:xfrm>
            <a:off x="320040" y="1078992"/>
            <a:ext cx="59436" cy="877824"/>
          </a:xfrm>
          <a:prstGeom prst="rect">
            <a:avLst/>
          </a:prstGeom>
          <a:solidFill>
            <a:srgbClr val="1D4ED8"/>
          </a:solidFill>
          <a:ln w="12700">
            <a:solidFill>
              <a:srgbClr val="1D4ED8"/>
            </a:solidFill>
            <a:prstDash val="solid"/>
          </a:ln>
        </p:spPr>
      </p:sp>
      <p:sp>
        <p:nvSpPr>
          <p:cNvPr id="14" name="Text 12"/>
          <p:cNvSpPr/>
          <p:nvPr/>
        </p:nvSpPr>
        <p:spPr>
          <a:xfrm>
            <a:off x="429768" y="1133856"/>
            <a:ext cx="4096512" cy="228600"/>
          </a:xfrm>
          <a:prstGeom prst="rect">
            <a:avLst/>
          </a:prstGeom>
          <a:noFill/>
          <a:ln/>
        </p:spPr>
        <p:txBody>
          <a:bodyPr wrap="square" lIns="0" tIns="0" rIns="0" bIns="0" rtlCol="0" anchor="ctr"/>
          <a:lstStyle/>
          <a:p>
            <a:pPr marL="0" indent="0">
              <a:buNone/>
            </a:pPr>
            <a:r>
              <a:rPr lang="en-US" sz="950" b="1" dirty="0">
                <a:solidFill>
                  <a:srgbClr val="1A1A2E"/>
                </a:solidFill>
                <a:latin typeface="Calibri" pitchFamily="34" charset="0"/>
                <a:ea typeface="Calibri" pitchFamily="34" charset="-122"/>
                <a:cs typeface="Calibri" pitchFamily="34" charset="-120"/>
              </a:rPr>
              <a:t>Practical AI/ML in Healthcare</a:t>
            </a:r>
            <a:endParaRPr lang="en-US" sz="950" dirty="0"/>
          </a:p>
        </p:txBody>
      </p:sp>
      <p:sp>
        <p:nvSpPr>
          <p:cNvPr id="15" name="Text 13"/>
          <p:cNvSpPr/>
          <p:nvPr/>
        </p:nvSpPr>
        <p:spPr>
          <a:xfrm>
            <a:off x="429768" y="1380744"/>
            <a:ext cx="4096512" cy="521208"/>
          </a:xfrm>
          <a:prstGeom prst="rect">
            <a:avLst/>
          </a:prstGeom>
          <a:noFill/>
          <a:ln/>
        </p:spPr>
        <p:txBody>
          <a:bodyPr wrap="square" rtlCol="0" anchor="t"/>
          <a:lstStyle/>
          <a:p>
            <a:pPr marL="0" indent="0">
              <a:buNone/>
            </a:pPr>
            <a:r>
              <a:rPr lang="en-US" sz="850" dirty="0">
                <a:solidFill>
                  <a:srgbClr val="1A1A2E"/>
                </a:solidFill>
                <a:latin typeface="Calibri" pitchFamily="34" charset="0"/>
                <a:ea typeface="Calibri" pitchFamily="34" charset="-122"/>
                <a:cs typeface="Calibri" pitchFamily="34" charset="-120"/>
              </a:rPr>
              <a:t>Successfully built an end-to-end AI-powered platform reducing medication errors by 35% and achieving 91% ML readmission prediction accuracy — directly demonstrating practical AI/ML application in a real-world healthcare domain.</a:t>
            </a:r>
            <a:endParaRPr lang="en-US" sz="850" dirty="0"/>
          </a:p>
        </p:txBody>
      </p:sp>
      <p:sp>
        <p:nvSpPr>
          <p:cNvPr id="16" name="Shape 14"/>
          <p:cNvSpPr/>
          <p:nvPr/>
        </p:nvSpPr>
        <p:spPr>
          <a:xfrm>
            <a:off x="320040" y="2029968"/>
            <a:ext cx="4251960" cy="877824"/>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17" name="Shape 15"/>
          <p:cNvSpPr/>
          <p:nvPr/>
        </p:nvSpPr>
        <p:spPr>
          <a:xfrm>
            <a:off x="320040" y="2029968"/>
            <a:ext cx="59436" cy="877824"/>
          </a:xfrm>
          <a:prstGeom prst="rect">
            <a:avLst/>
          </a:prstGeom>
          <a:solidFill>
            <a:srgbClr val="0D9488"/>
          </a:solidFill>
          <a:ln w="12700">
            <a:solidFill>
              <a:srgbClr val="0D9488"/>
            </a:solidFill>
            <a:prstDash val="solid"/>
          </a:ln>
        </p:spPr>
      </p:sp>
      <p:sp>
        <p:nvSpPr>
          <p:cNvPr id="18" name="Text 16"/>
          <p:cNvSpPr/>
          <p:nvPr/>
        </p:nvSpPr>
        <p:spPr>
          <a:xfrm>
            <a:off x="429768" y="2084832"/>
            <a:ext cx="4096512" cy="228600"/>
          </a:xfrm>
          <a:prstGeom prst="rect">
            <a:avLst/>
          </a:prstGeom>
          <a:noFill/>
          <a:ln/>
        </p:spPr>
        <p:txBody>
          <a:bodyPr wrap="square" lIns="0" tIns="0" rIns="0" bIns="0" rtlCol="0" anchor="ctr"/>
          <a:lstStyle/>
          <a:p>
            <a:pPr marL="0" indent="0">
              <a:buNone/>
            </a:pPr>
            <a:r>
              <a:rPr lang="en-US" sz="950" b="1" dirty="0">
                <a:solidFill>
                  <a:srgbClr val="1A1A2E"/>
                </a:solidFill>
                <a:latin typeface="Calibri" pitchFamily="34" charset="0"/>
                <a:ea typeface="Calibri" pitchFamily="34" charset="-122"/>
                <a:cs typeface="Calibri" pitchFamily="34" charset="-120"/>
              </a:rPr>
              <a:t>All 12 MS Elevate Modules Integrated</a:t>
            </a:r>
            <a:endParaRPr lang="en-US" sz="950" dirty="0"/>
          </a:p>
        </p:txBody>
      </p:sp>
      <p:sp>
        <p:nvSpPr>
          <p:cNvPr id="19" name="Text 17"/>
          <p:cNvSpPr/>
          <p:nvPr/>
        </p:nvSpPr>
        <p:spPr>
          <a:xfrm>
            <a:off x="429768" y="2331720"/>
            <a:ext cx="4096512" cy="521208"/>
          </a:xfrm>
          <a:prstGeom prst="rect">
            <a:avLst/>
          </a:prstGeom>
          <a:noFill/>
          <a:ln/>
        </p:spPr>
        <p:txBody>
          <a:bodyPr wrap="square" rtlCol="0" anchor="t"/>
          <a:lstStyle/>
          <a:p>
            <a:pPr marL="0" indent="0">
              <a:buNone/>
            </a:pPr>
            <a:r>
              <a:rPr lang="en-US" sz="850" dirty="0">
                <a:solidFill>
                  <a:srgbClr val="1A1A2E"/>
                </a:solidFill>
                <a:latin typeface="Calibri" pitchFamily="34" charset="0"/>
                <a:ea typeface="Calibri" pitchFamily="34" charset="-122"/>
                <a:cs typeface="Calibri" pitchFamily="34" charset="-120"/>
              </a:rPr>
              <a:t>This project integrates all 12 Microsoft Elevate learning modules — from Week 1 EDA foundations through Week 12 Azure cloud deployment — demonstrating complete mastery of the internship curriculum.</a:t>
            </a:r>
            <a:endParaRPr lang="en-US" sz="850" dirty="0"/>
          </a:p>
        </p:txBody>
      </p:sp>
      <p:sp>
        <p:nvSpPr>
          <p:cNvPr id="20" name="Shape 18"/>
          <p:cNvSpPr/>
          <p:nvPr/>
        </p:nvSpPr>
        <p:spPr>
          <a:xfrm>
            <a:off x="320040" y="2980944"/>
            <a:ext cx="4251960" cy="877824"/>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21" name="Shape 19"/>
          <p:cNvSpPr/>
          <p:nvPr/>
        </p:nvSpPr>
        <p:spPr>
          <a:xfrm>
            <a:off x="320040" y="2980944"/>
            <a:ext cx="59436" cy="877824"/>
          </a:xfrm>
          <a:prstGeom prst="rect">
            <a:avLst/>
          </a:prstGeom>
          <a:solidFill>
            <a:srgbClr val="1E8449"/>
          </a:solidFill>
          <a:ln w="12700">
            <a:solidFill>
              <a:srgbClr val="1E8449"/>
            </a:solidFill>
            <a:prstDash val="solid"/>
          </a:ln>
        </p:spPr>
      </p:sp>
      <p:sp>
        <p:nvSpPr>
          <p:cNvPr id="22" name="Text 20"/>
          <p:cNvSpPr/>
          <p:nvPr/>
        </p:nvSpPr>
        <p:spPr>
          <a:xfrm>
            <a:off x="429768" y="3035808"/>
            <a:ext cx="4096512" cy="228600"/>
          </a:xfrm>
          <a:prstGeom prst="rect">
            <a:avLst/>
          </a:prstGeom>
          <a:noFill/>
          <a:ln/>
        </p:spPr>
        <p:txBody>
          <a:bodyPr wrap="square" lIns="0" tIns="0" rIns="0" bIns="0" rtlCol="0" anchor="ctr"/>
          <a:lstStyle/>
          <a:p>
            <a:pPr marL="0" indent="0">
              <a:buNone/>
            </a:pPr>
            <a:r>
              <a:rPr lang="en-US" sz="950" b="1" dirty="0">
                <a:solidFill>
                  <a:srgbClr val="1A1A2E"/>
                </a:solidFill>
                <a:latin typeface="Calibri" pitchFamily="34" charset="0"/>
                <a:ea typeface="Calibri" pitchFamily="34" charset="-122"/>
                <a:cs typeface="Calibri" pitchFamily="34" charset="-120"/>
              </a:rPr>
              <a:t>End-to-End Development Complete</a:t>
            </a:r>
            <a:endParaRPr lang="en-US" sz="950" dirty="0"/>
          </a:p>
        </p:txBody>
      </p:sp>
      <p:sp>
        <p:nvSpPr>
          <p:cNvPr id="23" name="Text 21"/>
          <p:cNvSpPr/>
          <p:nvPr/>
        </p:nvSpPr>
        <p:spPr>
          <a:xfrm>
            <a:off x="429768" y="3282696"/>
            <a:ext cx="4096512" cy="521208"/>
          </a:xfrm>
          <a:prstGeom prst="rect">
            <a:avLst/>
          </a:prstGeom>
          <a:noFill/>
          <a:ln/>
        </p:spPr>
        <p:txBody>
          <a:bodyPr wrap="square" rtlCol="0" anchor="t"/>
          <a:lstStyle/>
          <a:p>
            <a:pPr marL="0" indent="0">
              <a:buNone/>
            </a:pPr>
            <a:r>
              <a:rPr lang="en-US" sz="850" dirty="0">
                <a:solidFill>
                  <a:srgbClr val="1A1A2E"/>
                </a:solidFill>
                <a:latin typeface="Calibri" pitchFamily="34" charset="0"/>
                <a:ea typeface="Calibri" pitchFamily="34" charset="-122"/>
                <a:cs typeface="Calibri" pitchFamily="34" charset="-120"/>
              </a:rPr>
              <a:t>Full pipeline delivered: raw EHR data ingestion → preprocessing → ML training → Power BI dashboard → Azure deployment → clinical alert system. HIPAA-compliant, enterprise-grade security throughout.</a:t>
            </a:r>
            <a:endParaRPr lang="en-US" sz="850" dirty="0"/>
          </a:p>
        </p:txBody>
      </p:sp>
      <p:sp>
        <p:nvSpPr>
          <p:cNvPr id="24" name="Shape 22"/>
          <p:cNvSpPr/>
          <p:nvPr/>
        </p:nvSpPr>
        <p:spPr>
          <a:xfrm>
            <a:off x="320040" y="3931920"/>
            <a:ext cx="4251960" cy="877824"/>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25" name="Shape 23"/>
          <p:cNvSpPr/>
          <p:nvPr/>
        </p:nvSpPr>
        <p:spPr>
          <a:xfrm>
            <a:off x="320040" y="3931920"/>
            <a:ext cx="59436" cy="877824"/>
          </a:xfrm>
          <a:prstGeom prst="rect">
            <a:avLst/>
          </a:prstGeom>
          <a:solidFill>
            <a:srgbClr val="7C3AED"/>
          </a:solidFill>
          <a:ln w="12700">
            <a:solidFill>
              <a:srgbClr val="7C3AED"/>
            </a:solidFill>
            <a:prstDash val="solid"/>
          </a:ln>
        </p:spPr>
      </p:sp>
      <p:sp>
        <p:nvSpPr>
          <p:cNvPr id="26" name="Text 24"/>
          <p:cNvSpPr/>
          <p:nvPr/>
        </p:nvSpPr>
        <p:spPr>
          <a:xfrm>
            <a:off x="429768" y="3986784"/>
            <a:ext cx="4096512" cy="228600"/>
          </a:xfrm>
          <a:prstGeom prst="rect">
            <a:avLst/>
          </a:prstGeom>
          <a:noFill/>
          <a:ln/>
        </p:spPr>
        <p:txBody>
          <a:bodyPr wrap="square" lIns="0" tIns="0" rIns="0" bIns="0" rtlCol="0" anchor="ctr"/>
          <a:lstStyle/>
          <a:p>
            <a:pPr marL="0" indent="0">
              <a:buNone/>
            </a:pPr>
            <a:r>
              <a:rPr lang="en-US" sz="950" b="1" dirty="0">
                <a:solidFill>
                  <a:srgbClr val="1A1A2E"/>
                </a:solidFill>
                <a:latin typeface="Calibri" pitchFamily="34" charset="0"/>
                <a:ea typeface="Calibri" pitchFamily="34" charset="-122"/>
                <a:cs typeface="Calibri" pitchFamily="34" charset="-120"/>
              </a:rPr>
              <a:t>Real-World Problem Solving</a:t>
            </a:r>
            <a:endParaRPr lang="en-US" sz="950" dirty="0"/>
          </a:p>
        </p:txBody>
      </p:sp>
      <p:sp>
        <p:nvSpPr>
          <p:cNvPr id="27" name="Text 25"/>
          <p:cNvSpPr/>
          <p:nvPr/>
        </p:nvSpPr>
        <p:spPr>
          <a:xfrm>
            <a:off x="429768" y="4233672"/>
            <a:ext cx="4096512" cy="521208"/>
          </a:xfrm>
          <a:prstGeom prst="rect">
            <a:avLst/>
          </a:prstGeom>
          <a:noFill/>
          <a:ln/>
        </p:spPr>
        <p:txBody>
          <a:bodyPr wrap="square" rtlCol="0" anchor="t"/>
          <a:lstStyle/>
          <a:p>
            <a:pPr marL="0" indent="0">
              <a:buNone/>
            </a:pPr>
            <a:r>
              <a:rPr lang="en-US" sz="850" dirty="0">
                <a:solidFill>
                  <a:srgbClr val="1A1A2E"/>
                </a:solidFill>
                <a:latin typeface="Calibri" pitchFamily="34" charset="0"/>
                <a:ea typeface="Calibri" pitchFamily="34" charset="-122"/>
                <a:cs typeface="Calibri" pitchFamily="34" charset="-120"/>
              </a:rPr>
              <a:t>The system addresses real healthcare challenges: fragmented records, medication errors, poor adherence, and lack of predictive analytics — using cutting-edge AI tools learned during the Microsoft Elevate internship.</a:t>
            </a:r>
            <a:endParaRPr lang="en-US" sz="850" dirty="0"/>
          </a:p>
        </p:txBody>
      </p:sp>
      <p:sp>
        <p:nvSpPr>
          <p:cNvPr id="28" name="Text 26"/>
          <p:cNvSpPr/>
          <p:nvPr/>
        </p:nvSpPr>
        <p:spPr>
          <a:xfrm>
            <a:off x="4773168" y="777240"/>
            <a:ext cx="4050792" cy="274320"/>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Future Scope</a:t>
            </a:r>
            <a:endParaRPr lang="en-US" sz="1300" dirty="0"/>
          </a:p>
        </p:txBody>
      </p:sp>
      <p:sp>
        <p:nvSpPr>
          <p:cNvPr id="29" name="Shape 27"/>
          <p:cNvSpPr/>
          <p:nvPr/>
        </p:nvSpPr>
        <p:spPr>
          <a:xfrm>
            <a:off x="4773168" y="1078992"/>
            <a:ext cx="1947672" cy="1170432"/>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30" name="Shape 28"/>
          <p:cNvSpPr/>
          <p:nvPr/>
        </p:nvSpPr>
        <p:spPr>
          <a:xfrm>
            <a:off x="4773168" y="1078992"/>
            <a:ext cx="59436" cy="1170432"/>
          </a:xfrm>
          <a:prstGeom prst="rect">
            <a:avLst/>
          </a:prstGeom>
          <a:solidFill>
            <a:srgbClr val="1D4ED8"/>
          </a:solidFill>
          <a:ln w="12700">
            <a:solidFill>
              <a:srgbClr val="1D4ED8"/>
            </a:solidFill>
            <a:prstDash val="solid"/>
          </a:ln>
        </p:spPr>
      </p:sp>
      <p:sp>
        <p:nvSpPr>
          <p:cNvPr id="31" name="Text 29"/>
          <p:cNvSpPr/>
          <p:nvPr/>
        </p:nvSpPr>
        <p:spPr>
          <a:xfrm>
            <a:off x="4882896" y="1133856"/>
            <a:ext cx="1792224" cy="228600"/>
          </a:xfrm>
          <a:prstGeom prst="rect">
            <a:avLst/>
          </a:prstGeom>
          <a:noFill/>
          <a:ln/>
        </p:spPr>
        <p:txBody>
          <a:bodyPr wrap="square" lIns="0" tIns="0" rIns="0" bIns="0" rtlCol="0" anchor="ctr"/>
          <a:lstStyle/>
          <a:p>
            <a:pPr marL="0" indent="0">
              <a:buNone/>
            </a:pPr>
            <a:r>
              <a:rPr lang="en-US" sz="850" b="1" dirty="0">
                <a:solidFill>
                  <a:srgbClr val="1A1A2E"/>
                </a:solidFill>
                <a:latin typeface="Calibri" pitchFamily="34" charset="0"/>
                <a:ea typeface="Calibri" pitchFamily="34" charset="-122"/>
                <a:cs typeface="Calibri" pitchFamily="34" charset="-120"/>
              </a:rPr>
              <a:t>Native Mobile App</a:t>
            </a:r>
            <a:endParaRPr lang="en-US" sz="850" dirty="0"/>
          </a:p>
        </p:txBody>
      </p:sp>
      <p:sp>
        <p:nvSpPr>
          <p:cNvPr id="32" name="Text 30"/>
          <p:cNvSpPr/>
          <p:nvPr/>
        </p:nvSpPr>
        <p:spPr>
          <a:xfrm>
            <a:off x="4882896" y="1380744"/>
            <a:ext cx="1792224" cy="813816"/>
          </a:xfrm>
          <a:prstGeom prst="rect">
            <a:avLst/>
          </a:prstGeom>
          <a:noFill/>
          <a:ln/>
        </p:spPr>
        <p:txBody>
          <a:bodyPr wrap="square" rtlCol="0" anchor="t"/>
          <a:lstStyle/>
          <a:p>
            <a:pPr marL="0" indent="0">
              <a:buNone/>
            </a:pPr>
            <a:r>
              <a:rPr lang="en-US" sz="800" dirty="0">
                <a:solidFill>
                  <a:srgbClr val="1A1A2E"/>
                </a:solidFill>
                <a:latin typeface="Calibri" pitchFamily="34" charset="0"/>
                <a:ea typeface="Calibri" pitchFamily="34" charset="-122"/>
                <a:cs typeface="Calibri" pitchFamily="34" charset="-120"/>
              </a:rPr>
              <a:t>Patient-facing iOS/Android app for self-monitoring, medication reminders, adherence tracking, and direct secure messaging with care coordinators.</a:t>
            </a:r>
            <a:endParaRPr lang="en-US" sz="800" dirty="0"/>
          </a:p>
        </p:txBody>
      </p:sp>
      <p:sp>
        <p:nvSpPr>
          <p:cNvPr id="33" name="Shape 31"/>
          <p:cNvSpPr/>
          <p:nvPr/>
        </p:nvSpPr>
        <p:spPr>
          <a:xfrm>
            <a:off x="6839712" y="1078992"/>
            <a:ext cx="1947672" cy="1170432"/>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34" name="Shape 32"/>
          <p:cNvSpPr/>
          <p:nvPr/>
        </p:nvSpPr>
        <p:spPr>
          <a:xfrm>
            <a:off x="6839712" y="1078992"/>
            <a:ext cx="59436" cy="1170432"/>
          </a:xfrm>
          <a:prstGeom prst="rect">
            <a:avLst/>
          </a:prstGeom>
          <a:solidFill>
            <a:srgbClr val="0D9488"/>
          </a:solidFill>
          <a:ln w="12700">
            <a:solidFill>
              <a:srgbClr val="0D9488"/>
            </a:solidFill>
            <a:prstDash val="solid"/>
          </a:ln>
        </p:spPr>
      </p:sp>
      <p:sp>
        <p:nvSpPr>
          <p:cNvPr id="35" name="Text 33"/>
          <p:cNvSpPr/>
          <p:nvPr/>
        </p:nvSpPr>
        <p:spPr>
          <a:xfrm>
            <a:off x="6949440" y="1133856"/>
            <a:ext cx="1792224" cy="228600"/>
          </a:xfrm>
          <a:prstGeom prst="rect">
            <a:avLst/>
          </a:prstGeom>
          <a:noFill/>
          <a:ln/>
        </p:spPr>
        <p:txBody>
          <a:bodyPr wrap="square" lIns="0" tIns="0" rIns="0" bIns="0" rtlCol="0" anchor="ctr"/>
          <a:lstStyle/>
          <a:p>
            <a:pPr marL="0" indent="0">
              <a:buNone/>
            </a:pPr>
            <a:r>
              <a:rPr lang="en-US" sz="850" b="1" dirty="0">
                <a:solidFill>
                  <a:srgbClr val="1A1A2E"/>
                </a:solidFill>
                <a:latin typeface="Calibri" pitchFamily="34" charset="0"/>
                <a:ea typeface="Calibri" pitchFamily="34" charset="-122"/>
                <a:cs typeface="Calibri" pitchFamily="34" charset="-120"/>
              </a:rPr>
              <a:t>LLM Clinical Chatbot</a:t>
            </a:r>
            <a:endParaRPr lang="en-US" sz="850" dirty="0"/>
          </a:p>
        </p:txBody>
      </p:sp>
      <p:sp>
        <p:nvSpPr>
          <p:cNvPr id="36" name="Text 34"/>
          <p:cNvSpPr/>
          <p:nvPr/>
        </p:nvSpPr>
        <p:spPr>
          <a:xfrm>
            <a:off x="6949440" y="1380744"/>
            <a:ext cx="1792224" cy="813816"/>
          </a:xfrm>
          <a:prstGeom prst="rect">
            <a:avLst/>
          </a:prstGeom>
          <a:noFill/>
          <a:ln/>
        </p:spPr>
        <p:txBody>
          <a:bodyPr wrap="square" rtlCol="0" anchor="t"/>
          <a:lstStyle/>
          <a:p>
            <a:pPr marL="0" indent="0">
              <a:buNone/>
            </a:pPr>
            <a:r>
              <a:rPr lang="en-US" sz="800" dirty="0">
                <a:solidFill>
                  <a:srgbClr val="1A1A2E"/>
                </a:solidFill>
                <a:latin typeface="Calibri" pitchFamily="34" charset="0"/>
                <a:ea typeface="Calibri" pitchFamily="34" charset="-122"/>
                <a:cs typeface="Calibri" pitchFamily="34" charset="-120"/>
              </a:rPr>
              <a:t>GPT-4-based chatbot for natural language symptom triaging, patient Q&amp;A, drug interaction queries, and preliminary risk assessment before doctor consultations.</a:t>
            </a:r>
            <a:endParaRPr lang="en-US" sz="800" dirty="0"/>
          </a:p>
        </p:txBody>
      </p:sp>
      <p:sp>
        <p:nvSpPr>
          <p:cNvPr id="37" name="Shape 35"/>
          <p:cNvSpPr/>
          <p:nvPr/>
        </p:nvSpPr>
        <p:spPr>
          <a:xfrm>
            <a:off x="4773168" y="2340864"/>
            <a:ext cx="1947672" cy="1170432"/>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38" name="Shape 36"/>
          <p:cNvSpPr/>
          <p:nvPr/>
        </p:nvSpPr>
        <p:spPr>
          <a:xfrm>
            <a:off x="4773168" y="2340864"/>
            <a:ext cx="59436" cy="1170432"/>
          </a:xfrm>
          <a:prstGeom prst="rect">
            <a:avLst/>
          </a:prstGeom>
          <a:solidFill>
            <a:srgbClr val="1E8449"/>
          </a:solidFill>
          <a:ln w="12700">
            <a:solidFill>
              <a:srgbClr val="1E8449"/>
            </a:solidFill>
            <a:prstDash val="solid"/>
          </a:ln>
        </p:spPr>
      </p:sp>
      <p:sp>
        <p:nvSpPr>
          <p:cNvPr id="39" name="Text 37"/>
          <p:cNvSpPr/>
          <p:nvPr/>
        </p:nvSpPr>
        <p:spPr>
          <a:xfrm>
            <a:off x="4882896" y="2395728"/>
            <a:ext cx="1792224" cy="228600"/>
          </a:xfrm>
          <a:prstGeom prst="rect">
            <a:avLst/>
          </a:prstGeom>
          <a:noFill/>
          <a:ln/>
        </p:spPr>
        <p:txBody>
          <a:bodyPr wrap="square" lIns="0" tIns="0" rIns="0" bIns="0" rtlCol="0" anchor="ctr"/>
          <a:lstStyle/>
          <a:p>
            <a:pPr marL="0" indent="0">
              <a:buNone/>
            </a:pPr>
            <a:r>
              <a:rPr lang="en-US" sz="850" b="1" dirty="0">
                <a:solidFill>
                  <a:srgbClr val="1A1A2E"/>
                </a:solidFill>
                <a:latin typeface="Calibri" pitchFamily="34" charset="0"/>
                <a:ea typeface="Calibri" pitchFamily="34" charset="-122"/>
                <a:cs typeface="Calibri" pitchFamily="34" charset="-120"/>
              </a:rPr>
              <a:t>Genomic Data Integration</a:t>
            </a:r>
            <a:endParaRPr lang="en-US" sz="850" dirty="0"/>
          </a:p>
        </p:txBody>
      </p:sp>
      <p:sp>
        <p:nvSpPr>
          <p:cNvPr id="40" name="Text 38"/>
          <p:cNvSpPr/>
          <p:nvPr/>
        </p:nvSpPr>
        <p:spPr>
          <a:xfrm>
            <a:off x="4882896" y="2642616"/>
            <a:ext cx="1792224" cy="813816"/>
          </a:xfrm>
          <a:prstGeom prst="rect">
            <a:avLst/>
          </a:prstGeom>
          <a:noFill/>
          <a:ln/>
        </p:spPr>
        <p:txBody>
          <a:bodyPr wrap="square" rtlCol="0" anchor="t"/>
          <a:lstStyle/>
          <a:p>
            <a:pPr marL="0" indent="0">
              <a:buNone/>
            </a:pPr>
            <a:r>
              <a:rPr lang="en-US" sz="800" dirty="0">
                <a:solidFill>
                  <a:srgbClr val="1A1A2E"/>
                </a:solidFill>
                <a:latin typeface="Calibri" pitchFamily="34" charset="0"/>
                <a:ea typeface="Calibri" pitchFamily="34" charset="-122"/>
                <a:cs typeface="Calibri" pitchFamily="34" charset="-120"/>
              </a:rPr>
              <a:t>Incorporate genomic sequencing data for precision medicine: personalized drug prescriptions and disease risk profiling based on each patient's unique genetic profile.</a:t>
            </a:r>
            <a:endParaRPr lang="en-US" sz="800" dirty="0"/>
          </a:p>
        </p:txBody>
      </p:sp>
      <p:sp>
        <p:nvSpPr>
          <p:cNvPr id="41" name="Shape 39"/>
          <p:cNvSpPr/>
          <p:nvPr/>
        </p:nvSpPr>
        <p:spPr>
          <a:xfrm>
            <a:off x="6839712" y="2340864"/>
            <a:ext cx="1947672" cy="1170432"/>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42" name="Shape 40"/>
          <p:cNvSpPr/>
          <p:nvPr/>
        </p:nvSpPr>
        <p:spPr>
          <a:xfrm>
            <a:off x="6839712" y="2340864"/>
            <a:ext cx="59436" cy="1170432"/>
          </a:xfrm>
          <a:prstGeom prst="rect">
            <a:avLst/>
          </a:prstGeom>
          <a:solidFill>
            <a:srgbClr val="7C3AED"/>
          </a:solidFill>
          <a:ln w="12700">
            <a:solidFill>
              <a:srgbClr val="7C3AED"/>
            </a:solidFill>
            <a:prstDash val="solid"/>
          </a:ln>
        </p:spPr>
      </p:sp>
      <p:sp>
        <p:nvSpPr>
          <p:cNvPr id="43" name="Text 41"/>
          <p:cNvSpPr/>
          <p:nvPr/>
        </p:nvSpPr>
        <p:spPr>
          <a:xfrm>
            <a:off x="6949440" y="2395728"/>
            <a:ext cx="1792224" cy="228600"/>
          </a:xfrm>
          <a:prstGeom prst="rect">
            <a:avLst/>
          </a:prstGeom>
          <a:noFill/>
          <a:ln/>
        </p:spPr>
        <p:txBody>
          <a:bodyPr wrap="square" lIns="0" tIns="0" rIns="0" bIns="0" rtlCol="0" anchor="ctr"/>
          <a:lstStyle/>
          <a:p>
            <a:pPr marL="0" indent="0">
              <a:buNone/>
            </a:pPr>
            <a:r>
              <a:rPr lang="en-US" sz="850" b="1" dirty="0">
                <a:solidFill>
                  <a:srgbClr val="1A1A2E"/>
                </a:solidFill>
                <a:latin typeface="Calibri" pitchFamily="34" charset="0"/>
                <a:ea typeface="Calibri" pitchFamily="34" charset="-122"/>
                <a:cs typeface="Calibri" pitchFamily="34" charset="-120"/>
              </a:rPr>
              <a:t>IoT Emergency Automation</a:t>
            </a:r>
            <a:endParaRPr lang="en-US" sz="850" dirty="0"/>
          </a:p>
        </p:txBody>
      </p:sp>
      <p:sp>
        <p:nvSpPr>
          <p:cNvPr id="44" name="Text 42"/>
          <p:cNvSpPr/>
          <p:nvPr/>
        </p:nvSpPr>
        <p:spPr>
          <a:xfrm>
            <a:off x="6949440" y="2642616"/>
            <a:ext cx="1792224" cy="813816"/>
          </a:xfrm>
          <a:prstGeom prst="rect">
            <a:avLst/>
          </a:prstGeom>
          <a:noFill/>
          <a:ln/>
        </p:spPr>
        <p:txBody>
          <a:bodyPr wrap="square" rtlCol="0" anchor="t"/>
          <a:lstStyle/>
          <a:p>
            <a:pPr marL="0" indent="0">
              <a:buNone/>
            </a:pPr>
            <a:r>
              <a:rPr lang="en-US" sz="800" dirty="0">
                <a:solidFill>
                  <a:srgbClr val="1A1A2E"/>
                </a:solidFill>
                <a:latin typeface="Calibri" pitchFamily="34" charset="0"/>
                <a:ea typeface="Calibri" pitchFamily="34" charset="-122"/>
                <a:cs typeface="Calibri" pitchFamily="34" charset="-120"/>
              </a:rPr>
              <a:t>Automatic emergency response: ambulance dispatch alerts, ER pre-notification, and family member SMS alerts triggered by critical IoT wearable reading thresholds.</a:t>
            </a:r>
            <a:endParaRPr lang="en-US" sz="800" dirty="0"/>
          </a:p>
        </p:txBody>
      </p:sp>
      <p:sp>
        <p:nvSpPr>
          <p:cNvPr id="45" name="Shape 43"/>
          <p:cNvSpPr/>
          <p:nvPr/>
        </p:nvSpPr>
        <p:spPr>
          <a:xfrm>
            <a:off x="4773168" y="3602736"/>
            <a:ext cx="1947672" cy="1170432"/>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46" name="Shape 44"/>
          <p:cNvSpPr/>
          <p:nvPr/>
        </p:nvSpPr>
        <p:spPr>
          <a:xfrm>
            <a:off x="4773168" y="3602736"/>
            <a:ext cx="59436" cy="1170432"/>
          </a:xfrm>
          <a:prstGeom prst="rect">
            <a:avLst/>
          </a:prstGeom>
          <a:solidFill>
            <a:srgbClr val="D97706"/>
          </a:solidFill>
          <a:ln w="12700">
            <a:solidFill>
              <a:srgbClr val="D97706"/>
            </a:solidFill>
            <a:prstDash val="solid"/>
          </a:ln>
        </p:spPr>
      </p:sp>
      <p:sp>
        <p:nvSpPr>
          <p:cNvPr id="47" name="Text 45"/>
          <p:cNvSpPr/>
          <p:nvPr/>
        </p:nvSpPr>
        <p:spPr>
          <a:xfrm>
            <a:off x="4882896" y="3657600"/>
            <a:ext cx="1792224" cy="228600"/>
          </a:xfrm>
          <a:prstGeom prst="rect">
            <a:avLst/>
          </a:prstGeom>
          <a:noFill/>
          <a:ln/>
        </p:spPr>
        <p:txBody>
          <a:bodyPr wrap="square" lIns="0" tIns="0" rIns="0" bIns="0" rtlCol="0" anchor="ctr"/>
          <a:lstStyle/>
          <a:p>
            <a:pPr marL="0" indent="0">
              <a:buNone/>
            </a:pPr>
            <a:r>
              <a:rPr lang="en-US" sz="850" b="1" dirty="0">
                <a:solidFill>
                  <a:srgbClr val="1A1A2E"/>
                </a:solidFill>
                <a:latin typeface="Calibri" pitchFamily="34" charset="0"/>
                <a:ea typeface="Calibri" pitchFamily="34" charset="-122"/>
                <a:cs typeface="Calibri" pitchFamily="34" charset="-120"/>
              </a:rPr>
              <a:t>Federated Learning</a:t>
            </a:r>
            <a:endParaRPr lang="en-US" sz="850" dirty="0"/>
          </a:p>
        </p:txBody>
      </p:sp>
      <p:sp>
        <p:nvSpPr>
          <p:cNvPr id="48" name="Text 46"/>
          <p:cNvSpPr/>
          <p:nvPr/>
        </p:nvSpPr>
        <p:spPr>
          <a:xfrm>
            <a:off x="4882896" y="3904488"/>
            <a:ext cx="1792224" cy="813816"/>
          </a:xfrm>
          <a:prstGeom prst="rect">
            <a:avLst/>
          </a:prstGeom>
          <a:noFill/>
          <a:ln/>
        </p:spPr>
        <p:txBody>
          <a:bodyPr wrap="square" rtlCol="0" anchor="t"/>
          <a:lstStyle/>
          <a:p>
            <a:pPr marL="0" indent="0">
              <a:buNone/>
            </a:pPr>
            <a:r>
              <a:rPr lang="en-US" sz="800" dirty="0">
                <a:solidFill>
                  <a:srgbClr val="1A1A2E"/>
                </a:solidFill>
                <a:latin typeface="Calibri" pitchFamily="34" charset="0"/>
                <a:ea typeface="Calibri" pitchFamily="34" charset="-122"/>
                <a:cs typeface="Calibri" pitchFamily="34" charset="-120"/>
              </a:rPr>
              <a:t>Multi-hospital federated ML — train shared models across distributed patient data without centralizing sensitive records, preserving full GDPR/HIPAA privacy compliance.</a:t>
            </a:r>
            <a:endParaRPr lang="en-US" sz="800" dirty="0"/>
          </a:p>
        </p:txBody>
      </p:sp>
      <p:sp>
        <p:nvSpPr>
          <p:cNvPr id="49" name="Shape 47"/>
          <p:cNvSpPr/>
          <p:nvPr/>
        </p:nvSpPr>
        <p:spPr>
          <a:xfrm>
            <a:off x="6839712" y="3602736"/>
            <a:ext cx="1947672" cy="1170432"/>
          </a:xfrm>
          <a:prstGeom prst="rect">
            <a:avLst/>
          </a:prstGeom>
          <a:solidFill>
            <a:srgbClr val="F0F4FA"/>
          </a:solidFill>
          <a:ln w="12700">
            <a:solidFill>
              <a:srgbClr val="F0F4FA"/>
            </a:solidFill>
            <a:prstDash val="solid"/>
          </a:ln>
          <a:effectLst>
            <a:outerShdw blurRad="63500" dist="25400" dir="8100000" algn="bl" rotWithShape="0">
              <a:srgbClr val="000000">
                <a:alpha val="10000"/>
              </a:srgbClr>
            </a:outerShdw>
          </a:effectLst>
        </p:spPr>
      </p:sp>
      <p:sp>
        <p:nvSpPr>
          <p:cNvPr id="50" name="Shape 48"/>
          <p:cNvSpPr/>
          <p:nvPr/>
        </p:nvSpPr>
        <p:spPr>
          <a:xfrm>
            <a:off x="6839712" y="3602736"/>
            <a:ext cx="59436" cy="1170432"/>
          </a:xfrm>
          <a:prstGeom prst="rect">
            <a:avLst/>
          </a:prstGeom>
          <a:solidFill>
            <a:srgbClr val="DC2626"/>
          </a:solidFill>
          <a:ln w="12700">
            <a:solidFill>
              <a:srgbClr val="DC2626"/>
            </a:solidFill>
            <a:prstDash val="solid"/>
          </a:ln>
        </p:spPr>
      </p:sp>
      <p:sp>
        <p:nvSpPr>
          <p:cNvPr id="51" name="Text 49"/>
          <p:cNvSpPr/>
          <p:nvPr/>
        </p:nvSpPr>
        <p:spPr>
          <a:xfrm>
            <a:off x="6949440" y="3657600"/>
            <a:ext cx="1792224" cy="228600"/>
          </a:xfrm>
          <a:prstGeom prst="rect">
            <a:avLst/>
          </a:prstGeom>
          <a:noFill/>
          <a:ln/>
        </p:spPr>
        <p:txBody>
          <a:bodyPr wrap="square" lIns="0" tIns="0" rIns="0" bIns="0" rtlCol="0" anchor="ctr"/>
          <a:lstStyle/>
          <a:p>
            <a:pPr marL="0" indent="0">
              <a:buNone/>
            </a:pPr>
            <a:r>
              <a:rPr lang="en-US" sz="850" b="1" dirty="0">
                <a:solidFill>
                  <a:srgbClr val="1A1A2E"/>
                </a:solidFill>
                <a:latin typeface="Calibri" pitchFamily="34" charset="0"/>
                <a:ea typeface="Calibri" pitchFamily="34" charset="-122"/>
                <a:cs typeface="Calibri" pitchFamily="34" charset="-120"/>
              </a:rPr>
              <a:t>Multi-Hospital Expansion</a:t>
            </a:r>
            <a:endParaRPr lang="en-US" sz="850" dirty="0"/>
          </a:p>
        </p:txBody>
      </p:sp>
      <p:sp>
        <p:nvSpPr>
          <p:cNvPr id="52" name="Text 50"/>
          <p:cNvSpPr/>
          <p:nvPr/>
        </p:nvSpPr>
        <p:spPr>
          <a:xfrm>
            <a:off x="6949440" y="3904488"/>
            <a:ext cx="1792224" cy="813816"/>
          </a:xfrm>
          <a:prstGeom prst="rect">
            <a:avLst/>
          </a:prstGeom>
          <a:noFill/>
          <a:ln/>
        </p:spPr>
        <p:txBody>
          <a:bodyPr wrap="square" rtlCol="0" anchor="t"/>
          <a:lstStyle/>
          <a:p>
            <a:pPr marL="0" indent="0">
              <a:buNone/>
            </a:pPr>
            <a:r>
              <a:rPr lang="en-US" sz="800" dirty="0">
                <a:solidFill>
                  <a:srgbClr val="1A1A2E"/>
                </a:solidFill>
                <a:latin typeface="Calibri" pitchFamily="34" charset="0"/>
                <a:ea typeface="Calibri" pitchFamily="34" charset="-122"/>
                <a:cs typeface="Calibri" pitchFamily="34" charset="-120"/>
              </a:rPr>
              <a:t>Extend the platform to cover multiple hospital networks with centralized Azure-hosted analytics while maintaining data sovereignty for each participating institution.</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1E8449"/>
          </a:solidFill>
          <a:ln w="12700">
            <a:solidFill>
              <a:srgbClr val="1E8449"/>
            </a:solidFill>
            <a:prstDash val="solid"/>
          </a:ln>
        </p:spPr>
      </p:sp>
      <p:sp>
        <p:nvSpPr>
          <p:cNvPr id="3" name="Shape 1"/>
          <p:cNvSpPr/>
          <p:nvPr/>
        </p:nvSpPr>
        <p:spPr>
          <a:xfrm>
            <a:off x="0" y="4846320"/>
            <a:ext cx="9144000" cy="297180"/>
          </a:xfrm>
          <a:prstGeom prst="rect">
            <a:avLst/>
          </a:prstGeom>
          <a:solidFill>
            <a:srgbClr val="1E8449"/>
          </a:solidFill>
          <a:ln w="12700">
            <a:solidFill>
              <a:srgbClr val="1E8449"/>
            </a:solidFill>
            <a:prstDash val="solid"/>
          </a:ln>
        </p:spPr>
      </p:sp>
      <p:sp>
        <p:nvSpPr>
          <p:cNvPr id="4" name="Text 2"/>
          <p:cNvSpPr/>
          <p:nvPr/>
        </p:nvSpPr>
        <p:spPr>
          <a:xfrm>
            <a:off x="256032" y="4846320"/>
            <a:ext cx="8631936" cy="29718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Gujarat Technological University  |  Microsoft Elevate Capstone Project  |  Jan–Apr 2026</a:t>
            </a:r>
            <a:endParaRPr lang="en-US" sz="900" dirty="0"/>
          </a:p>
        </p:txBody>
      </p:sp>
      <p:sp>
        <p:nvSpPr>
          <p:cNvPr id="5" name="Text 3"/>
          <p:cNvSpPr/>
          <p:nvPr/>
        </p:nvSpPr>
        <p:spPr>
          <a:xfrm>
            <a:off x="347472" y="164592"/>
            <a:ext cx="5029200" cy="329184"/>
          </a:xfrm>
          <a:prstGeom prst="rect">
            <a:avLst/>
          </a:prstGeom>
          <a:noFill/>
          <a:ln/>
        </p:spPr>
        <p:txBody>
          <a:bodyPr wrap="square" rtlCol="0" anchor="ctr"/>
          <a:lstStyle/>
          <a:p>
            <a:pPr marL="0" indent="0">
              <a:buNone/>
            </a:pPr>
            <a:r>
              <a:rPr lang="en-US" sz="1600" b="1" dirty="0">
                <a:solidFill>
                  <a:srgbClr val="1A1A2E"/>
                </a:solidFill>
                <a:latin typeface="Calibri" pitchFamily="34" charset="0"/>
                <a:ea typeface="Calibri" pitchFamily="34" charset="-122"/>
                <a:cs typeface="Calibri" pitchFamily="34" charset="-120"/>
              </a:rPr>
              <a:t>References</a:t>
            </a:r>
            <a:endParaRPr lang="en-US" sz="1600" dirty="0"/>
          </a:p>
        </p:txBody>
      </p:sp>
      <p:sp>
        <p:nvSpPr>
          <p:cNvPr id="6" name="Text 4"/>
          <p:cNvSpPr/>
          <p:nvPr/>
        </p:nvSpPr>
        <p:spPr>
          <a:xfrm>
            <a:off x="347472" y="548640"/>
            <a:ext cx="5029200" cy="365760"/>
          </a:xfrm>
          <a:prstGeom prst="rect">
            <a:avLst/>
          </a:prstGeom>
          <a:noFill/>
          <a:ln/>
        </p:spPr>
        <p:txBody>
          <a:bodyPr wrap="square" rtlCol="0" anchor="ctr"/>
          <a:lstStyle/>
          <a:p>
            <a:pPr marL="0" indent="0">
              <a:buNone/>
            </a:pPr>
            <a:r>
              <a:rPr lang="en-US" sz="780" dirty="0">
                <a:solidFill>
                  <a:srgbClr val="7B9ABF"/>
                </a:solidFill>
                <a:latin typeface="Calibri" pitchFamily="34" charset="0"/>
                <a:ea typeface="Calibri" pitchFamily="34" charset="-122"/>
                <a:cs typeface="Calibri" pitchFamily="34" charset="-120"/>
              </a:rPr>
              <a:t>[1] WHO Global Patient Safety Report 2024 — Medication Safety. World Health Organization.</a:t>
            </a:r>
            <a:endParaRPr lang="en-US" sz="780" dirty="0"/>
          </a:p>
        </p:txBody>
      </p:sp>
      <p:sp>
        <p:nvSpPr>
          <p:cNvPr id="7" name="Text 5"/>
          <p:cNvSpPr/>
          <p:nvPr/>
        </p:nvSpPr>
        <p:spPr>
          <a:xfrm>
            <a:off x="347472" y="960120"/>
            <a:ext cx="5029200" cy="365760"/>
          </a:xfrm>
          <a:prstGeom prst="rect">
            <a:avLst/>
          </a:prstGeom>
          <a:noFill/>
          <a:ln/>
        </p:spPr>
        <p:txBody>
          <a:bodyPr wrap="square" rtlCol="0" anchor="ctr"/>
          <a:lstStyle/>
          <a:p>
            <a:pPr marL="0" indent="0">
              <a:buNone/>
            </a:pPr>
            <a:r>
              <a:rPr lang="en-US" sz="780" dirty="0">
                <a:solidFill>
                  <a:srgbClr val="7B9ABF"/>
                </a:solidFill>
                <a:latin typeface="Calibri" pitchFamily="34" charset="0"/>
                <a:ea typeface="Calibri" pitchFamily="34" charset="-122"/>
                <a:cs typeface="Calibri" pitchFamily="34" charset="-120"/>
              </a:rPr>
              <a:t>[2] Microsoft Azure Health Data Services Documentation — HL7 FHIR API. Microsoft Corp., 2025.</a:t>
            </a:r>
            <a:endParaRPr lang="en-US" sz="780" dirty="0"/>
          </a:p>
        </p:txBody>
      </p:sp>
      <p:sp>
        <p:nvSpPr>
          <p:cNvPr id="8" name="Text 6"/>
          <p:cNvSpPr/>
          <p:nvPr/>
        </p:nvSpPr>
        <p:spPr>
          <a:xfrm>
            <a:off x="347472" y="1371600"/>
            <a:ext cx="5029200" cy="365760"/>
          </a:xfrm>
          <a:prstGeom prst="rect">
            <a:avLst/>
          </a:prstGeom>
          <a:noFill/>
          <a:ln/>
        </p:spPr>
        <p:txBody>
          <a:bodyPr wrap="square" rtlCol="0" anchor="ctr"/>
          <a:lstStyle/>
          <a:p>
            <a:pPr marL="0" indent="0">
              <a:buNone/>
            </a:pPr>
            <a:r>
              <a:rPr lang="en-US" sz="780" dirty="0">
                <a:solidFill>
                  <a:srgbClr val="7B9ABF"/>
                </a:solidFill>
                <a:latin typeface="Calibri" pitchFamily="34" charset="0"/>
                <a:ea typeface="Calibri" pitchFamily="34" charset="-122"/>
                <a:cs typeface="Calibri" pitchFamily="34" charset="-120"/>
              </a:rPr>
              <a:t>[3] Power BI for Healthcare Analytics — Microsoft Learn. docs.microsoft.com, 2025.</a:t>
            </a:r>
            <a:endParaRPr lang="en-US" sz="780" dirty="0"/>
          </a:p>
        </p:txBody>
      </p:sp>
      <p:sp>
        <p:nvSpPr>
          <p:cNvPr id="9" name="Text 7"/>
          <p:cNvSpPr/>
          <p:nvPr/>
        </p:nvSpPr>
        <p:spPr>
          <a:xfrm>
            <a:off x="347472" y="1783080"/>
            <a:ext cx="5029200" cy="365760"/>
          </a:xfrm>
          <a:prstGeom prst="rect">
            <a:avLst/>
          </a:prstGeom>
          <a:noFill/>
          <a:ln/>
        </p:spPr>
        <p:txBody>
          <a:bodyPr wrap="square" rtlCol="0" anchor="ctr"/>
          <a:lstStyle/>
          <a:p>
            <a:pPr marL="0" indent="0">
              <a:buNone/>
            </a:pPr>
            <a:r>
              <a:rPr lang="en-US" sz="780" dirty="0">
                <a:solidFill>
                  <a:srgbClr val="7B9ABF"/>
                </a:solidFill>
                <a:latin typeface="Calibri" pitchFamily="34" charset="0"/>
                <a:ea typeface="Calibri" pitchFamily="34" charset="-122"/>
                <a:cs typeface="Calibri" pitchFamily="34" charset="-120"/>
              </a:rPr>
              <a:t>[4] Edunet Foundation &amp; FICE Education — Microsoft Elevate GTU Internship Program Guide, Jan 2026.</a:t>
            </a:r>
            <a:endParaRPr lang="en-US" sz="780" dirty="0"/>
          </a:p>
        </p:txBody>
      </p:sp>
      <p:sp>
        <p:nvSpPr>
          <p:cNvPr id="10" name="Text 8"/>
          <p:cNvSpPr/>
          <p:nvPr/>
        </p:nvSpPr>
        <p:spPr>
          <a:xfrm>
            <a:off x="347472" y="2194560"/>
            <a:ext cx="5029200" cy="365760"/>
          </a:xfrm>
          <a:prstGeom prst="rect">
            <a:avLst/>
          </a:prstGeom>
          <a:noFill/>
          <a:ln/>
        </p:spPr>
        <p:txBody>
          <a:bodyPr wrap="square" rtlCol="0" anchor="ctr"/>
          <a:lstStyle/>
          <a:p>
            <a:pPr marL="0" indent="0">
              <a:buNone/>
            </a:pPr>
            <a:r>
              <a:rPr lang="en-US" sz="780" dirty="0">
                <a:solidFill>
                  <a:srgbClr val="7B9ABF"/>
                </a:solidFill>
                <a:latin typeface="Calibri" pitchFamily="34" charset="0"/>
                <a:ea typeface="Calibri" pitchFamily="34" charset="-122"/>
                <a:cs typeface="Calibri" pitchFamily="34" charset="-120"/>
              </a:rPr>
              <a:t>[5] Scikit-learn: Machine Learning in Python — Pedregosa et al., JMLR 12, pp.2825–2830, 2011.</a:t>
            </a:r>
            <a:endParaRPr lang="en-US" sz="780" dirty="0"/>
          </a:p>
        </p:txBody>
      </p:sp>
      <p:sp>
        <p:nvSpPr>
          <p:cNvPr id="11" name="Text 9"/>
          <p:cNvSpPr/>
          <p:nvPr/>
        </p:nvSpPr>
        <p:spPr>
          <a:xfrm>
            <a:off x="347472" y="2606040"/>
            <a:ext cx="5029200" cy="365760"/>
          </a:xfrm>
          <a:prstGeom prst="rect">
            <a:avLst/>
          </a:prstGeom>
          <a:noFill/>
          <a:ln/>
        </p:spPr>
        <p:txBody>
          <a:bodyPr wrap="square" rtlCol="0" anchor="ctr"/>
          <a:lstStyle/>
          <a:p>
            <a:pPr marL="0" indent="0">
              <a:buNone/>
            </a:pPr>
            <a:r>
              <a:rPr lang="en-US" sz="780" dirty="0">
                <a:solidFill>
                  <a:srgbClr val="7B9ABF"/>
                </a:solidFill>
                <a:latin typeface="Calibri" pitchFamily="34" charset="0"/>
                <a:ea typeface="Calibri" pitchFamily="34" charset="-122"/>
                <a:cs typeface="Calibri" pitchFamily="34" charset="-120"/>
              </a:rPr>
              <a:t>[6] TensorFlow: Large-Scale ML on Heterogeneous Systems — Abadi et al., Google Brain, 2016.</a:t>
            </a:r>
            <a:endParaRPr lang="en-US" sz="780" dirty="0"/>
          </a:p>
        </p:txBody>
      </p:sp>
      <p:sp>
        <p:nvSpPr>
          <p:cNvPr id="12" name="Text 10"/>
          <p:cNvSpPr/>
          <p:nvPr/>
        </p:nvSpPr>
        <p:spPr>
          <a:xfrm>
            <a:off x="347472" y="3017520"/>
            <a:ext cx="5029200" cy="365760"/>
          </a:xfrm>
          <a:prstGeom prst="rect">
            <a:avLst/>
          </a:prstGeom>
          <a:noFill/>
          <a:ln/>
        </p:spPr>
        <p:txBody>
          <a:bodyPr wrap="square" rtlCol="0" anchor="ctr"/>
          <a:lstStyle/>
          <a:p>
            <a:pPr marL="0" indent="0">
              <a:buNone/>
            </a:pPr>
            <a:r>
              <a:rPr lang="en-US" sz="780" dirty="0">
                <a:solidFill>
                  <a:srgbClr val="7B9ABF"/>
                </a:solidFill>
                <a:latin typeface="Calibri" pitchFamily="34" charset="0"/>
                <a:ea typeface="Calibri" pitchFamily="34" charset="-122"/>
                <a:cs typeface="Calibri" pitchFamily="34" charset="-120"/>
              </a:rPr>
              <a:t>[7] Deep Learning for Medical Image Analysis — Shen et al., Annual Review of Biomedical Eng., 2017.</a:t>
            </a:r>
            <a:endParaRPr lang="en-US" sz="780" dirty="0"/>
          </a:p>
        </p:txBody>
      </p:sp>
      <p:sp>
        <p:nvSpPr>
          <p:cNvPr id="13" name="Text 11"/>
          <p:cNvSpPr/>
          <p:nvPr/>
        </p:nvSpPr>
        <p:spPr>
          <a:xfrm>
            <a:off x="347472" y="3429000"/>
            <a:ext cx="5029200" cy="365760"/>
          </a:xfrm>
          <a:prstGeom prst="rect">
            <a:avLst/>
          </a:prstGeom>
          <a:noFill/>
          <a:ln/>
        </p:spPr>
        <p:txBody>
          <a:bodyPr wrap="square" rtlCol="0" anchor="ctr"/>
          <a:lstStyle/>
          <a:p>
            <a:pPr marL="0" indent="0">
              <a:buNone/>
            </a:pPr>
            <a:r>
              <a:rPr lang="en-US" sz="780" dirty="0">
                <a:solidFill>
                  <a:srgbClr val="7B9ABF"/>
                </a:solidFill>
                <a:latin typeface="Calibri" pitchFamily="34" charset="0"/>
                <a:ea typeface="Calibri" pitchFamily="34" charset="-122"/>
                <a:cs typeface="Calibri" pitchFamily="34" charset="-120"/>
              </a:rPr>
              <a:t>[8] HIPAA Security Rule — U.S. Dept. of Health &amp; Human Services. hhs.gov.</a:t>
            </a:r>
            <a:endParaRPr lang="en-US" sz="780" dirty="0"/>
          </a:p>
        </p:txBody>
      </p:sp>
      <p:sp>
        <p:nvSpPr>
          <p:cNvPr id="14" name="Text 12"/>
          <p:cNvSpPr/>
          <p:nvPr/>
        </p:nvSpPr>
        <p:spPr>
          <a:xfrm>
            <a:off x="347472" y="3840480"/>
            <a:ext cx="5029200" cy="365760"/>
          </a:xfrm>
          <a:prstGeom prst="rect">
            <a:avLst/>
          </a:prstGeom>
          <a:noFill/>
          <a:ln/>
        </p:spPr>
        <p:txBody>
          <a:bodyPr wrap="square" rtlCol="0" anchor="ctr"/>
          <a:lstStyle/>
          <a:p>
            <a:r>
              <a:rPr lang="en-US" sz="780" dirty="0">
                <a:solidFill>
                  <a:srgbClr val="7B9ABF"/>
                </a:solidFill>
                <a:latin typeface="Calibri" pitchFamily="34" charset="0"/>
                <a:ea typeface="Calibri" pitchFamily="34" charset="-122"/>
                <a:cs typeface="Calibri" pitchFamily="34" charset="-120"/>
              </a:rPr>
              <a:t>[9] GitHub Repository — https://github.com/raj-gambhava/healthcare-medication-management-systema</a:t>
            </a:r>
            <a:endParaRPr lang="en-US" sz="780" dirty="0"/>
          </a:p>
        </p:txBody>
      </p:sp>
      <p:sp>
        <p:nvSpPr>
          <p:cNvPr id="15" name="Shape 13"/>
          <p:cNvSpPr/>
          <p:nvPr/>
        </p:nvSpPr>
        <p:spPr>
          <a:xfrm>
            <a:off x="5577840" y="164592"/>
            <a:ext cx="3401568" cy="4526280"/>
          </a:xfrm>
          <a:prstGeom prst="rect">
            <a:avLst/>
          </a:prstGeom>
          <a:solidFill>
            <a:srgbClr val="1E3460"/>
          </a:solidFill>
          <a:ln w="12700">
            <a:solidFill>
              <a:srgbClr val="3A5278"/>
            </a:solidFill>
            <a:prstDash val="solid"/>
          </a:ln>
        </p:spPr>
      </p:sp>
      <p:sp>
        <p:nvSpPr>
          <p:cNvPr id="16" name="Text 14"/>
          <p:cNvSpPr/>
          <p:nvPr/>
        </p:nvSpPr>
        <p:spPr>
          <a:xfrm>
            <a:off x="5577840" y="457200"/>
            <a:ext cx="3401568" cy="1097280"/>
          </a:xfrm>
          <a:prstGeom prst="rect">
            <a:avLst/>
          </a:prstGeom>
          <a:noFill/>
          <a:ln/>
        </p:spPr>
        <p:txBody>
          <a:bodyPr wrap="square" rtlCol="0" anchor="ctr"/>
          <a:lstStyle/>
          <a:p>
            <a:pPr marL="0" indent="0" algn="ctr">
              <a:buNone/>
            </a:pPr>
            <a:r>
              <a:rPr lang="en-US" sz="3200" b="1" dirty="0">
                <a:solidFill>
                  <a:srgbClr val="1A1A2E"/>
                </a:solidFill>
                <a:latin typeface="Calibri" pitchFamily="34" charset="0"/>
                <a:ea typeface="Calibri" pitchFamily="34" charset="-122"/>
                <a:cs typeface="Calibri" pitchFamily="34" charset="-120"/>
              </a:rPr>
              <a:t>Thank You!</a:t>
            </a:r>
            <a:endParaRPr lang="en-US" sz="3200" dirty="0"/>
          </a:p>
        </p:txBody>
      </p:sp>
      <p:sp>
        <p:nvSpPr>
          <p:cNvPr id="17" name="Text 15"/>
          <p:cNvSpPr/>
          <p:nvPr/>
        </p:nvSpPr>
        <p:spPr>
          <a:xfrm>
            <a:off x="5577840" y="1536192"/>
            <a:ext cx="3401568" cy="640080"/>
          </a:xfrm>
          <a:prstGeom prst="rect">
            <a:avLst/>
          </a:prstGeom>
          <a:noFill/>
          <a:ln/>
        </p:spPr>
        <p:txBody>
          <a:bodyPr wrap="square" rtlCol="0" anchor="ctr"/>
          <a:lstStyle/>
          <a:p>
            <a:pPr marL="0" indent="0" algn="ctr">
              <a:buNone/>
            </a:pPr>
            <a:r>
              <a:rPr lang="en-US" sz="1300" i="1" dirty="0">
                <a:solidFill>
                  <a:srgbClr val="7DB3D8"/>
                </a:solidFill>
                <a:latin typeface="Calibri" pitchFamily="34" charset="0"/>
                <a:ea typeface="Calibri" pitchFamily="34" charset="-122"/>
                <a:cs typeface="Calibri" pitchFamily="34" charset="-120"/>
              </a:rPr>
              <a:t>Questions &amp;</a:t>
            </a:r>
            <a:endParaRPr lang="en-US" sz="1300" dirty="0"/>
          </a:p>
          <a:p>
            <a:pPr marL="0" indent="0" algn="ctr">
              <a:buNone/>
            </a:pPr>
            <a:r>
              <a:rPr lang="en-US" sz="1300" i="1" dirty="0">
                <a:solidFill>
                  <a:srgbClr val="7DB3D8"/>
                </a:solidFill>
                <a:latin typeface="Calibri" pitchFamily="34" charset="0"/>
                <a:ea typeface="Calibri" pitchFamily="34" charset="-122"/>
                <a:cs typeface="Calibri" pitchFamily="34" charset="-120"/>
              </a:rPr>
              <a:t>Discussion Welcome</a:t>
            </a:r>
            <a:endParaRPr lang="en-US" sz="1300" dirty="0"/>
          </a:p>
        </p:txBody>
      </p:sp>
      <p:sp>
        <p:nvSpPr>
          <p:cNvPr id="18" name="Shape 16"/>
          <p:cNvSpPr/>
          <p:nvPr/>
        </p:nvSpPr>
        <p:spPr>
          <a:xfrm>
            <a:off x="5852160" y="2267712"/>
            <a:ext cx="2834640" cy="27432"/>
          </a:xfrm>
          <a:prstGeom prst="rect">
            <a:avLst/>
          </a:prstGeom>
          <a:solidFill>
            <a:srgbClr val="1E8449"/>
          </a:solidFill>
          <a:ln w="12700">
            <a:solidFill>
              <a:srgbClr val="1E8449"/>
            </a:solidFill>
            <a:prstDash val="solid"/>
          </a:ln>
        </p:spPr>
      </p:sp>
      <p:sp>
        <p:nvSpPr>
          <p:cNvPr id="19" name="Text 17"/>
          <p:cNvSpPr/>
          <p:nvPr/>
        </p:nvSpPr>
        <p:spPr>
          <a:xfrm>
            <a:off x="5577840" y="2359152"/>
            <a:ext cx="3401568" cy="2103120"/>
          </a:xfrm>
          <a:prstGeom prst="rect">
            <a:avLst/>
          </a:prstGeom>
          <a:noFill/>
          <a:ln/>
        </p:spPr>
        <p:txBody>
          <a:bodyPr wrap="square" rtlCol="0" anchor="ctr"/>
          <a:lstStyle/>
          <a:p>
            <a:pPr marL="0" indent="0" algn="ctr">
              <a:buNone/>
            </a:pPr>
            <a:r>
              <a:rPr lang="en-US" sz="1300" b="1" dirty="0">
                <a:solidFill>
                  <a:srgbClr val="1A1A2E"/>
                </a:solidFill>
              </a:rPr>
              <a:t>Raj Gambhava
</a:t>
            </a:r>
            <a:r>
              <a:rPr lang="en-US" sz="900" dirty="0">
                <a:solidFill>
                  <a:srgbClr val="7DB3D8"/>
                </a:solidFill>
              </a:rPr>
              <a:t>Enrollment No: 220470116024
V.V.P. Engineering College
Dept. of Information Technology
Microsoft Elevate Internship 2026
</a:t>
            </a:r>
            <a:r>
              <a:rPr lang="en-US" sz="800" dirty="0">
                <a:solidFill>
                  <a:srgbClr val="5B9BD5"/>
                </a:solidFill>
              </a:rPr>
              <a:t>22it047.raj.gambhava@vvpedulink.ac.in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TotalTime>
  <Words>5392</Words>
  <Application>Microsoft Office PowerPoint</Application>
  <PresentationFormat>On-screen Show (16:9)</PresentationFormat>
  <Paragraphs>554</Paragraphs>
  <Slides>21</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Healthcare &amp; Medication Management System - Microsoft Elevate</dc:title>
  <dc:subject>PptxGenJS Presentation</dc:subject>
  <dc:creator>PptxGenJS</dc:creator>
  <cp:lastModifiedBy>Yash Sanchala</cp:lastModifiedBy>
  <cp:revision>2</cp:revision>
  <dcterms:created xsi:type="dcterms:W3CDTF">2026-04-05T12:31:44Z</dcterms:created>
  <dcterms:modified xsi:type="dcterms:W3CDTF">2026-04-05T17:47:50Z</dcterms:modified>
</cp:coreProperties>
</file>